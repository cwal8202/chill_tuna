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99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30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231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10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92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792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25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95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46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8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447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DF048-A8A0-4072-BB05-F0CBEDB3D92D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44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15545" y="403653"/>
            <a:ext cx="10033687" cy="6017741"/>
          </a:xfrm>
        </p:spPr>
        <p:txBody>
          <a:bodyPr>
            <a:normAutofit lnSpcReduction="10000"/>
          </a:bodyPr>
          <a:lstStyle/>
          <a:p>
            <a:pPr marL="342900" indent="-342900" algn="l">
              <a:buAutoNum type="arabicPeriod"/>
            </a:pPr>
            <a:r>
              <a:rPr lang="ko-KR" altLang="en-US" sz="1800" dirty="0" smtClean="0"/>
              <a:t>초기 설정 및 라이브러리 불러오기</a:t>
            </a:r>
            <a:endParaRPr lang="en-US" altLang="ko-KR" sz="18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필요한 라이브러리 불러오기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.</a:t>
            </a:r>
            <a:r>
              <a:rPr lang="en-US" altLang="ko-KR" sz="1400" dirty="0" err="1" smtClean="0"/>
              <a:t>env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파일에서 </a:t>
            </a:r>
            <a:r>
              <a:rPr lang="en-US" altLang="ko-KR" sz="1400" dirty="0" err="1" smtClean="0"/>
              <a:t>OpenAP</a:t>
            </a:r>
            <a:r>
              <a:rPr lang="en-US" altLang="ko-KR" sz="1400" dirty="0" smtClean="0"/>
              <a:t> API</a:t>
            </a:r>
            <a:r>
              <a:rPr lang="ko-KR" altLang="en-US" sz="1400" dirty="0" smtClean="0"/>
              <a:t>키와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모델 불러오기</a:t>
            </a:r>
            <a:endParaRPr lang="en-US" altLang="ko-KR" sz="1400" dirty="0" smtClean="0"/>
          </a:p>
          <a:p>
            <a:pPr algn="l"/>
            <a:r>
              <a:rPr lang="en-US" altLang="ko-KR" sz="1800" dirty="0" smtClean="0"/>
              <a:t>2. </a:t>
            </a:r>
            <a:r>
              <a:rPr lang="ko-KR" altLang="en-US" sz="1800" dirty="0" smtClean="0"/>
              <a:t>데이터 로드 및 전처리</a:t>
            </a:r>
            <a:endParaRPr lang="en-US" altLang="ko-KR" sz="18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Few-shot </a:t>
            </a:r>
            <a:r>
              <a:rPr lang="ko-KR" altLang="en-US" sz="1400" dirty="0" smtClean="0"/>
              <a:t>예시로 쓸 </a:t>
            </a:r>
            <a:r>
              <a:rPr lang="en-US" altLang="ko-KR" sz="1400" dirty="0" smtClean="0"/>
              <a:t>‘</a:t>
            </a:r>
            <a:r>
              <a:rPr lang="ko-KR" altLang="en-US" sz="1400" dirty="0" smtClean="0"/>
              <a:t>페르소나 가중치 변환</a:t>
            </a:r>
            <a:r>
              <a:rPr lang="en-US" altLang="ko-KR" sz="1400" dirty="0" smtClean="0"/>
              <a:t>.</a:t>
            </a:r>
            <a:r>
              <a:rPr lang="en-US" altLang="ko-KR" sz="1400" dirty="0" err="1" smtClean="0"/>
              <a:t>jsonl</a:t>
            </a:r>
            <a:r>
              <a:rPr lang="en-US" altLang="ko-KR" sz="1400" dirty="0" smtClean="0"/>
              <a:t>’ </a:t>
            </a:r>
            <a:r>
              <a:rPr lang="ko-KR" altLang="en-US" sz="1400" dirty="0" smtClean="0"/>
              <a:t>파일에서 페르소나 데이터를 불러와 리스트 형태로 저장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‘</a:t>
            </a:r>
            <a:r>
              <a:rPr lang="en-US" altLang="ko-KR" sz="1400" dirty="0" err="1" smtClean="0"/>
              <a:t>product_info.json</a:t>
            </a:r>
            <a:r>
              <a:rPr lang="en-US" altLang="ko-KR" sz="1400" dirty="0" smtClean="0"/>
              <a:t>’ </a:t>
            </a:r>
            <a:r>
              <a:rPr lang="ko-KR" altLang="en-US" sz="1400" dirty="0" smtClean="0"/>
              <a:t>파일에서 제품 정보를 불러와 </a:t>
            </a:r>
            <a:r>
              <a:rPr lang="ko-KR" altLang="en-US" sz="1400" dirty="0" err="1" smtClean="0"/>
              <a:t>딕셔너리로</a:t>
            </a:r>
            <a:r>
              <a:rPr lang="ko-KR" altLang="en-US" sz="1400" dirty="0" smtClean="0"/>
              <a:t> 저장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제품 특성과 페르소나 정보를 결합하여 모델 입력에 맞게 데이터 정리</a:t>
            </a:r>
            <a:endParaRPr lang="en-US" altLang="ko-KR" sz="1400" dirty="0" smtClean="0"/>
          </a:p>
          <a:p>
            <a:pPr algn="l"/>
            <a:r>
              <a:rPr lang="en-US" altLang="ko-KR" sz="1800" dirty="0" smtClean="0"/>
              <a:t>3. </a:t>
            </a:r>
            <a:r>
              <a:rPr lang="ko-KR" altLang="en-US" sz="1800" dirty="0" smtClean="0"/>
              <a:t>함수 정의</a:t>
            </a:r>
            <a:endParaRPr lang="en-US" altLang="ko-KR" sz="18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클러스터 카탈로그를 </a:t>
            </a:r>
            <a:r>
              <a:rPr lang="ko-KR" altLang="en-US" sz="1400" dirty="0" err="1" smtClean="0"/>
              <a:t>를</a:t>
            </a:r>
            <a:r>
              <a:rPr lang="ko-KR" altLang="en-US" sz="1400" dirty="0" smtClean="0"/>
              <a:t> 정의하고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클러스터 메타데이터를 강제 설정하는 </a:t>
            </a:r>
            <a:r>
              <a:rPr lang="en-US" altLang="ko-KR" sz="1400" dirty="0" err="1" smtClean="0"/>
              <a:t>enforce_cluster_meta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함수를 정의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Few-shot </a:t>
            </a:r>
            <a:r>
              <a:rPr lang="ko-KR" altLang="en-US" sz="1400" dirty="0" smtClean="0"/>
              <a:t>학습 예시를 다양하게 </a:t>
            </a:r>
            <a:r>
              <a:rPr lang="ko-KR" altLang="en-US" sz="1400" dirty="0" err="1" smtClean="0"/>
              <a:t>샘플링하는</a:t>
            </a:r>
            <a:r>
              <a:rPr lang="ko-KR" altLang="en-US" sz="1400" dirty="0" smtClean="0"/>
              <a:t> </a:t>
            </a:r>
            <a:r>
              <a:rPr lang="en-US" altLang="ko-KR" sz="1400" dirty="0" err="1" smtClean="0"/>
              <a:t>sample_diverse_examples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함수와 이를 블록 형태로 만드는 </a:t>
            </a:r>
            <a:r>
              <a:rPr lang="en-US" altLang="ko-KR" sz="1400" dirty="0" err="1" smtClean="0"/>
              <a:t>build_fewshot_block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함수를 정의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제품과 페르소나 정보를 결합하여 </a:t>
            </a:r>
            <a:r>
              <a:rPr lang="en-US" altLang="ko-KR" sz="1400" dirty="0" smtClean="0"/>
              <a:t>LLM</a:t>
            </a:r>
            <a:r>
              <a:rPr lang="ko-KR" altLang="en-US" sz="1400" dirty="0" smtClean="0"/>
              <a:t>에 보낼 최종 프롬프트를 만드는 </a:t>
            </a:r>
            <a:r>
              <a:rPr lang="en-US" altLang="ko-KR" sz="1400" dirty="0" err="1" smtClean="0"/>
              <a:t>build_conditioned_prompt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함수를 정의</a:t>
            </a:r>
            <a:endParaRPr lang="en-US" altLang="ko-KR" sz="1400" dirty="0" smtClean="0"/>
          </a:p>
          <a:p>
            <a:pPr algn="l"/>
            <a:r>
              <a:rPr lang="en-US" altLang="ko-KR" sz="1800" dirty="0" smtClean="0"/>
              <a:t>4. Few-shot </a:t>
            </a:r>
            <a:r>
              <a:rPr lang="ko-KR" altLang="en-US" sz="1800" dirty="0" smtClean="0"/>
              <a:t>예시 확인</a:t>
            </a:r>
            <a:endParaRPr lang="en-US" altLang="ko-KR" sz="18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sample_diverse_examples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함수를 호출하여 </a:t>
            </a:r>
            <a:r>
              <a:rPr lang="en-US" altLang="ko-KR" sz="1400" dirty="0" smtClean="0"/>
              <a:t>10</a:t>
            </a:r>
            <a:r>
              <a:rPr lang="ko-KR" altLang="en-US" sz="1400" dirty="0" smtClean="0"/>
              <a:t>개의 예시 페르소나를 무작위로 선택하고 출력</a:t>
            </a:r>
            <a:endParaRPr lang="en-US" altLang="ko-KR" sz="1400" dirty="0" smtClean="0"/>
          </a:p>
          <a:p>
            <a:pPr algn="l"/>
            <a:r>
              <a:rPr lang="en-US" altLang="ko-KR" sz="1800" dirty="0"/>
              <a:t>5</a:t>
            </a:r>
            <a:r>
              <a:rPr lang="en-US" altLang="ko-KR" sz="1800" dirty="0" smtClean="0"/>
              <a:t>. </a:t>
            </a:r>
            <a:r>
              <a:rPr lang="en-US" altLang="ko-KR" sz="1800" dirty="0" smtClean="0"/>
              <a:t>AI </a:t>
            </a:r>
            <a:r>
              <a:rPr lang="ko-KR" altLang="en-US" sz="1800" dirty="0" smtClean="0"/>
              <a:t>모델 예측 및 데이터 처리</a:t>
            </a:r>
            <a:endParaRPr lang="en-US" altLang="ko-KR" sz="18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결과 파일을 저장할 디렉터리를 생성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build_fewshot_block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함수를 호출하여 </a:t>
            </a:r>
            <a:r>
              <a:rPr lang="en-US" altLang="ko-KR" sz="1400" dirty="0" smtClean="0"/>
              <a:t>few-shot </a:t>
            </a:r>
            <a:r>
              <a:rPr lang="ko-KR" altLang="en-US" sz="1400" dirty="0" smtClean="0"/>
              <a:t>프롬프트 블록 생성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smtClean="0"/>
              <a:t>5</a:t>
            </a:r>
            <a:r>
              <a:rPr lang="ko-KR" altLang="en-US" sz="1400" dirty="0" smtClean="0"/>
              <a:t>명씩의 페르소나 배치를 생성하기 위해 </a:t>
            </a:r>
            <a:r>
              <a:rPr lang="en-US" altLang="ko-KR" sz="1400" dirty="0" smtClean="0"/>
              <a:t>100</a:t>
            </a:r>
            <a:r>
              <a:rPr lang="ko-KR" altLang="en-US" sz="1400" dirty="0" smtClean="0"/>
              <a:t>회 반복하는 루프를 실행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client.chat.completions.create</a:t>
            </a:r>
            <a:r>
              <a:rPr lang="ko-KR" altLang="en-US" sz="1400" dirty="0" smtClean="0"/>
              <a:t>를 호출하여 </a:t>
            </a:r>
            <a:r>
              <a:rPr lang="en-US" altLang="ko-KR" sz="1400" dirty="0" smtClean="0"/>
              <a:t>LLM</a:t>
            </a:r>
            <a:r>
              <a:rPr lang="ko-KR" altLang="en-US" sz="1400" dirty="0" smtClean="0"/>
              <a:t>에 최종 프롬프트 전달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각 제품별 페르소나를 </a:t>
            </a:r>
            <a:r>
              <a:rPr lang="en-US" altLang="ko-KR" sz="1400" dirty="0" smtClean="0"/>
              <a:t>JSON </a:t>
            </a:r>
            <a:r>
              <a:rPr lang="ko-KR" altLang="en-US" sz="1400" dirty="0" smtClean="0"/>
              <a:t>부분을 추출하고 </a:t>
            </a:r>
            <a:r>
              <a:rPr lang="en-US" altLang="ko-KR" sz="1400" dirty="0" err="1" smtClean="0"/>
              <a:t>json.loads</a:t>
            </a:r>
            <a:r>
              <a:rPr lang="ko-KR" altLang="en-US" sz="1400" dirty="0" smtClean="0"/>
              <a:t>로 </a:t>
            </a:r>
            <a:r>
              <a:rPr lang="ko-KR" altLang="en-US" sz="1400" dirty="0" err="1" smtClean="0"/>
              <a:t>파싱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err="1" smtClean="0"/>
              <a:t>enforce_cluster_meta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함수를 호출하여 정보를 보정</a:t>
            </a:r>
            <a:endParaRPr lang="en-US" altLang="ko-KR" sz="1400" dirty="0" smtClean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 smtClean="0"/>
              <a:t>처리된 페르소나를 </a:t>
            </a:r>
            <a:r>
              <a:rPr lang="en-US" altLang="ko-KR" sz="1400" dirty="0" smtClean="0"/>
              <a:t>JSONL </a:t>
            </a:r>
            <a:r>
              <a:rPr lang="ko-KR" altLang="en-US" sz="1400" dirty="0" smtClean="0"/>
              <a:t>형식으로 저장</a:t>
            </a:r>
            <a:endParaRPr lang="en-US" altLang="ko-KR" sz="1800" dirty="0" smtClean="0"/>
          </a:p>
          <a:p>
            <a:pPr marL="342900" indent="-342900" algn="l">
              <a:buFont typeface="+mj-lt"/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6685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47135" y="527221"/>
            <a:ext cx="5980670" cy="1598141"/>
          </a:xfrm>
        </p:spPr>
        <p:txBody>
          <a:bodyPr>
            <a:normAutofit/>
          </a:bodyPr>
          <a:lstStyle/>
          <a:p>
            <a:pPr algn="l"/>
            <a:r>
              <a:rPr lang="en-US" altLang="ko-KR" sz="1600" dirty="0" err="1" smtClean="0"/>
              <a:t>enforce_cluster_meta</a:t>
            </a:r>
            <a:r>
              <a:rPr lang="en-US" altLang="ko-KR" sz="1600" dirty="0" smtClean="0"/>
              <a:t>(persona: </a:t>
            </a:r>
            <a:r>
              <a:rPr lang="en-US" altLang="ko-KR" sz="1600" dirty="0" err="1" smtClean="0"/>
              <a:t>Dict</a:t>
            </a:r>
            <a:r>
              <a:rPr lang="en-US" altLang="ko-KR" sz="1600" dirty="0" smtClean="0"/>
              <a:t>[</a:t>
            </a:r>
            <a:r>
              <a:rPr lang="en-US" altLang="ko-KR" sz="1600" dirty="0" err="1" smtClean="0"/>
              <a:t>str</a:t>
            </a:r>
            <a:r>
              <a:rPr lang="en-US" altLang="ko-KR" sz="1600" dirty="0" smtClean="0"/>
              <a:t>, Any])</a:t>
            </a:r>
            <a:r>
              <a:rPr lang="en-US" altLang="ko-KR" sz="1600" dirty="0" smtClean="0"/>
              <a:t> -&gt; </a:t>
            </a:r>
            <a:r>
              <a:rPr lang="en-US" altLang="ko-KR" sz="1600" dirty="0" err="1" smtClean="0"/>
              <a:t>Dict</a:t>
            </a:r>
            <a:r>
              <a:rPr lang="en-US" altLang="ko-KR" sz="1600" dirty="0" smtClean="0"/>
              <a:t>[</a:t>
            </a:r>
            <a:r>
              <a:rPr lang="en-US" altLang="ko-KR" sz="1600" dirty="0" err="1" smtClean="0"/>
              <a:t>str</a:t>
            </a:r>
            <a:r>
              <a:rPr lang="en-US" altLang="ko-KR" sz="1600" dirty="0" smtClean="0"/>
              <a:t>, Any]) 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ko-KR" altLang="en-US" sz="1400" dirty="0" smtClean="0"/>
              <a:t>생성된 페르소나의 </a:t>
            </a:r>
            <a:r>
              <a:rPr lang="en-US" altLang="ko-KR" sz="1400" dirty="0" err="1" smtClean="0"/>
              <a:t>meta.cluster</a:t>
            </a:r>
            <a:r>
              <a:rPr lang="ko-KR" altLang="en-US" sz="1400" dirty="0" smtClean="0"/>
              <a:t>값을 기준으로 </a:t>
            </a:r>
            <a:r>
              <a:rPr lang="en-US" altLang="ko-KR" sz="1400" dirty="0" err="1" smtClean="0"/>
              <a:t>meta.label</a:t>
            </a:r>
            <a:r>
              <a:rPr lang="ko-KR" altLang="en-US" sz="1400" dirty="0" smtClean="0"/>
              <a:t>과 </a:t>
            </a:r>
            <a:r>
              <a:rPr lang="en-US" altLang="ko-KR" sz="1400" dirty="0" err="1" smtClean="0"/>
              <a:t>meta.description</a:t>
            </a:r>
            <a:r>
              <a:rPr lang="ko-KR" altLang="en-US" sz="1400" dirty="0" smtClean="0"/>
              <a:t>을 자동으로 채워주는 역할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400" dirty="0" smtClean="0"/>
              <a:t>LLM</a:t>
            </a:r>
            <a:r>
              <a:rPr lang="ko-KR" altLang="en-US" sz="1400" dirty="0" smtClean="0"/>
              <a:t>이 생성한 페르소나 결과에서 클러스터 </a:t>
            </a:r>
            <a:r>
              <a:rPr lang="en-US" altLang="ko-KR" sz="1400" dirty="0" smtClean="0"/>
              <a:t>ID</a:t>
            </a:r>
            <a:r>
              <a:rPr lang="ko-KR" altLang="en-US" sz="1400" dirty="0" smtClean="0"/>
              <a:t>가 존재할 경우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이를 사전에 정의된 클러스터 카탈로그에서 찾아서 레이블과 설명을 추가</a:t>
            </a:r>
            <a:endParaRPr lang="en-US" altLang="ko-KR" sz="1400" dirty="0"/>
          </a:p>
          <a:p>
            <a:pPr algn="l"/>
            <a:endParaRPr lang="en-US" altLang="ko-KR" sz="1800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995" y="3761659"/>
            <a:ext cx="5618270" cy="28769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830" y="243204"/>
            <a:ext cx="4720305" cy="3322111"/>
          </a:xfrm>
          <a:prstGeom prst="rect">
            <a:avLst/>
          </a:prstGeom>
        </p:spPr>
      </p:pic>
      <p:sp>
        <p:nvSpPr>
          <p:cNvPr id="8" name="부제목 2"/>
          <p:cNvSpPr txBox="1">
            <a:spLocks/>
          </p:cNvSpPr>
          <p:nvPr/>
        </p:nvSpPr>
        <p:spPr>
          <a:xfrm>
            <a:off x="247135" y="2687150"/>
            <a:ext cx="5980670" cy="15981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 err="1" smtClean="0"/>
              <a:t>cluster_catalog_block</a:t>
            </a:r>
            <a:r>
              <a:rPr lang="en-US" altLang="ko-KR" sz="1800" dirty="0" smtClean="0"/>
              <a:t>() -&gt; </a:t>
            </a:r>
            <a:r>
              <a:rPr lang="en-US" altLang="ko-KR" sz="1800" dirty="0" err="1" smtClean="0"/>
              <a:t>str</a:t>
            </a:r>
            <a:endParaRPr lang="en-US" altLang="ko-KR" sz="1800" dirty="0" smtClean="0"/>
          </a:p>
          <a:p>
            <a:pPr algn="l"/>
            <a:endParaRPr lang="en-US" altLang="ko-KR" sz="1800" dirty="0" smtClean="0"/>
          </a:p>
          <a:p>
            <a:pPr algn="l"/>
            <a:r>
              <a:rPr lang="ko-KR" altLang="en-US" sz="1500" dirty="0" smtClean="0"/>
              <a:t>클러스터 </a:t>
            </a:r>
            <a:r>
              <a:rPr lang="en-US" altLang="ko-KR" sz="1500" dirty="0" smtClean="0"/>
              <a:t>ID → </a:t>
            </a:r>
            <a:r>
              <a:rPr lang="ko-KR" altLang="en-US" sz="1500" dirty="0" smtClean="0"/>
              <a:t>라벨</a:t>
            </a:r>
            <a:r>
              <a:rPr lang="en-US" altLang="ko-KR" sz="1500" dirty="0" smtClean="0"/>
              <a:t>/</a:t>
            </a:r>
            <a:r>
              <a:rPr lang="ko-KR" altLang="en-US" sz="1500" dirty="0" smtClean="0"/>
              <a:t>설명 </a:t>
            </a:r>
            <a:r>
              <a:rPr lang="ko-KR" altLang="en-US" sz="1500" dirty="0" err="1" smtClean="0"/>
              <a:t>매핑표를</a:t>
            </a:r>
            <a:r>
              <a:rPr lang="ko-KR" altLang="en-US" sz="1500" dirty="0" smtClean="0"/>
              <a:t> 텍스트 블록 형식으로 출력하는 역할</a:t>
            </a:r>
            <a:endParaRPr lang="en-US" altLang="ko-KR" sz="1500" dirty="0" smtClean="0"/>
          </a:p>
          <a:p>
            <a:pPr algn="l"/>
            <a:r>
              <a:rPr lang="ko-KR" altLang="en-US" sz="1500" dirty="0" smtClean="0"/>
              <a:t>프롬프트에 포함시켜 </a:t>
            </a:r>
            <a:r>
              <a:rPr lang="en-US" altLang="ko-KR" sz="1500" dirty="0" smtClean="0"/>
              <a:t>LLM</a:t>
            </a:r>
            <a:r>
              <a:rPr lang="ko-KR" altLang="en-US" sz="1500" dirty="0" smtClean="0"/>
              <a:t>이 클러스터 레이블 의미를 이해하도록 도와줌</a:t>
            </a:r>
          </a:p>
          <a:p>
            <a:pPr algn="l"/>
            <a:endParaRPr lang="en-US" altLang="ko-KR" sz="1800" dirty="0"/>
          </a:p>
        </p:txBody>
      </p:sp>
      <p:sp>
        <p:nvSpPr>
          <p:cNvPr id="9" name="부제목 2"/>
          <p:cNvSpPr txBox="1">
            <a:spLocks/>
          </p:cNvSpPr>
          <p:nvPr/>
        </p:nvSpPr>
        <p:spPr>
          <a:xfrm>
            <a:off x="247135" y="4442642"/>
            <a:ext cx="5980670" cy="970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dirty="0" err="1" smtClean="0"/>
              <a:t>meta_constraints_block</a:t>
            </a:r>
            <a:r>
              <a:rPr lang="en-US" altLang="ko-KR" sz="1600" dirty="0" smtClean="0"/>
              <a:t>() -&gt; </a:t>
            </a:r>
            <a:r>
              <a:rPr lang="en-US" altLang="ko-KR" sz="1600" dirty="0" err="1" smtClean="0"/>
              <a:t>str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ko-KR" altLang="en-US" sz="1400" dirty="0" smtClean="0"/>
              <a:t>페르소나 생성 시 </a:t>
            </a:r>
            <a:r>
              <a:rPr lang="en-US" altLang="ko-KR" sz="1400" dirty="0" smtClean="0"/>
              <a:t>meta </a:t>
            </a:r>
            <a:r>
              <a:rPr lang="ko-KR" altLang="en-US" sz="1400" dirty="0" smtClean="0"/>
              <a:t>정보에 대한 제약 조건 설명을 출력</a:t>
            </a:r>
            <a:endParaRPr lang="en-US" altLang="ko-KR" sz="1800" dirty="0"/>
          </a:p>
        </p:txBody>
      </p:sp>
      <p:sp>
        <p:nvSpPr>
          <p:cNvPr id="10" name="부제목 2"/>
          <p:cNvSpPr txBox="1">
            <a:spLocks/>
          </p:cNvSpPr>
          <p:nvPr/>
        </p:nvSpPr>
        <p:spPr>
          <a:xfrm>
            <a:off x="247135" y="5430793"/>
            <a:ext cx="5980670" cy="970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dirty="0" err="1" smtClean="0"/>
              <a:t>operation_tips_block</a:t>
            </a:r>
            <a:r>
              <a:rPr lang="en-US" altLang="ko-KR" sz="1600" dirty="0" smtClean="0"/>
              <a:t>() -&gt; </a:t>
            </a:r>
            <a:r>
              <a:rPr lang="en-US" altLang="ko-KR" sz="1600" dirty="0" err="1" smtClean="0"/>
              <a:t>str</a:t>
            </a: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800" dirty="0" smtClean="0"/>
              <a:t/>
            </a:r>
            <a:br>
              <a:rPr lang="en-US" altLang="ko-KR" sz="1800" dirty="0" smtClean="0"/>
            </a:br>
            <a:r>
              <a:rPr lang="en-US" altLang="ko-KR" sz="1400" dirty="0" smtClean="0"/>
              <a:t>LLM</a:t>
            </a:r>
            <a:r>
              <a:rPr lang="ko-KR" altLang="en-US" sz="1400" dirty="0" smtClean="0"/>
              <a:t>에 줄 추가적인 생성 지침 또는 유의사항을 설명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15221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847" y="675829"/>
            <a:ext cx="6360353" cy="24744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847" y="3730461"/>
            <a:ext cx="6268325" cy="1790950"/>
          </a:xfrm>
          <a:prstGeom prst="rect">
            <a:avLst/>
          </a:prstGeom>
        </p:spPr>
      </p:pic>
      <p:sp>
        <p:nvSpPr>
          <p:cNvPr id="7" name="부제목 2"/>
          <p:cNvSpPr txBox="1">
            <a:spLocks/>
          </p:cNvSpPr>
          <p:nvPr/>
        </p:nvSpPr>
        <p:spPr>
          <a:xfrm>
            <a:off x="230659" y="758208"/>
            <a:ext cx="4917989" cy="20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 err="1" smtClean="0"/>
              <a:t>sample_diverse_examples</a:t>
            </a:r>
            <a:r>
              <a:rPr lang="en-US" altLang="ko-KR" sz="1800" dirty="0" smtClean="0"/>
              <a:t>(personas: List[</a:t>
            </a:r>
            <a:r>
              <a:rPr lang="en-US" altLang="ko-KR" sz="1800" dirty="0" err="1" smtClean="0"/>
              <a:t>Dict</a:t>
            </a:r>
            <a:r>
              <a:rPr lang="en-US" altLang="ko-KR" sz="1800" dirty="0" smtClean="0"/>
              <a:t>[</a:t>
            </a:r>
            <a:r>
              <a:rPr lang="en-US" altLang="ko-KR" sz="1800" dirty="0" err="1" smtClean="0"/>
              <a:t>str</a:t>
            </a:r>
            <a:r>
              <a:rPr lang="en-US" altLang="ko-KR" sz="1800" dirty="0" smtClean="0"/>
              <a:t>, Any]], k=10)</a:t>
            </a:r>
            <a:r>
              <a:rPr lang="en-US" altLang="ko-KR" sz="1800" dirty="0" smtClean="0"/>
              <a:t>-&gt; List[</a:t>
            </a:r>
            <a:r>
              <a:rPr lang="en-US" altLang="ko-KR" sz="1800" dirty="0" err="1" smtClean="0"/>
              <a:t>Dict</a:t>
            </a:r>
            <a:r>
              <a:rPr lang="en-US" altLang="ko-KR" sz="1800" dirty="0" smtClean="0"/>
              <a:t>[</a:t>
            </a:r>
            <a:r>
              <a:rPr lang="en-US" altLang="ko-KR" sz="1800" dirty="0" err="1" smtClean="0"/>
              <a:t>str</a:t>
            </a:r>
            <a:r>
              <a:rPr lang="en-US" altLang="ko-KR" sz="1800" dirty="0" smtClean="0"/>
              <a:t>, Any]]</a:t>
            </a:r>
          </a:p>
          <a:p>
            <a:pPr algn="l"/>
            <a:endParaRPr lang="en-US" altLang="ko-KR" sz="1800" dirty="0" smtClean="0"/>
          </a:p>
          <a:p>
            <a:pPr algn="l"/>
            <a:r>
              <a:rPr lang="en-US" altLang="ko-KR" sz="1400" dirty="0" smtClean="0"/>
              <a:t>LLM</a:t>
            </a:r>
            <a:r>
              <a:rPr lang="ko-KR" altLang="en-US" sz="1400" dirty="0" smtClean="0"/>
              <a:t>에게 줄 다양한 페르소나 중에서</a:t>
            </a:r>
            <a:endParaRPr lang="en-US" altLang="ko-KR" sz="1400" dirty="0" smtClean="0"/>
          </a:p>
          <a:p>
            <a:pPr algn="l"/>
            <a:r>
              <a:rPr lang="en-US" altLang="ko-KR" sz="1400" dirty="0" smtClean="0"/>
              <a:t>cluster, age, gender</a:t>
            </a:r>
            <a:r>
              <a:rPr lang="ko-KR" altLang="en-US" sz="1400" dirty="0" smtClean="0"/>
              <a:t>를 기준으로 중복되지 않도록 </a:t>
            </a:r>
            <a:endParaRPr lang="en-US" altLang="ko-KR" sz="1400" dirty="0" smtClean="0"/>
          </a:p>
          <a:p>
            <a:pPr algn="l"/>
            <a:r>
              <a:rPr lang="ko-KR" altLang="en-US" sz="1400" dirty="0" smtClean="0"/>
              <a:t>서로 다른 특징을 가진 예시 </a:t>
            </a:r>
            <a:r>
              <a:rPr lang="en-US" altLang="ko-KR" sz="1400" dirty="0" smtClean="0"/>
              <a:t>k</a:t>
            </a:r>
            <a:r>
              <a:rPr lang="ko-KR" altLang="en-US" sz="1400" dirty="0" smtClean="0"/>
              <a:t>개를 </a:t>
            </a:r>
            <a:r>
              <a:rPr lang="ko-KR" altLang="en-US" sz="1400" dirty="0" err="1" smtClean="0"/>
              <a:t>샘플링하는</a:t>
            </a:r>
            <a:r>
              <a:rPr lang="ko-KR" altLang="en-US" sz="1400" dirty="0" smtClean="0"/>
              <a:t> 함수</a:t>
            </a:r>
            <a:endParaRPr lang="en-US" altLang="ko-KR" sz="1400" dirty="0" smtClean="0"/>
          </a:p>
        </p:txBody>
      </p:sp>
      <p:sp>
        <p:nvSpPr>
          <p:cNvPr id="9" name="부제목 2"/>
          <p:cNvSpPr txBox="1">
            <a:spLocks/>
          </p:cNvSpPr>
          <p:nvPr/>
        </p:nvSpPr>
        <p:spPr>
          <a:xfrm>
            <a:off x="230659" y="3367996"/>
            <a:ext cx="4917989" cy="2637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 err="1" smtClean="0"/>
              <a:t>sbuild_fewshot_block</a:t>
            </a:r>
            <a:r>
              <a:rPr lang="en-US" altLang="ko-KR" sz="1800" dirty="0" smtClean="0"/>
              <a:t>(personas: List[</a:t>
            </a:r>
            <a:r>
              <a:rPr lang="en-US" altLang="ko-KR" sz="1800" dirty="0" err="1" smtClean="0"/>
              <a:t>Dict</a:t>
            </a:r>
            <a:r>
              <a:rPr lang="en-US" altLang="ko-KR" sz="1800" dirty="0" smtClean="0"/>
              <a:t>[</a:t>
            </a:r>
            <a:r>
              <a:rPr lang="en-US" altLang="ko-KR" sz="1800" dirty="0" err="1" smtClean="0"/>
              <a:t>str</a:t>
            </a:r>
            <a:r>
              <a:rPr lang="en-US" altLang="ko-KR" sz="1800" dirty="0" smtClean="0"/>
              <a:t>, Any]], k=10) -&gt; </a:t>
            </a:r>
            <a:r>
              <a:rPr lang="en-US" altLang="ko-KR" sz="1800" dirty="0" err="1" smtClean="0"/>
              <a:t>str</a:t>
            </a:r>
            <a:endParaRPr lang="en-US" altLang="ko-KR" sz="1800" dirty="0" smtClean="0"/>
          </a:p>
          <a:p>
            <a:pPr algn="l"/>
            <a:endParaRPr lang="en-US" altLang="ko-KR" sz="1800" dirty="0" smtClean="0"/>
          </a:p>
          <a:p>
            <a:pPr algn="l"/>
            <a:r>
              <a:rPr lang="en-US" altLang="ko-KR" sz="1400" dirty="0" err="1" smtClean="0"/>
              <a:t>sample_diverse_examples</a:t>
            </a:r>
            <a:r>
              <a:rPr lang="ko-KR" altLang="en-US" sz="1400" dirty="0"/>
              <a:t> </a:t>
            </a:r>
            <a:r>
              <a:rPr lang="ko-KR" altLang="en-US" sz="1400" dirty="0" smtClean="0"/>
              <a:t>함수를 호출해서 다양성을 보장한 </a:t>
            </a:r>
            <a:r>
              <a:rPr lang="en-US" altLang="ko-KR" sz="1400" dirty="0" smtClean="0"/>
              <a:t>k</a:t>
            </a:r>
            <a:r>
              <a:rPr lang="ko-KR" altLang="en-US" sz="1400" dirty="0" smtClean="0"/>
              <a:t>개의 페르소나를 골라 각 페르소나에 대해 </a:t>
            </a:r>
            <a:r>
              <a:rPr lang="en-US" altLang="ko-KR" sz="1400" dirty="0" err="1" smtClean="0"/>
              <a:t>enforce_cluster_meta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함수를 적용</a:t>
            </a:r>
            <a:endParaRPr lang="en-US" altLang="ko-KR" sz="1400" dirty="0" smtClean="0"/>
          </a:p>
          <a:p>
            <a:pPr algn="l"/>
            <a:r>
              <a:rPr lang="en-US" altLang="ko-KR" sz="1400" dirty="0" err="1" smtClean="0"/>
              <a:t>persona_key</a:t>
            </a:r>
            <a:r>
              <a:rPr lang="en-US" altLang="ko-KR" sz="1400" dirty="0" smtClean="0"/>
              <a:t>, attributes, meta</a:t>
            </a:r>
            <a:r>
              <a:rPr lang="ko-KR" altLang="en-US" sz="1400" dirty="0" smtClean="0"/>
              <a:t>항목만 추려서 </a:t>
            </a:r>
            <a:r>
              <a:rPr lang="en-US" altLang="ko-KR" sz="1400" dirty="0" err="1" smtClean="0"/>
              <a:t>dict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구성하고 </a:t>
            </a:r>
            <a:r>
              <a:rPr lang="en-US" altLang="ko-KR" sz="1400" dirty="0" err="1" smtClean="0"/>
              <a:t>json.dumps</a:t>
            </a:r>
            <a:r>
              <a:rPr lang="ko-KR" altLang="en-US" sz="1400" dirty="0" smtClean="0"/>
              <a:t>로 포맷하여 전체 </a:t>
            </a:r>
            <a:r>
              <a:rPr lang="en-US" altLang="ko-KR" sz="1400" dirty="0" smtClean="0"/>
              <a:t>block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Markdown </a:t>
            </a:r>
            <a:r>
              <a:rPr lang="ko-KR" altLang="en-US" sz="1400" dirty="0" err="1" smtClean="0"/>
              <a:t>코드블럭</a:t>
            </a:r>
            <a:r>
              <a:rPr lang="en-US" altLang="ko-KR" sz="1400" dirty="0" smtClean="0"/>
              <a:t>(```</a:t>
            </a:r>
            <a:r>
              <a:rPr lang="en-US" altLang="ko-KR" sz="1400" dirty="0" err="1" smtClean="0"/>
              <a:t>json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형태로 추가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520650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67265" y="609600"/>
            <a:ext cx="4926227" cy="4917989"/>
          </a:xfrm>
        </p:spPr>
        <p:txBody>
          <a:bodyPr>
            <a:normAutofit/>
          </a:bodyPr>
          <a:lstStyle/>
          <a:p>
            <a:pPr algn="l"/>
            <a:r>
              <a:rPr lang="en-US" altLang="ko-KR" sz="1800" dirty="0" err="1" smtClean="0"/>
              <a:t>build_conditioned_prompt</a:t>
            </a:r>
            <a:r>
              <a:rPr lang="en-US" altLang="ko-KR" sz="1800" dirty="0" smtClean="0"/>
              <a:t>(</a:t>
            </a:r>
            <a:r>
              <a:rPr lang="en-US" altLang="ko-KR" sz="1800" dirty="0" err="1" smtClean="0"/>
              <a:t>product_name</a:t>
            </a:r>
            <a:r>
              <a:rPr lang="en-US" altLang="ko-KR" sz="1800" dirty="0" smtClean="0"/>
              <a:t>: </a:t>
            </a:r>
            <a:r>
              <a:rPr lang="en-US" altLang="ko-KR" sz="1800" dirty="0" err="1" smtClean="0"/>
              <a:t>str</a:t>
            </a:r>
            <a:r>
              <a:rPr lang="en-US" altLang="ko-KR" sz="1800" dirty="0" smtClean="0"/>
              <a:t>, </a:t>
            </a:r>
            <a:r>
              <a:rPr lang="en-US" altLang="ko-KR" sz="1800" dirty="0" err="1" smtClean="0"/>
              <a:t>few_shot_block</a:t>
            </a:r>
            <a:r>
              <a:rPr lang="en-US" altLang="ko-KR" sz="1800" dirty="0" smtClean="0"/>
              <a:t>: </a:t>
            </a:r>
            <a:r>
              <a:rPr lang="en-US" altLang="ko-KR" sz="1800" dirty="0" err="1" smtClean="0"/>
              <a:t>str</a:t>
            </a:r>
            <a:r>
              <a:rPr lang="en-US" altLang="ko-KR" sz="1800" dirty="0" smtClean="0"/>
              <a:t>, </a:t>
            </a:r>
            <a:r>
              <a:rPr lang="en-US" altLang="ko-KR" sz="1800" dirty="0" err="1" smtClean="0"/>
              <a:t>start_index</a:t>
            </a:r>
            <a:r>
              <a:rPr lang="en-US" altLang="ko-KR" sz="1800" dirty="0" smtClean="0"/>
              <a:t>: </a:t>
            </a:r>
            <a:r>
              <a:rPr lang="en-US" altLang="ko-KR" sz="1800" dirty="0" err="1" smtClean="0"/>
              <a:t>int</a:t>
            </a:r>
            <a:r>
              <a:rPr lang="en-US" altLang="ko-KR" sz="1800" dirty="0" smtClean="0"/>
              <a:t>, </a:t>
            </a:r>
            <a:r>
              <a:rPr lang="en-US" altLang="ko-KR" sz="1800" dirty="0" err="1" smtClean="0"/>
              <a:t>batch_size</a:t>
            </a:r>
            <a:r>
              <a:rPr lang="en-US" altLang="ko-KR" sz="1800" dirty="0" smtClean="0"/>
              <a:t>: </a:t>
            </a:r>
            <a:r>
              <a:rPr lang="en-US" altLang="ko-KR" sz="1800" dirty="0" err="1" smtClean="0"/>
              <a:t>int</a:t>
            </a:r>
            <a:r>
              <a:rPr lang="en-US" altLang="ko-KR" sz="1800" dirty="0" smtClean="0"/>
              <a:t> = 5) -&gt; </a:t>
            </a:r>
            <a:r>
              <a:rPr lang="en-US" altLang="ko-KR" sz="1800" dirty="0" err="1" smtClean="0"/>
              <a:t>str</a:t>
            </a:r>
            <a:endParaRPr lang="en-US" altLang="ko-KR" sz="1800" dirty="0" smtClean="0"/>
          </a:p>
          <a:p>
            <a:pPr algn="l"/>
            <a:endParaRPr lang="en-US" altLang="ko-KR" sz="1800" dirty="0"/>
          </a:p>
          <a:p>
            <a:pPr algn="l"/>
            <a:r>
              <a:rPr lang="en-US" altLang="ko-KR" sz="1400" dirty="0" err="1" smtClean="0"/>
              <a:t>product_name</a:t>
            </a:r>
            <a:r>
              <a:rPr lang="ko-KR" altLang="en-US" sz="1400" dirty="0" smtClean="0"/>
              <a:t>과 사전에 정의된 </a:t>
            </a:r>
            <a:r>
              <a:rPr lang="en-US" altLang="ko-KR" sz="1400" dirty="0" smtClean="0"/>
              <a:t>few-shot </a:t>
            </a:r>
            <a:r>
              <a:rPr lang="ko-KR" altLang="en-US" sz="1400" dirty="0" smtClean="0"/>
              <a:t>예시 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few_shot_block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을 기반으로 </a:t>
            </a:r>
            <a:r>
              <a:rPr lang="en-US" altLang="ko-KR" sz="1400" dirty="0" err="1" smtClean="0"/>
              <a:t>persona_key</a:t>
            </a:r>
            <a:r>
              <a:rPr lang="ko-KR" altLang="en-US" sz="1400" dirty="0" smtClean="0"/>
              <a:t>가 </a:t>
            </a:r>
            <a:r>
              <a:rPr lang="en-US" altLang="ko-KR" sz="1400" dirty="0" err="1" smtClean="0"/>
              <a:t>start_index</a:t>
            </a:r>
            <a:r>
              <a:rPr lang="ko-KR" altLang="en-US" sz="1400" dirty="0" smtClean="0"/>
              <a:t>부터 </a:t>
            </a:r>
            <a:r>
              <a:rPr lang="en-US" altLang="ko-KR" sz="1400" dirty="0" err="1" smtClean="0"/>
              <a:t>batch_size</a:t>
            </a:r>
            <a:r>
              <a:rPr lang="ko-KR" altLang="en-US" sz="1400" dirty="0" smtClean="0"/>
              <a:t>만큼 반복되는 </a:t>
            </a:r>
            <a:r>
              <a:rPr lang="en-US" altLang="ko-KR" sz="1400" dirty="0" smtClean="0"/>
              <a:t>LLM </a:t>
            </a:r>
            <a:r>
              <a:rPr lang="ko-KR" altLang="en-US" sz="1400" dirty="0" smtClean="0"/>
              <a:t>프롬프트 텍스트를 주어진 </a:t>
            </a:r>
            <a:r>
              <a:rPr lang="en-US" altLang="ko-KR" sz="1400" dirty="0" smtClean="0"/>
              <a:t>JSON </a:t>
            </a:r>
            <a:r>
              <a:rPr lang="ko-KR" altLang="en-US" sz="1400" dirty="0" smtClean="0"/>
              <a:t>형식에 맞게 생성하는 함수</a:t>
            </a:r>
            <a:endParaRPr lang="ko-KR" altLang="en-US" sz="14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565" y="378837"/>
            <a:ext cx="6115901" cy="537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0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329" y="600833"/>
            <a:ext cx="4734586" cy="20481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886" y="2834161"/>
            <a:ext cx="4671472" cy="3830249"/>
          </a:xfrm>
          <a:prstGeom prst="rect">
            <a:avLst/>
          </a:prstGeom>
        </p:spPr>
      </p:pic>
      <p:sp>
        <p:nvSpPr>
          <p:cNvPr id="7" name="부제목 2"/>
          <p:cNvSpPr txBox="1">
            <a:spLocks/>
          </p:cNvSpPr>
          <p:nvPr/>
        </p:nvSpPr>
        <p:spPr>
          <a:xfrm>
            <a:off x="667265" y="609600"/>
            <a:ext cx="4926227" cy="1482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400" dirty="0" smtClean="0"/>
              <a:t>Few-shot </a:t>
            </a:r>
            <a:r>
              <a:rPr lang="ko-KR" altLang="en-US" sz="1400" dirty="0" smtClean="0"/>
              <a:t>학습에 사용할 예시 페르소나를 선택하고 요약하는 코드</a:t>
            </a:r>
            <a:endParaRPr lang="en-US" altLang="ko-KR" sz="1400" dirty="0" smtClean="0"/>
          </a:p>
          <a:p>
            <a:pPr algn="l"/>
            <a:r>
              <a:rPr lang="ko-KR" altLang="en-US" sz="1400" dirty="0" smtClean="0"/>
              <a:t>다시 실행해도 동일한 무작위 결과를 얻도록 </a:t>
            </a:r>
            <a:r>
              <a:rPr lang="ko-KR" altLang="en-US" sz="1400" dirty="0" err="1" smtClean="0"/>
              <a:t>시드</a:t>
            </a:r>
            <a:r>
              <a:rPr lang="ko-KR" altLang="en-US" sz="1400" dirty="0" smtClean="0"/>
              <a:t> 설정</a:t>
            </a:r>
            <a:endParaRPr lang="en-US" altLang="ko-KR" sz="1400" dirty="0" smtClean="0"/>
          </a:p>
          <a:p>
            <a:pPr algn="l"/>
            <a:r>
              <a:rPr lang="en-US" altLang="ko-KR" sz="1400" dirty="0" err="1" smtClean="0"/>
              <a:t>sample_diverse_examples</a:t>
            </a:r>
            <a:r>
              <a:rPr lang="ko-KR" altLang="en-US" sz="1400" dirty="0" smtClean="0"/>
              <a:t>함수를 호출하여 다양한 연령대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성별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직업을 가진 </a:t>
            </a:r>
            <a:r>
              <a:rPr lang="en-US" altLang="ko-KR" sz="1400" dirty="0" smtClean="0"/>
              <a:t>10</a:t>
            </a:r>
            <a:r>
              <a:rPr lang="ko-KR" altLang="en-US" sz="1400" dirty="0" smtClean="0"/>
              <a:t>개의 페르소나를 선택</a:t>
            </a:r>
            <a:endParaRPr lang="ko-KR" altLang="en-US" sz="1400" dirty="0"/>
          </a:p>
        </p:txBody>
      </p:sp>
      <p:sp>
        <p:nvSpPr>
          <p:cNvPr id="8" name="부제목 2"/>
          <p:cNvSpPr txBox="1">
            <a:spLocks/>
          </p:cNvSpPr>
          <p:nvPr/>
        </p:nvSpPr>
        <p:spPr>
          <a:xfrm>
            <a:off x="667265" y="2682290"/>
            <a:ext cx="6027064" cy="4072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 smtClean="0"/>
              <a:t>product_info_list</a:t>
            </a:r>
            <a:r>
              <a:rPr lang="ko-KR" altLang="en-US" sz="1200" dirty="0" smtClean="0"/>
              <a:t>에 있는 각 제품을 순회하며 예측</a:t>
            </a:r>
            <a:endParaRPr lang="en-US" altLang="ko-KR" sz="1200" dirty="0" smtClean="0"/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 smtClean="0"/>
              <a:t>build_fewshot_block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함수를 호출하여 </a:t>
            </a:r>
            <a:r>
              <a:rPr lang="en-US" altLang="ko-KR" sz="1200" dirty="0" smtClean="0"/>
              <a:t>AI </a:t>
            </a:r>
            <a:r>
              <a:rPr lang="ko-KR" altLang="en-US" sz="1200" dirty="0" smtClean="0"/>
              <a:t>모델이 참조할 </a:t>
            </a:r>
            <a:r>
              <a:rPr lang="en-US" altLang="ko-KR" sz="1200" dirty="0" smtClean="0"/>
              <a:t>10</a:t>
            </a:r>
            <a:r>
              <a:rPr lang="ko-KR" altLang="en-US" sz="1200" dirty="0" smtClean="0"/>
              <a:t>개의 예시 페르소나 블록을 생성</a:t>
            </a:r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시드를</a:t>
            </a:r>
            <a:r>
              <a:rPr lang="ko-KR" altLang="en-US" sz="1200" dirty="0" smtClean="0"/>
              <a:t> 설정하여 매번 같은 예시가 선택</a:t>
            </a:r>
            <a:r>
              <a:rPr lang="en-US" altLang="ko-KR" sz="1200" dirty="0" smtClean="0"/>
              <a:t>)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smtClean="0"/>
              <a:t>for </a:t>
            </a:r>
            <a:r>
              <a:rPr lang="en-US" altLang="ko-KR" sz="1200" dirty="0" err="1" smtClean="0"/>
              <a:t>i</a:t>
            </a:r>
            <a:r>
              <a:rPr lang="en-US" altLang="ko-KR" sz="1200" dirty="0" smtClean="0"/>
              <a:t> in range(0, 100, 5)</a:t>
            </a:r>
            <a:r>
              <a:rPr lang="ko-KR" altLang="en-US" sz="1200" dirty="0" smtClean="0"/>
              <a:t> 루프를 통해 총 </a:t>
            </a:r>
            <a:r>
              <a:rPr lang="en-US" altLang="ko-KR" sz="1200" dirty="0" smtClean="0"/>
              <a:t>100</a:t>
            </a:r>
            <a:r>
              <a:rPr lang="ko-KR" altLang="en-US" sz="1200" dirty="0" smtClean="0"/>
              <a:t>개의 페르소나를 </a:t>
            </a:r>
            <a:r>
              <a:rPr lang="en-US" altLang="ko-KR" sz="1200" dirty="0" smtClean="0"/>
              <a:t>5</a:t>
            </a:r>
            <a:r>
              <a:rPr lang="ko-KR" altLang="en-US" sz="1200" dirty="0" smtClean="0"/>
              <a:t>개씩 배치로 나누어 </a:t>
            </a:r>
            <a:r>
              <a:rPr lang="en-US" altLang="ko-KR" sz="1200" dirty="0" smtClean="0"/>
              <a:t>LLM</a:t>
            </a:r>
            <a:r>
              <a:rPr lang="ko-KR" altLang="en-US" sz="1200" dirty="0" smtClean="0"/>
              <a:t>에 요청</a:t>
            </a:r>
            <a:endParaRPr lang="en-US" altLang="ko-KR" sz="1200" dirty="0" smtClean="0"/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 smtClean="0"/>
              <a:t>build_conditioned_prompt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함수로 </a:t>
            </a:r>
            <a:r>
              <a:rPr lang="en-US" altLang="ko-KR" sz="1200" dirty="0" err="1" smtClean="0"/>
              <a:t>product_info</a:t>
            </a:r>
            <a:r>
              <a:rPr lang="ko-KR" altLang="en-US" sz="1200" dirty="0" smtClean="0"/>
              <a:t>와 </a:t>
            </a:r>
            <a:r>
              <a:rPr lang="en-US" altLang="ko-KR" sz="1200" dirty="0" smtClean="0"/>
              <a:t>few-shot </a:t>
            </a:r>
            <a:r>
              <a:rPr lang="ko-KR" altLang="en-US" sz="1200" dirty="0" smtClean="0"/>
              <a:t>예시를 결합한 최종 프롬프트 생성</a:t>
            </a:r>
            <a:endParaRPr lang="en-US" altLang="ko-KR" sz="1200" dirty="0" smtClean="0"/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 smtClean="0"/>
              <a:t>client.chat.completions.create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함수를 사용하여 </a:t>
            </a:r>
            <a:r>
              <a:rPr lang="en-US" altLang="ko-KR" sz="1200" dirty="0" err="1" smtClean="0"/>
              <a:t>OpenAI</a:t>
            </a:r>
            <a:r>
              <a:rPr lang="en-US" altLang="ko-KR" sz="1200" dirty="0" smtClean="0"/>
              <a:t> API</a:t>
            </a:r>
            <a:r>
              <a:rPr lang="ko-KR" altLang="en-US" sz="1200" dirty="0" smtClean="0"/>
              <a:t>에 요청</a:t>
            </a:r>
            <a:r>
              <a:rPr lang="en-US" altLang="ko-KR" sz="1200" dirty="0" smtClean="0"/>
              <a:t>(temperature=0.0</a:t>
            </a:r>
            <a:r>
              <a:rPr lang="ko-KR" altLang="en-US" sz="1200" dirty="0" smtClean="0"/>
              <a:t>으로 설정하여 답변의 일관성과 정확성을 높임</a:t>
            </a:r>
            <a:r>
              <a:rPr lang="en-US" altLang="ko-KR" sz="1200" dirty="0" smtClean="0"/>
              <a:t>)</a:t>
            </a:r>
          </a:p>
          <a:p>
            <a:pPr marL="342900" indent="-342900" algn="l">
              <a:buFont typeface="+mj-lt"/>
              <a:buAutoNum type="arabicPeriod"/>
            </a:pPr>
            <a:r>
              <a:rPr lang="ko-KR" altLang="en-US" sz="1200" dirty="0" smtClean="0"/>
              <a:t>응답에서 불필요한 마크다운 코드블록을 제거하고 </a:t>
            </a:r>
            <a:r>
              <a:rPr lang="en-US" altLang="ko-KR" sz="1200" dirty="0" smtClean="0"/>
              <a:t>JSON </a:t>
            </a:r>
            <a:r>
              <a:rPr lang="ko-KR" altLang="en-US" sz="1200" dirty="0" smtClean="0"/>
              <a:t>텍스트만 추출</a:t>
            </a:r>
            <a:endParaRPr lang="en-US" altLang="ko-KR" sz="1200" dirty="0" smtClean="0"/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 smtClean="0"/>
              <a:t>json.loads</a:t>
            </a:r>
            <a:r>
              <a:rPr lang="ko-KR" altLang="en-US" sz="1200" dirty="0" smtClean="0"/>
              <a:t>를 사용하여 텍스트를 </a:t>
            </a:r>
            <a:r>
              <a:rPr lang="ko-KR" altLang="en-US" sz="1200" dirty="0" err="1" smtClean="0"/>
              <a:t>파이썬</a:t>
            </a:r>
            <a:r>
              <a:rPr lang="ko-KR" altLang="en-US" sz="1200" dirty="0" smtClean="0"/>
              <a:t> 객체로 변환</a:t>
            </a:r>
            <a:endParaRPr lang="en-US" altLang="ko-KR" sz="1200" dirty="0" smtClean="0"/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 smtClean="0"/>
              <a:t>enforce_cluster_meta</a:t>
            </a:r>
            <a:r>
              <a:rPr lang="en-US" altLang="ko-KR" sz="1200" dirty="0"/>
              <a:t> </a:t>
            </a:r>
            <a:r>
              <a:rPr lang="ko-KR" altLang="en-US" sz="1200" dirty="0" smtClean="0"/>
              <a:t>함수를 호출하여 </a:t>
            </a:r>
            <a:r>
              <a:rPr lang="en-US" altLang="ko-KR" sz="1200" dirty="0" smtClean="0"/>
              <a:t>LLM</a:t>
            </a:r>
            <a:r>
              <a:rPr lang="ko-KR" altLang="en-US" sz="1200" dirty="0" smtClean="0"/>
              <a:t>이 생성한 페르소나의 클러스터 정보가 미리 정의된 </a:t>
            </a:r>
            <a:r>
              <a:rPr lang="en-US" altLang="ko-KR" sz="1200" dirty="0" smtClean="0"/>
              <a:t>CLUSTER_CATALOG</a:t>
            </a:r>
            <a:r>
              <a:rPr lang="ko-KR" altLang="en-US" sz="1200" dirty="0" smtClean="0"/>
              <a:t>의 값과 일치하도록 보정</a:t>
            </a:r>
            <a:endParaRPr lang="en-US" altLang="ko-KR" sz="1200" dirty="0" smtClean="0"/>
          </a:p>
          <a:p>
            <a:pPr marL="342900" indent="-342900" algn="l">
              <a:buFont typeface="+mj-lt"/>
              <a:buAutoNum type="arabicPeriod"/>
            </a:pPr>
            <a:r>
              <a:rPr lang="ko-KR" altLang="en-US" sz="1200" dirty="0" smtClean="0"/>
              <a:t>보정된 페르소나 데이터를 </a:t>
            </a:r>
            <a:r>
              <a:rPr lang="en-US" altLang="ko-KR" sz="1200" dirty="0" err="1" smtClean="0"/>
              <a:t>personas_output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리스트에 추가</a:t>
            </a:r>
            <a:endParaRPr lang="en-US" altLang="ko-KR" sz="1200" dirty="0" smtClean="0"/>
          </a:p>
          <a:p>
            <a:pPr marL="342900" indent="-342900" algn="l">
              <a:buFont typeface="+mj-lt"/>
              <a:buAutoNum type="arabicPeriod"/>
            </a:pPr>
            <a:r>
              <a:rPr lang="ko-KR" altLang="en-US" sz="1200" dirty="0" smtClean="0"/>
              <a:t>각 제품별 </a:t>
            </a:r>
            <a:r>
              <a:rPr lang="en-US" altLang="ko-KR" sz="1200" dirty="0" smtClean="0"/>
              <a:t>100</a:t>
            </a:r>
            <a:r>
              <a:rPr lang="ko-KR" altLang="en-US" sz="1200" dirty="0" smtClean="0"/>
              <a:t>개의 페르소나 데이터를 </a:t>
            </a:r>
            <a:r>
              <a:rPr lang="en-US" altLang="ko-KR" sz="1200" dirty="0" smtClean="0"/>
              <a:t>JSONL </a:t>
            </a:r>
            <a:r>
              <a:rPr lang="ko-KR" altLang="en-US" sz="1200" dirty="0" smtClean="0"/>
              <a:t>형식으로 저장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53480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499</Words>
  <Application>Microsoft Office PowerPoint</Application>
  <PresentationFormat>와이드스크린</PresentationFormat>
  <Paragraphs>53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KOREA</dc:creator>
  <cp:lastModifiedBy>KOREA</cp:lastModifiedBy>
  <cp:revision>11</cp:revision>
  <dcterms:created xsi:type="dcterms:W3CDTF">2025-09-04T02:33:01Z</dcterms:created>
  <dcterms:modified xsi:type="dcterms:W3CDTF">2025-09-04T07:41:31Z</dcterms:modified>
</cp:coreProperties>
</file>