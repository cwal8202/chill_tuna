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1" r:id="rId2"/>
    <p:sldId id="328" r:id="rId3"/>
    <p:sldId id="329" r:id="rId4"/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85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D675B-B6D0-456A-AF83-47265808E3A3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2F1D99-A299-4BA0-BCE8-F56D44FF7F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1012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왜 이 프로젝트를 기획했고</a:t>
            </a:r>
            <a:r>
              <a:rPr lang="en-US" altLang="ko-KR" dirty="0"/>
              <a:t>, </a:t>
            </a:r>
            <a:r>
              <a:rPr lang="ko-KR" altLang="en-US" dirty="0"/>
              <a:t>목표한 바는 무엇이며</a:t>
            </a:r>
            <a:r>
              <a:rPr lang="en-US" altLang="ko-KR" dirty="0"/>
              <a:t>, </a:t>
            </a:r>
            <a:r>
              <a:rPr lang="ko-KR" altLang="en-US" dirty="0"/>
              <a:t>누가 언제 어떻게 개발했는지를 짧게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3FE74F-0990-4438-8AB4-17B5663E8FF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883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993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30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231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10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921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792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25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950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46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8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F048-A8A0-4072-BB05-F0CBEDB3D92D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4447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DF048-A8A0-4072-BB05-F0CBEDB3D92D}" type="datetimeFigureOut">
              <a:rPr lang="ko-KR" altLang="en-US" smtClean="0"/>
              <a:t>2025-09-05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24AF2-FB01-4F66-AEE3-612D1D3CF3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444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1144585" y="5850804"/>
            <a:ext cx="828453" cy="280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61"/>
              </a:lnSpc>
            </a:pPr>
            <a:r>
              <a:rPr lang="en-US" sz="1687" b="1" spc="-29">
                <a:solidFill>
                  <a:srgbClr val="FFFFFF"/>
                </a:solidFill>
                <a:latin typeface="+mn-ea"/>
                <a:cs typeface="Source Han Sans KR Bold"/>
                <a:sym typeface="Source Han Sans KR Bold"/>
              </a:rPr>
              <a:t>Logo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0701" y="2687927"/>
            <a:ext cx="9690598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50"/>
              </a:lnSpc>
            </a:pPr>
            <a:r>
              <a:rPr lang="ko-KR" altLang="en-US" sz="5867" b="1" spc="-41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페르소나  생성 프롬프트</a:t>
            </a:r>
            <a:endParaRPr lang="en-US" sz="5867" b="1" spc="-411" dirty="0">
              <a:solidFill>
                <a:srgbClr val="000000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19F06C9-A144-DAF8-34DA-67E5A8CA34F8}"/>
              </a:ext>
            </a:extLst>
          </p:cNvPr>
          <p:cNvSpPr/>
          <p:nvPr/>
        </p:nvSpPr>
        <p:spPr>
          <a:xfrm>
            <a:off x="9636000" y="-729189"/>
            <a:ext cx="2556000" cy="2912615"/>
          </a:xfrm>
          <a:prstGeom prst="rect">
            <a:avLst/>
          </a:prstGeom>
          <a:solidFill>
            <a:srgbClr val="131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B2FAAE9-A1C1-9C16-C1FD-591178C740F0}"/>
              </a:ext>
            </a:extLst>
          </p:cNvPr>
          <p:cNvGrpSpPr/>
          <p:nvPr/>
        </p:nvGrpSpPr>
        <p:grpSpPr>
          <a:xfrm>
            <a:off x="0" y="-729189"/>
            <a:ext cx="9696000" cy="2912615"/>
            <a:chOff x="0" y="-11033"/>
            <a:chExt cx="14544000" cy="4368922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9A5426DD-1916-EB66-4D58-F5E6568BFE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992" b="15424"/>
            <a:stretch>
              <a:fillRect/>
            </a:stretch>
          </p:blipFill>
          <p:spPr bwMode="auto">
            <a:xfrm>
              <a:off x="3744000" y="-4281"/>
              <a:ext cx="10800000" cy="436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9BB1CEEF-9630-DD45-D365-F26945D94E06}"/>
                </a:ext>
              </a:extLst>
            </p:cNvPr>
            <p:cNvSpPr/>
            <p:nvPr/>
          </p:nvSpPr>
          <p:spPr>
            <a:xfrm>
              <a:off x="0" y="-11033"/>
              <a:ext cx="3834000" cy="4368922"/>
            </a:xfrm>
            <a:prstGeom prst="rect">
              <a:avLst/>
            </a:prstGeom>
            <a:gradFill flip="none" rotWithShape="1">
              <a:gsLst>
                <a:gs pos="56084">
                  <a:srgbClr val="1A3F6B"/>
                </a:gs>
                <a:gs pos="31746">
                  <a:srgbClr val="194470"/>
                </a:gs>
                <a:gs pos="0">
                  <a:srgbClr val="325880"/>
                </a:gs>
                <a:gs pos="74000">
                  <a:srgbClr val="153B60"/>
                </a:gs>
                <a:gs pos="83000">
                  <a:srgbClr val="193356"/>
                </a:gs>
                <a:gs pos="100000">
                  <a:srgbClr val="132A49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sp>
        <p:nvSpPr>
          <p:cNvPr id="21" name="AutoShape 4">
            <a:extLst>
              <a:ext uri="{FF2B5EF4-FFF2-40B4-BE49-F238E27FC236}">
                <a16:creationId xmlns:a16="http://schemas.microsoft.com/office/drawing/2014/main" id="{35B4B918-7E1C-3FA6-ED90-776A03E17284}"/>
              </a:ext>
            </a:extLst>
          </p:cNvPr>
          <p:cNvSpPr/>
          <p:nvPr/>
        </p:nvSpPr>
        <p:spPr>
          <a:xfrm>
            <a:off x="6327900" y="5679354"/>
            <a:ext cx="5502037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1D287F56-D0C1-894D-39A1-4FD3CAE99D41}"/>
              </a:ext>
            </a:extLst>
          </p:cNvPr>
          <p:cNvSpPr/>
          <p:nvPr/>
        </p:nvSpPr>
        <p:spPr>
          <a:xfrm>
            <a:off x="6327900" y="6463347"/>
            <a:ext cx="5502037" cy="0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9BBBFEE2-3D4A-15FB-F613-76DB3CE7DD97}"/>
              </a:ext>
            </a:extLst>
          </p:cNvPr>
          <p:cNvSpPr/>
          <p:nvPr/>
        </p:nvSpPr>
        <p:spPr>
          <a:xfrm>
            <a:off x="8185553" y="5679354"/>
            <a:ext cx="0" cy="783993"/>
          </a:xfrm>
          <a:prstGeom prst="line">
            <a:avLst/>
          </a:prstGeom>
          <a:ln w="9525" cap="flat">
            <a:solidFill>
              <a:srgbClr val="6B6A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FA6026E0-D149-4666-CE2A-FB680F508A5A}"/>
              </a:ext>
            </a:extLst>
          </p:cNvPr>
          <p:cNvSpPr txBox="1"/>
          <p:nvPr/>
        </p:nvSpPr>
        <p:spPr>
          <a:xfrm>
            <a:off x="8442614" y="5921646"/>
            <a:ext cx="3749386" cy="3098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38"/>
              </a:lnSpc>
            </a:pPr>
            <a:r>
              <a:rPr lang="ko-KR" altLang="en-US" sz="1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박진성</a:t>
            </a:r>
            <a:r>
              <a:rPr lang="en-US" altLang="ko-KR" sz="1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1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주용곤</a:t>
            </a:r>
            <a:r>
              <a:rPr lang="en-US" altLang="ko-KR" sz="1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1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박동현</a:t>
            </a:r>
            <a:r>
              <a:rPr lang="en-US" altLang="ko-KR" sz="1400" b="1" spc="25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, </a:t>
            </a:r>
            <a:r>
              <a:rPr lang="ko-KR" altLang="en-US" sz="1400" b="1" spc="25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최장호</a:t>
            </a:r>
            <a:endParaRPr lang="en-US" sz="1400" b="1" spc="25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60645C60-833F-6DD9-EC15-00921A5C134E}"/>
              </a:ext>
            </a:extLst>
          </p:cNvPr>
          <p:cNvSpPr txBox="1"/>
          <p:nvPr/>
        </p:nvSpPr>
        <p:spPr>
          <a:xfrm>
            <a:off x="6655862" y="5921934"/>
            <a:ext cx="1566972" cy="327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4"/>
              </a:lnSpc>
            </a:pPr>
            <a:r>
              <a:rPr lang="ko-KR" altLang="en-US" sz="1600" b="1" spc="-33" dirty="0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팀 </a:t>
            </a:r>
            <a:r>
              <a:rPr lang="ko-KR" altLang="en-US" sz="1600" b="1" spc="-33" dirty="0" err="1">
                <a:solidFill>
                  <a:srgbClr val="000001"/>
                </a:solidFill>
                <a:latin typeface="+mn-ea"/>
                <a:cs typeface="Source Han Sans KR Bold"/>
                <a:sym typeface="Source Han Sans KR Bold"/>
              </a:rPr>
              <a:t>고추참치</a:t>
            </a:r>
            <a:endParaRPr lang="en-US" sz="1600" b="1" spc="-33" dirty="0">
              <a:solidFill>
                <a:srgbClr val="000001"/>
              </a:solidFill>
              <a:latin typeface="+mn-ea"/>
              <a:cs typeface="Source Han Sans KR Bold"/>
              <a:sym typeface="Source Han Sans KR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6768-CF18-77AD-61C1-BE487011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화살표: 오른쪽 96">
            <a:extLst>
              <a:ext uri="{FF2B5EF4-FFF2-40B4-BE49-F238E27FC236}">
                <a16:creationId xmlns:a16="http://schemas.microsoft.com/office/drawing/2014/main" id="{8A5F21A2-BD29-0451-ABD4-8B4572067F21}"/>
              </a:ext>
            </a:extLst>
          </p:cNvPr>
          <p:cNvSpPr/>
          <p:nvPr/>
        </p:nvSpPr>
        <p:spPr>
          <a:xfrm>
            <a:off x="8708888" y="1201461"/>
            <a:ext cx="2924821" cy="577044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8" name="화살표: 오른쪽 97">
            <a:extLst>
              <a:ext uri="{FF2B5EF4-FFF2-40B4-BE49-F238E27FC236}">
                <a16:creationId xmlns:a16="http://schemas.microsoft.com/office/drawing/2014/main" id="{8D36CF51-8536-C998-87BA-50591D59D77F}"/>
              </a:ext>
            </a:extLst>
          </p:cNvPr>
          <p:cNvSpPr/>
          <p:nvPr/>
        </p:nvSpPr>
        <p:spPr>
          <a:xfrm>
            <a:off x="3288968" y="1201228"/>
            <a:ext cx="5824741" cy="577044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9" name="화살표: 오른쪽 98">
            <a:extLst>
              <a:ext uri="{FF2B5EF4-FFF2-40B4-BE49-F238E27FC236}">
                <a16:creationId xmlns:a16="http://schemas.microsoft.com/office/drawing/2014/main" id="{3EB0B9EA-25D4-2DB9-944E-9CFEFBA06220}"/>
              </a:ext>
            </a:extLst>
          </p:cNvPr>
          <p:cNvSpPr/>
          <p:nvPr/>
        </p:nvSpPr>
        <p:spPr>
          <a:xfrm>
            <a:off x="683709" y="1201461"/>
            <a:ext cx="3000000" cy="577044"/>
          </a:xfrm>
          <a:prstGeom prst="rightArrow">
            <a:avLst>
              <a:gd name="adj1" fmla="val 100000"/>
              <a:gd name="adj2" fmla="val 61738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A0AF6921-A0CA-1E02-9401-905990D97E8D}"/>
              </a:ext>
            </a:extLst>
          </p:cNvPr>
          <p:cNvSpPr/>
          <p:nvPr/>
        </p:nvSpPr>
        <p:spPr>
          <a:xfrm>
            <a:off x="3563709" y="1896887"/>
            <a:ext cx="4950000" cy="4770000"/>
          </a:xfrm>
          <a:prstGeom prst="roundRect">
            <a:avLst>
              <a:gd name="adj" fmla="val 3574"/>
            </a:avLst>
          </a:prstGeom>
          <a:solidFill>
            <a:schemeClr val="accent1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7" name="AutoShape 17">
            <a:extLst>
              <a:ext uri="{FF2B5EF4-FFF2-40B4-BE49-F238E27FC236}">
                <a16:creationId xmlns:a16="http://schemas.microsoft.com/office/drawing/2014/main" id="{54E25581-9ED6-233D-56A4-AE6676C4C689}"/>
              </a:ext>
            </a:extLst>
          </p:cNvPr>
          <p:cNvSpPr/>
          <p:nvPr/>
        </p:nvSpPr>
        <p:spPr>
          <a:xfrm>
            <a:off x="3288968" y="716185"/>
            <a:ext cx="8291692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EBFFAC-A47B-CA6F-1ACF-D17C80840B8F}"/>
              </a:ext>
            </a:extLst>
          </p:cNvPr>
          <p:cNvSpPr txBox="1"/>
          <p:nvPr/>
        </p:nvSpPr>
        <p:spPr>
          <a:xfrm>
            <a:off x="798069" y="530418"/>
            <a:ext cx="2490899" cy="346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86"/>
              </a:lnSpc>
            </a:pPr>
            <a:r>
              <a:rPr lang="ko-KR" altLang="en-US" sz="2400" b="1" spc="-131" dirty="0">
                <a:solidFill>
                  <a:srgbClr val="000000"/>
                </a:solidFill>
                <a:latin typeface="+mn-ea"/>
                <a:cs typeface="Source Han Sans KR Bold"/>
                <a:sym typeface="Source Han Sans KR Bold"/>
              </a:rPr>
              <a:t>시뮬레이션 계획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7CC6A37-DC98-928A-AF83-5073B3EAF014}"/>
              </a:ext>
            </a:extLst>
          </p:cNvPr>
          <p:cNvSpPr txBox="1"/>
          <p:nvPr/>
        </p:nvSpPr>
        <p:spPr>
          <a:xfrm>
            <a:off x="1172918" y="1357791"/>
            <a:ext cx="157158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ko-KR" altLang="en-US" sz="1867" b="1" spc="-82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데이터 입력</a:t>
            </a:r>
            <a:endParaRPr lang="en-US" sz="1867" b="1" spc="-82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F90A8246-AA60-90C7-02F7-80021E230A82}"/>
              </a:ext>
            </a:extLst>
          </p:cNvPr>
          <p:cNvSpPr txBox="1"/>
          <p:nvPr/>
        </p:nvSpPr>
        <p:spPr>
          <a:xfrm>
            <a:off x="5252918" y="1356887"/>
            <a:ext cx="157158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ko-KR" altLang="en-US" sz="1867" b="1" spc="-82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예측 프로세스</a:t>
            </a:r>
            <a:endParaRPr lang="en-US" sz="1867" b="1" spc="-82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035031A0-ADC5-5590-BDE6-6C81B463DE7E}"/>
              </a:ext>
            </a:extLst>
          </p:cNvPr>
          <p:cNvSpPr txBox="1"/>
          <p:nvPr/>
        </p:nvSpPr>
        <p:spPr>
          <a:xfrm>
            <a:off x="9422918" y="1356887"/>
            <a:ext cx="1571581" cy="269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99"/>
              </a:lnSpc>
              <a:spcBef>
                <a:spcPct val="0"/>
              </a:spcBef>
            </a:pPr>
            <a:r>
              <a:rPr lang="ko-KR" altLang="en-US" sz="1867" b="1" spc="-82" dirty="0">
                <a:solidFill>
                  <a:schemeClr val="bg1"/>
                </a:solidFill>
                <a:latin typeface="+mn-ea"/>
                <a:cs typeface="Source Han Sans KR Medium"/>
                <a:sym typeface="Source Han Sans KR Medium"/>
              </a:rPr>
              <a:t>결과 평가</a:t>
            </a:r>
            <a:endParaRPr lang="en-US" sz="1867" b="1" spc="-82" dirty="0">
              <a:solidFill>
                <a:schemeClr val="bg1"/>
              </a:solidFill>
              <a:latin typeface="+mn-ea"/>
              <a:cs typeface="Source Han Sans KR Medium"/>
              <a:sym typeface="Source Han Sans KR Medium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F5280C-4865-012D-F083-E4D2997EF05A}"/>
              </a:ext>
            </a:extLst>
          </p:cNvPr>
          <p:cNvSpPr/>
          <p:nvPr/>
        </p:nvSpPr>
        <p:spPr>
          <a:xfrm>
            <a:off x="683709" y="1896887"/>
            <a:ext cx="2490000" cy="2520000"/>
          </a:xfrm>
          <a:prstGeom prst="roundRect">
            <a:avLst>
              <a:gd name="adj" fmla="val 7486"/>
            </a:avLst>
          </a:prstGeom>
          <a:solidFill>
            <a:schemeClr val="tx2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B0D263C-5479-0D7A-8202-DD27464D5D0B}"/>
              </a:ext>
            </a:extLst>
          </p:cNvPr>
          <p:cNvSpPr/>
          <p:nvPr/>
        </p:nvSpPr>
        <p:spPr>
          <a:xfrm>
            <a:off x="683709" y="4656887"/>
            <a:ext cx="2490000" cy="2010000"/>
          </a:xfrm>
          <a:prstGeom prst="roundRect">
            <a:avLst>
              <a:gd name="adj" fmla="val 11191"/>
            </a:avLst>
          </a:prstGeom>
          <a:solidFill>
            <a:srgbClr val="DDE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F5DC60E-CCE5-EFC9-4DA2-4CE5C2B36087}"/>
              </a:ext>
            </a:extLst>
          </p:cNvPr>
          <p:cNvSpPr/>
          <p:nvPr/>
        </p:nvSpPr>
        <p:spPr>
          <a:xfrm>
            <a:off x="937992" y="2046888"/>
            <a:ext cx="645717" cy="645717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812CC7D-383F-F8BE-4CB3-FDE411D2DF70}"/>
              </a:ext>
            </a:extLst>
          </p:cNvPr>
          <p:cNvSpPr>
            <a:spLocks noEditPoints="1"/>
          </p:cNvSpPr>
          <p:nvPr/>
        </p:nvSpPr>
        <p:spPr bwMode="auto">
          <a:xfrm>
            <a:off x="1116992" y="2265665"/>
            <a:ext cx="308697" cy="240000"/>
          </a:xfrm>
          <a:custGeom>
            <a:avLst/>
            <a:gdLst>
              <a:gd name="T0" fmla="*/ 200 w 293"/>
              <a:gd name="T1" fmla="*/ 80 h 187"/>
              <a:gd name="T2" fmla="*/ 240 w 293"/>
              <a:gd name="T3" fmla="*/ 40 h 187"/>
              <a:gd name="T4" fmla="*/ 200 w 293"/>
              <a:gd name="T5" fmla="*/ 0 h 187"/>
              <a:gd name="T6" fmla="*/ 160 w 293"/>
              <a:gd name="T7" fmla="*/ 40 h 187"/>
              <a:gd name="T8" fmla="*/ 200 w 293"/>
              <a:gd name="T9" fmla="*/ 80 h 187"/>
              <a:gd name="T10" fmla="*/ 200 w 293"/>
              <a:gd name="T11" fmla="*/ 80 h 187"/>
              <a:gd name="T12" fmla="*/ 93 w 293"/>
              <a:gd name="T13" fmla="*/ 80 h 187"/>
              <a:gd name="T14" fmla="*/ 133 w 293"/>
              <a:gd name="T15" fmla="*/ 40 h 187"/>
              <a:gd name="T16" fmla="*/ 93 w 293"/>
              <a:gd name="T17" fmla="*/ 0 h 187"/>
              <a:gd name="T18" fmla="*/ 53 w 293"/>
              <a:gd name="T19" fmla="*/ 40 h 187"/>
              <a:gd name="T20" fmla="*/ 93 w 293"/>
              <a:gd name="T21" fmla="*/ 80 h 187"/>
              <a:gd name="T22" fmla="*/ 93 w 293"/>
              <a:gd name="T23" fmla="*/ 80 h 187"/>
              <a:gd name="T24" fmla="*/ 93 w 293"/>
              <a:gd name="T25" fmla="*/ 107 h 187"/>
              <a:gd name="T26" fmla="*/ 0 w 293"/>
              <a:gd name="T27" fmla="*/ 154 h 187"/>
              <a:gd name="T28" fmla="*/ 0 w 293"/>
              <a:gd name="T29" fmla="*/ 187 h 187"/>
              <a:gd name="T30" fmla="*/ 187 w 293"/>
              <a:gd name="T31" fmla="*/ 187 h 187"/>
              <a:gd name="T32" fmla="*/ 187 w 293"/>
              <a:gd name="T33" fmla="*/ 154 h 187"/>
              <a:gd name="T34" fmla="*/ 93 w 293"/>
              <a:gd name="T35" fmla="*/ 107 h 187"/>
              <a:gd name="T36" fmla="*/ 93 w 293"/>
              <a:gd name="T37" fmla="*/ 107 h 187"/>
              <a:gd name="T38" fmla="*/ 200 w 293"/>
              <a:gd name="T39" fmla="*/ 107 h 187"/>
              <a:gd name="T40" fmla="*/ 187 w 293"/>
              <a:gd name="T41" fmla="*/ 108 h 187"/>
              <a:gd name="T42" fmla="*/ 213 w 293"/>
              <a:gd name="T43" fmla="*/ 154 h 187"/>
              <a:gd name="T44" fmla="*/ 213 w 293"/>
              <a:gd name="T45" fmla="*/ 187 h 187"/>
              <a:gd name="T46" fmla="*/ 293 w 293"/>
              <a:gd name="T47" fmla="*/ 187 h 187"/>
              <a:gd name="T48" fmla="*/ 293 w 293"/>
              <a:gd name="T49" fmla="*/ 154 h 187"/>
              <a:gd name="T50" fmla="*/ 200 w 293"/>
              <a:gd name="T51" fmla="*/ 107 h 187"/>
              <a:gd name="T52" fmla="*/ 200 w 293"/>
              <a:gd name="T53" fmla="*/ 107 h 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93" h="187">
                <a:moveTo>
                  <a:pt x="200" y="80"/>
                </a:moveTo>
                <a:cubicBezTo>
                  <a:pt x="222" y="80"/>
                  <a:pt x="240" y="62"/>
                  <a:pt x="240" y="40"/>
                </a:cubicBezTo>
                <a:cubicBezTo>
                  <a:pt x="240" y="18"/>
                  <a:pt x="222" y="0"/>
                  <a:pt x="200" y="0"/>
                </a:cubicBezTo>
                <a:cubicBezTo>
                  <a:pt x="178" y="0"/>
                  <a:pt x="160" y="18"/>
                  <a:pt x="160" y="40"/>
                </a:cubicBezTo>
                <a:cubicBezTo>
                  <a:pt x="160" y="62"/>
                  <a:pt x="178" y="80"/>
                  <a:pt x="200" y="80"/>
                </a:cubicBezTo>
                <a:lnTo>
                  <a:pt x="200" y="80"/>
                </a:lnTo>
                <a:close/>
                <a:moveTo>
                  <a:pt x="93" y="80"/>
                </a:moveTo>
                <a:cubicBezTo>
                  <a:pt x="115" y="80"/>
                  <a:pt x="133" y="62"/>
                  <a:pt x="133" y="40"/>
                </a:cubicBezTo>
                <a:cubicBezTo>
                  <a:pt x="133" y="18"/>
                  <a:pt x="115" y="0"/>
                  <a:pt x="93" y="0"/>
                </a:cubicBezTo>
                <a:cubicBezTo>
                  <a:pt x="71" y="0"/>
                  <a:pt x="53" y="18"/>
                  <a:pt x="53" y="40"/>
                </a:cubicBezTo>
                <a:cubicBezTo>
                  <a:pt x="53" y="62"/>
                  <a:pt x="71" y="80"/>
                  <a:pt x="93" y="80"/>
                </a:cubicBezTo>
                <a:lnTo>
                  <a:pt x="93" y="80"/>
                </a:lnTo>
                <a:close/>
                <a:moveTo>
                  <a:pt x="93" y="107"/>
                </a:moveTo>
                <a:cubicBezTo>
                  <a:pt x="62" y="107"/>
                  <a:pt x="0" y="123"/>
                  <a:pt x="0" y="154"/>
                </a:cubicBezTo>
                <a:lnTo>
                  <a:pt x="0" y="187"/>
                </a:lnTo>
                <a:lnTo>
                  <a:pt x="187" y="187"/>
                </a:lnTo>
                <a:lnTo>
                  <a:pt x="187" y="154"/>
                </a:lnTo>
                <a:cubicBezTo>
                  <a:pt x="187" y="123"/>
                  <a:pt x="124" y="107"/>
                  <a:pt x="93" y="107"/>
                </a:cubicBezTo>
                <a:lnTo>
                  <a:pt x="93" y="107"/>
                </a:lnTo>
                <a:close/>
                <a:moveTo>
                  <a:pt x="200" y="107"/>
                </a:moveTo>
                <a:cubicBezTo>
                  <a:pt x="196" y="107"/>
                  <a:pt x="192" y="107"/>
                  <a:pt x="187" y="108"/>
                </a:cubicBezTo>
                <a:cubicBezTo>
                  <a:pt x="203" y="119"/>
                  <a:pt x="213" y="134"/>
                  <a:pt x="213" y="154"/>
                </a:cubicBezTo>
                <a:lnTo>
                  <a:pt x="213" y="187"/>
                </a:lnTo>
                <a:lnTo>
                  <a:pt x="293" y="187"/>
                </a:lnTo>
                <a:lnTo>
                  <a:pt x="293" y="154"/>
                </a:lnTo>
                <a:cubicBezTo>
                  <a:pt x="293" y="123"/>
                  <a:pt x="231" y="107"/>
                  <a:pt x="200" y="107"/>
                </a:cubicBezTo>
                <a:lnTo>
                  <a:pt x="200" y="107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endParaRPr lang="ko-KR" altLang="en-US" sz="1200"/>
          </a:p>
        </p:txBody>
      </p:sp>
      <p:sp>
        <p:nvSpPr>
          <p:cNvPr id="15" name="Rectangle 948">
            <a:extLst>
              <a:ext uri="{FF2B5EF4-FFF2-40B4-BE49-F238E27FC236}">
                <a16:creationId xmlns:a16="http://schemas.microsoft.com/office/drawing/2014/main" id="{89C5EAB6-B1A4-A7A7-442A-4D5659C8C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709" y="2166888"/>
            <a:ext cx="1110000" cy="410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/>
            <a:r>
              <a:rPr lang="ko-KR" altLang="en-US" sz="1333" b="1" dirty="0">
                <a:latin typeface="+mj-ea"/>
                <a:ea typeface="+mj-ea"/>
              </a:rPr>
              <a:t>설문조사</a:t>
            </a:r>
            <a:endParaRPr lang="en-US" altLang="ko-KR" sz="1333" b="1" dirty="0">
              <a:latin typeface="+mj-ea"/>
              <a:ea typeface="+mj-ea"/>
            </a:endParaRPr>
          </a:p>
          <a:p>
            <a:pPr defTabSz="609630" latinLnBrk="0"/>
            <a:r>
              <a:rPr lang="ko-KR" altLang="en-US" sz="1333" b="1" dirty="0">
                <a:latin typeface="+mj-ea"/>
                <a:ea typeface="+mj-ea"/>
              </a:rPr>
              <a:t>고객 데이터</a:t>
            </a:r>
            <a:endParaRPr lang="ko-KR" altLang="ko-KR" sz="1333" b="1" dirty="0">
              <a:latin typeface="+mj-ea"/>
              <a:ea typeface="+mj-ea"/>
            </a:endParaRPr>
          </a:p>
        </p:txBody>
      </p:sp>
      <p:sp>
        <p:nvSpPr>
          <p:cNvPr id="16" name="Rectangle 948">
            <a:extLst>
              <a:ext uri="{FF2B5EF4-FFF2-40B4-BE49-F238E27FC236}">
                <a16:creationId xmlns:a16="http://schemas.microsoft.com/office/drawing/2014/main" id="{EE7068CC-7714-7090-0319-A61EFDCA5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709" y="2826887"/>
            <a:ext cx="2070000" cy="1231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연령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성별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가구형태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</a:t>
            </a:r>
            <a:b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</a:b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결혼여부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월소득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맞벌이여부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소비성향 세그먼트 및 스코어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355618" lvl="1" indent="-177809">
              <a:buFont typeface="Arial" panose="020B0604020202020204" pitchFamily="34" charset="0"/>
              <a:buChar char="•"/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실속형 미식가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355618" lvl="1" indent="-177809">
              <a:buFont typeface="Arial" panose="020B0604020202020204" pitchFamily="34" charset="0"/>
              <a:buChar char="•"/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건강 추구형 소비자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marL="355618" lvl="1" indent="-177809">
              <a:buFont typeface="Arial" panose="020B0604020202020204" pitchFamily="34" charset="0"/>
              <a:buChar char="•"/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트렌드 주도형 소비자</a:t>
            </a:r>
            <a:r>
              <a:rPr lang="en-US" altLang="ko-KR" sz="1067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 </a:t>
            </a:r>
            <a:endParaRPr lang="ko-KR" altLang="ko-KR" sz="1067" b="1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66963ED-54A5-31B4-CE7B-CF6E4B18D14D}"/>
              </a:ext>
            </a:extLst>
          </p:cNvPr>
          <p:cNvSpPr/>
          <p:nvPr/>
        </p:nvSpPr>
        <p:spPr>
          <a:xfrm>
            <a:off x="1583709" y="4236887"/>
            <a:ext cx="600000" cy="6000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9" name="십자형 18">
            <a:extLst>
              <a:ext uri="{FF2B5EF4-FFF2-40B4-BE49-F238E27FC236}">
                <a16:creationId xmlns:a16="http://schemas.microsoft.com/office/drawing/2014/main" id="{8D7D317B-EF0B-24E7-7EA9-FDBC2E4C56A9}"/>
              </a:ext>
            </a:extLst>
          </p:cNvPr>
          <p:cNvSpPr/>
          <p:nvPr/>
        </p:nvSpPr>
        <p:spPr>
          <a:xfrm>
            <a:off x="1643709" y="4296887"/>
            <a:ext cx="480000" cy="480000"/>
          </a:xfrm>
          <a:prstGeom prst="plus">
            <a:avLst>
              <a:gd name="adj" fmla="val 3770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BED569F-B271-B8B8-F9A6-6C8928C938C9}"/>
              </a:ext>
            </a:extLst>
          </p:cNvPr>
          <p:cNvSpPr/>
          <p:nvPr/>
        </p:nvSpPr>
        <p:spPr>
          <a:xfrm>
            <a:off x="937992" y="4881170"/>
            <a:ext cx="645717" cy="645717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pic>
        <p:nvPicPr>
          <p:cNvPr id="21" name="그래픽 20" descr="테이블 차림 단색으로 채워진">
            <a:extLst>
              <a:ext uri="{FF2B5EF4-FFF2-40B4-BE49-F238E27FC236}">
                <a16:creationId xmlns:a16="http://schemas.microsoft.com/office/drawing/2014/main" id="{F2FAF325-1306-34D7-4649-9A3503C44E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3309" y="4971170"/>
            <a:ext cx="470400" cy="470400"/>
          </a:xfrm>
          <a:prstGeom prst="rect">
            <a:avLst/>
          </a:prstGeom>
        </p:spPr>
      </p:pic>
      <p:sp>
        <p:nvSpPr>
          <p:cNvPr id="23" name="Rectangle 948">
            <a:extLst>
              <a:ext uri="{FF2B5EF4-FFF2-40B4-BE49-F238E27FC236}">
                <a16:creationId xmlns:a16="http://schemas.microsoft.com/office/drawing/2014/main" id="{BB70B7CF-4E6D-BBD6-E6C5-3F8592C2A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709" y="5001171"/>
            <a:ext cx="1110000" cy="410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/>
            <a:r>
              <a:rPr lang="ko-KR" altLang="en-US" sz="1333" b="1" dirty="0">
                <a:latin typeface="+mj-ea"/>
                <a:ea typeface="+mj-ea"/>
              </a:rPr>
              <a:t>판매 제품 데이터</a:t>
            </a:r>
            <a:endParaRPr lang="en-US" altLang="ko-KR" sz="1333" b="1" dirty="0">
              <a:latin typeface="+mj-ea"/>
              <a:ea typeface="+mj-ea"/>
            </a:endParaRPr>
          </a:p>
        </p:txBody>
      </p:sp>
      <p:sp>
        <p:nvSpPr>
          <p:cNvPr id="24" name="Rectangle 948">
            <a:extLst>
              <a:ext uri="{FF2B5EF4-FFF2-40B4-BE49-F238E27FC236}">
                <a16:creationId xmlns:a16="http://schemas.microsoft.com/office/drawing/2014/main" id="{A0F15468-85F9-185E-7380-F56450159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709" y="5659984"/>
            <a:ext cx="207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제품명 및 제품 특징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가격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후기수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경쟁상품 비교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제품별 시장 규모 등</a:t>
            </a:r>
            <a:endParaRPr lang="ko-KR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478E301-6A9F-E4C5-7E55-B8FDAD5FB662}"/>
              </a:ext>
            </a:extLst>
          </p:cNvPr>
          <p:cNvSpPr/>
          <p:nvPr/>
        </p:nvSpPr>
        <p:spPr>
          <a:xfrm>
            <a:off x="8933709" y="1896887"/>
            <a:ext cx="2490000" cy="2280000"/>
          </a:xfrm>
          <a:prstGeom prst="roundRect">
            <a:avLst>
              <a:gd name="adj" fmla="val 9866"/>
            </a:avLst>
          </a:prstGeom>
          <a:solidFill>
            <a:schemeClr val="tx2">
              <a:lumMod val="20000"/>
              <a:lumOff val="80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235E111-D2F8-C839-C277-ED07991D8D2E}"/>
              </a:ext>
            </a:extLst>
          </p:cNvPr>
          <p:cNvSpPr/>
          <p:nvPr/>
        </p:nvSpPr>
        <p:spPr>
          <a:xfrm>
            <a:off x="8933709" y="4416887"/>
            <a:ext cx="2490000" cy="2250000"/>
          </a:xfrm>
          <a:prstGeom prst="roundRect">
            <a:avLst/>
          </a:prstGeom>
          <a:solidFill>
            <a:srgbClr val="DDEFF5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D167CD1-EF23-CE6E-C680-B400DB826AF2}"/>
              </a:ext>
            </a:extLst>
          </p:cNvPr>
          <p:cNvSpPr/>
          <p:nvPr/>
        </p:nvSpPr>
        <p:spPr>
          <a:xfrm>
            <a:off x="9187992" y="2046888"/>
            <a:ext cx="645717" cy="645717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0" name="Rectangle 948">
            <a:extLst>
              <a:ext uri="{FF2B5EF4-FFF2-40B4-BE49-F238E27FC236}">
                <a16:creationId xmlns:a16="http://schemas.microsoft.com/office/drawing/2014/main" id="{D4CCFF10-C836-5D0F-7061-FEF0CCF50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3709" y="2166888"/>
            <a:ext cx="1110000" cy="410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/>
            <a:r>
              <a:rPr lang="ko-KR" altLang="en-US" sz="1333" b="1" dirty="0" err="1">
                <a:latin typeface="+mj-ea"/>
                <a:ea typeface="+mj-ea"/>
              </a:rPr>
              <a:t>다콘</a:t>
            </a:r>
            <a:endParaRPr lang="en-US" altLang="ko-KR" sz="1333" b="1" dirty="0">
              <a:latin typeface="+mj-ea"/>
              <a:ea typeface="+mj-ea"/>
            </a:endParaRPr>
          </a:p>
          <a:p>
            <a:pPr defTabSz="609630" latinLnBrk="0"/>
            <a:r>
              <a:rPr lang="ko-KR" altLang="en-US" sz="1333" b="1" dirty="0">
                <a:latin typeface="+mj-ea"/>
                <a:ea typeface="+mj-ea"/>
              </a:rPr>
              <a:t>리더보드</a:t>
            </a:r>
            <a:endParaRPr lang="ko-KR" altLang="ko-KR" sz="1333" b="1" dirty="0">
              <a:latin typeface="+mj-ea"/>
              <a:ea typeface="+mj-ea"/>
            </a:endParaRPr>
          </a:p>
        </p:txBody>
      </p:sp>
      <p:sp>
        <p:nvSpPr>
          <p:cNvPr id="31" name="Rectangle 948">
            <a:extLst>
              <a:ext uri="{FF2B5EF4-FFF2-40B4-BE49-F238E27FC236}">
                <a16:creationId xmlns:a16="http://schemas.microsoft.com/office/drawing/2014/main" id="{160C94CE-9AE2-B083-219E-CAD8A7CEA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3709" y="2856887"/>
            <a:ext cx="207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예측 데이터와 실제 데이터를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en-US" altLang="ko-KR" sz="1067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SMAPE </a:t>
            </a:r>
            <a:r>
              <a:rPr lang="ko-KR" altLang="en-US" sz="1067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방식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으로 평가하여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제출물에 대한 실시간 점수 반환</a:t>
            </a:r>
            <a:endParaRPr lang="ko-KR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2D4BCCF-B273-377D-EA5C-7110FB4AC8FB}"/>
              </a:ext>
            </a:extLst>
          </p:cNvPr>
          <p:cNvSpPr/>
          <p:nvPr/>
        </p:nvSpPr>
        <p:spPr>
          <a:xfrm>
            <a:off x="9187992" y="4806888"/>
            <a:ext cx="645717" cy="645717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6" name="Rectangle 948">
            <a:extLst>
              <a:ext uri="{FF2B5EF4-FFF2-40B4-BE49-F238E27FC236}">
                <a16:creationId xmlns:a16="http://schemas.microsoft.com/office/drawing/2014/main" id="{C9E3D97E-DBFB-A2D7-A87D-F865EE2FD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3709" y="4926888"/>
            <a:ext cx="1110000" cy="410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/>
            <a:r>
              <a:rPr lang="en-US" altLang="ko-KR" sz="1333" b="1" dirty="0">
                <a:latin typeface="+mj-ea"/>
                <a:ea typeface="+mj-ea"/>
              </a:rPr>
              <a:t>LLM </a:t>
            </a:r>
            <a:r>
              <a:rPr lang="ko-KR" altLang="en-US" sz="1333" b="1" dirty="0" err="1">
                <a:latin typeface="+mj-ea"/>
                <a:ea typeface="+mj-ea"/>
              </a:rPr>
              <a:t>모델별</a:t>
            </a:r>
            <a:endParaRPr lang="en-US" altLang="ko-KR" sz="1333" b="1" dirty="0">
              <a:latin typeface="+mj-ea"/>
              <a:ea typeface="+mj-ea"/>
            </a:endParaRPr>
          </a:p>
          <a:p>
            <a:pPr defTabSz="609630" latinLnBrk="0"/>
            <a:r>
              <a:rPr lang="ko-KR" altLang="en-US" sz="1333" b="1" dirty="0">
                <a:latin typeface="+mj-ea"/>
                <a:ea typeface="+mj-ea"/>
              </a:rPr>
              <a:t>교차 검증</a:t>
            </a:r>
            <a:endParaRPr lang="en-US" altLang="ko-KR" sz="1333" b="1" dirty="0">
              <a:latin typeface="+mj-ea"/>
              <a:ea typeface="+mj-ea"/>
            </a:endParaRPr>
          </a:p>
        </p:txBody>
      </p:sp>
      <p:sp>
        <p:nvSpPr>
          <p:cNvPr id="37" name="Rectangle 948">
            <a:extLst>
              <a:ext uri="{FF2B5EF4-FFF2-40B4-BE49-F238E27FC236}">
                <a16:creationId xmlns:a16="http://schemas.microsoft.com/office/drawing/2014/main" id="{92DC6FA2-8E9D-89EA-A08A-1200AD1C5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3709" y="5616887"/>
            <a:ext cx="207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GPT-5, Claude, </a:t>
            </a:r>
            <a:r>
              <a:rPr lang="en-US" altLang="ko-KR" sz="106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eXaone</a:t>
            </a:r>
            <a:r>
              <a:rPr lang="en-US" altLang="ko-KR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등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동일 프롬프트에 대한</a:t>
            </a:r>
            <a:endParaRPr lang="en-US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모델별</a:t>
            </a:r>
            <a:r>
              <a:rPr lang="ko-KR" altLang="en-US" sz="1067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점수 검증</a:t>
            </a:r>
            <a:endParaRPr lang="ko-KR" altLang="ko-KR" sz="1067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9758DE4-20E4-E53B-C600-A44DB145FE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000" y="-351000"/>
            <a:ext cx="254000" cy="254000"/>
          </a:xfrm>
          <a:prstGeom prst="rect">
            <a:avLst/>
          </a:prstGeom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id="{14F14DF4-8612-FCD4-E918-BD655ABC5AC3}"/>
              </a:ext>
            </a:extLst>
          </p:cNvPr>
          <p:cNvGrpSpPr/>
          <p:nvPr/>
        </p:nvGrpSpPr>
        <p:grpSpPr>
          <a:xfrm>
            <a:off x="4073709" y="2076888"/>
            <a:ext cx="1482001" cy="1542542"/>
            <a:chOff x="5678999" y="2059511"/>
            <a:chExt cx="2223001" cy="2313813"/>
          </a:xfrm>
        </p:grpSpPr>
        <p:sp>
          <p:nvSpPr>
            <p:cNvPr id="38" name="갈매기형 수장 1">
              <a:extLst>
                <a:ext uri="{FF2B5EF4-FFF2-40B4-BE49-F238E27FC236}">
                  <a16:creationId xmlns:a16="http://schemas.microsoft.com/office/drawing/2014/main" id="{4CA00E9E-3871-048D-71E6-7D0C892F3CC5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8194C2B-F937-D761-1996-D94B37222399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3E2B0CA2-435E-2D22-68C3-5570E1F34701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210DA64-C5C3-5512-DF5D-E321AFFD0E8F}"/>
                </a:ext>
              </a:extLst>
            </p:cNvPr>
            <p:cNvSpPr txBox="1"/>
            <p:nvPr/>
          </p:nvSpPr>
          <p:spPr>
            <a:xfrm>
              <a:off x="5769000" y="3658500"/>
              <a:ext cx="1354791" cy="353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33" b="1" dirty="0">
                  <a:solidFill>
                    <a:schemeClr val="bg1"/>
                  </a:solidFill>
                  <a:latin typeface="+mn-ea"/>
                </a:rPr>
                <a:t>LLM</a:t>
              </a:r>
              <a:endParaRPr lang="ko-KR" altLang="en-US" sz="933" b="1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49" name="그래픽 48" descr="뇌 단색으로 채워진">
              <a:extLst>
                <a:ext uri="{FF2B5EF4-FFF2-40B4-BE49-F238E27FC236}">
                  <a16:creationId xmlns:a16="http://schemas.microsoft.com/office/drawing/2014/main" id="{56BDE1BA-B035-8B41-BDDF-53201D271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038999" y="2824511"/>
              <a:ext cx="779400" cy="779400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A5B0A66-8624-C40A-3974-969C3764FA7C}"/>
              </a:ext>
            </a:extLst>
          </p:cNvPr>
          <p:cNvGrpSpPr/>
          <p:nvPr/>
        </p:nvGrpSpPr>
        <p:grpSpPr>
          <a:xfrm>
            <a:off x="4073709" y="3516888"/>
            <a:ext cx="1482001" cy="1542542"/>
            <a:chOff x="5678999" y="2059511"/>
            <a:chExt cx="2223001" cy="2313813"/>
          </a:xfrm>
        </p:grpSpPr>
        <p:sp>
          <p:nvSpPr>
            <p:cNvPr id="56" name="갈매기형 수장 1">
              <a:extLst>
                <a:ext uri="{FF2B5EF4-FFF2-40B4-BE49-F238E27FC236}">
                  <a16:creationId xmlns:a16="http://schemas.microsoft.com/office/drawing/2014/main" id="{7149D481-954A-0823-DABA-D4A27756ECC7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8024C469-C0F3-0B8A-88C3-1B1E912803BA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AB1C6371-5971-3614-7A11-C7F15C168C4B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265A5DB-1A10-12B3-C178-1744E9F2DFE4}"/>
                </a:ext>
              </a:extLst>
            </p:cNvPr>
            <p:cNvSpPr txBox="1"/>
            <p:nvPr/>
          </p:nvSpPr>
          <p:spPr>
            <a:xfrm>
              <a:off x="5769000" y="3658500"/>
              <a:ext cx="1354791" cy="353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33" b="1" dirty="0" err="1">
                  <a:solidFill>
                    <a:schemeClr val="bg1"/>
                  </a:solidFill>
                  <a:latin typeface="+mn-ea"/>
                </a:rPr>
                <a:t>Extenal</a:t>
              </a:r>
              <a:endParaRPr lang="ko-KR" altLang="en-US" sz="933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E0899D3C-E6B0-883D-474F-26BAD42F2B37}"/>
              </a:ext>
            </a:extLst>
          </p:cNvPr>
          <p:cNvGrpSpPr/>
          <p:nvPr/>
        </p:nvGrpSpPr>
        <p:grpSpPr>
          <a:xfrm>
            <a:off x="4073709" y="4896888"/>
            <a:ext cx="1482001" cy="1542542"/>
            <a:chOff x="5678999" y="2059511"/>
            <a:chExt cx="2223001" cy="2313813"/>
          </a:xfrm>
        </p:grpSpPr>
        <p:sp>
          <p:nvSpPr>
            <p:cNvPr id="62" name="갈매기형 수장 1">
              <a:extLst>
                <a:ext uri="{FF2B5EF4-FFF2-40B4-BE49-F238E27FC236}">
                  <a16:creationId xmlns:a16="http://schemas.microsoft.com/office/drawing/2014/main" id="{A83E8BB8-6577-0A7C-8A58-111742C16F32}"/>
                </a:ext>
              </a:extLst>
            </p:cNvPr>
            <p:cNvSpPr/>
            <p:nvPr/>
          </p:nvSpPr>
          <p:spPr>
            <a:xfrm rot="5400000">
              <a:off x="5287092" y="2451418"/>
              <a:ext cx="2313813" cy="1529999"/>
            </a:xfrm>
            <a:prstGeom prst="chevron">
              <a:avLst>
                <a:gd name="adj" fmla="val 33191"/>
              </a:avLst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88C1DBA-E627-88F3-F988-E2AAFF05E6D8}"/>
                </a:ext>
              </a:extLst>
            </p:cNvPr>
            <p:cNvSpPr/>
            <p:nvPr/>
          </p:nvSpPr>
          <p:spPr>
            <a:xfrm>
              <a:off x="7794000" y="3163500"/>
              <a:ext cx="108000" cy="108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0FE2B4C5-23D3-F3F5-0D10-ECCBAB602454}"/>
                </a:ext>
              </a:extLst>
            </p:cNvPr>
            <p:cNvCxnSpPr>
              <a:cxnSpLocks/>
            </p:cNvCxnSpPr>
            <p:nvPr/>
          </p:nvCxnSpPr>
          <p:spPr>
            <a:xfrm>
              <a:off x="7209000" y="3216418"/>
              <a:ext cx="585000" cy="0"/>
            </a:xfrm>
            <a:prstGeom prst="line">
              <a:avLst/>
            </a:prstGeom>
            <a:ln>
              <a:solidFill>
                <a:srgbClr val="929292"/>
              </a:solidFill>
              <a:prstDash val="dash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34BFB31-A3E4-40CF-E533-F3E5CEE0B6E9}"/>
                </a:ext>
              </a:extLst>
            </p:cNvPr>
            <p:cNvSpPr txBox="1"/>
            <p:nvPr/>
          </p:nvSpPr>
          <p:spPr>
            <a:xfrm>
              <a:off x="5769000" y="3658500"/>
              <a:ext cx="1354791" cy="3538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33" b="1" dirty="0">
                  <a:solidFill>
                    <a:schemeClr val="bg1"/>
                  </a:solidFill>
                  <a:latin typeface="+mn-ea"/>
                </a:rPr>
                <a:t>Predict</a:t>
              </a:r>
              <a:endParaRPr lang="ko-KR" altLang="en-US" sz="933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68" name="Rectangle 948">
            <a:extLst>
              <a:ext uri="{FF2B5EF4-FFF2-40B4-BE49-F238E27FC236}">
                <a16:creationId xmlns:a16="http://schemas.microsoft.com/office/drawing/2014/main" id="{3ED0F80C-ECFD-B20F-F8B0-36F7E0892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2209984"/>
            <a:ext cx="2070000" cy="26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en-US" altLang="ko-KR" sz="1333" b="1" dirty="0">
                <a:latin typeface="+mj-ea"/>
                <a:ea typeface="+mj-ea"/>
              </a:rPr>
              <a:t>LLM</a:t>
            </a:r>
            <a:r>
              <a:rPr lang="ko-KR" altLang="en-US" sz="1333" b="1" dirty="0">
                <a:latin typeface="+mj-ea"/>
                <a:ea typeface="+mj-ea"/>
              </a:rPr>
              <a:t> 질의 및 답변</a:t>
            </a:r>
            <a:endParaRPr lang="en-US" altLang="ko-KR" sz="1333" b="1" dirty="0">
              <a:latin typeface="+mj-ea"/>
              <a:ea typeface="+mj-ea"/>
            </a:endParaRPr>
          </a:p>
        </p:txBody>
      </p:sp>
      <p:sp>
        <p:nvSpPr>
          <p:cNvPr id="70" name="Rectangle 948">
            <a:extLst>
              <a:ext uri="{FF2B5EF4-FFF2-40B4-BE49-F238E27FC236}">
                <a16:creationId xmlns:a16="http://schemas.microsoft.com/office/drawing/2014/main" id="{9FD13496-E59E-19DD-43E5-0E3E87BC5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2599984"/>
            <a:ext cx="222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통합된 프롬프트로 </a:t>
            </a: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  <a:t>페르소나 구축</a:t>
            </a:r>
            <a:b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</a:rPr>
            </a:b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고객 맞춤형 구매 가능성</a:t>
            </a:r>
            <a: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선호도 등 예측 결과 도출</a:t>
            </a:r>
          </a:p>
        </p:txBody>
      </p:sp>
      <p:sp>
        <p:nvSpPr>
          <p:cNvPr id="71" name="Rectangle 948">
            <a:extLst>
              <a:ext uri="{FF2B5EF4-FFF2-40B4-BE49-F238E27FC236}">
                <a16:creationId xmlns:a16="http://schemas.microsoft.com/office/drawing/2014/main" id="{EC851289-BF66-9E7A-D6F0-96D1EEE74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3709984"/>
            <a:ext cx="2070000" cy="26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333" b="1" dirty="0">
                <a:latin typeface="+mj-ea"/>
                <a:ea typeface="+mj-ea"/>
              </a:rPr>
              <a:t>외생 변수 계산</a:t>
            </a:r>
            <a:endParaRPr lang="en-US" altLang="ko-KR" sz="1333" b="1" dirty="0">
              <a:latin typeface="+mj-ea"/>
              <a:ea typeface="+mj-ea"/>
            </a:endParaRPr>
          </a:p>
        </p:txBody>
      </p:sp>
      <p:sp>
        <p:nvSpPr>
          <p:cNvPr id="72" name="Rectangle 948">
            <a:extLst>
              <a:ext uri="{FF2B5EF4-FFF2-40B4-BE49-F238E27FC236}">
                <a16:creationId xmlns:a16="http://schemas.microsoft.com/office/drawing/2014/main" id="{1F2D29F4-0294-63D0-E45B-F697FE2CF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4099984"/>
            <a:ext cx="231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월별 판매추이</a:t>
            </a:r>
            <a: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검색량</a:t>
            </a: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트랜드</a:t>
            </a:r>
            <a: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시장규모 및 제품별 차등 계수</a:t>
            </a:r>
            <a: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,</a:t>
            </a: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페르소나 증강 계수 등 계산</a:t>
            </a:r>
          </a:p>
        </p:txBody>
      </p:sp>
      <p:sp>
        <p:nvSpPr>
          <p:cNvPr id="73" name="Rectangle 948">
            <a:extLst>
              <a:ext uri="{FF2B5EF4-FFF2-40B4-BE49-F238E27FC236}">
                <a16:creationId xmlns:a16="http://schemas.microsoft.com/office/drawing/2014/main" id="{15ED770E-4AE3-4574-FC5F-5904E66AB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5126206"/>
            <a:ext cx="2070000" cy="26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ko-KR" altLang="en-US" sz="1333" b="1" dirty="0" err="1">
                <a:latin typeface="+mj-ea"/>
                <a:ea typeface="+mj-ea"/>
              </a:rPr>
              <a:t>구매량</a:t>
            </a:r>
            <a:r>
              <a:rPr lang="ko-KR" altLang="en-US" sz="1333" b="1" dirty="0">
                <a:latin typeface="+mj-ea"/>
                <a:ea typeface="+mj-ea"/>
              </a:rPr>
              <a:t> 예측</a:t>
            </a:r>
            <a:endParaRPr lang="en-US" altLang="ko-KR" sz="1333" b="1" dirty="0">
              <a:latin typeface="+mj-ea"/>
              <a:ea typeface="+mj-ea"/>
            </a:endParaRPr>
          </a:p>
        </p:txBody>
      </p:sp>
      <p:sp>
        <p:nvSpPr>
          <p:cNvPr id="74" name="Rectangle 948">
            <a:extLst>
              <a:ext uri="{FF2B5EF4-FFF2-40B4-BE49-F238E27FC236}">
                <a16:creationId xmlns:a16="http://schemas.microsoft.com/office/drawing/2014/main" id="{2901CA35-F908-99CB-5009-951E34E40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09" y="5516205"/>
            <a:ext cx="2070000" cy="70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609630" latinLnBrk="0">
              <a:lnSpc>
                <a:spcPct val="150000"/>
              </a:lnSpc>
            </a:pPr>
            <a:r>
              <a:rPr lang="en-US" altLang="ko-KR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LLM </a:t>
            </a: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답변 내용과 외생변수의 </a:t>
            </a:r>
            <a:endParaRPr lang="en-US" altLang="ko-KR" sz="1067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계산을 통한 월별 </a:t>
            </a:r>
            <a:r>
              <a:rPr lang="ko-KR" altLang="en-US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구매량</a:t>
            </a: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endParaRPr lang="en-US" altLang="ko-KR" sz="1067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defTabSz="609630" latinLnBrk="0">
              <a:lnSpc>
                <a:spcPct val="150000"/>
              </a:lnSpc>
            </a:pPr>
            <a:r>
              <a:rPr lang="ko-KR" altLang="en-US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예측 산출물 출력</a:t>
            </a:r>
          </a:p>
        </p:txBody>
      </p:sp>
      <p:sp>
        <p:nvSpPr>
          <p:cNvPr id="75" name="Freeform 1032">
            <a:extLst>
              <a:ext uri="{FF2B5EF4-FFF2-40B4-BE49-F238E27FC236}">
                <a16:creationId xmlns:a16="http://schemas.microsoft.com/office/drawing/2014/main" id="{E66AFCFF-9844-2051-1647-402E86298FE6}"/>
              </a:ext>
            </a:extLst>
          </p:cNvPr>
          <p:cNvSpPr>
            <a:spLocks noEditPoints="1"/>
          </p:cNvSpPr>
          <p:nvPr/>
        </p:nvSpPr>
        <p:spPr bwMode="auto">
          <a:xfrm>
            <a:off x="4313709" y="4086887"/>
            <a:ext cx="510000" cy="420000"/>
          </a:xfrm>
          <a:custGeom>
            <a:avLst/>
            <a:gdLst>
              <a:gd name="T0" fmla="*/ 260 w 260"/>
              <a:gd name="T1" fmla="*/ 242 h 259"/>
              <a:gd name="T2" fmla="*/ 260 w 260"/>
              <a:gd name="T3" fmla="*/ 259 h 259"/>
              <a:gd name="T4" fmla="*/ 0 w 260"/>
              <a:gd name="T5" fmla="*/ 259 h 259"/>
              <a:gd name="T6" fmla="*/ 0 w 260"/>
              <a:gd name="T7" fmla="*/ 0 h 259"/>
              <a:gd name="T8" fmla="*/ 16 w 260"/>
              <a:gd name="T9" fmla="*/ 0 h 259"/>
              <a:gd name="T10" fmla="*/ 16 w 260"/>
              <a:gd name="T11" fmla="*/ 242 h 259"/>
              <a:gd name="T12" fmla="*/ 260 w 260"/>
              <a:gd name="T13" fmla="*/ 242 h 259"/>
              <a:gd name="T14" fmla="*/ 116 w 260"/>
              <a:gd name="T15" fmla="*/ 90 h 259"/>
              <a:gd name="T16" fmla="*/ 182 w 260"/>
              <a:gd name="T17" fmla="*/ 107 h 259"/>
              <a:gd name="T18" fmla="*/ 205 w 260"/>
              <a:gd name="T19" fmla="*/ 66 h 259"/>
              <a:gd name="T20" fmla="*/ 224 w 260"/>
              <a:gd name="T21" fmla="*/ 81 h 259"/>
              <a:gd name="T22" fmla="*/ 227 w 260"/>
              <a:gd name="T23" fmla="*/ 14 h 259"/>
              <a:gd name="T24" fmla="*/ 170 w 260"/>
              <a:gd name="T25" fmla="*/ 47 h 259"/>
              <a:gd name="T26" fmla="*/ 191 w 260"/>
              <a:gd name="T27" fmla="*/ 59 h 259"/>
              <a:gd name="T28" fmla="*/ 175 w 260"/>
              <a:gd name="T29" fmla="*/ 88 h 259"/>
              <a:gd name="T30" fmla="*/ 111 w 260"/>
              <a:gd name="T31" fmla="*/ 71 h 259"/>
              <a:gd name="T32" fmla="*/ 42 w 260"/>
              <a:gd name="T33" fmla="*/ 140 h 259"/>
              <a:gd name="T34" fmla="*/ 54 w 260"/>
              <a:gd name="T35" fmla="*/ 152 h 259"/>
              <a:gd name="T36" fmla="*/ 116 w 260"/>
              <a:gd name="T37" fmla="*/ 90 h 259"/>
              <a:gd name="T38" fmla="*/ 97 w 260"/>
              <a:gd name="T39" fmla="*/ 226 h 259"/>
              <a:gd name="T40" fmla="*/ 130 w 260"/>
              <a:gd name="T41" fmla="*/ 226 h 259"/>
              <a:gd name="T42" fmla="*/ 130 w 260"/>
              <a:gd name="T43" fmla="*/ 109 h 259"/>
              <a:gd name="T44" fmla="*/ 120 w 260"/>
              <a:gd name="T45" fmla="*/ 107 h 259"/>
              <a:gd name="T46" fmla="*/ 97 w 260"/>
              <a:gd name="T47" fmla="*/ 131 h 259"/>
              <a:gd name="T48" fmla="*/ 97 w 260"/>
              <a:gd name="T49" fmla="*/ 226 h 259"/>
              <a:gd name="T50" fmla="*/ 49 w 260"/>
              <a:gd name="T51" fmla="*/ 169 h 259"/>
              <a:gd name="T52" fmla="*/ 49 w 260"/>
              <a:gd name="T53" fmla="*/ 226 h 259"/>
              <a:gd name="T54" fmla="*/ 80 w 260"/>
              <a:gd name="T55" fmla="*/ 226 h 259"/>
              <a:gd name="T56" fmla="*/ 80 w 260"/>
              <a:gd name="T57" fmla="*/ 147 h 259"/>
              <a:gd name="T58" fmla="*/ 54 w 260"/>
              <a:gd name="T59" fmla="*/ 173 h 259"/>
              <a:gd name="T60" fmla="*/ 49 w 260"/>
              <a:gd name="T61" fmla="*/ 169 h 259"/>
              <a:gd name="T62" fmla="*/ 194 w 260"/>
              <a:gd name="T63" fmla="*/ 116 h 259"/>
              <a:gd name="T64" fmla="*/ 194 w 260"/>
              <a:gd name="T65" fmla="*/ 226 h 259"/>
              <a:gd name="T66" fmla="*/ 227 w 260"/>
              <a:gd name="T67" fmla="*/ 226 h 259"/>
              <a:gd name="T68" fmla="*/ 227 w 260"/>
              <a:gd name="T69" fmla="*/ 100 h 259"/>
              <a:gd name="T70" fmla="*/ 210 w 260"/>
              <a:gd name="T71" fmla="*/ 90 h 259"/>
              <a:gd name="T72" fmla="*/ 194 w 260"/>
              <a:gd name="T73" fmla="*/ 116 h 259"/>
              <a:gd name="T74" fmla="*/ 177 w 260"/>
              <a:gd name="T75" fmla="*/ 226 h 259"/>
              <a:gd name="T76" fmla="*/ 177 w 260"/>
              <a:gd name="T77" fmla="*/ 121 h 259"/>
              <a:gd name="T78" fmla="*/ 146 w 260"/>
              <a:gd name="T79" fmla="*/ 114 h 259"/>
              <a:gd name="T80" fmla="*/ 146 w 260"/>
              <a:gd name="T81" fmla="*/ 226 h 259"/>
              <a:gd name="T82" fmla="*/ 177 w 260"/>
              <a:gd name="T83" fmla="*/ 226 h 259"/>
              <a:gd name="T84" fmla="*/ 177 w 260"/>
              <a:gd name="T85" fmla="*/ 226 h 259"/>
              <a:gd name="T86" fmla="*/ 177 w 260"/>
              <a:gd name="T87" fmla="*/ 226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60" h="259">
                <a:moveTo>
                  <a:pt x="260" y="242"/>
                </a:moveTo>
                <a:lnTo>
                  <a:pt x="260" y="259"/>
                </a:lnTo>
                <a:lnTo>
                  <a:pt x="0" y="259"/>
                </a:lnTo>
                <a:lnTo>
                  <a:pt x="0" y="0"/>
                </a:lnTo>
                <a:lnTo>
                  <a:pt x="16" y="0"/>
                </a:lnTo>
                <a:lnTo>
                  <a:pt x="16" y="242"/>
                </a:lnTo>
                <a:lnTo>
                  <a:pt x="260" y="242"/>
                </a:lnTo>
                <a:close/>
                <a:moveTo>
                  <a:pt x="116" y="90"/>
                </a:moveTo>
                <a:lnTo>
                  <a:pt x="182" y="107"/>
                </a:lnTo>
                <a:lnTo>
                  <a:pt x="205" y="66"/>
                </a:lnTo>
                <a:lnTo>
                  <a:pt x="224" y="81"/>
                </a:lnTo>
                <a:lnTo>
                  <a:pt x="227" y="14"/>
                </a:lnTo>
                <a:lnTo>
                  <a:pt x="170" y="47"/>
                </a:lnTo>
                <a:lnTo>
                  <a:pt x="191" y="59"/>
                </a:lnTo>
                <a:lnTo>
                  <a:pt x="175" y="88"/>
                </a:lnTo>
                <a:lnTo>
                  <a:pt x="111" y="71"/>
                </a:lnTo>
                <a:lnTo>
                  <a:pt x="42" y="140"/>
                </a:lnTo>
                <a:lnTo>
                  <a:pt x="54" y="152"/>
                </a:lnTo>
                <a:lnTo>
                  <a:pt x="116" y="90"/>
                </a:lnTo>
                <a:close/>
                <a:moveTo>
                  <a:pt x="97" y="226"/>
                </a:moveTo>
                <a:lnTo>
                  <a:pt x="130" y="226"/>
                </a:lnTo>
                <a:lnTo>
                  <a:pt x="130" y="109"/>
                </a:lnTo>
                <a:lnTo>
                  <a:pt x="120" y="107"/>
                </a:lnTo>
                <a:lnTo>
                  <a:pt x="97" y="131"/>
                </a:lnTo>
                <a:lnTo>
                  <a:pt x="97" y="226"/>
                </a:lnTo>
                <a:close/>
                <a:moveTo>
                  <a:pt x="49" y="169"/>
                </a:moveTo>
                <a:lnTo>
                  <a:pt x="49" y="226"/>
                </a:lnTo>
                <a:lnTo>
                  <a:pt x="80" y="226"/>
                </a:lnTo>
                <a:lnTo>
                  <a:pt x="80" y="147"/>
                </a:lnTo>
                <a:lnTo>
                  <a:pt x="54" y="173"/>
                </a:lnTo>
                <a:lnTo>
                  <a:pt x="49" y="169"/>
                </a:lnTo>
                <a:close/>
                <a:moveTo>
                  <a:pt x="194" y="116"/>
                </a:moveTo>
                <a:lnTo>
                  <a:pt x="194" y="226"/>
                </a:lnTo>
                <a:lnTo>
                  <a:pt x="227" y="226"/>
                </a:lnTo>
                <a:lnTo>
                  <a:pt x="227" y="100"/>
                </a:lnTo>
                <a:lnTo>
                  <a:pt x="210" y="90"/>
                </a:lnTo>
                <a:lnTo>
                  <a:pt x="194" y="116"/>
                </a:lnTo>
                <a:close/>
                <a:moveTo>
                  <a:pt x="177" y="226"/>
                </a:moveTo>
                <a:lnTo>
                  <a:pt x="177" y="121"/>
                </a:lnTo>
                <a:lnTo>
                  <a:pt x="146" y="114"/>
                </a:lnTo>
                <a:lnTo>
                  <a:pt x="146" y="226"/>
                </a:lnTo>
                <a:lnTo>
                  <a:pt x="177" y="226"/>
                </a:lnTo>
                <a:close/>
                <a:moveTo>
                  <a:pt x="177" y="226"/>
                </a:moveTo>
                <a:lnTo>
                  <a:pt x="177" y="22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endParaRPr lang="ko-KR" altLang="en-US" sz="1200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5344CD9F-4ECD-5F1C-868F-D55A4186271B}"/>
              </a:ext>
            </a:extLst>
          </p:cNvPr>
          <p:cNvGrpSpPr/>
          <p:nvPr/>
        </p:nvGrpSpPr>
        <p:grpSpPr>
          <a:xfrm>
            <a:off x="9323709" y="2226888"/>
            <a:ext cx="363008" cy="306917"/>
            <a:chOff x="1572131" y="3768482"/>
            <a:chExt cx="544512" cy="460375"/>
          </a:xfrm>
          <a:solidFill>
            <a:srgbClr val="F2F2F2"/>
          </a:solidFill>
        </p:grpSpPr>
        <p:sp>
          <p:nvSpPr>
            <p:cNvPr id="80" name="Freeform 1499">
              <a:extLst>
                <a:ext uri="{FF2B5EF4-FFF2-40B4-BE49-F238E27FC236}">
                  <a16:creationId xmlns:a16="http://schemas.microsoft.com/office/drawing/2014/main" id="{449F9242-96EF-B390-C109-1C8F12E9F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631" y="4165357"/>
              <a:ext cx="417512" cy="63500"/>
            </a:xfrm>
            <a:custGeom>
              <a:avLst/>
              <a:gdLst>
                <a:gd name="T0" fmla="*/ 250 w 263"/>
                <a:gd name="T1" fmla="*/ 27 h 40"/>
                <a:gd name="T2" fmla="*/ 184 w 263"/>
                <a:gd name="T3" fmla="*/ 27 h 40"/>
                <a:gd name="T4" fmla="*/ 184 w 263"/>
                <a:gd name="T5" fmla="*/ 14 h 40"/>
                <a:gd name="T6" fmla="*/ 184 w 263"/>
                <a:gd name="T7" fmla="*/ 14 h 40"/>
                <a:gd name="T8" fmla="*/ 184 w 263"/>
                <a:gd name="T9" fmla="*/ 7 h 40"/>
                <a:gd name="T10" fmla="*/ 181 w 263"/>
                <a:gd name="T11" fmla="*/ 4 h 40"/>
                <a:gd name="T12" fmla="*/ 178 w 263"/>
                <a:gd name="T13" fmla="*/ 0 h 40"/>
                <a:gd name="T14" fmla="*/ 171 w 263"/>
                <a:gd name="T15" fmla="*/ 0 h 40"/>
                <a:gd name="T16" fmla="*/ 92 w 263"/>
                <a:gd name="T17" fmla="*/ 0 h 40"/>
                <a:gd name="T18" fmla="*/ 92 w 263"/>
                <a:gd name="T19" fmla="*/ 0 h 40"/>
                <a:gd name="T20" fmla="*/ 85 w 263"/>
                <a:gd name="T21" fmla="*/ 4 h 40"/>
                <a:gd name="T22" fmla="*/ 82 w 263"/>
                <a:gd name="T23" fmla="*/ 7 h 40"/>
                <a:gd name="T24" fmla="*/ 79 w 263"/>
                <a:gd name="T25" fmla="*/ 14 h 40"/>
                <a:gd name="T26" fmla="*/ 79 w 263"/>
                <a:gd name="T27" fmla="*/ 27 h 40"/>
                <a:gd name="T28" fmla="*/ 13 w 263"/>
                <a:gd name="T29" fmla="*/ 27 h 40"/>
                <a:gd name="T30" fmla="*/ 13 w 263"/>
                <a:gd name="T31" fmla="*/ 27 h 40"/>
                <a:gd name="T32" fmla="*/ 6 w 263"/>
                <a:gd name="T33" fmla="*/ 27 h 40"/>
                <a:gd name="T34" fmla="*/ 3 w 263"/>
                <a:gd name="T35" fmla="*/ 30 h 40"/>
                <a:gd name="T36" fmla="*/ 0 w 263"/>
                <a:gd name="T37" fmla="*/ 40 h 40"/>
                <a:gd name="T38" fmla="*/ 263 w 263"/>
                <a:gd name="T39" fmla="*/ 40 h 40"/>
                <a:gd name="T40" fmla="*/ 263 w 263"/>
                <a:gd name="T41" fmla="*/ 40 h 40"/>
                <a:gd name="T42" fmla="*/ 263 w 263"/>
                <a:gd name="T43" fmla="*/ 33 h 40"/>
                <a:gd name="T44" fmla="*/ 260 w 263"/>
                <a:gd name="T45" fmla="*/ 30 h 40"/>
                <a:gd name="T46" fmla="*/ 257 w 263"/>
                <a:gd name="T47" fmla="*/ 27 h 40"/>
                <a:gd name="T48" fmla="*/ 250 w 263"/>
                <a:gd name="T49" fmla="*/ 27 h 40"/>
                <a:gd name="T50" fmla="*/ 250 w 263"/>
                <a:gd name="T51" fmla="*/ 2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63" h="40">
                  <a:moveTo>
                    <a:pt x="250" y="27"/>
                  </a:moveTo>
                  <a:lnTo>
                    <a:pt x="184" y="27"/>
                  </a:lnTo>
                  <a:lnTo>
                    <a:pt x="184" y="14"/>
                  </a:lnTo>
                  <a:lnTo>
                    <a:pt x="184" y="14"/>
                  </a:lnTo>
                  <a:lnTo>
                    <a:pt x="184" y="7"/>
                  </a:lnTo>
                  <a:lnTo>
                    <a:pt x="181" y="4"/>
                  </a:lnTo>
                  <a:lnTo>
                    <a:pt x="178" y="0"/>
                  </a:lnTo>
                  <a:lnTo>
                    <a:pt x="171" y="0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85" y="4"/>
                  </a:lnTo>
                  <a:lnTo>
                    <a:pt x="82" y="7"/>
                  </a:lnTo>
                  <a:lnTo>
                    <a:pt x="79" y="14"/>
                  </a:lnTo>
                  <a:lnTo>
                    <a:pt x="79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6" y="27"/>
                  </a:lnTo>
                  <a:lnTo>
                    <a:pt x="3" y="30"/>
                  </a:lnTo>
                  <a:lnTo>
                    <a:pt x="0" y="40"/>
                  </a:lnTo>
                  <a:lnTo>
                    <a:pt x="263" y="40"/>
                  </a:lnTo>
                  <a:lnTo>
                    <a:pt x="263" y="40"/>
                  </a:lnTo>
                  <a:lnTo>
                    <a:pt x="263" y="33"/>
                  </a:lnTo>
                  <a:lnTo>
                    <a:pt x="260" y="30"/>
                  </a:lnTo>
                  <a:lnTo>
                    <a:pt x="257" y="27"/>
                  </a:lnTo>
                  <a:lnTo>
                    <a:pt x="250" y="27"/>
                  </a:lnTo>
                  <a:lnTo>
                    <a:pt x="25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/>
            </a:p>
          </p:txBody>
        </p:sp>
        <p:sp>
          <p:nvSpPr>
            <p:cNvPr id="81" name="Freeform 1500">
              <a:extLst>
                <a:ext uri="{FF2B5EF4-FFF2-40B4-BE49-F238E27FC236}">
                  <a16:creationId xmlns:a16="http://schemas.microsoft.com/office/drawing/2014/main" id="{CF16114F-F685-10C5-D12D-8E50354F8D8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2131" y="3768482"/>
              <a:ext cx="544512" cy="376238"/>
            </a:xfrm>
            <a:custGeom>
              <a:avLst/>
              <a:gdLst>
                <a:gd name="T0" fmla="*/ 330 w 343"/>
                <a:gd name="T1" fmla="*/ 0 h 237"/>
                <a:gd name="T2" fmla="*/ 13 w 343"/>
                <a:gd name="T3" fmla="*/ 0 h 237"/>
                <a:gd name="T4" fmla="*/ 13 w 343"/>
                <a:gd name="T5" fmla="*/ 0 h 237"/>
                <a:gd name="T6" fmla="*/ 7 w 343"/>
                <a:gd name="T7" fmla="*/ 0 h 237"/>
                <a:gd name="T8" fmla="*/ 3 w 343"/>
                <a:gd name="T9" fmla="*/ 3 h 237"/>
                <a:gd name="T10" fmla="*/ 0 w 343"/>
                <a:gd name="T11" fmla="*/ 7 h 237"/>
                <a:gd name="T12" fmla="*/ 0 w 343"/>
                <a:gd name="T13" fmla="*/ 13 h 237"/>
                <a:gd name="T14" fmla="*/ 0 w 343"/>
                <a:gd name="T15" fmla="*/ 224 h 237"/>
                <a:gd name="T16" fmla="*/ 0 w 343"/>
                <a:gd name="T17" fmla="*/ 224 h 237"/>
                <a:gd name="T18" fmla="*/ 0 w 343"/>
                <a:gd name="T19" fmla="*/ 231 h 237"/>
                <a:gd name="T20" fmla="*/ 3 w 343"/>
                <a:gd name="T21" fmla="*/ 234 h 237"/>
                <a:gd name="T22" fmla="*/ 7 w 343"/>
                <a:gd name="T23" fmla="*/ 237 h 237"/>
                <a:gd name="T24" fmla="*/ 13 w 343"/>
                <a:gd name="T25" fmla="*/ 237 h 237"/>
                <a:gd name="T26" fmla="*/ 330 w 343"/>
                <a:gd name="T27" fmla="*/ 237 h 237"/>
                <a:gd name="T28" fmla="*/ 330 w 343"/>
                <a:gd name="T29" fmla="*/ 237 h 237"/>
                <a:gd name="T30" fmla="*/ 336 w 343"/>
                <a:gd name="T31" fmla="*/ 237 h 237"/>
                <a:gd name="T32" fmla="*/ 340 w 343"/>
                <a:gd name="T33" fmla="*/ 234 h 237"/>
                <a:gd name="T34" fmla="*/ 343 w 343"/>
                <a:gd name="T35" fmla="*/ 231 h 237"/>
                <a:gd name="T36" fmla="*/ 343 w 343"/>
                <a:gd name="T37" fmla="*/ 224 h 237"/>
                <a:gd name="T38" fmla="*/ 343 w 343"/>
                <a:gd name="T39" fmla="*/ 13 h 237"/>
                <a:gd name="T40" fmla="*/ 343 w 343"/>
                <a:gd name="T41" fmla="*/ 13 h 237"/>
                <a:gd name="T42" fmla="*/ 343 w 343"/>
                <a:gd name="T43" fmla="*/ 7 h 237"/>
                <a:gd name="T44" fmla="*/ 340 w 343"/>
                <a:gd name="T45" fmla="*/ 3 h 237"/>
                <a:gd name="T46" fmla="*/ 336 w 343"/>
                <a:gd name="T47" fmla="*/ 0 h 237"/>
                <a:gd name="T48" fmla="*/ 330 w 343"/>
                <a:gd name="T49" fmla="*/ 0 h 237"/>
                <a:gd name="T50" fmla="*/ 330 w 343"/>
                <a:gd name="T51" fmla="*/ 0 h 237"/>
                <a:gd name="T52" fmla="*/ 317 w 343"/>
                <a:gd name="T53" fmla="*/ 198 h 237"/>
                <a:gd name="T54" fmla="*/ 26 w 343"/>
                <a:gd name="T55" fmla="*/ 198 h 237"/>
                <a:gd name="T56" fmla="*/ 26 w 343"/>
                <a:gd name="T57" fmla="*/ 26 h 237"/>
                <a:gd name="T58" fmla="*/ 317 w 343"/>
                <a:gd name="T59" fmla="*/ 26 h 237"/>
                <a:gd name="T60" fmla="*/ 317 w 343"/>
                <a:gd name="T61" fmla="*/ 198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3" h="237">
                  <a:moveTo>
                    <a:pt x="330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7" y="0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31"/>
                  </a:lnTo>
                  <a:lnTo>
                    <a:pt x="3" y="234"/>
                  </a:lnTo>
                  <a:lnTo>
                    <a:pt x="7" y="237"/>
                  </a:lnTo>
                  <a:lnTo>
                    <a:pt x="13" y="237"/>
                  </a:lnTo>
                  <a:lnTo>
                    <a:pt x="330" y="237"/>
                  </a:lnTo>
                  <a:lnTo>
                    <a:pt x="330" y="237"/>
                  </a:lnTo>
                  <a:lnTo>
                    <a:pt x="336" y="237"/>
                  </a:lnTo>
                  <a:lnTo>
                    <a:pt x="340" y="234"/>
                  </a:lnTo>
                  <a:lnTo>
                    <a:pt x="343" y="231"/>
                  </a:lnTo>
                  <a:lnTo>
                    <a:pt x="343" y="224"/>
                  </a:lnTo>
                  <a:lnTo>
                    <a:pt x="343" y="13"/>
                  </a:lnTo>
                  <a:lnTo>
                    <a:pt x="343" y="13"/>
                  </a:lnTo>
                  <a:lnTo>
                    <a:pt x="343" y="7"/>
                  </a:lnTo>
                  <a:lnTo>
                    <a:pt x="340" y="3"/>
                  </a:lnTo>
                  <a:lnTo>
                    <a:pt x="336" y="0"/>
                  </a:lnTo>
                  <a:lnTo>
                    <a:pt x="330" y="0"/>
                  </a:lnTo>
                  <a:lnTo>
                    <a:pt x="330" y="0"/>
                  </a:lnTo>
                  <a:close/>
                  <a:moveTo>
                    <a:pt x="317" y="198"/>
                  </a:moveTo>
                  <a:lnTo>
                    <a:pt x="26" y="198"/>
                  </a:lnTo>
                  <a:lnTo>
                    <a:pt x="26" y="26"/>
                  </a:lnTo>
                  <a:lnTo>
                    <a:pt x="317" y="26"/>
                  </a:lnTo>
                  <a:lnTo>
                    <a:pt x="317" y="1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0960" tIns="30480" rIns="60960" bIns="3048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200"/>
            </a:p>
          </p:txBody>
        </p:sp>
      </p:grpSp>
      <p:sp>
        <p:nvSpPr>
          <p:cNvPr id="82" name="Freeform 103">
            <a:extLst>
              <a:ext uri="{FF2B5EF4-FFF2-40B4-BE49-F238E27FC236}">
                <a16:creationId xmlns:a16="http://schemas.microsoft.com/office/drawing/2014/main" id="{1BDA4F77-DDE9-77F0-F13B-4B862CAE3705}"/>
              </a:ext>
            </a:extLst>
          </p:cNvPr>
          <p:cNvSpPr/>
          <p:nvPr/>
        </p:nvSpPr>
        <p:spPr>
          <a:xfrm rot="5400000">
            <a:off x="4343709" y="5406888"/>
            <a:ext cx="499705" cy="499705"/>
          </a:xfrm>
          <a:custGeom>
            <a:avLst/>
            <a:gdLst>
              <a:gd name="connsiteX0" fmla="*/ 1200727 w 1838037"/>
              <a:gd name="connsiteY0" fmla="*/ 189346 h 1838037"/>
              <a:gd name="connsiteX1" fmla="*/ 1200727 w 1838037"/>
              <a:gd name="connsiteY1" fmla="*/ 0 h 1838037"/>
              <a:gd name="connsiteX2" fmla="*/ 1838037 w 1838037"/>
              <a:gd name="connsiteY2" fmla="*/ 0 h 1838037"/>
              <a:gd name="connsiteX3" fmla="*/ 1838037 w 1838037"/>
              <a:gd name="connsiteY3" fmla="*/ 637310 h 1838037"/>
              <a:gd name="connsiteX4" fmla="*/ 1648691 w 1838037"/>
              <a:gd name="connsiteY4" fmla="*/ 637310 h 1838037"/>
              <a:gd name="connsiteX5" fmla="*/ 1648691 w 1838037"/>
              <a:gd name="connsiteY5" fmla="*/ 189346 h 1838037"/>
              <a:gd name="connsiteX6" fmla="*/ 1200727 w 1838037"/>
              <a:gd name="connsiteY6" fmla="*/ 1838037 h 1838037"/>
              <a:gd name="connsiteX7" fmla="*/ 1200727 w 1838037"/>
              <a:gd name="connsiteY7" fmla="*/ 1648692 h 1838037"/>
              <a:gd name="connsiteX8" fmla="*/ 1648691 w 1838037"/>
              <a:gd name="connsiteY8" fmla="*/ 1648692 h 1838037"/>
              <a:gd name="connsiteX9" fmla="*/ 1648691 w 1838037"/>
              <a:gd name="connsiteY9" fmla="*/ 1200729 h 1838037"/>
              <a:gd name="connsiteX10" fmla="*/ 1838037 w 1838037"/>
              <a:gd name="connsiteY10" fmla="*/ 1200729 h 1838037"/>
              <a:gd name="connsiteX11" fmla="*/ 1838037 w 1838037"/>
              <a:gd name="connsiteY11" fmla="*/ 1838037 h 1838037"/>
              <a:gd name="connsiteX12" fmla="*/ 967509 w 1838037"/>
              <a:gd name="connsiteY12" fmla="*/ 870528 h 1838037"/>
              <a:gd name="connsiteX13" fmla="*/ 1193347 w 1838037"/>
              <a:gd name="connsiteY13" fmla="*/ 870528 h 1838037"/>
              <a:gd name="connsiteX14" fmla="*/ 1188015 w 1838037"/>
              <a:gd name="connsiteY14" fmla="*/ 835262 h 1838037"/>
              <a:gd name="connsiteX15" fmla="*/ 1028653 w 1838037"/>
              <a:gd name="connsiteY15" fmla="*/ 659493 h 1838037"/>
              <a:gd name="connsiteX16" fmla="*/ 967509 w 1838037"/>
              <a:gd name="connsiteY16" fmla="*/ 647149 h 1838037"/>
              <a:gd name="connsiteX17" fmla="*/ 967509 w 1838037"/>
              <a:gd name="connsiteY17" fmla="*/ 1190889 h 1838037"/>
              <a:gd name="connsiteX18" fmla="*/ 1028653 w 1838037"/>
              <a:gd name="connsiteY18" fmla="*/ 1178545 h 1838037"/>
              <a:gd name="connsiteX19" fmla="*/ 1188015 w 1838037"/>
              <a:gd name="connsiteY19" fmla="*/ 1002776 h 1838037"/>
              <a:gd name="connsiteX20" fmla="*/ 1193347 w 1838037"/>
              <a:gd name="connsiteY20" fmla="*/ 967510 h 1838037"/>
              <a:gd name="connsiteX21" fmla="*/ 967509 w 1838037"/>
              <a:gd name="connsiteY21" fmla="*/ 967510 h 1838037"/>
              <a:gd name="connsiteX22" fmla="*/ 644689 w 1838037"/>
              <a:gd name="connsiteY22" fmla="*/ 870528 h 1838037"/>
              <a:gd name="connsiteX23" fmla="*/ 870527 w 1838037"/>
              <a:gd name="connsiteY23" fmla="*/ 870528 h 1838037"/>
              <a:gd name="connsiteX24" fmla="*/ 870527 w 1838037"/>
              <a:gd name="connsiteY24" fmla="*/ 647149 h 1838037"/>
              <a:gd name="connsiteX25" fmla="*/ 809383 w 1838037"/>
              <a:gd name="connsiteY25" fmla="*/ 659493 h 1838037"/>
              <a:gd name="connsiteX26" fmla="*/ 650021 w 1838037"/>
              <a:gd name="connsiteY26" fmla="*/ 835262 h 1838037"/>
              <a:gd name="connsiteX27" fmla="*/ 644689 w 1838037"/>
              <a:gd name="connsiteY27" fmla="*/ 967510 h 1838037"/>
              <a:gd name="connsiteX28" fmla="*/ 650021 w 1838037"/>
              <a:gd name="connsiteY28" fmla="*/ 1002776 h 1838037"/>
              <a:gd name="connsiteX29" fmla="*/ 809383 w 1838037"/>
              <a:gd name="connsiteY29" fmla="*/ 1178545 h 1838037"/>
              <a:gd name="connsiteX30" fmla="*/ 870527 w 1838037"/>
              <a:gd name="connsiteY30" fmla="*/ 1190889 h 1838037"/>
              <a:gd name="connsiteX31" fmla="*/ 870527 w 1838037"/>
              <a:gd name="connsiteY31" fmla="*/ 967510 h 1838037"/>
              <a:gd name="connsiteX32" fmla="*/ 297476 w 1838037"/>
              <a:gd name="connsiteY32" fmla="*/ 967510 h 1838037"/>
              <a:gd name="connsiteX33" fmla="*/ 297476 w 1838037"/>
              <a:gd name="connsiteY33" fmla="*/ 870528 h 1838037"/>
              <a:gd name="connsiteX34" fmla="*/ 544894 w 1838037"/>
              <a:gd name="connsiteY34" fmla="*/ 870528 h 1838037"/>
              <a:gd name="connsiteX35" fmla="*/ 546526 w 1838037"/>
              <a:gd name="connsiteY35" fmla="*/ 852036 h 1838037"/>
              <a:gd name="connsiteX36" fmla="*/ 842756 w 1838037"/>
              <a:gd name="connsiteY36" fmla="*/ 548305 h 1838037"/>
              <a:gd name="connsiteX37" fmla="*/ 870527 w 1838037"/>
              <a:gd name="connsiteY37" fmla="*/ 545506 h 1838037"/>
              <a:gd name="connsiteX38" fmla="*/ 870527 w 1838037"/>
              <a:gd name="connsiteY38" fmla="*/ 297477 h 1838037"/>
              <a:gd name="connsiteX39" fmla="*/ 967509 w 1838037"/>
              <a:gd name="connsiteY39" fmla="*/ 297477 h 1838037"/>
              <a:gd name="connsiteX40" fmla="*/ 967509 w 1838037"/>
              <a:gd name="connsiteY40" fmla="*/ 545506 h 1838037"/>
              <a:gd name="connsiteX41" fmla="*/ 995280 w 1838037"/>
              <a:gd name="connsiteY41" fmla="*/ 548305 h 1838037"/>
              <a:gd name="connsiteX42" fmla="*/ 1291510 w 1838037"/>
              <a:gd name="connsiteY42" fmla="*/ 852036 h 1838037"/>
              <a:gd name="connsiteX43" fmla="*/ 1293142 w 1838037"/>
              <a:gd name="connsiteY43" fmla="*/ 870528 h 1838037"/>
              <a:gd name="connsiteX44" fmla="*/ 1540560 w 1838037"/>
              <a:gd name="connsiteY44" fmla="*/ 870528 h 1838037"/>
              <a:gd name="connsiteX45" fmla="*/ 1540560 w 1838037"/>
              <a:gd name="connsiteY45" fmla="*/ 967510 h 1838037"/>
              <a:gd name="connsiteX46" fmla="*/ 1293142 w 1838037"/>
              <a:gd name="connsiteY46" fmla="*/ 967510 h 1838037"/>
              <a:gd name="connsiteX47" fmla="*/ 1291510 w 1838037"/>
              <a:gd name="connsiteY47" fmla="*/ 986003 h 1838037"/>
              <a:gd name="connsiteX48" fmla="*/ 995280 w 1838037"/>
              <a:gd name="connsiteY48" fmla="*/ 1289733 h 1838037"/>
              <a:gd name="connsiteX49" fmla="*/ 967509 w 1838037"/>
              <a:gd name="connsiteY49" fmla="*/ 1292533 h 1838037"/>
              <a:gd name="connsiteX50" fmla="*/ 967509 w 1838037"/>
              <a:gd name="connsiteY50" fmla="*/ 1540561 h 1838037"/>
              <a:gd name="connsiteX51" fmla="*/ 870527 w 1838037"/>
              <a:gd name="connsiteY51" fmla="*/ 1540561 h 1838037"/>
              <a:gd name="connsiteX52" fmla="*/ 870527 w 1838037"/>
              <a:gd name="connsiteY52" fmla="*/ 1292533 h 1838037"/>
              <a:gd name="connsiteX53" fmla="*/ 842756 w 1838037"/>
              <a:gd name="connsiteY53" fmla="*/ 1289733 h 1838037"/>
              <a:gd name="connsiteX54" fmla="*/ 546526 w 1838037"/>
              <a:gd name="connsiteY54" fmla="*/ 986003 h 1838037"/>
              <a:gd name="connsiteX55" fmla="*/ 544894 w 1838037"/>
              <a:gd name="connsiteY55" fmla="*/ 967510 h 1838037"/>
              <a:gd name="connsiteX56" fmla="*/ 0 w 1838037"/>
              <a:gd name="connsiteY56" fmla="*/ 637310 h 1838037"/>
              <a:gd name="connsiteX57" fmla="*/ 0 w 1838037"/>
              <a:gd name="connsiteY57" fmla="*/ 0 h 1838037"/>
              <a:gd name="connsiteX58" fmla="*/ 637308 w 1838037"/>
              <a:gd name="connsiteY58" fmla="*/ 0 h 1838037"/>
              <a:gd name="connsiteX59" fmla="*/ 637308 w 1838037"/>
              <a:gd name="connsiteY59" fmla="*/ 189346 h 1838037"/>
              <a:gd name="connsiteX60" fmla="*/ 189345 w 1838037"/>
              <a:gd name="connsiteY60" fmla="*/ 189346 h 1838037"/>
              <a:gd name="connsiteX61" fmla="*/ 189345 w 1838037"/>
              <a:gd name="connsiteY61" fmla="*/ 637310 h 1838037"/>
              <a:gd name="connsiteX62" fmla="*/ 0 w 1838037"/>
              <a:gd name="connsiteY62" fmla="*/ 1838037 h 1838037"/>
              <a:gd name="connsiteX63" fmla="*/ 0 w 1838037"/>
              <a:gd name="connsiteY63" fmla="*/ 1200729 h 1838037"/>
              <a:gd name="connsiteX64" fmla="*/ 189345 w 1838037"/>
              <a:gd name="connsiteY64" fmla="*/ 1200729 h 1838037"/>
              <a:gd name="connsiteX65" fmla="*/ 189345 w 1838037"/>
              <a:gd name="connsiteY65" fmla="*/ 1648692 h 1838037"/>
              <a:gd name="connsiteX66" fmla="*/ 637308 w 1838037"/>
              <a:gd name="connsiteY66" fmla="*/ 1648692 h 1838037"/>
              <a:gd name="connsiteX67" fmla="*/ 637308 w 1838037"/>
              <a:gd name="connsiteY67" fmla="*/ 1838037 h 1838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1838037" h="1838037">
                <a:moveTo>
                  <a:pt x="1200727" y="189346"/>
                </a:moveTo>
                <a:lnTo>
                  <a:pt x="1200727" y="0"/>
                </a:lnTo>
                <a:lnTo>
                  <a:pt x="1838037" y="0"/>
                </a:lnTo>
                <a:lnTo>
                  <a:pt x="1838037" y="637310"/>
                </a:lnTo>
                <a:lnTo>
                  <a:pt x="1648691" y="637310"/>
                </a:lnTo>
                <a:lnTo>
                  <a:pt x="1648691" y="189346"/>
                </a:lnTo>
                <a:close/>
                <a:moveTo>
                  <a:pt x="1200727" y="1838037"/>
                </a:moveTo>
                <a:lnTo>
                  <a:pt x="1200727" y="1648692"/>
                </a:lnTo>
                <a:lnTo>
                  <a:pt x="1648691" y="1648692"/>
                </a:lnTo>
                <a:lnTo>
                  <a:pt x="1648691" y="1200729"/>
                </a:lnTo>
                <a:lnTo>
                  <a:pt x="1838037" y="1200729"/>
                </a:lnTo>
                <a:lnTo>
                  <a:pt x="1838037" y="1838037"/>
                </a:lnTo>
                <a:close/>
                <a:moveTo>
                  <a:pt x="967509" y="870528"/>
                </a:moveTo>
                <a:lnTo>
                  <a:pt x="1193347" y="870528"/>
                </a:lnTo>
                <a:lnTo>
                  <a:pt x="1188015" y="835262"/>
                </a:lnTo>
                <a:cubicBezTo>
                  <a:pt x="1163327" y="755886"/>
                  <a:pt x="1104472" y="691562"/>
                  <a:pt x="1028653" y="659493"/>
                </a:cubicBezTo>
                <a:lnTo>
                  <a:pt x="967509" y="647149"/>
                </a:lnTo>
                <a:close/>
                <a:moveTo>
                  <a:pt x="967509" y="1190889"/>
                </a:moveTo>
                <a:lnTo>
                  <a:pt x="1028653" y="1178545"/>
                </a:lnTo>
                <a:cubicBezTo>
                  <a:pt x="1104472" y="1146476"/>
                  <a:pt x="1163327" y="1082153"/>
                  <a:pt x="1188015" y="1002776"/>
                </a:cubicBezTo>
                <a:lnTo>
                  <a:pt x="1193347" y="967510"/>
                </a:lnTo>
                <a:lnTo>
                  <a:pt x="967509" y="967510"/>
                </a:lnTo>
                <a:close/>
                <a:moveTo>
                  <a:pt x="644689" y="870528"/>
                </a:moveTo>
                <a:lnTo>
                  <a:pt x="870527" y="870528"/>
                </a:lnTo>
                <a:lnTo>
                  <a:pt x="870527" y="647149"/>
                </a:lnTo>
                <a:lnTo>
                  <a:pt x="809383" y="659493"/>
                </a:lnTo>
                <a:cubicBezTo>
                  <a:pt x="733564" y="691562"/>
                  <a:pt x="674709" y="755886"/>
                  <a:pt x="650021" y="835262"/>
                </a:cubicBezTo>
                <a:close/>
                <a:moveTo>
                  <a:pt x="644689" y="967510"/>
                </a:moveTo>
                <a:lnTo>
                  <a:pt x="650021" y="1002776"/>
                </a:lnTo>
                <a:cubicBezTo>
                  <a:pt x="674709" y="1082153"/>
                  <a:pt x="733564" y="1146476"/>
                  <a:pt x="809383" y="1178545"/>
                </a:cubicBezTo>
                <a:lnTo>
                  <a:pt x="870527" y="1190889"/>
                </a:lnTo>
                <a:lnTo>
                  <a:pt x="870527" y="967510"/>
                </a:lnTo>
                <a:close/>
                <a:moveTo>
                  <a:pt x="297476" y="967510"/>
                </a:moveTo>
                <a:lnTo>
                  <a:pt x="297476" y="870528"/>
                </a:lnTo>
                <a:lnTo>
                  <a:pt x="544894" y="870528"/>
                </a:lnTo>
                <a:lnTo>
                  <a:pt x="546526" y="852036"/>
                </a:lnTo>
                <a:cubicBezTo>
                  <a:pt x="573711" y="699848"/>
                  <a:pt x="691879" y="579179"/>
                  <a:pt x="842756" y="548305"/>
                </a:cubicBezTo>
                <a:lnTo>
                  <a:pt x="870527" y="545506"/>
                </a:lnTo>
                <a:lnTo>
                  <a:pt x="870527" y="297477"/>
                </a:lnTo>
                <a:lnTo>
                  <a:pt x="967509" y="297477"/>
                </a:lnTo>
                <a:lnTo>
                  <a:pt x="967509" y="545506"/>
                </a:lnTo>
                <a:lnTo>
                  <a:pt x="995280" y="548305"/>
                </a:lnTo>
                <a:cubicBezTo>
                  <a:pt x="1146157" y="579179"/>
                  <a:pt x="1264325" y="699848"/>
                  <a:pt x="1291510" y="852036"/>
                </a:cubicBezTo>
                <a:lnTo>
                  <a:pt x="1293142" y="870528"/>
                </a:lnTo>
                <a:lnTo>
                  <a:pt x="1540560" y="870528"/>
                </a:lnTo>
                <a:lnTo>
                  <a:pt x="1540560" y="967510"/>
                </a:lnTo>
                <a:lnTo>
                  <a:pt x="1293142" y="967510"/>
                </a:lnTo>
                <a:lnTo>
                  <a:pt x="1291510" y="986003"/>
                </a:lnTo>
                <a:cubicBezTo>
                  <a:pt x="1264325" y="1138191"/>
                  <a:pt x="1146157" y="1258859"/>
                  <a:pt x="995280" y="1289733"/>
                </a:cubicBezTo>
                <a:lnTo>
                  <a:pt x="967509" y="1292533"/>
                </a:lnTo>
                <a:lnTo>
                  <a:pt x="967509" y="1540561"/>
                </a:lnTo>
                <a:lnTo>
                  <a:pt x="870527" y="1540561"/>
                </a:lnTo>
                <a:lnTo>
                  <a:pt x="870527" y="1292533"/>
                </a:lnTo>
                <a:lnTo>
                  <a:pt x="842756" y="1289733"/>
                </a:lnTo>
                <a:cubicBezTo>
                  <a:pt x="691879" y="1258859"/>
                  <a:pt x="573711" y="1138191"/>
                  <a:pt x="546526" y="986003"/>
                </a:cubicBezTo>
                <a:lnTo>
                  <a:pt x="544894" y="967510"/>
                </a:lnTo>
                <a:close/>
                <a:moveTo>
                  <a:pt x="0" y="637310"/>
                </a:moveTo>
                <a:lnTo>
                  <a:pt x="0" y="0"/>
                </a:lnTo>
                <a:lnTo>
                  <a:pt x="637308" y="0"/>
                </a:lnTo>
                <a:lnTo>
                  <a:pt x="637308" y="189346"/>
                </a:lnTo>
                <a:lnTo>
                  <a:pt x="189345" y="189346"/>
                </a:lnTo>
                <a:lnTo>
                  <a:pt x="189345" y="637310"/>
                </a:lnTo>
                <a:close/>
                <a:moveTo>
                  <a:pt x="0" y="1838037"/>
                </a:moveTo>
                <a:lnTo>
                  <a:pt x="0" y="1200729"/>
                </a:lnTo>
                <a:lnTo>
                  <a:pt x="189345" y="1200729"/>
                </a:lnTo>
                <a:lnTo>
                  <a:pt x="189345" y="1648692"/>
                </a:lnTo>
                <a:lnTo>
                  <a:pt x="637308" y="1648692"/>
                </a:lnTo>
                <a:lnTo>
                  <a:pt x="637308" y="183803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/>
          </a:p>
        </p:txBody>
      </p:sp>
      <p:pic>
        <p:nvPicPr>
          <p:cNvPr id="91" name="그래픽 90" descr="비즈니스 성장 단색으로 채워진">
            <a:extLst>
              <a:ext uri="{FF2B5EF4-FFF2-40B4-BE49-F238E27FC236}">
                <a16:creationId xmlns:a16="http://schemas.microsoft.com/office/drawing/2014/main" id="{FF01271B-1678-309E-9942-1D111E27DD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9263709" y="4866887"/>
            <a:ext cx="530000" cy="530000"/>
          </a:xfrm>
          <a:prstGeom prst="rect">
            <a:avLst/>
          </a:prstGeom>
        </p:spPr>
      </p:pic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B283B200-98E6-4372-C646-930B6AF90F25}"/>
              </a:ext>
            </a:extLst>
          </p:cNvPr>
          <p:cNvSpPr/>
          <p:nvPr/>
        </p:nvSpPr>
        <p:spPr>
          <a:xfrm>
            <a:off x="657225" y="1847850"/>
            <a:ext cx="7858125" cy="4838700"/>
          </a:xfrm>
          <a:custGeom>
            <a:avLst/>
            <a:gdLst>
              <a:gd name="connsiteX0" fmla="*/ 0 w 7858125"/>
              <a:gd name="connsiteY0" fmla="*/ 0 h 4838700"/>
              <a:gd name="connsiteX1" fmla="*/ 7858125 w 7858125"/>
              <a:gd name="connsiteY1" fmla="*/ 0 h 4838700"/>
              <a:gd name="connsiteX2" fmla="*/ 7858125 w 7858125"/>
              <a:gd name="connsiteY2" fmla="*/ 1771650 h 4838700"/>
              <a:gd name="connsiteX3" fmla="*/ 2800350 w 7858125"/>
              <a:gd name="connsiteY3" fmla="*/ 1771650 h 4838700"/>
              <a:gd name="connsiteX4" fmla="*/ 2800350 w 7858125"/>
              <a:gd name="connsiteY4" fmla="*/ 4838700 h 4838700"/>
              <a:gd name="connsiteX5" fmla="*/ 9525 w 7858125"/>
              <a:gd name="connsiteY5" fmla="*/ 4838700 h 4838700"/>
              <a:gd name="connsiteX6" fmla="*/ 0 w 7858125"/>
              <a:gd name="connsiteY6" fmla="*/ 0 h 4838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58125" h="4838700">
                <a:moveTo>
                  <a:pt x="0" y="0"/>
                </a:moveTo>
                <a:lnTo>
                  <a:pt x="7858125" y="0"/>
                </a:lnTo>
                <a:lnTo>
                  <a:pt x="7858125" y="1771650"/>
                </a:lnTo>
                <a:lnTo>
                  <a:pt x="2800350" y="1771650"/>
                </a:lnTo>
                <a:lnTo>
                  <a:pt x="2800350" y="4838700"/>
                </a:lnTo>
                <a:lnTo>
                  <a:pt x="9525" y="483870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2B1B96C-2398-5DDF-FE6F-1EA36131CFBB}"/>
              </a:ext>
            </a:extLst>
          </p:cNvPr>
          <p:cNvSpPr/>
          <p:nvPr/>
        </p:nvSpPr>
        <p:spPr>
          <a:xfrm>
            <a:off x="2839990" y="1517754"/>
            <a:ext cx="2196004" cy="556937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페르소나 생성</a:t>
            </a:r>
          </a:p>
        </p:txBody>
      </p:sp>
    </p:spTree>
    <p:extLst>
      <p:ext uri="{BB962C8B-B14F-4D97-AF65-F5344CB8AC3E}">
        <p14:creationId xmlns:p14="http://schemas.microsoft.com/office/powerpoint/2010/main" val="2812083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11D1B-4745-6807-D87C-4D6CA8225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6F09F6E2-6B2A-49C9-097D-50225D84D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5545" y="852190"/>
            <a:ext cx="5160236" cy="6017741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20000"/>
              </a:lnSpc>
            </a:pPr>
            <a:r>
              <a:rPr lang="en-US" altLang="ko-KR" sz="1200" dirty="0">
                <a:latin typeface="+mn-ea"/>
              </a:rPr>
              <a:t>system prompt = “</a:t>
            </a:r>
            <a:r>
              <a:rPr lang="ko-KR" altLang="en-US" sz="1200" dirty="0">
                <a:latin typeface="+mn-ea"/>
              </a:rPr>
              <a:t>다음 조건을 만족하는 페르소나 정보를 </a:t>
            </a:r>
            <a:r>
              <a:rPr lang="en-US" altLang="ko-KR" sz="1200" dirty="0">
                <a:latin typeface="+mn-ea"/>
              </a:rPr>
              <a:t>JSON </a:t>
            </a:r>
            <a:r>
              <a:rPr lang="ko-KR" altLang="en-US" sz="1200" dirty="0">
                <a:latin typeface="+mn-ea"/>
              </a:rPr>
              <a:t>배열 형식</a:t>
            </a:r>
            <a:r>
              <a:rPr lang="en-US" altLang="ko-KR" sz="1200" dirty="0">
                <a:latin typeface="+mn-ea"/>
              </a:rPr>
              <a:t>(UTF-8, </a:t>
            </a:r>
            <a:r>
              <a:rPr lang="ko-KR" altLang="en-US" sz="1200" dirty="0" err="1">
                <a:latin typeface="+mn-ea"/>
              </a:rPr>
              <a:t>인코딩된</a:t>
            </a:r>
            <a:r>
              <a:rPr lang="ko-KR" altLang="en-US" sz="1200" dirty="0">
                <a:latin typeface="+mn-ea"/>
              </a:rPr>
              <a:t> 따옴표 없음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latin typeface="+mn-ea"/>
              </a:rPr>
              <a:t>으로 정확하게 생성하세요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반드시 </a:t>
            </a:r>
            <a:r>
              <a:rPr lang="en-US" altLang="ko-KR" sz="1200" dirty="0">
                <a:latin typeface="+mn-ea"/>
              </a:rPr>
              <a:t>JSON </a:t>
            </a:r>
            <a:r>
              <a:rPr lang="ko-KR" altLang="en-US" sz="1200" dirty="0">
                <a:latin typeface="+mn-ea"/>
              </a:rPr>
              <a:t>배열만 출력하세요</a:t>
            </a:r>
            <a:r>
              <a:rPr lang="en-US" altLang="ko-KR" sz="1200" dirty="0">
                <a:latin typeface="+mn-ea"/>
              </a:rPr>
              <a:t>.”</a:t>
            </a:r>
          </a:p>
          <a:p>
            <a:pPr algn="l">
              <a:lnSpc>
                <a:spcPct val="120000"/>
              </a:lnSpc>
            </a:pPr>
            <a:r>
              <a:rPr lang="en-US" altLang="ko-KR" sz="1200" dirty="0">
                <a:latin typeface="+mn-ea"/>
              </a:rPr>
              <a:t>user prompt = “”” [Cluster Catalog: DO NOT DEVIATE]</a:t>
            </a:r>
          </a:p>
          <a:p>
            <a:pPr algn="l">
              <a:lnSpc>
                <a:spcPct val="120000"/>
              </a:lnSpc>
            </a:pPr>
            <a:r>
              <a:rPr lang="en-US" altLang="ko-KR" sz="1200" dirty="0">
                <a:latin typeface="+mn-ea"/>
              </a:rPr>
              <a:t>0: {'label': '</a:t>
            </a:r>
            <a:r>
              <a:rPr lang="ko-KR" altLang="en-US" sz="1200" dirty="0">
                <a:latin typeface="+mn-ea"/>
              </a:rPr>
              <a:t>실속형 미식가</a:t>
            </a:r>
            <a:r>
              <a:rPr lang="en-US" altLang="ko-KR" sz="1200" dirty="0">
                <a:latin typeface="+mn-ea"/>
              </a:rPr>
              <a:t>', 'description': '</a:t>
            </a:r>
            <a:r>
              <a:rPr lang="ko-KR" altLang="en-US" sz="1200" dirty="0">
                <a:latin typeface="+mn-ea"/>
              </a:rPr>
              <a:t>편리성을 중시하면서도 새로운 맛과 제품을 시도하는 데 적극적인 소비자 그룹입니다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가격에 민감하기보다는 효율성과 맛을 동시에 추구합니다</a:t>
            </a:r>
            <a:r>
              <a:rPr lang="en-US" altLang="ko-KR" sz="1200" dirty="0">
                <a:latin typeface="+mn-ea"/>
              </a:rPr>
              <a:t>.’}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1: {'label': '</a:t>
            </a:r>
            <a:r>
              <a:rPr lang="ko-KR" altLang="en-US" sz="1200" dirty="0">
                <a:latin typeface="+mn-ea"/>
              </a:rPr>
              <a:t>건강 추구형 소비자</a:t>
            </a:r>
            <a:r>
              <a:rPr lang="en-US" altLang="ko-KR" sz="1200" dirty="0">
                <a:latin typeface="+mn-ea"/>
              </a:rPr>
              <a:t>', 'description': '</a:t>
            </a:r>
            <a:r>
              <a:rPr lang="ko-KR" altLang="en-US" sz="1200" dirty="0">
                <a:latin typeface="+mn-ea"/>
              </a:rPr>
              <a:t>가격이나 브랜드에 크게 </a:t>
            </a:r>
            <a:r>
              <a:rPr lang="ko-KR" altLang="en-US" sz="1200" dirty="0" err="1">
                <a:latin typeface="+mn-ea"/>
              </a:rPr>
              <a:t>구애받지</a:t>
            </a:r>
            <a:r>
              <a:rPr lang="ko-KR" altLang="en-US" sz="1200" dirty="0">
                <a:latin typeface="+mn-ea"/>
              </a:rPr>
              <a:t> 않고 건강을 최우선으로 고려하는 프리미엄 소비자 그룹입니다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건강과 편리성을 모두 만족시키는 제품에 기꺼이 지갑을 엽니다</a:t>
            </a:r>
            <a:r>
              <a:rPr lang="en-US" altLang="ko-KR" sz="1200" dirty="0">
                <a:latin typeface="+mn-ea"/>
              </a:rPr>
              <a:t>.’}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3: {'label': '</a:t>
            </a:r>
            <a:r>
              <a:rPr lang="ko-KR" altLang="en-US" sz="1200" dirty="0">
                <a:latin typeface="+mn-ea"/>
              </a:rPr>
              <a:t>트렌드 주도형 소비자</a:t>
            </a:r>
            <a:r>
              <a:rPr lang="en-US" altLang="ko-KR" sz="1200" dirty="0">
                <a:latin typeface="+mn-ea"/>
              </a:rPr>
              <a:t>', 'description': '</a:t>
            </a:r>
            <a:r>
              <a:rPr lang="ko-KR" altLang="en-US" sz="1200" dirty="0">
                <a:latin typeface="+mn-ea"/>
              </a:rPr>
              <a:t>자신의 취향과 경험을 중시하는 소비자 그룹입니다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단순히 배를 채우는 것 이상의 가치를 추구하며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새로운 제품을 가장 먼저 경험하고 공유하려는 경향이 강합니다</a:t>
            </a:r>
            <a:r>
              <a:rPr lang="en-US" altLang="ko-KR" sz="1200" dirty="0">
                <a:latin typeface="+mn-ea"/>
              </a:rPr>
              <a:t>.'}</a:t>
            </a:r>
          </a:p>
          <a:p>
            <a:pPr algn="l">
              <a:lnSpc>
                <a:spcPct val="120000"/>
              </a:lnSpc>
            </a:pPr>
            <a:r>
              <a:rPr lang="en-US" altLang="ko-KR" sz="1200" dirty="0">
                <a:latin typeface="+mn-ea"/>
              </a:rPr>
              <a:t>[Constraints]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생성되는 </a:t>
            </a:r>
            <a:r>
              <a:rPr lang="en-US" altLang="ko-KR" sz="1200" dirty="0">
                <a:latin typeface="+mn-ea"/>
              </a:rPr>
              <a:t>{</a:t>
            </a:r>
            <a:r>
              <a:rPr lang="en-US" altLang="ko-KR" sz="1200" dirty="0" err="1">
                <a:latin typeface="+mn-ea"/>
              </a:rPr>
              <a:t>batch_size</a:t>
            </a:r>
            <a:r>
              <a:rPr lang="en-US" altLang="ko-KR" sz="1200" dirty="0">
                <a:latin typeface="+mn-ea"/>
              </a:rPr>
              <a:t>}</a:t>
            </a:r>
            <a:r>
              <a:rPr lang="ko-KR" altLang="en-US" sz="1200" dirty="0">
                <a:latin typeface="+mn-ea"/>
              </a:rPr>
              <a:t>명의 페르소나는 </a:t>
            </a:r>
            <a:r>
              <a:rPr lang="en-US" altLang="ko-KR" sz="1200" dirty="0">
                <a:latin typeface="+mn-ea"/>
              </a:rPr>
              <a:t>cluster 0, 1, 3</a:t>
            </a:r>
            <a:r>
              <a:rPr lang="ko-KR" altLang="en-US" sz="1200" dirty="0">
                <a:latin typeface="+mn-ea"/>
              </a:rPr>
              <a:t>을 골고루 포함하도록 할 것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성별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연령대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직업군의 다양성이 유지되어야 하며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특정 집단으로 편중되지 않도록 유의할 것</a:t>
            </a:r>
            <a:r>
              <a:rPr lang="en-US" altLang="ko-KR" sz="1200" dirty="0">
                <a:latin typeface="+mn-ea"/>
              </a:rPr>
              <a:t>|</a:t>
            </a:r>
            <a:br>
              <a:rPr lang="en-US" altLang="ko-KR" sz="1200" dirty="0">
                <a:latin typeface="+mn-ea"/>
              </a:rPr>
            </a:br>
            <a:r>
              <a:rPr lang="en-US" altLang="ko-KR" sz="1200" dirty="0">
                <a:latin typeface="+mn-ea"/>
              </a:rPr>
              <a:t>- </a:t>
            </a:r>
            <a:r>
              <a:rPr lang="en-US" altLang="ko-KR" sz="1200" dirty="0" err="1">
                <a:latin typeface="+mn-ea"/>
              </a:rPr>
              <a:t>meta.label</a:t>
            </a:r>
            <a:r>
              <a:rPr lang="en-US" altLang="ko-KR" sz="1200" dirty="0">
                <a:latin typeface="+mn-ea"/>
              </a:rPr>
              <a:t> / </a:t>
            </a:r>
            <a:r>
              <a:rPr lang="en-US" altLang="ko-KR" sz="1200" dirty="0" err="1">
                <a:latin typeface="+mn-ea"/>
              </a:rPr>
              <a:t>meta.description</a:t>
            </a:r>
            <a:r>
              <a:rPr lang="ko-KR" altLang="en-US" sz="1200" dirty="0">
                <a:latin typeface="+mn-ea"/>
              </a:rPr>
              <a:t>은 반드시 위 </a:t>
            </a:r>
            <a:r>
              <a:rPr lang="en-US" altLang="ko-KR" sz="1200" dirty="0">
                <a:latin typeface="+mn-ea"/>
              </a:rPr>
              <a:t>Catalog</a:t>
            </a:r>
            <a:r>
              <a:rPr lang="ko-KR" altLang="en-US" sz="1200" dirty="0">
                <a:latin typeface="+mn-ea"/>
              </a:rPr>
              <a:t>에서 복사할 것 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변형 금지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lang="en-US" altLang="ko-KR" sz="1200" dirty="0">
                <a:latin typeface="+mn-ea"/>
              </a:rPr>
              <a:t>{</a:t>
            </a:r>
            <a:r>
              <a:rPr lang="en-US" altLang="ko-KR" sz="1200" dirty="0" err="1">
                <a:latin typeface="+mn-ea"/>
              </a:rPr>
              <a:t>few_shot_block</a:t>
            </a:r>
            <a:r>
              <a:rPr lang="en-US" altLang="ko-KR" sz="1200" dirty="0">
                <a:latin typeface="+mn-ea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이제 위 조건을 만족하는 새로운 페르소나 </a:t>
            </a:r>
            <a:r>
              <a:rPr lang="en-US" altLang="ko-KR" sz="1200" dirty="0">
                <a:latin typeface="+mn-ea"/>
              </a:rPr>
              <a:t>{</a:t>
            </a:r>
            <a:r>
              <a:rPr lang="en-US" altLang="ko-KR" sz="1200" dirty="0" err="1">
                <a:latin typeface="+mn-ea"/>
              </a:rPr>
              <a:t>batch_size</a:t>
            </a:r>
            <a:r>
              <a:rPr lang="en-US" altLang="ko-KR" sz="1200" dirty="0">
                <a:latin typeface="+mn-ea"/>
              </a:rPr>
              <a:t>}</a:t>
            </a:r>
            <a:r>
              <a:rPr lang="ko-KR" altLang="en-US" sz="1200" dirty="0">
                <a:latin typeface="+mn-ea"/>
              </a:rPr>
              <a:t>개를 </a:t>
            </a:r>
            <a:r>
              <a:rPr lang="en-US" altLang="ko-KR" sz="1200" dirty="0">
                <a:latin typeface="+mn-ea"/>
              </a:rPr>
              <a:t>JSON </a:t>
            </a:r>
            <a:r>
              <a:rPr lang="ko-KR" altLang="en-US" sz="1200" dirty="0">
                <a:latin typeface="+mn-ea"/>
              </a:rPr>
              <a:t>배열 형식으로 생성해주세요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algn="l"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제품 </a:t>
            </a:r>
            <a:r>
              <a:rPr lang="en-US" altLang="ko-KR" sz="1200" dirty="0">
                <a:latin typeface="+mn-ea"/>
              </a:rPr>
              <a:t>ID: {</a:t>
            </a:r>
            <a:r>
              <a:rPr lang="en-US" altLang="ko-KR" sz="1200" dirty="0" err="1">
                <a:latin typeface="+mn-ea"/>
              </a:rPr>
              <a:t>product_name</a:t>
            </a:r>
            <a:r>
              <a:rPr lang="en-US" altLang="ko-KR" sz="1200" dirty="0">
                <a:latin typeface="+mn-ea"/>
              </a:rPr>
              <a:t>}</a:t>
            </a:r>
            <a:br>
              <a:rPr lang="en-US" altLang="ko-KR" sz="1200" dirty="0">
                <a:latin typeface="+mn-ea"/>
              </a:rPr>
            </a:br>
            <a:r>
              <a:rPr lang="ko-KR" altLang="en-US" sz="1200" dirty="0">
                <a:latin typeface="+mn-ea"/>
              </a:rPr>
              <a:t>페르소나 번호</a:t>
            </a:r>
            <a:r>
              <a:rPr lang="en-US" altLang="ko-KR" sz="1200" dirty="0">
                <a:latin typeface="+mn-ea"/>
              </a:rPr>
              <a:t>: {</a:t>
            </a:r>
            <a:r>
              <a:rPr lang="en-US" altLang="ko-KR" sz="1200" dirty="0" err="1">
                <a:latin typeface="+mn-ea"/>
              </a:rPr>
              <a:t>product_name</a:t>
            </a:r>
            <a:r>
              <a:rPr lang="en-US" altLang="ko-KR" sz="1200" dirty="0">
                <a:latin typeface="+mn-ea"/>
              </a:rPr>
              <a:t>}_{</a:t>
            </a:r>
            <a:r>
              <a:rPr lang="en-US" altLang="ko-KR" sz="1200" dirty="0" err="1">
                <a:latin typeface="+mn-ea"/>
              </a:rPr>
              <a:t>start_index</a:t>
            </a:r>
            <a:r>
              <a:rPr lang="en-US" altLang="ko-KR" sz="1200" dirty="0">
                <a:latin typeface="+mn-ea"/>
              </a:rPr>
              <a:t>}</a:t>
            </a:r>
          </a:p>
          <a:p>
            <a:pPr algn="l">
              <a:lnSpc>
                <a:spcPct val="120000"/>
              </a:lnSpc>
            </a:pP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출력 형식 및 속성 </a:t>
            </a:r>
            <a:r>
              <a:rPr lang="ko-KR" altLang="en-US" sz="1200" dirty="0" err="1">
                <a:latin typeface="+mn-ea"/>
              </a:rPr>
              <a:t>예시값</a:t>
            </a:r>
            <a:r>
              <a:rPr lang="en-US" altLang="ko-KR" sz="1200" dirty="0">
                <a:latin typeface="+mn-ea"/>
              </a:rPr>
              <a:t>] (JSON </a:t>
            </a:r>
            <a:r>
              <a:rPr lang="ko-KR" altLang="en-US" sz="1200" dirty="0">
                <a:latin typeface="+mn-ea"/>
              </a:rPr>
              <a:t>배열 형식</a:t>
            </a:r>
            <a:r>
              <a:rPr lang="en-US" altLang="ko-KR" sz="1200" dirty="0">
                <a:latin typeface="+mn-ea"/>
              </a:rPr>
              <a:t>! </a:t>
            </a:r>
            <a:r>
              <a:rPr lang="ko-KR" altLang="en-US" sz="1200" dirty="0">
                <a:latin typeface="+mn-ea"/>
              </a:rPr>
              <a:t>단일 객체 아님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 algn="l"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아래는 페르소나를 생성할 때 따르는 속성 목록과 형식 예시입니다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단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속성 값은 반드시 아래 </a:t>
            </a:r>
            <a:r>
              <a:rPr lang="ko-KR" altLang="en-US" sz="1200" dirty="0" err="1">
                <a:latin typeface="+mn-ea"/>
              </a:rPr>
              <a:t>예시값</a:t>
            </a:r>
            <a:r>
              <a:rPr lang="ko-KR" altLang="en-US" sz="1200" dirty="0">
                <a:latin typeface="+mn-ea"/>
              </a:rPr>
              <a:t> 중에서 다양하게 조합하여 사용하세요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 algn="l">
              <a:lnSpc>
                <a:spcPct val="120000"/>
              </a:lnSpc>
            </a:pPr>
            <a:endParaRPr lang="en-US" altLang="ko-KR" sz="1200" dirty="0">
              <a:latin typeface="+mn-ea"/>
            </a:endParaRPr>
          </a:p>
          <a:p>
            <a:pPr algn="l">
              <a:lnSpc>
                <a:spcPct val="120000"/>
              </a:lnSpc>
            </a:pPr>
            <a:endParaRPr lang="en-US" altLang="ko-KR" sz="1200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D40323-6694-044D-8E82-8A71DA4FF4AB}"/>
              </a:ext>
            </a:extLst>
          </p:cNvPr>
          <p:cNvSpPr txBox="1"/>
          <p:nvPr/>
        </p:nvSpPr>
        <p:spPr>
          <a:xfrm>
            <a:off x="447675" y="361950"/>
            <a:ext cx="3589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페르소나 생성 프롬프트 </a:t>
            </a: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870B592C-ED98-BE02-6B29-A67157787C67}"/>
              </a:ext>
            </a:extLst>
          </p:cNvPr>
          <p:cNvSpPr txBox="1">
            <a:spLocks/>
          </p:cNvSpPr>
          <p:nvPr/>
        </p:nvSpPr>
        <p:spPr>
          <a:xfrm>
            <a:off x="6625795" y="840259"/>
            <a:ext cx="4994705" cy="601774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altLang="ko-KR" sz="1100" dirty="0">
                <a:latin typeface="+mn-ea"/>
              </a:rPr>
              <a:t>```</a:t>
            </a:r>
            <a:r>
              <a:rPr lang="en-US" altLang="ko-KR" sz="1100" dirty="0" err="1">
                <a:latin typeface="+mn-ea"/>
              </a:rPr>
              <a:t>json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{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"</a:t>
            </a:r>
            <a:r>
              <a:rPr lang="en-US" altLang="ko-KR" sz="1100" dirty="0" err="1">
                <a:latin typeface="+mn-ea"/>
              </a:rPr>
              <a:t>persona_key</a:t>
            </a:r>
            <a:r>
              <a:rPr lang="en-US" altLang="ko-KR" sz="1100" dirty="0">
                <a:latin typeface="+mn-ea"/>
              </a:rPr>
              <a:t>": "{</a:t>
            </a:r>
            <a:r>
              <a:rPr lang="en-US" altLang="ko-KR" sz="1100" dirty="0" err="1">
                <a:latin typeface="+mn-ea"/>
              </a:rPr>
              <a:t>product_name</a:t>
            </a:r>
            <a:r>
              <a:rPr lang="en-US" altLang="ko-KR" sz="1100" dirty="0">
                <a:latin typeface="+mn-ea"/>
              </a:rPr>
              <a:t>}_{</a:t>
            </a:r>
            <a:r>
              <a:rPr lang="en-US" altLang="ko-KR" sz="1100" dirty="0" err="1">
                <a:latin typeface="+mn-ea"/>
              </a:rPr>
              <a:t>start_index</a:t>
            </a:r>
            <a:r>
              <a:rPr lang="en-US" altLang="ko-KR" sz="1100" dirty="0">
                <a:latin typeface="+mn-ea"/>
              </a:rPr>
              <a:t>}",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"attributes": {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"gender": "</a:t>
            </a:r>
            <a:r>
              <a:rPr lang="ko-KR" altLang="en-US" sz="1100" dirty="0">
                <a:latin typeface="+mn-ea"/>
              </a:rPr>
              <a:t>남자 또는 여자 중 선택</a:t>
            </a:r>
            <a:r>
              <a:rPr lang="en-US" altLang="ko-KR" sz="1100" dirty="0">
                <a:latin typeface="+mn-ea"/>
              </a:rPr>
              <a:t>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"age": "20</a:t>
            </a:r>
            <a:r>
              <a:rPr lang="ko-KR" altLang="en-US" sz="1100" dirty="0">
                <a:latin typeface="+mn-ea"/>
              </a:rPr>
              <a:t>대 </a:t>
            </a:r>
            <a:r>
              <a:rPr lang="en-US" altLang="ko-KR" sz="1100" dirty="0">
                <a:latin typeface="+mn-ea"/>
              </a:rPr>
              <a:t>/ 30</a:t>
            </a:r>
            <a:r>
              <a:rPr lang="ko-KR" altLang="en-US" sz="1100" dirty="0">
                <a:latin typeface="+mn-ea"/>
              </a:rPr>
              <a:t>대 </a:t>
            </a:r>
            <a:r>
              <a:rPr lang="en-US" altLang="ko-KR" sz="1100" dirty="0">
                <a:latin typeface="+mn-ea"/>
              </a:rPr>
              <a:t>/ 40</a:t>
            </a:r>
            <a:r>
              <a:rPr lang="ko-KR" altLang="en-US" sz="1100" dirty="0">
                <a:latin typeface="+mn-ea"/>
              </a:rPr>
              <a:t>대 </a:t>
            </a:r>
            <a:r>
              <a:rPr lang="en-US" altLang="ko-KR" sz="1100" dirty="0">
                <a:latin typeface="+mn-ea"/>
              </a:rPr>
              <a:t>/ 50</a:t>
            </a:r>
            <a:r>
              <a:rPr lang="ko-KR" altLang="en-US" sz="1100" dirty="0">
                <a:latin typeface="+mn-ea"/>
              </a:rPr>
              <a:t>대 </a:t>
            </a:r>
            <a:r>
              <a:rPr lang="en-US" altLang="ko-KR" sz="1100" dirty="0">
                <a:latin typeface="+mn-ea"/>
              </a:rPr>
              <a:t>/ 60</a:t>
            </a:r>
            <a:r>
              <a:rPr lang="ko-KR" altLang="en-US" sz="1100" dirty="0">
                <a:latin typeface="+mn-ea"/>
              </a:rPr>
              <a:t>대 이상 중 선택</a:t>
            </a:r>
            <a:r>
              <a:rPr lang="en-US" altLang="ko-KR" sz="1100" dirty="0">
                <a:latin typeface="+mn-ea"/>
              </a:rPr>
              <a:t>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"job": "</a:t>
            </a:r>
            <a:r>
              <a:rPr lang="ko-KR" altLang="en-US" sz="1100" dirty="0">
                <a:latin typeface="+mn-ea"/>
              </a:rPr>
              <a:t>관리자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군인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 err="1">
                <a:latin typeface="+mn-ea"/>
              </a:rPr>
              <a:t>기능원</a:t>
            </a:r>
            <a:r>
              <a:rPr lang="ko-KR" altLang="en-US" sz="1100" dirty="0">
                <a:latin typeface="+mn-ea"/>
              </a:rPr>
              <a:t> 및 관련 기능 종사자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농림어업 숙련 종사자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단순노무 종사자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사무 종사자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서비스 종사자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전문가 및 관련 종사자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판매 종사자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장치</a:t>
            </a:r>
            <a:r>
              <a:rPr lang="en-US" altLang="ko-KR" sz="1100" dirty="0">
                <a:latin typeface="+mn-ea"/>
              </a:rPr>
              <a:t>·</a:t>
            </a:r>
            <a:r>
              <a:rPr lang="ko-KR" altLang="en-US" sz="1100" dirty="0">
                <a:latin typeface="+mn-ea"/>
              </a:rPr>
              <a:t>기계 조작 및 조립 종사자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주부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취업 준비 중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학생 중 선택</a:t>
            </a:r>
            <a:r>
              <a:rPr lang="en-US" altLang="ko-KR" sz="1100" dirty="0">
                <a:latin typeface="+mn-ea"/>
              </a:rPr>
              <a:t>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"education": "</a:t>
            </a:r>
            <a:r>
              <a:rPr lang="ko-KR" altLang="en-US" sz="1100" dirty="0">
                <a:latin typeface="+mn-ea"/>
              </a:rPr>
              <a:t>고졸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대학 재학 포함</a:t>
            </a:r>
            <a:r>
              <a:rPr lang="en-US" altLang="ko-KR" sz="1100" dirty="0">
                <a:latin typeface="+mn-ea"/>
              </a:rPr>
              <a:t>) / </a:t>
            </a:r>
            <a:r>
              <a:rPr lang="ko-KR" altLang="en-US" sz="1100" dirty="0">
                <a:latin typeface="+mn-ea"/>
              </a:rPr>
              <a:t>대학교 졸업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전문대졸</a:t>
            </a:r>
            <a:r>
              <a:rPr lang="en-US" altLang="ko-KR" sz="1100" dirty="0">
                <a:latin typeface="+mn-ea"/>
              </a:rPr>
              <a:t>/</a:t>
            </a:r>
            <a:r>
              <a:rPr lang="ko-KR" altLang="en-US" sz="1100" dirty="0">
                <a:latin typeface="+mn-ea"/>
              </a:rPr>
              <a:t>대학원생 포함</a:t>
            </a:r>
            <a:r>
              <a:rPr lang="en-US" altLang="ko-KR" sz="1100" dirty="0">
                <a:latin typeface="+mn-ea"/>
              </a:rPr>
              <a:t>) / </a:t>
            </a:r>
            <a:r>
              <a:rPr lang="ko-KR" altLang="en-US" sz="1100" dirty="0">
                <a:latin typeface="+mn-ea"/>
              </a:rPr>
              <a:t>대학원 졸업 이상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중졸 이하 중 선택</a:t>
            </a:r>
            <a:r>
              <a:rPr lang="en-US" altLang="ko-KR" sz="1100" dirty="0">
                <a:latin typeface="+mn-ea"/>
              </a:rPr>
              <a:t>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"region": "</a:t>
            </a:r>
            <a:r>
              <a:rPr lang="ko-KR" altLang="en-US" sz="1100" dirty="0">
                <a:latin typeface="+mn-ea"/>
              </a:rPr>
              <a:t>강원도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경기도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경상남도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경상북도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광주광역시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대구광역시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대전광역시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서울특별시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세종특별자치시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울산광역시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인천광역시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전라남도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전라북도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제주특별자치도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충청남도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충청북도 중 선택</a:t>
            </a:r>
            <a:r>
              <a:rPr lang="en-US" altLang="ko-KR" sz="1100" dirty="0">
                <a:latin typeface="+mn-ea"/>
              </a:rPr>
              <a:t>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"household": "1</a:t>
            </a:r>
            <a:r>
              <a:rPr lang="ko-KR" altLang="en-US" sz="1100" dirty="0">
                <a:latin typeface="+mn-ea"/>
              </a:rPr>
              <a:t>인 가구 </a:t>
            </a:r>
            <a:r>
              <a:rPr lang="en-US" altLang="ko-KR" sz="1100" dirty="0">
                <a:latin typeface="+mn-ea"/>
              </a:rPr>
              <a:t>/ 1</a:t>
            </a:r>
            <a:r>
              <a:rPr lang="ko-KR" altLang="en-US" sz="1100" dirty="0">
                <a:latin typeface="+mn-ea"/>
              </a:rPr>
              <a:t>세대가족 </a:t>
            </a:r>
            <a:r>
              <a:rPr lang="en-US" altLang="ko-KR" sz="1100" dirty="0">
                <a:latin typeface="+mn-ea"/>
              </a:rPr>
              <a:t>/ 2</a:t>
            </a:r>
            <a:r>
              <a:rPr lang="ko-KR" altLang="en-US" sz="1100" dirty="0">
                <a:latin typeface="+mn-ea"/>
              </a:rPr>
              <a:t>세대가족 중 선택</a:t>
            </a:r>
            <a:r>
              <a:rPr lang="en-US" altLang="ko-KR" sz="1100" dirty="0">
                <a:latin typeface="+mn-ea"/>
              </a:rPr>
              <a:t>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"marriage": "</a:t>
            </a:r>
            <a:r>
              <a:rPr lang="ko-KR" altLang="en-US" sz="1100" dirty="0">
                <a:latin typeface="+mn-ea"/>
              </a:rPr>
              <a:t>기혼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미혼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사별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이혼 포함</a:t>
            </a:r>
            <a:r>
              <a:rPr lang="en-US" altLang="ko-KR" sz="1100" dirty="0">
                <a:latin typeface="+mn-ea"/>
              </a:rPr>
              <a:t>) </a:t>
            </a:r>
            <a:r>
              <a:rPr lang="ko-KR" altLang="en-US" sz="1100" dirty="0">
                <a:latin typeface="+mn-ea"/>
              </a:rPr>
              <a:t>중 선택</a:t>
            </a:r>
            <a:r>
              <a:rPr lang="en-US" altLang="ko-KR" sz="1100" dirty="0">
                <a:latin typeface="+mn-ea"/>
              </a:rPr>
              <a:t>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</a:t>
            </a:r>
            <a:r>
              <a:rPr lang="en-US" altLang="ko-KR" sz="1100" dirty="0" err="1">
                <a:latin typeface="+mn-ea"/>
              </a:rPr>
              <a:t>income_status</a:t>
            </a:r>
            <a:r>
              <a:rPr lang="en-US" altLang="ko-KR" sz="1100" dirty="0">
                <a:latin typeface="+mn-ea"/>
              </a:rPr>
              <a:t>": "</a:t>
            </a:r>
            <a:r>
              <a:rPr lang="ko-KR" altLang="en-US" sz="1100" dirty="0">
                <a:latin typeface="+mn-ea"/>
              </a:rPr>
              <a:t>맞벌이 함 </a:t>
            </a:r>
            <a:r>
              <a:rPr lang="en-US" altLang="ko-KR" sz="1100" dirty="0">
                <a:latin typeface="+mn-ea"/>
              </a:rPr>
              <a:t>/ </a:t>
            </a:r>
            <a:r>
              <a:rPr lang="ko-KR" altLang="en-US" sz="1100" dirty="0">
                <a:latin typeface="+mn-ea"/>
              </a:rPr>
              <a:t>맞벌이 하지 않음 중 선택</a:t>
            </a:r>
            <a:r>
              <a:rPr lang="en-US" altLang="ko-KR" sz="1100" dirty="0">
                <a:latin typeface="+mn-ea"/>
              </a:rPr>
              <a:t>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</a:t>
            </a:r>
            <a:r>
              <a:rPr lang="en-US" altLang="ko-KR" sz="1100" dirty="0" err="1">
                <a:latin typeface="+mn-ea"/>
              </a:rPr>
              <a:t>income_month</a:t>
            </a:r>
            <a:r>
              <a:rPr lang="en-US" altLang="ko-KR" sz="1100" dirty="0">
                <a:latin typeface="+mn-ea"/>
              </a:rPr>
              <a:t>": "100</a:t>
            </a:r>
            <a:r>
              <a:rPr lang="ko-KR" altLang="en-US" sz="1100" dirty="0">
                <a:latin typeface="+mn-ea"/>
              </a:rPr>
              <a:t>만원 미만 </a:t>
            </a:r>
            <a:r>
              <a:rPr lang="en-US" altLang="ko-KR" sz="1100" dirty="0">
                <a:latin typeface="+mn-ea"/>
              </a:rPr>
              <a:t>~ 1,000</a:t>
            </a:r>
            <a:r>
              <a:rPr lang="ko-KR" altLang="en-US" sz="1100" dirty="0">
                <a:latin typeface="+mn-ea"/>
              </a:rPr>
              <a:t>만원 이상 중 선택</a:t>
            </a:r>
            <a:r>
              <a:rPr lang="en-US" altLang="ko-KR" sz="1100" dirty="0">
                <a:latin typeface="+mn-ea"/>
              </a:rPr>
              <a:t>",</a:t>
            </a:r>
          </a:p>
          <a:p>
            <a:pPr algn="l">
              <a:lnSpc>
                <a:spcPct val="100000"/>
              </a:lnSpc>
            </a:pPr>
            <a:r>
              <a:rPr lang="en-US" altLang="ko-KR" sz="1100" dirty="0">
                <a:latin typeface="+mn-ea"/>
              </a:rPr>
              <a:t>    "</a:t>
            </a:r>
            <a:r>
              <a:rPr lang="en-US" altLang="ko-KR" sz="1100" dirty="0" err="1">
                <a:latin typeface="+mn-ea"/>
              </a:rPr>
              <a:t>brand_loyalty_scaled</a:t>
            </a:r>
            <a:r>
              <a:rPr lang="en-US" altLang="ko-KR" sz="1100" dirty="0">
                <a:latin typeface="+mn-ea"/>
              </a:rPr>
              <a:t>": "0.0 ~ 1.0 </a:t>
            </a:r>
            <a:r>
              <a:rPr lang="ko-KR" altLang="en-US" sz="1100" dirty="0">
                <a:latin typeface="+mn-ea"/>
              </a:rPr>
              <a:t>사이의 </a:t>
            </a:r>
            <a:r>
              <a:rPr lang="ko-KR" altLang="en-US" sz="1100" dirty="0" err="1">
                <a:latin typeface="+mn-ea"/>
              </a:rPr>
              <a:t>실수값</a:t>
            </a:r>
            <a:r>
              <a:rPr lang="en-US" altLang="ko-KR" sz="1100" dirty="0">
                <a:latin typeface="+mn-ea"/>
              </a:rPr>
              <a:t>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</a:t>
            </a:r>
            <a:r>
              <a:rPr lang="en-US" altLang="ko-KR" sz="1100" dirty="0" err="1">
                <a:latin typeface="+mn-ea"/>
              </a:rPr>
              <a:t>cooking_convenience_scaled</a:t>
            </a:r>
            <a:r>
              <a:rPr lang="en-US" altLang="ko-KR" sz="1100" dirty="0">
                <a:latin typeface="+mn-ea"/>
              </a:rPr>
              <a:t>": "0.0 ~ 1.0 </a:t>
            </a:r>
            <a:r>
              <a:rPr lang="ko-KR" altLang="en-US" sz="1100" dirty="0">
                <a:latin typeface="+mn-ea"/>
              </a:rPr>
              <a:t>사이의 </a:t>
            </a:r>
            <a:r>
              <a:rPr lang="ko-KR" altLang="en-US" sz="1100" dirty="0" err="1">
                <a:latin typeface="+mn-ea"/>
              </a:rPr>
              <a:t>실수값</a:t>
            </a:r>
            <a:r>
              <a:rPr lang="en-US" altLang="ko-KR" sz="1100" dirty="0">
                <a:latin typeface="+mn-ea"/>
              </a:rPr>
              <a:t>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</a:t>
            </a:r>
            <a:r>
              <a:rPr lang="en-US" altLang="ko-KR" sz="1100" dirty="0" err="1">
                <a:latin typeface="+mn-ea"/>
              </a:rPr>
              <a:t>health_orientation_scaled</a:t>
            </a:r>
            <a:r>
              <a:rPr lang="en-US" altLang="ko-KR" sz="1100" dirty="0">
                <a:latin typeface="+mn-ea"/>
              </a:rPr>
              <a:t>": "0.0 ~ 1.0 </a:t>
            </a:r>
            <a:r>
              <a:rPr lang="ko-KR" altLang="en-US" sz="1100" dirty="0">
                <a:latin typeface="+mn-ea"/>
              </a:rPr>
              <a:t>사이의 </a:t>
            </a:r>
            <a:r>
              <a:rPr lang="ko-KR" altLang="en-US" sz="1100" dirty="0" err="1">
                <a:latin typeface="+mn-ea"/>
              </a:rPr>
              <a:t>실수값</a:t>
            </a:r>
            <a:r>
              <a:rPr lang="en-US" altLang="ko-KR" sz="1100" dirty="0">
                <a:latin typeface="+mn-ea"/>
              </a:rPr>
              <a:t>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</a:t>
            </a:r>
            <a:r>
              <a:rPr lang="en-US" altLang="ko-KR" sz="1100" dirty="0" err="1">
                <a:latin typeface="+mn-ea"/>
              </a:rPr>
              <a:t>hmr_preference_scaled</a:t>
            </a:r>
            <a:r>
              <a:rPr lang="en-US" altLang="ko-KR" sz="1100" dirty="0">
                <a:latin typeface="+mn-ea"/>
              </a:rPr>
              <a:t>": "0.0 ~ 1.0 </a:t>
            </a:r>
            <a:r>
              <a:rPr lang="ko-KR" altLang="en-US" sz="1100" dirty="0">
                <a:latin typeface="+mn-ea"/>
              </a:rPr>
              <a:t>사이의 </a:t>
            </a:r>
            <a:r>
              <a:rPr lang="ko-KR" altLang="en-US" sz="1100" dirty="0" err="1">
                <a:latin typeface="+mn-ea"/>
              </a:rPr>
              <a:t>실수값</a:t>
            </a:r>
            <a:r>
              <a:rPr lang="en-US" altLang="ko-KR" sz="1100" dirty="0">
                <a:latin typeface="+mn-ea"/>
              </a:rPr>
              <a:t>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</a:t>
            </a:r>
            <a:r>
              <a:rPr lang="en-US" altLang="ko-KR" sz="1100" dirty="0" err="1">
                <a:latin typeface="+mn-ea"/>
              </a:rPr>
              <a:t>premium_orientation_scaled</a:t>
            </a:r>
            <a:r>
              <a:rPr lang="en-US" altLang="ko-KR" sz="1100" dirty="0">
                <a:latin typeface="+mn-ea"/>
              </a:rPr>
              <a:t>": "0.0 ~ 1.0 </a:t>
            </a:r>
            <a:r>
              <a:rPr lang="ko-KR" altLang="en-US" sz="1100" dirty="0">
                <a:latin typeface="+mn-ea"/>
              </a:rPr>
              <a:t>사이의 </a:t>
            </a:r>
            <a:r>
              <a:rPr lang="ko-KR" altLang="en-US" sz="1100" dirty="0" err="1">
                <a:latin typeface="+mn-ea"/>
              </a:rPr>
              <a:t>실수값</a:t>
            </a:r>
            <a:r>
              <a:rPr lang="en-US" altLang="ko-KR" sz="1100" dirty="0">
                <a:latin typeface="+mn-ea"/>
              </a:rPr>
              <a:t>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</a:t>
            </a:r>
            <a:r>
              <a:rPr lang="en-US" altLang="ko-KR" sz="1100" dirty="0" err="1">
                <a:latin typeface="+mn-ea"/>
              </a:rPr>
              <a:t>price_sensitivity_scaled</a:t>
            </a:r>
            <a:r>
              <a:rPr lang="en-US" altLang="ko-KR" sz="1100" dirty="0">
                <a:latin typeface="+mn-ea"/>
              </a:rPr>
              <a:t>": "0.0 ~ 1.0 </a:t>
            </a:r>
            <a:r>
              <a:rPr lang="ko-KR" altLang="en-US" sz="1100" dirty="0">
                <a:latin typeface="+mn-ea"/>
              </a:rPr>
              <a:t>사이의 </a:t>
            </a:r>
            <a:r>
              <a:rPr lang="ko-KR" altLang="en-US" sz="1100" dirty="0" err="1">
                <a:latin typeface="+mn-ea"/>
              </a:rPr>
              <a:t>실수값</a:t>
            </a:r>
            <a:r>
              <a:rPr lang="en-US" altLang="ko-KR" sz="1100" dirty="0">
                <a:latin typeface="+mn-ea"/>
              </a:rPr>
              <a:t>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</a:t>
            </a:r>
            <a:r>
              <a:rPr lang="en-US" altLang="ko-KR" sz="1100" dirty="0" err="1">
                <a:latin typeface="+mn-ea"/>
              </a:rPr>
              <a:t>variety_seeking_scaled</a:t>
            </a:r>
            <a:r>
              <a:rPr lang="en-US" altLang="ko-KR" sz="1100" dirty="0">
                <a:latin typeface="+mn-ea"/>
              </a:rPr>
              <a:t>": "0.0 ~ 1.0 </a:t>
            </a:r>
            <a:r>
              <a:rPr lang="ko-KR" altLang="en-US" sz="1100" dirty="0">
                <a:latin typeface="+mn-ea"/>
              </a:rPr>
              <a:t>사이의 </a:t>
            </a:r>
            <a:r>
              <a:rPr lang="ko-KR" altLang="en-US" sz="1100" dirty="0" err="1">
                <a:latin typeface="+mn-ea"/>
              </a:rPr>
              <a:t>실수값</a:t>
            </a:r>
            <a:r>
              <a:rPr lang="en-US" altLang="ko-KR" sz="1100" dirty="0">
                <a:latin typeface="+mn-ea"/>
              </a:rPr>
              <a:t>“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},</a:t>
            </a:r>
          </a:p>
          <a:p>
            <a:pPr algn="l">
              <a:lnSpc>
                <a:spcPct val="100000"/>
              </a:lnSpc>
            </a:pPr>
            <a:r>
              <a:rPr lang="en-US" altLang="ko-KR" sz="1100" dirty="0">
                <a:latin typeface="+mn-ea"/>
              </a:rPr>
              <a:t>  "meta": {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"cluster": "0, 1, 3 </a:t>
            </a:r>
            <a:r>
              <a:rPr lang="ko-KR" altLang="en-US" sz="1100" dirty="0">
                <a:latin typeface="+mn-ea"/>
              </a:rPr>
              <a:t>중 택일</a:t>
            </a:r>
            <a:r>
              <a:rPr lang="en-US" altLang="ko-KR" sz="1100" dirty="0">
                <a:latin typeface="+mn-ea"/>
              </a:rPr>
              <a:t>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"label": "</a:t>
            </a:r>
            <a:r>
              <a:rPr lang="ko-KR" altLang="en-US" sz="1100" dirty="0">
                <a:latin typeface="+mn-ea"/>
              </a:rPr>
              <a:t>해당 </a:t>
            </a:r>
            <a:r>
              <a:rPr lang="en-US" altLang="ko-KR" sz="1100" dirty="0">
                <a:latin typeface="+mn-ea"/>
              </a:rPr>
              <a:t>cluster</a:t>
            </a:r>
            <a:r>
              <a:rPr lang="ko-KR" altLang="en-US" sz="1100" dirty="0">
                <a:latin typeface="+mn-ea"/>
              </a:rPr>
              <a:t>에 맞는 </a:t>
            </a:r>
            <a:r>
              <a:rPr lang="en-US" altLang="ko-KR" sz="1100" dirty="0">
                <a:latin typeface="+mn-ea"/>
              </a:rPr>
              <a:t>label</a:t>
            </a:r>
            <a:r>
              <a:rPr lang="ko-KR" altLang="en-US" sz="1100" dirty="0">
                <a:latin typeface="+mn-ea"/>
              </a:rPr>
              <a:t>을 </a:t>
            </a:r>
            <a:r>
              <a:rPr lang="en-US" altLang="ko-KR" sz="1100" dirty="0">
                <a:latin typeface="+mn-ea"/>
              </a:rPr>
              <a:t>Catalog</a:t>
            </a:r>
            <a:r>
              <a:rPr lang="ko-KR" altLang="en-US" sz="1100" dirty="0">
                <a:latin typeface="+mn-ea"/>
              </a:rPr>
              <a:t>에서 복사</a:t>
            </a:r>
            <a:r>
              <a:rPr lang="en-US" altLang="ko-KR" sz="1100" dirty="0">
                <a:latin typeface="+mn-ea"/>
              </a:rPr>
              <a:t>",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  "description": "</a:t>
            </a:r>
            <a:r>
              <a:rPr lang="ko-KR" altLang="en-US" sz="1100" dirty="0">
                <a:latin typeface="+mn-ea"/>
              </a:rPr>
              <a:t>해당 </a:t>
            </a:r>
            <a:r>
              <a:rPr lang="en-US" altLang="ko-KR" sz="1100" dirty="0">
                <a:latin typeface="+mn-ea"/>
              </a:rPr>
              <a:t>cluster</a:t>
            </a:r>
            <a:r>
              <a:rPr lang="ko-KR" altLang="en-US" sz="1100" dirty="0">
                <a:latin typeface="+mn-ea"/>
              </a:rPr>
              <a:t>에 맞는 </a:t>
            </a:r>
            <a:r>
              <a:rPr lang="en-US" altLang="ko-KR" sz="1100" dirty="0">
                <a:latin typeface="+mn-ea"/>
              </a:rPr>
              <a:t>description</a:t>
            </a:r>
            <a:r>
              <a:rPr lang="ko-KR" altLang="en-US" sz="1100" dirty="0">
                <a:latin typeface="+mn-ea"/>
              </a:rPr>
              <a:t>을 </a:t>
            </a:r>
            <a:r>
              <a:rPr lang="en-US" altLang="ko-KR" sz="1100" dirty="0">
                <a:latin typeface="+mn-ea"/>
              </a:rPr>
              <a:t>Catalog</a:t>
            </a:r>
            <a:r>
              <a:rPr lang="ko-KR" altLang="en-US" sz="1100" dirty="0">
                <a:latin typeface="+mn-ea"/>
              </a:rPr>
              <a:t>에서 복사</a:t>
            </a:r>
            <a:r>
              <a:rPr lang="en-US" altLang="ko-KR" sz="1100" dirty="0">
                <a:latin typeface="+mn-ea"/>
              </a:rPr>
              <a:t>“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  },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}</a:t>
            </a:r>
            <a:br>
              <a:rPr lang="en-US" altLang="ko-KR" sz="1100" dirty="0">
                <a:latin typeface="+mn-ea"/>
              </a:rPr>
            </a:br>
            <a:r>
              <a:rPr lang="en-US" altLang="ko-KR" sz="1100" dirty="0">
                <a:latin typeface="+mn-ea"/>
              </a:rPr>
              <a:t>“””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8155263-55AC-A286-3A30-79255D9075F4}"/>
              </a:ext>
            </a:extLst>
          </p:cNvPr>
          <p:cNvCxnSpPr/>
          <p:nvPr/>
        </p:nvCxnSpPr>
        <p:spPr>
          <a:xfrm>
            <a:off x="6219825" y="852190"/>
            <a:ext cx="0" cy="566291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114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15545" y="1041828"/>
            <a:ext cx="10881155" cy="6017741"/>
          </a:xfrm>
        </p:spPr>
        <p:txBody>
          <a:bodyPr>
            <a:normAutofit lnSpcReduction="10000"/>
          </a:bodyPr>
          <a:lstStyle/>
          <a:p>
            <a:pPr marL="342900" indent="-342900" algn="l">
              <a:buAutoNum type="arabicPeriod"/>
            </a:pPr>
            <a:r>
              <a:rPr lang="ko-KR" altLang="en-US" sz="1800" dirty="0"/>
              <a:t>초기 설정 및 라이브러리 불러오기</a:t>
            </a:r>
            <a:endParaRPr lang="en-US" altLang="ko-KR" sz="18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400" dirty="0"/>
              <a:t>필요한 라이브러리 불러오기</a:t>
            </a:r>
            <a:endParaRPr lang="en-US" altLang="ko-KR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/>
              <a:t>.</a:t>
            </a:r>
            <a:r>
              <a:rPr lang="en-US" altLang="ko-KR" sz="1400" dirty="0" err="1"/>
              <a:t>env</a:t>
            </a:r>
            <a:r>
              <a:rPr lang="en-US" altLang="ko-KR" sz="1400" dirty="0"/>
              <a:t> </a:t>
            </a:r>
            <a:r>
              <a:rPr lang="ko-KR" altLang="en-US" sz="1400" dirty="0"/>
              <a:t>파일에서 </a:t>
            </a:r>
            <a:r>
              <a:rPr lang="en-US" altLang="ko-KR" sz="1400" dirty="0" err="1"/>
              <a:t>OpenAP</a:t>
            </a:r>
            <a:r>
              <a:rPr lang="en-US" altLang="ko-KR" sz="1400" dirty="0"/>
              <a:t> API</a:t>
            </a:r>
            <a:r>
              <a:rPr lang="ko-KR" altLang="en-US" sz="1400" dirty="0"/>
              <a:t>키와</a:t>
            </a:r>
            <a:r>
              <a:rPr lang="en-US" altLang="ko-KR" sz="1400" dirty="0"/>
              <a:t> </a:t>
            </a:r>
            <a:r>
              <a:rPr lang="ko-KR" altLang="en-US" sz="1400" dirty="0"/>
              <a:t>모델 불러오기</a:t>
            </a:r>
            <a:endParaRPr lang="en-US" altLang="ko-KR" sz="1400" dirty="0"/>
          </a:p>
          <a:p>
            <a:pPr algn="l"/>
            <a:r>
              <a:rPr lang="en-US" altLang="ko-KR" sz="1800" dirty="0"/>
              <a:t>2. </a:t>
            </a:r>
            <a:r>
              <a:rPr lang="ko-KR" altLang="en-US" sz="1800" dirty="0"/>
              <a:t>데이터 로드 및 전처리</a:t>
            </a:r>
            <a:endParaRPr lang="en-US" altLang="ko-KR" sz="18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/>
              <a:t>Few-shot </a:t>
            </a:r>
            <a:r>
              <a:rPr lang="ko-KR" altLang="en-US" sz="1400" dirty="0"/>
              <a:t>예시로 쓸 </a:t>
            </a:r>
            <a:r>
              <a:rPr lang="en-US" altLang="ko-KR" sz="1400" dirty="0"/>
              <a:t>‘</a:t>
            </a:r>
            <a:r>
              <a:rPr lang="ko-KR" altLang="en-US" sz="1400" dirty="0"/>
              <a:t>페르소나 가중치 변환</a:t>
            </a:r>
            <a:r>
              <a:rPr lang="en-US" altLang="ko-KR" sz="1400" dirty="0"/>
              <a:t>.</a:t>
            </a:r>
            <a:r>
              <a:rPr lang="en-US" altLang="ko-KR" sz="1400" dirty="0" err="1"/>
              <a:t>jsonl</a:t>
            </a:r>
            <a:r>
              <a:rPr lang="en-US" altLang="ko-KR" sz="1400" dirty="0"/>
              <a:t>’ </a:t>
            </a:r>
            <a:r>
              <a:rPr lang="ko-KR" altLang="en-US" sz="1400" dirty="0"/>
              <a:t>파일에서 페르소나 데이터를 불러와 리스트 형태로 저장</a:t>
            </a:r>
            <a:endParaRPr lang="en-US" altLang="ko-KR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/>
              <a:t>‘</a:t>
            </a:r>
            <a:r>
              <a:rPr lang="en-US" altLang="ko-KR" sz="1400" dirty="0" err="1"/>
              <a:t>product_info.json</a:t>
            </a:r>
            <a:r>
              <a:rPr lang="en-US" altLang="ko-KR" sz="1400" dirty="0"/>
              <a:t>’ </a:t>
            </a:r>
            <a:r>
              <a:rPr lang="ko-KR" altLang="en-US" sz="1400" dirty="0"/>
              <a:t>파일에서 제품 정보를 불러와 </a:t>
            </a:r>
            <a:r>
              <a:rPr lang="ko-KR" altLang="en-US" sz="1400" dirty="0" err="1"/>
              <a:t>딕셔너리로</a:t>
            </a:r>
            <a:r>
              <a:rPr lang="ko-KR" altLang="en-US" sz="1400" dirty="0"/>
              <a:t> 저장</a:t>
            </a:r>
            <a:endParaRPr lang="en-US" altLang="ko-KR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400" dirty="0"/>
              <a:t>제품 특성과 페르소나 정보를 결합하여 모델 입력에 맞게 데이터 정리</a:t>
            </a:r>
            <a:endParaRPr lang="en-US" altLang="ko-KR" sz="1400" dirty="0"/>
          </a:p>
          <a:p>
            <a:pPr algn="l"/>
            <a:r>
              <a:rPr lang="en-US" altLang="ko-KR" sz="1800" dirty="0"/>
              <a:t>3. </a:t>
            </a:r>
            <a:r>
              <a:rPr lang="ko-KR" altLang="en-US" sz="1800" dirty="0"/>
              <a:t>함수 정의</a:t>
            </a:r>
            <a:endParaRPr lang="en-US" altLang="ko-KR" sz="18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400" dirty="0"/>
              <a:t>클러스터 카탈로그를 </a:t>
            </a:r>
            <a:r>
              <a:rPr lang="ko-KR" altLang="en-US" sz="1400" dirty="0" err="1"/>
              <a:t>를</a:t>
            </a:r>
            <a:r>
              <a:rPr lang="ko-KR" altLang="en-US" sz="1400" dirty="0"/>
              <a:t> 정의하고</a:t>
            </a:r>
            <a:r>
              <a:rPr lang="en-US" altLang="ko-KR" sz="1400" dirty="0"/>
              <a:t>, </a:t>
            </a:r>
            <a:r>
              <a:rPr lang="ko-KR" altLang="en-US" sz="1400" dirty="0"/>
              <a:t>클러스터 메타데이터를 강제 설정하는 </a:t>
            </a:r>
            <a:r>
              <a:rPr lang="en-US" altLang="ko-KR" sz="1400" dirty="0" err="1"/>
              <a:t>enforce_cluster_meta</a:t>
            </a:r>
            <a:r>
              <a:rPr lang="en-US" altLang="ko-KR" sz="1400" dirty="0"/>
              <a:t> </a:t>
            </a:r>
            <a:r>
              <a:rPr lang="ko-KR" altLang="en-US" sz="1400" dirty="0"/>
              <a:t>함수를 정의</a:t>
            </a:r>
            <a:endParaRPr lang="en-US" altLang="ko-KR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/>
              <a:t>Few-shot </a:t>
            </a:r>
            <a:r>
              <a:rPr lang="ko-KR" altLang="en-US" sz="1400" dirty="0"/>
              <a:t>학습 예시를 다양하게 </a:t>
            </a:r>
            <a:r>
              <a:rPr lang="ko-KR" altLang="en-US" sz="1400" dirty="0" err="1"/>
              <a:t>샘플링하는</a:t>
            </a:r>
            <a:r>
              <a:rPr lang="ko-KR" altLang="en-US" sz="1400" dirty="0"/>
              <a:t> </a:t>
            </a:r>
            <a:r>
              <a:rPr lang="en-US" altLang="ko-KR" sz="1400" dirty="0" err="1"/>
              <a:t>sample_diverse_examples</a:t>
            </a:r>
            <a:r>
              <a:rPr lang="en-US" altLang="ko-KR" sz="1400" dirty="0"/>
              <a:t> </a:t>
            </a:r>
            <a:r>
              <a:rPr lang="ko-KR" altLang="en-US" sz="1400" dirty="0"/>
              <a:t>함수와 이를 블록 형태로 만드는 </a:t>
            </a:r>
            <a:r>
              <a:rPr lang="en-US" altLang="ko-KR" sz="1400" dirty="0" err="1"/>
              <a:t>build_fewshot_block</a:t>
            </a:r>
            <a:r>
              <a:rPr lang="en-US" altLang="ko-KR" sz="1400" dirty="0"/>
              <a:t> </a:t>
            </a:r>
            <a:r>
              <a:rPr lang="ko-KR" altLang="en-US" sz="1400" dirty="0"/>
              <a:t>함수를 정의</a:t>
            </a:r>
            <a:endParaRPr lang="en-US" altLang="ko-KR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400" dirty="0"/>
              <a:t>제품과 페르소나 정보를 결합하여 </a:t>
            </a:r>
            <a:r>
              <a:rPr lang="en-US" altLang="ko-KR" sz="1400" dirty="0"/>
              <a:t>LLM</a:t>
            </a:r>
            <a:r>
              <a:rPr lang="ko-KR" altLang="en-US" sz="1400" dirty="0"/>
              <a:t>에 보낼 최종 프롬프트를 만드는 </a:t>
            </a:r>
            <a:r>
              <a:rPr lang="en-US" altLang="ko-KR" sz="1400" dirty="0" err="1"/>
              <a:t>build_conditioned_prompt</a:t>
            </a:r>
            <a:r>
              <a:rPr lang="en-US" altLang="ko-KR" sz="1400" dirty="0"/>
              <a:t> </a:t>
            </a:r>
            <a:r>
              <a:rPr lang="ko-KR" altLang="en-US" sz="1400" dirty="0"/>
              <a:t>함수를 정의</a:t>
            </a:r>
            <a:endParaRPr lang="en-US" altLang="ko-KR" sz="1400" dirty="0"/>
          </a:p>
          <a:p>
            <a:pPr algn="l"/>
            <a:r>
              <a:rPr lang="en-US" altLang="ko-KR" sz="1800" dirty="0"/>
              <a:t>4. Few-shot </a:t>
            </a:r>
            <a:r>
              <a:rPr lang="ko-KR" altLang="en-US" sz="1800" dirty="0"/>
              <a:t>예시 확인</a:t>
            </a:r>
            <a:endParaRPr lang="en-US" altLang="ko-KR" sz="18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sample_diverse_examples</a:t>
            </a:r>
            <a:r>
              <a:rPr lang="en-US" altLang="ko-KR" sz="1400" dirty="0"/>
              <a:t> </a:t>
            </a:r>
            <a:r>
              <a:rPr lang="ko-KR" altLang="en-US" sz="1400" dirty="0"/>
              <a:t>함수를 호출하여 </a:t>
            </a:r>
            <a:r>
              <a:rPr lang="en-US" altLang="ko-KR" sz="1400" dirty="0"/>
              <a:t>10</a:t>
            </a:r>
            <a:r>
              <a:rPr lang="ko-KR" altLang="en-US" sz="1400" dirty="0"/>
              <a:t>개의 예시 페르소나를 무작위로 선택하고 출력</a:t>
            </a:r>
            <a:endParaRPr lang="en-US" altLang="ko-KR" sz="1400" dirty="0"/>
          </a:p>
          <a:p>
            <a:pPr algn="l"/>
            <a:r>
              <a:rPr lang="en-US" altLang="ko-KR" sz="1800" dirty="0"/>
              <a:t>5. AI </a:t>
            </a:r>
            <a:r>
              <a:rPr lang="ko-KR" altLang="en-US" sz="1800" dirty="0"/>
              <a:t>모델 예측 및 데이터 처리</a:t>
            </a:r>
            <a:endParaRPr lang="en-US" altLang="ko-KR" sz="18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400" dirty="0"/>
              <a:t>결과 파일을 저장할 디렉터리를 생성</a:t>
            </a:r>
            <a:endParaRPr lang="en-US" altLang="ko-KR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build_fewshot_block</a:t>
            </a:r>
            <a:r>
              <a:rPr lang="en-US" altLang="ko-KR" sz="1400" dirty="0"/>
              <a:t> </a:t>
            </a:r>
            <a:r>
              <a:rPr lang="ko-KR" altLang="en-US" sz="1400" dirty="0"/>
              <a:t>함수를 호출하여 </a:t>
            </a:r>
            <a:r>
              <a:rPr lang="en-US" altLang="ko-KR" sz="1400" dirty="0"/>
              <a:t>few-shot </a:t>
            </a:r>
            <a:r>
              <a:rPr lang="ko-KR" altLang="en-US" sz="1400" dirty="0"/>
              <a:t>프롬프트 블록 생성</a:t>
            </a:r>
            <a:endParaRPr lang="en-US" altLang="ko-KR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/>
              <a:t>5</a:t>
            </a:r>
            <a:r>
              <a:rPr lang="ko-KR" altLang="en-US" sz="1400" dirty="0"/>
              <a:t>명씩의 페르소나 배치를 생성하기 위해 </a:t>
            </a:r>
            <a:r>
              <a:rPr lang="en-US" altLang="ko-KR" sz="1400" dirty="0"/>
              <a:t>100</a:t>
            </a:r>
            <a:r>
              <a:rPr lang="ko-KR" altLang="en-US" sz="1400" dirty="0"/>
              <a:t>회 반복하는 루프를 실행</a:t>
            </a:r>
            <a:endParaRPr lang="en-US" altLang="ko-KR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client.chat.completions.create</a:t>
            </a:r>
            <a:r>
              <a:rPr lang="ko-KR" altLang="en-US" sz="1400" dirty="0"/>
              <a:t>를 호출하여 </a:t>
            </a:r>
            <a:r>
              <a:rPr lang="en-US" altLang="ko-KR" sz="1400" dirty="0"/>
              <a:t>LLM</a:t>
            </a:r>
            <a:r>
              <a:rPr lang="ko-KR" altLang="en-US" sz="1400" dirty="0"/>
              <a:t>에 최종 프롬프트 전달</a:t>
            </a:r>
            <a:endParaRPr lang="en-US" altLang="ko-KR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400" dirty="0"/>
              <a:t>각 제품별 페르소나를 </a:t>
            </a:r>
            <a:r>
              <a:rPr lang="en-US" altLang="ko-KR" sz="1400" dirty="0"/>
              <a:t>JSON </a:t>
            </a:r>
            <a:r>
              <a:rPr lang="ko-KR" altLang="en-US" sz="1400" dirty="0"/>
              <a:t>부분을 추출하고 </a:t>
            </a:r>
            <a:r>
              <a:rPr lang="en-US" altLang="ko-KR" sz="1400" dirty="0" err="1"/>
              <a:t>json.loads</a:t>
            </a:r>
            <a:r>
              <a:rPr lang="ko-KR" altLang="en-US" sz="1400" dirty="0"/>
              <a:t>로 </a:t>
            </a:r>
            <a:r>
              <a:rPr lang="ko-KR" altLang="en-US" sz="1400" dirty="0" err="1"/>
              <a:t>파싱</a:t>
            </a:r>
            <a:endParaRPr lang="en-US" altLang="ko-KR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enforce_cluster_meta</a:t>
            </a:r>
            <a:r>
              <a:rPr lang="en-US" altLang="ko-KR" sz="1400" dirty="0"/>
              <a:t> </a:t>
            </a:r>
            <a:r>
              <a:rPr lang="ko-KR" altLang="en-US" sz="1400" dirty="0"/>
              <a:t>함수를 호출하여 정보를 보정</a:t>
            </a:r>
            <a:endParaRPr lang="en-US" altLang="ko-KR" sz="1400" dirty="0"/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ko-KR" altLang="en-US" sz="1400" dirty="0"/>
              <a:t>처리된 페르소나를 </a:t>
            </a:r>
            <a:r>
              <a:rPr lang="en-US" altLang="ko-KR" sz="1400" dirty="0"/>
              <a:t>JSONL </a:t>
            </a:r>
            <a:r>
              <a:rPr lang="ko-KR" altLang="en-US" sz="1400" dirty="0"/>
              <a:t>형식으로 저장</a:t>
            </a:r>
            <a:endParaRPr lang="en-US" altLang="ko-KR" sz="1800" dirty="0"/>
          </a:p>
          <a:p>
            <a:pPr marL="342900" indent="-342900" algn="l">
              <a:buFont typeface="+mj-lt"/>
              <a:buAutoNum type="arabicPeriod"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1BFCC8-9AAF-B33C-F435-B17C1D4B5D0C}"/>
              </a:ext>
            </a:extLst>
          </p:cNvPr>
          <p:cNvSpPr txBox="1"/>
          <p:nvPr/>
        </p:nvSpPr>
        <p:spPr>
          <a:xfrm>
            <a:off x="447675" y="390525"/>
            <a:ext cx="3480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페르소나 생성 프로세스</a:t>
            </a:r>
          </a:p>
        </p:txBody>
      </p:sp>
    </p:spTree>
    <p:extLst>
      <p:ext uri="{BB962C8B-B14F-4D97-AF65-F5344CB8AC3E}">
        <p14:creationId xmlns:p14="http://schemas.microsoft.com/office/powerpoint/2010/main" val="4166855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47135" y="527221"/>
            <a:ext cx="5980670" cy="1598141"/>
          </a:xfrm>
        </p:spPr>
        <p:txBody>
          <a:bodyPr>
            <a:normAutofit/>
          </a:bodyPr>
          <a:lstStyle/>
          <a:p>
            <a:pPr algn="l"/>
            <a:r>
              <a:rPr lang="en-US" altLang="ko-KR" sz="1600" dirty="0" err="1"/>
              <a:t>enforce_cluster_meta</a:t>
            </a:r>
            <a:r>
              <a:rPr lang="en-US" altLang="ko-KR" sz="1600" dirty="0"/>
              <a:t>(persona: </a:t>
            </a:r>
            <a:r>
              <a:rPr lang="en-US" altLang="ko-KR" sz="1600" dirty="0" err="1"/>
              <a:t>Dict</a:t>
            </a:r>
            <a:r>
              <a:rPr lang="en-US" altLang="ko-KR" sz="1600" dirty="0"/>
              <a:t>[</a:t>
            </a:r>
            <a:r>
              <a:rPr lang="en-US" altLang="ko-KR" sz="1600" dirty="0" err="1"/>
              <a:t>str</a:t>
            </a:r>
            <a:r>
              <a:rPr lang="en-US" altLang="ko-KR" sz="1600" dirty="0"/>
              <a:t>, Any]) -&gt; </a:t>
            </a:r>
            <a:r>
              <a:rPr lang="en-US" altLang="ko-KR" sz="1600" dirty="0" err="1"/>
              <a:t>Dict</a:t>
            </a:r>
            <a:r>
              <a:rPr lang="en-US" altLang="ko-KR" sz="1600" dirty="0"/>
              <a:t>[</a:t>
            </a:r>
            <a:r>
              <a:rPr lang="en-US" altLang="ko-KR" sz="1600" dirty="0" err="1"/>
              <a:t>str</a:t>
            </a:r>
            <a:r>
              <a:rPr lang="en-US" altLang="ko-KR" sz="1600" dirty="0"/>
              <a:t>, Any]) </a:t>
            </a:r>
            <a:br>
              <a:rPr lang="en-US" altLang="ko-KR" sz="1800" dirty="0"/>
            </a:br>
            <a:br>
              <a:rPr lang="en-US" altLang="ko-KR" sz="1800" dirty="0"/>
            </a:br>
            <a:r>
              <a:rPr lang="ko-KR" altLang="en-US" sz="1400" dirty="0"/>
              <a:t>생성된 페르소나의 </a:t>
            </a:r>
            <a:r>
              <a:rPr lang="en-US" altLang="ko-KR" sz="1400" dirty="0" err="1"/>
              <a:t>meta.cluster</a:t>
            </a:r>
            <a:r>
              <a:rPr lang="ko-KR" altLang="en-US" sz="1400" dirty="0"/>
              <a:t>값을 기준으로 </a:t>
            </a:r>
            <a:r>
              <a:rPr lang="en-US" altLang="ko-KR" sz="1400" dirty="0" err="1"/>
              <a:t>meta.label</a:t>
            </a:r>
            <a:r>
              <a:rPr lang="ko-KR" altLang="en-US" sz="1400" dirty="0"/>
              <a:t>과 </a:t>
            </a:r>
            <a:r>
              <a:rPr lang="en-US" altLang="ko-KR" sz="1400" dirty="0" err="1"/>
              <a:t>meta.description</a:t>
            </a:r>
            <a:r>
              <a:rPr lang="ko-KR" altLang="en-US" sz="1400" dirty="0"/>
              <a:t>을 자동으로 채워주는 역할</a:t>
            </a:r>
            <a:br>
              <a:rPr lang="en-US" altLang="ko-KR" sz="1400" dirty="0"/>
            </a:br>
            <a:br>
              <a:rPr lang="en-US" altLang="ko-KR" sz="1800" dirty="0"/>
            </a:br>
            <a:r>
              <a:rPr lang="en-US" altLang="ko-KR" sz="1400" dirty="0"/>
              <a:t>LLM</a:t>
            </a:r>
            <a:r>
              <a:rPr lang="ko-KR" altLang="en-US" sz="1400" dirty="0"/>
              <a:t>이 생성한 페르소나 결과에서 클러스터 </a:t>
            </a:r>
            <a:r>
              <a:rPr lang="en-US" altLang="ko-KR" sz="1400" dirty="0"/>
              <a:t>ID</a:t>
            </a:r>
            <a:r>
              <a:rPr lang="ko-KR" altLang="en-US" sz="1400" dirty="0"/>
              <a:t>가 존재할 경우</a:t>
            </a:r>
            <a:r>
              <a:rPr lang="en-US" altLang="ko-KR" sz="1400" dirty="0"/>
              <a:t>, </a:t>
            </a:r>
            <a:r>
              <a:rPr lang="ko-KR" altLang="en-US" sz="1400" dirty="0"/>
              <a:t>이를 사전에 정의된 클러스터 카탈로그에서 찾아서 레이블과 설명을 추가</a:t>
            </a:r>
            <a:endParaRPr lang="en-US" altLang="ko-KR" sz="1400" dirty="0"/>
          </a:p>
          <a:p>
            <a:pPr algn="l"/>
            <a:endParaRPr lang="en-US" altLang="ko-KR" sz="18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8995" y="3761659"/>
            <a:ext cx="5618270" cy="287695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830" y="243204"/>
            <a:ext cx="4720305" cy="3322111"/>
          </a:xfrm>
          <a:prstGeom prst="rect">
            <a:avLst/>
          </a:prstGeom>
        </p:spPr>
      </p:pic>
      <p:sp>
        <p:nvSpPr>
          <p:cNvPr id="8" name="부제목 2"/>
          <p:cNvSpPr txBox="1">
            <a:spLocks/>
          </p:cNvSpPr>
          <p:nvPr/>
        </p:nvSpPr>
        <p:spPr>
          <a:xfrm>
            <a:off x="247135" y="2687150"/>
            <a:ext cx="5980670" cy="159814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 err="1"/>
              <a:t>cluster_catalog_block</a:t>
            </a:r>
            <a:r>
              <a:rPr lang="en-US" altLang="ko-KR" sz="1800" dirty="0"/>
              <a:t>() -&gt; </a:t>
            </a:r>
            <a:r>
              <a:rPr lang="en-US" altLang="ko-KR" sz="1800" dirty="0" err="1"/>
              <a:t>str</a:t>
            </a:r>
            <a:endParaRPr lang="en-US" altLang="ko-KR" sz="1800" dirty="0"/>
          </a:p>
          <a:p>
            <a:pPr algn="l"/>
            <a:endParaRPr lang="en-US" altLang="ko-KR" sz="1800" dirty="0"/>
          </a:p>
          <a:p>
            <a:pPr algn="l"/>
            <a:r>
              <a:rPr lang="ko-KR" altLang="en-US" sz="1500" dirty="0"/>
              <a:t>클러스터 </a:t>
            </a:r>
            <a:r>
              <a:rPr lang="en-US" altLang="ko-KR" sz="1500" dirty="0"/>
              <a:t>ID → </a:t>
            </a:r>
            <a:r>
              <a:rPr lang="ko-KR" altLang="en-US" sz="1500" dirty="0"/>
              <a:t>라벨</a:t>
            </a:r>
            <a:r>
              <a:rPr lang="en-US" altLang="ko-KR" sz="1500" dirty="0"/>
              <a:t>/</a:t>
            </a:r>
            <a:r>
              <a:rPr lang="ko-KR" altLang="en-US" sz="1500" dirty="0"/>
              <a:t>설명 </a:t>
            </a:r>
            <a:r>
              <a:rPr lang="ko-KR" altLang="en-US" sz="1500" dirty="0" err="1"/>
              <a:t>매핑표를</a:t>
            </a:r>
            <a:r>
              <a:rPr lang="ko-KR" altLang="en-US" sz="1500" dirty="0"/>
              <a:t> 텍스트 블록 형식으로 출력하는 역할</a:t>
            </a:r>
            <a:endParaRPr lang="en-US" altLang="ko-KR" sz="1500" dirty="0"/>
          </a:p>
          <a:p>
            <a:pPr algn="l"/>
            <a:r>
              <a:rPr lang="ko-KR" altLang="en-US" sz="1500" dirty="0"/>
              <a:t>프롬프트에 포함시켜 </a:t>
            </a:r>
            <a:r>
              <a:rPr lang="en-US" altLang="ko-KR" sz="1500" dirty="0"/>
              <a:t>LLM</a:t>
            </a:r>
            <a:r>
              <a:rPr lang="ko-KR" altLang="en-US" sz="1500" dirty="0"/>
              <a:t>이 클러스터 레이블 의미를 이해하도록 도와줌</a:t>
            </a:r>
          </a:p>
          <a:p>
            <a:pPr algn="l"/>
            <a:endParaRPr lang="en-US" altLang="ko-KR" sz="1800" dirty="0"/>
          </a:p>
        </p:txBody>
      </p:sp>
      <p:sp>
        <p:nvSpPr>
          <p:cNvPr id="9" name="부제목 2"/>
          <p:cNvSpPr txBox="1">
            <a:spLocks/>
          </p:cNvSpPr>
          <p:nvPr/>
        </p:nvSpPr>
        <p:spPr>
          <a:xfrm>
            <a:off x="247135" y="4442642"/>
            <a:ext cx="5980670" cy="970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dirty="0" err="1"/>
              <a:t>meta_constraints_block</a:t>
            </a:r>
            <a:r>
              <a:rPr lang="en-US" altLang="ko-KR" sz="1600" dirty="0"/>
              <a:t>() -&gt; </a:t>
            </a:r>
            <a:r>
              <a:rPr lang="en-US" altLang="ko-KR" sz="1600" dirty="0" err="1"/>
              <a:t>str</a:t>
            </a:r>
            <a:br>
              <a:rPr lang="en-US" altLang="ko-KR" sz="1800" dirty="0"/>
            </a:br>
            <a:br>
              <a:rPr lang="en-US" altLang="ko-KR" sz="1800" dirty="0"/>
            </a:br>
            <a:r>
              <a:rPr lang="ko-KR" altLang="en-US" sz="1400" dirty="0"/>
              <a:t>페르소나 생성 시 </a:t>
            </a:r>
            <a:r>
              <a:rPr lang="en-US" altLang="ko-KR" sz="1400" dirty="0"/>
              <a:t>meta </a:t>
            </a:r>
            <a:r>
              <a:rPr lang="ko-KR" altLang="en-US" sz="1400" dirty="0"/>
              <a:t>정보에 대한 제약 조건 설명을 출력</a:t>
            </a:r>
            <a:endParaRPr lang="en-US" altLang="ko-KR" sz="1800" dirty="0"/>
          </a:p>
        </p:txBody>
      </p:sp>
      <p:sp>
        <p:nvSpPr>
          <p:cNvPr id="10" name="부제목 2"/>
          <p:cNvSpPr txBox="1">
            <a:spLocks/>
          </p:cNvSpPr>
          <p:nvPr/>
        </p:nvSpPr>
        <p:spPr>
          <a:xfrm>
            <a:off x="247135" y="5430793"/>
            <a:ext cx="5980670" cy="970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600" dirty="0" err="1"/>
              <a:t>operation_tips_block</a:t>
            </a:r>
            <a:r>
              <a:rPr lang="en-US" altLang="ko-KR" sz="1600" dirty="0"/>
              <a:t>() -&gt; </a:t>
            </a:r>
            <a:r>
              <a:rPr lang="en-US" altLang="ko-KR" sz="1600" dirty="0" err="1"/>
              <a:t>str</a:t>
            </a:r>
            <a:br>
              <a:rPr lang="en-US" altLang="ko-KR" sz="1800" dirty="0"/>
            </a:br>
            <a:br>
              <a:rPr lang="en-US" altLang="ko-KR" sz="1800" dirty="0"/>
            </a:br>
            <a:r>
              <a:rPr lang="en-US" altLang="ko-KR" sz="1400" dirty="0"/>
              <a:t>LLM</a:t>
            </a:r>
            <a:r>
              <a:rPr lang="ko-KR" altLang="en-US" sz="1400" dirty="0"/>
              <a:t>에 줄 추가적인 생성 지침 또는 유의사항을 설명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15221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847" y="675829"/>
            <a:ext cx="6360353" cy="247443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847" y="3730461"/>
            <a:ext cx="6268325" cy="1790950"/>
          </a:xfrm>
          <a:prstGeom prst="rect">
            <a:avLst/>
          </a:prstGeom>
        </p:spPr>
      </p:pic>
      <p:sp>
        <p:nvSpPr>
          <p:cNvPr id="7" name="부제목 2"/>
          <p:cNvSpPr txBox="1">
            <a:spLocks/>
          </p:cNvSpPr>
          <p:nvPr/>
        </p:nvSpPr>
        <p:spPr>
          <a:xfrm>
            <a:off x="230659" y="758208"/>
            <a:ext cx="4917989" cy="20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 err="1"/>
              <a:t>sample_diverse_examples</a:t>
            </a:r>
            <a:r>
              <a:rPr lang="en-US" altLang="ko-KR" sz="1800" dirty="0"/>
              <a:t>(personas: List[</a:t>
            </a:r>
            <a:r>
              <a:rPr lang="en-US" altLang="ko-KR" sz="1800" dirty="0" err="1"/>
              <a:t>Dict</a:t>
            </a:r>
            <a:r>
              <a:rPr lang="en-US" altLang="ko-KR" sz="1800" dirty="0"/>
              <a:t>[</a:t>
            </a:r>
            <a:r>
              <a:rPr lang="en-US" altLang="ko-KR" sz="1800" dirty="0" err="1"/>
              <a:t>str</a:t>
            </a:r>
            <a:r>
              <a:rPr lang="en-US" altLang="ko-KR" sz="1800" dirty="0"/>
              <a:t>, Any]], k=10)-&gt; List[</a:t>
            </a:r>
            <a:r>
              <a:rPr lang="en-US" altLang="ko-KR" sz="1800" dirty="0" err="1"/>
              <a:t>Dict</a:t>
            </a:r>
            <a:r>
              <a:rPr lang="en-US" altLang="ko-KR" sz="1800" dirty="0"/>
              <a:t>[</a:t>
            </a:r>
            <a:r>
              <a:rPr lang="en-US" altLang="ko-KR" sz="1800" dirty="0" err="1"/>
              <a:t>str</a:t>
            </a:r>
            <a:r>
              <a:rPr lang="en-US" altLang="ko-KR" sz="1800" dirty="0"/>
              <a:t>, Any]]</a:t>
            </a:r>
          </a:p>
          <a:p>
            <a:pPr algn="l"/>
            <a:endParaRPr lang="en-US" altLang="ko-KR" sz="1800" dirty="0"/>
          </a:p>
          <a:p>
            <a:pPr algn="l"/>
            <a:r>
              <a:rPr lang="en-US" altLang="ko-KR" sz="1400" dirty="0"/>
              <a:t>LLM</a:t>
            </a:r>
            <a:r>
              <a:rPr lang="ko-KR" altLang="en-US" sz="1400" dirty="0"/>
              <a:t>에게 줄 다양한 페르소나 중에서</a:t>
            </a:r>
            <a:endParaRPr lang="en-US" altLang="ko-KR" sz="1400" dirty="0"/>
          </a:p>
          <a:p>
            <a:pPr algn="l"/>
            <a:r>
              <a:rPr lang="en-US" altLang="ko-KR" sz="1400" dirty="0"/>
              <a:t>cluster, age, gender</a:t>
            </a:r>
            <a:r>
              <a:rPr lang="ko-KR" altLang="en-US" sz="1400" dirty="0"/>
              <a:t>를 기준으로 중복되지 않도록 </a:t>
            </a:r>
            <a:endParaRPr lang="en-US" altLang="ko-KR" sz="1400" dirty="0"/>
          </a:p>
          <a:p>
            <a:pPr algn="l"/>
            <a:r>
              <a:rPr lang="ko-KR" altLang="en-US" sz="1400" dirty="0"/>
              <a:t>서로 다른 특징을 가진 예시 </a:t>
            </a:r>
            <a:r>
              <a:rPr lang="en-US" altLang="ko-KR" sz="1400" dirty="0"/>
              <a:t>k</a:t>
            </a:r>
            <a:r>
              <a:rPr lang="ko-KR" altLang="en-US" sz="1400" dirty="0"/>
              <a:t>개를 </a:t>
            </a:r>
            <a:r>
              <a:rPr lang="ko-KR" altLang="en-US" sz="1400" dirty="0" err="1"/>
              <a:t>샘플링하는</a:t>
            </a:r>
            <a:r>
              <a:rPr lang="ko-KR" altLang="en-US" sz="1400" dirty="0"/>
              <a:t> 함수</a:t>
            </a:r>
            <a:endParaRPr lang="en-US" altLang="ko-KR" sz="1400" dirty="0"/>
          </a:p>
        </p:txBody>
      </p:sp>
      <p:sp>
        <p:nvSpPr>
          <p:cNvPr id="9" name="부제목 2"/>
          <p:cNvSpPr txBox="1">
            <a:spLocks/>
          </p:cNvSpPr>
          <p:nvPr/>
        </p:nvSpPr>
        <p:spPr>
          <a:xfrm>
            <a:off x="230659" y="3367996"/>
            <a:ext cx="4917989" cy="2637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800" dirty="0" err="1"/>
              <a:t>sbuild_fewshot_block</a:t>
            </a:r>
            <a:r>
              <a:rPr lang="en-US" altLang="ko-KR" sz="1800" dirty="0"/>
              <a:t>(personas: List[</a:t>
            </a:r>
            <a:r>
              <a:rPr lang="en-US" altLang="ko-KR" sz="1800" dirty="0" err="1"/>
              <a:t>Dict</a:t>
            </a:r>
            <a:r>
              <a:rPr lang="en-US" altLang="ko-KR" sz="1800" dirty="0"/>
              <a:t>[</a:t>
            </a:r>
            <a:r>
              <a:rPr lang="en-US" altLang="ko-KR" sz="1800" dirty="0" err="1"/>
              <a:t>str</a:t>
            </a:r>
            <a:r>
              <a:rPr lang="en-US" altLang="ko-KR" sz="1800" dirty="0"/>
              <a:t>, Any]], k=10) -&gt; </a:t>
            </a:r>
            <a:r>
              <a:rPr lang="en-US" altLang="ko-KR" sz="1800" dirty="0" err="1"/>
              <a:t>str</a:t>
            </a:r>
            <a:endParaRPr lang="en-US" altLang="ko-KR" sz="1800" dirty="0"/>
          </a:p>
          <a:p>
            <a:pPr algn="l"/>
            <a:endParaRPr lang="en-US" altLang="ko-KR" sz="1800" dirty="0"/>
          </a:p>
          <a:p>
            <a:pPr algn="l"/>
            <a:r>
              <a:rPr lang="en-US" altLang="ko-KR" sz="1400" dirty="0" err="1"/>
              <a:t>sample_diverse_examples</a:t>
            </a:r>
            <a:r>
              <a:rPr lang="ko-KR" altLang="en-US" sz="1400" dirty="0"/>
              <a:t> 함수를 호출해서 다양성을 보장한 </a:t>
            </a:r>
            <a:r>
              <a:rPr lang="en-US" altLang="ko-KR" sz="1400" dirty="0"/>
              <a:t>k</a:t>
            </a:r>
            <a:r>
              <a:rPr lang="ko-KR" altLang="en-US" sz="1400" dirty="0"/>
              <a:t>개의 페르소나를 골라 각 페르소나에 대해 </a:t>
            </a:r>
            <a:r>
              <a:rPr lang="en-US" altLang="ko-KR" sz="1400" dirty="0" err="1"/>
              <a:t>enforce_cluster_meta</a:t>
            </a:r>
            <a:r>
              <a:rPr lang="en-US" altLang="ko-KR" sz="1400" dirty="0"/>
              <a:t> </a:t>
            </a:r>
            <a:r>
              <a:rPr lang="ko-KR" altLang="en-US" sz="1400" dirty="0"/>
              <a:t>함수를 적용</a:t>
            </a:r>
            <a:endParaRPr lang="en-US" altLang="ko-KR" sz="1400" dirty="0"/>
          </a:p>
          <a:p>
            <a:pPr algn="l"/>
            <a:r>
              <a:rPr lang="en-US" altLang="ko-KR" sz="1400" dirty="0" err="1"/>
              <a:t>persona_key</a:t>
            </a:r>
            <a:r>
              <a:rPr lang="en-US" altLang="ko-KR" sz="1400" dirty="0"/>
              <a:t>, attributes, meta</a:t>
            </a:r>
            <a:r>
              <a:rPr lang="ko-KR" altLang="en-US" sz="1400" dirty="0"/>
              <a:t>항목만 추려서 </a:t>
            </a:r>
            <a:r>
              <a:rPr lang="en-US" altLang="ko-KR" sz="1400" dirty="0" err="1"/>
              <a:t>dict</a:t>
            </a:r>
            <a:r>
              <a:rPr lang="en-US" altLang="ko-KR" sz="1400" dirty="0"/>
              <a:t> </a:t>
            </a:r>
            <a:r>
              <a:rPr lang="ko-KR" altLang="en-US" sz="1400" dirty="0"/>
              <a:t>구성하고 </a:t>
            </a:r>
            <a:r>
              <a:rPr lang="en-US" altLang="ko-KR" sz="1400" dirty="0" err="1"/>
              <a:t>json.dumps</a:t>
            </a:r>
            <a:r>
              <a:rPr lang="ko-KR" altLang="en-US" sz="1400" dirty="0"/>
              <a:t>로 포맷하여 전체 </a:t>
            </a:r>
            <a:r>
              <a:rPr lang="en-US" altLang="ko-KR" sz="1400" dirty="0"/>
              <a:t>block</a:t>
            </a:r>
            <a:r>
              <a:rPr lang="ko-KR" altLang="en-US" sz="1400" dirty="0"/>
              <a:t>에 </a:t>
            </a:r>
            <a:r>
              <a:rPr lang="en-US" altLang="ko-KR" sz="1400" dirty="0"/>
              <a:t>Markdown </a:t>
            </a:r>
            <a:r>
              <a:rPr lang="ko-KR" altLang="en-US" sz="1400" dirty="0" err="1"/>
              <a:t>코드블럭</a:t>
            </a:r>
            <a:r>
              <a:rPr lang="en-US" altLang="ko-KR" sz="1400" dirty="0"/>
              <a:t>(```</a:t>
            </a:r>
            <a:r>
              <a:rPr lang="en-US" altLang="ko-KR" sz="1400" dirty="0" err="1"/>
              <a:t>json</a:t>
            </a:r>
            <a:r>
              <a:rPr lang="en-US" altLang="ko-KR" sz="1400" dirty="0"/>
              <a:t>)</a:t>
            </a:r>
            <a:r>
              <a:rPr lang="ko-KR" altLang="en-US" sz="1400" dirty="0"/>
              <a:t>형태로 추가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520650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67265" y="609600"/>
            <a:ext cx="4926227" cy="4917989"/>
          </a:xfrm>
        </p:spPr>
        <p:txBody>
          <a:bodyPr>
            <a:normAutofit/>
          </a:bodyPr>
          <a:lstStyle/>
          <a:p>
            <a:pPr algn="l"/>
            <a:r>
              <a:rPr lang="en-US" altLang="ko-KR" sz="1800" dirty="0" err="1"/>
              <a:t>build_conditioned_prompt</a:t>
            </a:r>
            <a:r>
              <a:rPr lang="en-US" altLang="ko-KR" sz="1800" dirty="0"/>
              <a:t>(</a:t>
            </a:r>
            <a:r>
              <a:rPr lang="en-US" altLang="ko-KR" sz="1800" dirty="0" err="1"/>
              <a:t>product_name</a:t>
            </a:r>
            <a:r>
              <a:rPr lang="en-US" altLang="ko-KR" sz="1800" dirty="0"/>
              <a:t>: </a:t>
            </a:r>
            <a:r>
              <a:rPr lang="en-US" altLang="ko-KR" sz="1800" dirty="0" err="1"/>
              <a:t>str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few_shot_block</a:t>
            </a:r>
            <a:r>
              <a:rPr lang="en-US" altLang="ko-KR" sz="1800" dirty="0"/>
              <a:t>: </a:t>
            </a:r>
            <a:r>
              <a:rPr lang="en-US" altLang="ko-KR" sz="1800" dirty="0" err="1"/>
              <a:t>str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start_index</a:t>
            </a:r>
            <a:r>
              <a:rPr lang="en-US" altLang="ko-KR" sz="1800" dirty="0"/>
              <a:t>: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batch_size</a:t>
            </a:r>
            <a:r>
              <a:rPr lang="en-US" altLang="ko-KR" sz="1800" dirty="0"/>
              <a:t>: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= 5) -&gt; </a:t>
            </a:r>
            <a:r>
              <a:rPr lang="en-US" altLang="ko-KR" sz="1800" dirty="0" err="1"/>
              <a:t>str</a:t>
            </a:r>
            <a:endParaRPr lang="en-US" altLang="ko-KR" sz="1800" dirty="0"/>
          </a:p>
          <a:p>
            <a:pPr algn="l"/>
            <a:endParaRPr lang="en-US" altLang="ko-KR" sz="1800" dirty="0"/>
          </a:p>
          <a:p>
            <a:pPr algn="l"/>
            <a:r>
              <a:rPr lang="en-US" altLang="ko-KR" sz="1400" dirty="0" err="1"/>
              <a:t>product_name</a:t>
            </a:r>
            <a:r>
              <a:rPr lang="ko-KR" altLang="en-US" sz="1400" dirty="0"/>
              <a:t>과 사전에 정의된 </a:t>
            </a:r>
            <a:r>
              <a:rPr lang="en-US" altLang="ko-KR" sz="1400" dirty="0"/>
              <a:t>few-shot </a:t>
            </a:r>
            <a:r>
              <a:rPr lang="ko-KR" altLang="en-US" sz="1400" dirty="0"/>
              <a:t>예시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few_shot_block</a:t>
            </a:r>
            <a:r>
              <a:rPr lang="en-US" altLang="ko-KR" sz="1400" dirty="0"/>
              <a:t>)</a:t>
            </a:r>
            <a:r>
              <a:rPr lang="ko-KR" altLang="en-US" sz="1400" dirty="0"/>
              <a:t>을 기반으로 </a:t>
            </a:r>
            <a:r>
              <a:rPr lang="en-US" altLang="ko-KR" sz="1400" dirty="0" err="1"/>
              <a:t>persona_key</a:t>
            </a:r>
            <a:r>
              <a:rPr lang="ko-KR" altLang="en-US" sz="1400" dirty="0"/>
              <a:t>가 </a:t>
            </a:r>
            <a:r>
              <a:rPr lang="en-US" altLang="ko-KR" sz="1400" dirty="0" err="1"/>
              <a:t>start_index</a:t>
            </a:r>
            <a:r>
              <a:rPr lang="ko-KR" altLang="en-US" sz="1400" dirty="0"/>
              <a:t>부터 </a:t>
            </a:r>
            <a:r>
              <a:rPr lang="en-US" altLang="ko-KR" sz="1400" dirty="0" err="1"/>
              <a:t>batch_size</a:t>
            </a:r>
            <a:r>
              <a:rPr lang="ko-KR" altLang="en-US" sz="1400" dirty="0"/>
              <a:t>만큼 반복되는 </a:t>
            </a:r>
            <a:r>
              <a:rPr lang="en-US" altLang="ko-KR" sz="1400" dirty="0"/>
              <a:t>LLM </a:t>
            </a:r>
            <a:r>
              <a:rPr lang="ko-KR" altLang="en-US" sz="1400" dirty="0"/>
              <a:t>프롬프트 텍스트를 주어진 </a:t>
            </a:r>
            <a:r>
              <a:rPr lang="en-US" altLang="ko-KR" sz="1400" dirty="0"/>
              <a:t>JSON </a:t>
            </a:r>
            <a:r>
              <a:rPr lang="ko-KR" altLang="en-US" sz="1400" dirty="0"/>
              <a:t>형식에 맞게 생성하는 함수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565" y="378837"/>
            <a:ext cx="6115901" cy="5379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009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329" y="600833"/>
            <a:ext cx="4734586" cy="204816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886" y="2834161"/>
            <a:ext cx="4671472" cy="3830249"/>
          </a:xfrm>
          <a:prstGeom prst="rect">
            <a:avLst/>
          </a:prstGeom>
        </p:spPr>
      </p:pic>
      <p:sp>
        <p:nvSpPr>
          <p:cNvPr id="7" name="부제목 2"/>
          <p:cNvSpPr txBox="1">
            <a:spLocks/>
          </p:cNvSpPr>
          <p:nvPr/>
        </p:nvSpPr>
        <p:spPr>
          <a:xfrm>
            <a:off x="667265" y="609600"/>
            <a:ext cx="4926227" cy="1482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400" dirty="0"/>
              <a:t>Few-shot </a:t>
            </a:r>
            <a:r>
              <a:rPr lang="ko-KR" altLang="en-US" sz="1400" dirty="0"/>
              <a:t>학습에 사용할 예시 페르소나를 선택하고 요약하는 코드</a:t>
            </a:r>
            <a:endParaRPr lang="en-US" altLang="ko-KR" sz="1400" dirty="0"/>
          </a:p>
          <a:p>
            <a:pPr algn="l"/>
            <a:r>
              <a:rPr lang="ko-KR" altLang="en-US" sz="1400" dirty="0"/>
              <a:t>다시 실행해도 동일한 무작위 결과를 얻도록 </a:t>
            </a:r>
            <a:r>
              <a:rPr lang="ko-KR" altLang="en-US" sz="1400" dirty="0" err="1"/>
              <a:t>시드</a:t>
            </a:r>
            <a:r>
              <a:rPr lang="ko-KR" altLang="en-US" sz="1400" dirty="0"/>
              <a:t> 설정</a:t>
            </a:r>
            <a:endParaRPr lang="en-US" altLang="ko-KR" sz="1400" dirty="0"/>
          </a:p>
          <a:p>
            <a:pPr algn="l"/>
            <a:r>
              <a:rPr lang="en-US" altLang="ko-KR" sz="1400" dirty="0" err="1"/>
              <a:t>sample_diverse_examples</a:t>
            </a:r>
            <a:r>
              <a:rPr lang="ko-KR" altLang="en-US" sz="1400" dirty="0"/>
              <a:t>함수를 호출하여 다양한 연령대</a:t>
            </a:r>
            <a:r>
              <a:rPr lang="en-US" altLang="ko-KR" sz="1400" dirty="0"/>
              <a:t>, </a:t>
            </a:r>
            <a:r>
              <a:rPr lang="ko-KR" altLang="en-US" sz="1400" dirty="0"/>
              <a:t>성별</a:t>
            </a:r>
            <a:r>
              <a:rPr lang="en-US" altLang="ko-KR" sz="1400" dirty="0"/>
              <a:t>, </a:t>
            </a:r>
            <a:r>
              <a:rPr lang="ko-KR" altLang="en-US" sz="1400" dirty="0"/>
              <a:t>직업을 가진 </a:t>
            </a:r>
            <a:r>
              <a:rPr lang="en-US" altLang="ko-KR" sz="1400" dirty="0"/>
              <a:t>10</a:t>
            </a:r>
            <a:r>
              <a:rPr lang="ko-KR" altLang="en-US" sz="1400" dirty="0"/>
              <a:t>개의 페르소나를 선택</a:t>
            </a:r>
          </a:p>
        </p:txBody>
      </p:sp>
      <p:sp>
        <p:nvSpPr>
          <p:cNvPr id="8" name="부제목 2"/>
          <p:cNvSpPr txBox="1">
            <a:spLocks/>
          </p:cNvSpPr>
          <p:nvPr/>
        </p:nvSpPr>
        <p:spPr>
          <a:xfrm>
            <a:off x="667265" y="2682290"/>
            <a:ext cx="6027064" cy="4072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+mj-lt"/>
              <a:buAutoNum type="arabicPeriod"/>
            </a:pPr>
            <a:r>
              <a:rPr lang="en-US" altLang="ko-KR" sz="1200" dirty="0" err="1"/>
              <a:t>product_info_list</a:t>
            </a:r>
            <a:r>
              <a:rPr lang="ko-KR" altLang="en-US" sz="1200" dirty="0"/>
              <a:t>에 있는 각 제품을 순회하며 예측</a:t>
            </a:r>
            <a:endParaRPr lang="en-US" altLang="ko-KR" sz="1200" dirty="0"/>
          </a:p>
          <a:p>
            <a:pPr marL="342900" indent="-342900" algn="l">
              <a:buFont typeface="+mj-lt"/>
              <a:buAutoNum type="arabicPeriod"/>
            </a:pPr>
            <a:r>
              <a:rPr lang="en-US" altLang="ko-KR" sz="1200" dirty="0" err="1"/>
              <a:t>build_fewshot_block</a:t>
            </a:r>
            <a:r>
              <a:rPr lang="en-US" altLang="ko-KR" sz="1200" dirty="0"/>
              <a:t> </a:t>
            </a:r>
            <a:r>
              <a:rPr lang="ko-KR" altLang="en-US" sz="1200" dirty="0"/>
              <a:t>함수를 호출하여 </a:t>
            </a:r>
            <a:r>
              <a:rPr lang="en-US" altLang="ko-KR" sz="1200" dirty="0"/>
              <a:t>AI </a:t>
            </a:r>
            <a:r>
              <a:rPr lang="ko-KR" altLang="en-US" sz="1200" dirty="0"/>
              <a:t>모델이 참조할 </a:t>
            </a:r>
            <a:r>
              <a:rPr lang="en-US" altLang="ko-KR" sz="1200" dirty="0"/>
              <a:t>10</a:t>
            </a:r>
            <a:r>
              <a:rPr lang="ko-KR" altLang="en-US" sz="1200" dirty="0"/>
              <a:t>개의 예시 페르소나 블록을 생성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시드를</a:t>
            </a:r>
            <a:r>
              <a:rPr lang="ko-KR" altLang="en-US" sz="1200" dirty="0"/>
              <a:t> 설정하여 매번 같은 예시가 선택</a:t>
            </a:r>
            <a:r>
              <a:rPr lang="en-US" altLang="ko-KR" sz="1200" dirty="0"/>
              <a:t>)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altLang="ko-KR" sz="1200" dirty="0"/>
              <a:t>for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 in range(0, 100, 5)</a:t>
            </a:r>
            <a:r>
              <a:rPr lang="ko-KR" altLang="en-US" sz="1200" dirty="0"/>
              <a:t> 루프를 통해 총 </a:t>
            </a:r>
            <a:r>
              <a:rPr lang="en-US" altLang="ko-KR" sz="1200" dirty="0"/>
              <a:t>100</a:t>
            </a:r>
            <a:r>
              <a:rPr lang="ko-KR" altLang="en-US" sz="1200" dirty="0"/>
              <a:t>개의 페르소나를 </a:t>
            </a:r>
            <a:r>
              <a:rPr lang="en-US" altLang="ko-KR" sz="1200" dirty="0"/>
              <a:t>5</a:t>
            </a:r>
            <a:r>
              <a:rPr lang="ko-KR" altLang="en-US" sz="1200" dirty="0"/>
              <a:t>개씩 배치로 나누어 </a:t>
            </a:r>
            <a:r>
              <a:rPr lang="en-US" altLang="ko-KR" sz="1200" dirty="0"/>
              <a:t>LLM</a:t>
            </a:r>
            <a:r>
              <a:rPr lang="ko-KR" altLang="en-US" sz="1200" dirty="0"/>
              <a:t>에 요청</a:t>
            </a:r>
            <a:endParaRPr lang="en-US" altLang="ko-KR" sz="1200" dirty="0"/>
          </a:p>
          <a:p>
            <a:pPr marL="342900" indent="-342900" algn="l">
              <a:buFont typeface="+mj-lt"/>
              <a:buAutoNum type="arabicPeriod"/>
            </a:pPr>
            <a:r>
              <a:rPr lang="en-US" altLang="ko-KR" sz="1200" dirty="0" err="1"/>
              <a:t>build_conditioned_prompt</a:t>
            </a:r>
            <a:r>
              <a:rPr lang="en-US" altLang="ko-KR" sz="1200" dirty="0"/>
              <a:t> </a:t>
            </a:r>
            <a:r>
              <a:rPr lang="ko-KR" altLang="en-US" sz="1200" dirty="0"/>
              <a:t>함수로 </a:t>
            </a:r>
            <a:r>
              <a:rPr lang="en-US" altLang="ko-KR" sz="1200" dirty="0" err="1"/>
              <a:t>product_info</a:t>
            </a:r>
            <a:r>
              <a:rPr lang="ko-KR" altLang="en-US" sz="1200" dirty="0"/>
              <a:t>와 </a:t>
            </a:r>
            <a:r>
              <a:rPr lang="en-US" altLang="ko-KR" sz="1200" dirty="0"/>
              <a:t>few-shot </a:t>
            </a:r>
            <a:r>
              <a:rPr lang="ko-KR" altLang="en-US" sz="1200" dirty="0"/>
              <a:t>예시를 결합한 최종 프롬프트 생성</a:t>
            </a:r>
            <a:endParaRPr lang="en-US" altLang="ko-KR" sz="1200" dirty="0"/>
          </a:p>
          <a:p>
            <a:pPr marL="342900" indent="-342900" algn="l">
              <a:buFont typeface="+mj-lt"/>
              <a:buAutoNum type="arabicPeriod"/>
            </a:pPr>
            <a:r>
              <a:rPr lang="en-US" altLang="ko-KR" sz="1200" dirty="0" err="1"/>
              <a:t>client.chat.completions.create</a:t>
            </a:r>
            <a:r>
              <a:rPr lang="en-US" altLang="ko-KR" sz="1200" dirty="0"/>
              <a:t> </a:t>
            </a:r>
            <a:r>
              <a:rPr lang="ko-KR" altLang="en-US" sz="1200" dirty="0"/>
              <a:t>함수를 사용하여 </a:t>
            </a:r>
            <a:r>
              <a:rPr lang="en-US" altLang="ko-KR" sz="1200" dirty="0" err="1"/>
              <a:t>OpenAI</a:t>
            </a:r>
            <a:r>
              <a:rPr lang="en-US" altLang="ko-KR" sz="1200" dirty="0"/>
              <a:t> API</a:t>
            </a:r>
            <a:r>
              <a:rPr lang="ko-KR" altLang="en-US" sz="1200" dirty="0"/>
              <a:t>에 요청</a:t>
            </a:r>
            <a:r>
              <a:rPr lang="en-US" altLang="ko-KR" sz="1200" dirty="0"/>
              <a:t>(temperature=0.0</a:t>
            </a:r>
            <a:r>
              <a:rPr lang="ko-KR" altLang="en-US" sz="1200" dirty="0"/>
              <a:t>으로 설정하여 답변의 일관성과 정확성을 높임</a:t>
            </a:r>
            <a:r>
              <a:rPr lang="en-US" altLang="ko-KR" sz="1200" dirty="0"/>
              <a:t>)</a:t>
            </a:r>
          </a:p>
          <a:p>
            <a:pPr marL="342900" indent="-342900" algn="l">
              <a:buFont typeface="+mj-lt"/>
              <a:buAutoNum type="arabicPeriod"/>
            </a:pPr>
            <a:r>
              <a:rPr lang="ko-KR" altLang="en-US" sz="1200" dirty="0"/>
              <a:t>응답에서 불필요한 마크다운 코드블록을 제거하고 </a:t>
            </a:r>
            <a:r>
              <a:rPr lang="en-US" altLang="ko-KR" sz="1200" dirty="0"/>
              <a:t>JSON </a:t>
            </a:r>
            <a:r>
              <a:rPr lang="ko-KR" altLang="en-US" sz="1200" dirty="0"/>
              <a:t>텍스트만 추출</a:t>
            </a:r>
            <a:endParaRPr lang="en-US" altLang="ko-KR" sz="1200" dirty="0"/>
          </a:p>
          <a:p>
            <a:pPr marL="342900" indent="-342900" algn="l">
              <a:buFont typeface="+mj-lt"/>
              <a:buAutoNum type="arabicPeriod"/>
            </a:pPr>
            <a:r>
              <a:rPr lang="en-US" altLang="ko-KR" sz="1200" dirty="0" err="1"/>
              <a:t>json.loads</a:t>
            </a:r>
            <a:r>
              <a:rPr lang="ko-KR" altLang="en-US" sz="1200" dirty="0"/>
              <a:t>를 사용하여 텍스트를 </a:t>
            </a:r>
            <a:r>
              <a:rPr lang="ko-KR" altLang="en-US" sz="1200" dirty="0" err="1"/>
              <a:t>파이썬</a:t>
            </a:r>
            <a:r>
              <a:rPr lang="ko-KR" altLang="en-US" sz="1200" dirty="0"/>
              <a:t> 객체로 변환</a:t>
            </a:r>
            <a:endParaRPr lang="en-US" altLang="ko-KR" sz="1200" dirty="0"/>
          </a:p>
          <a:p>
            <a:pPr marL="342900" indent="-342900" algn="l">
              <a:buFont typeface="+mj-lt"/>
              <a:buAutoNum type="arabicPeriod"/>
            </a:pPr>
            <a:r>
              <a:rPr lang="en-US" altLang="ko-KR" sz="1200" dirty="0" err="1"/>
              <a:t>enforce_cluster_meta</a:t>
            </a:r>
            <a:r>
              <a:rPr lang="en-US" altLang="ko-KR" sz="1200" dirty="0"/>
              <a:t> </a:t>
            </a:r>
            <a:r>
              <a:rPr lang="ko-KR" altLang="en-US" sz="1200" dirty="0"/>
              <a:t>함수를 호출하여 </a:t>
            </a:r>
            <a:r>
              <a:rPr lang="en-US" altLang="ko-KR" sz="1200" dirty="0"/>
              <a:t>LLM</a:t>
            </a:r>
            <a:r>
              <a:rPr lang="ko-KR" altLang="en-US" sz="1200" dirty="0"/>
              <a:t>이 생성한 페르소나의 클러스터 정보가 미리 정의된 </a:t>
            </a:r>
            <a:r>
              <a:rPr lang="en-US" altLang="ko-KR" sz="1200" dirty="0"/>
              <a:t>CLUSTER_CATALOG</a:t>
            </a:r>
            <a:r>
              <a:rPr lang="ko-KR" altLang="en-US" sz="1200" dirty="0"/>
              <a:t>의 값과 일치하도록 보정</a:t>
            </a:r>
            <a:endParaRPr lang="en-US" altLang="ko-KR" sz="1200" dirty="0"/>
          </a:p>
          <a:p>
            <a:pPr marL="342900" indent="-342900" algn="l">
              <a:buFont typeface="+mj-lt"/>
              <a:buAutoNum type="arabicPeriod"/>
            </a:pPr>
            <a:r>
              <a:rPr lang="ko-KR" altLang="en-US" sz="1200" dirty="0"/>
              <a:t>보정된 페르소나 데이터를 </a:t>
            </a:r>
            <a:r>
              <a:rPr lang="en-US" altLang="ko-KR" sz="1200" dirty="0" err="1"/>
              <a:t>personas_output</a:t>
            </a:r>
            <a:r>
              <a:rPr lang="en-US" altLang="ko-KR" sz="1200" dirty="0"/>
              <a:t> </a:t>
            </a:r>
            <a:r>
              <a:rPr lang="ko-KR" altLang="en-US" sz="1200" dirty="0"/>
              <a:t>리스트에 추가</a:t>
            </a:r>
            <a:endParaRPr lang="en-US" altLang="ko-KR" sz="1200" dirty="0"/>
          </a:p>
          <a:p>
            <a:pPr marL="342900" indent="-342900" algn="l">
              <a:buFont typeface="+mj-lt"/>
              <a:buAutoNum type="arabicPeriod"/>
            </a:pPr>
            <a:r>
              <a:rPr lang="ko-KR" altLang="en-US" sz="1200" dirty="0"/>
              <a:t>각 제품별 </a:t>
            </a:r>
            <a:r>
              <a:rPr lang="en-US" altLang="ko-KR" sz="1200" dirty="0"/>
              <a:t>100</a:t>
            </a:r>
            <a:r>
              <a:rPr lang="ko-KR" altLang="en-US" sz="1200" dirty="0"/>
              <a:t>개의 페르소나 데이터를 </a:t>
            </a:r>
            <a:r>
              <a:rPr lang="en-US" altLang="ko-KR" sz="1200" dirty="0"/>
              <a:t>JSONL </a:t>
            </a:r>
            <a:r>
              <a:rPr lang="ko-KR" altLang="en-US" sz="1200" dirty="0"/>
              <a:t>형식으로 저장</a:t>
            </a:r>
          </a:p>
        </p:txBody>
      </p:sp>
    </p:spTree>
    <p:extLst>
      <p:ext uri="{BB962C8B-B14F-4D97-AF65-F5344CB8AC3E}">
        <p14:creationId xmlns:p14="http://schemas.microsoft.com/office/powerpoint/2010/main" val="2853480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1626</Words>
  <Application>Microsoft Office PowerPoint</Application>
  <PresentationFormat>와이드스크린</PresentationFormat>
  <Paragraphs>112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KOREA</dc:creator>
  <cp:lastModifiedBy>user</cp:lastModifiedBy>
  <cp:revision>18</cp:revision>
  <dcterms:created xsi:type="dcterms:W3CDTF">2025-09-04T02:33:01Z</dcterms:created>
  <dcterms:modified xsi:type="dcterms:W3CDTF">2025-09-04T16:17:54Z</dcterms:modified>
</cp:coreProperties>
</file>