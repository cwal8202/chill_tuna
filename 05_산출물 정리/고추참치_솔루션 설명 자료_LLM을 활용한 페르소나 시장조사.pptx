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355" r:id="rId3"/>
    <p:sldId id="258" r:id="rId4"/>
    <p:sldId id="270" r:id="rId5"/>
    <p:sldId id="259" r:id="rId6"/>
    <p:sldId id="271" r:id="rId7"/>
    <p:sldId id="274" r:id="rId8"/>
    <p:sldId id="272" r:id="rId9"/>
    <p:sldId id="278" r:id="rId10"/>
    <p:sldId id="314" r:id="rId11"/>
    <p:sldId id="315" r:id="rId12"/>
    <p:sldId id="317" r:id="rId13"/>
    <p:sldId id="318" r:id="rId14"/>
    <p:sldId id="316" r:id="rId15"/>
    <p:sldId id="331" r:id="rId16"/>
    <p:sldId id="332" r:id="rId17"/>
    <p:sldId id="334" r:id="rId18"/>
    <p:sldId id="329" r:id="rId19"/>
    <p:sldId id="322" r:id="rId20"/>
    <p:sldId id="292" r:id="rId21"/>
    <p:sldId id="328" r:id="rId22"/>
    <p:sldId id="335" r:id="rId23"/>
    <p:sldId id="336" r:id="rId24"/>
    <p:sldId id="337" r:id="rId25"/>
    <p:sldId id="338" r:id="rId26"/>
    <p:sldId id="327" r:id="rId27"/>
    <p:sldId id="333" r:id="rId28"/>
    <p:sldId id="306" r:id="rId29"/>
    <p:sldId id="354" r:id="rId30"/>
    <p:sldId id="310" r:id="rId31"/>
    <p:sldId id="340" r:id="rId32"/>
    <p:sldId id="312" r:id="rId33"/>
  </p:sldIdLst>
  <p:sldSz cx="18288000" cy="10287000"/>
  <p:notesSz cx="6858000" cy="9144000"/>
  <p:embeddedFontLst>
    <p:embeddedFont>
      <p:font typeface="맑은 고딕" panose="020B0503020000020004" pitchFamily="50" charset="-127"/>
      <p:regular r:id="rId35"/>
      <p:bold r:id="rId36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FF5"/>
    <a:srgbClr val="F2F2F2"/>
    <a:srgbClr val="FFFF99"/>
    <a:srgbClr val="FFFF66"/>
    <a:srgbClr val="FF9900"/>
    <a:srgbClr val="FFCC00"/>
    <a:srgbClr val="FFCC99"/>
    <a:srgbClr val="1A3F6B"/>
    <a:srgbClr val="131933"/>
    <a:srgbClr val="325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80672" autoAdjust="0"/>
  </p:normalViewPr>
  <p:slideViewPr>
    <p:cSldViewPr>
      <p:cViewPr varScale="1">
        <p:scale>
          <a:sx n="57" d="100"/>
          <a:sy n="57" d="100"/>
        </p:scale>
        <p:origin x="1404" y="96"/>
      </p:cViewPr>
      <p:guideLst>
        <p:guide orient="horz" pos="2248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프로젝트를 기획했고</a:t>
            </a:r>
            <a:r>
              <a:rPr lang="en-US" altLang="ko-KR" dirty="0"/>
              <a:t>, </a:t>
            </a:r>
            <a:r>
              <a:rPr lang="ko-KR" altLang="en-US" dirty="0"/>
              <a:t>목표한 바는 무엇이며</a:t>
            </a:r>
            <a:r>
              <a:rPr lang="en-US" altLang="ko-KR" dirty="0"/>
              <a:t>, </a:t>
            </a:r>
            <a:r>
              <a:rPr lang="ko-KR" altLang="en-US" dirty="0"/>
              <a:t>누가 언제 어떻게 개발했는지를 짧게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883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프로젝트는 생성형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en-US" altLang="ko-KR" dirty="0"/>
              <a:t>'2025 </a:t>
            </a:r>
            <a:r>
              <a:rPr lang="ko-KR" altLang="en-US" dirty="0"/>
              <a:t>동원</a:t>
            </a:r>
            <a:r>
              <a:rPr lang="en-US" altLang="ko-KR" dirty="0"/>
              <a:t>. </a:t>
            </a:r>
            <a:r>
              <a:rPr lang="ko-KR" altLang="en-US" dirty="0"/>
              <a:t>카이스트 </a:t>
            </a:r>
            <a:r>
              <a:rPr lang="en-US" altLang="ko-KR" dirty="0"/>
              <a:t>AI </a:t>
            </a:r>
            <a:r>
              <a:rPr lang="ko-KR" altLang="en-US" dirty="0"/>
              <a:t>챌린지</a:t>
            </a:r>
            <a:r>
              <a:rPr lang="en-US" altLang="ko-KR" dirty="0"/>
              <a:t>' </a:t>
            </a:r>
            <a:r>
              <a:rPr lang="ko-KR" altLang="en-US" dirty="0"/>
              <a:t>대회에 참가하기 위해 기획되었습니다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대회는 </a:t>
            </a:r>
            <a:r>
              <a:rPr lang="en-US" altLang="ko-KR" dirty="0"/>
              <a:t>LLM</a:t>
            </a:r>
            <a:r>
              <a:rPr lang="ko-KR" altLang="en-US" dirty="0"/>
              <a:t>을 활용한 </a:t>
            </a:r>
            <a:r>
              <a:rPr lang="en-US" altLang="ko-KR" dirty="0"/>
              <a:t>RPLA</a:t>
            </a:r>
            <a:r>
              <a:rPr lang="ko-KR" altLang="en-US" dirty="0"/>
              <a:t>의 잠재성이 대두되면서</a:t>
            </a:r>
            <a:r>
              <a:rPr lang="en-US" altLang="ko-KR" dirty="0"/>
              <a:t>, </a:t>
            </a:r>
            <a:r>
              <a:rPr lang="ko-KR" altLang="en-US" dirty="0"/>
              <a:t>페르소나에게 </a:t>
            </a:r>
            <a:r>
              <a:rPr lang="ko-KR" altLang="en-US" dirty="0" err="1"/>
              <a:t>소비자로서의</a:t>
            </a:r>
            <a:r>
              <a:rPr lang="ko-KR" altLang="en-US" dirty="0"/>
              <a:t> 정체성을 부여하고</a:t>
            </a:r>
            <a:r>
              <a:rPr lang="en-US" altLang="ko-KR" dirty="0"/>
              <a:t>, </a:t>
            </a:r>
            <a:r>
              <a:rPr lang="ko-KR" altLang="en-US" dirty="0"/>
              <a:t>특정 제품에 대한 지불의사 추정을 하는 시장조사 기법을 제대로 활용해보고자 하는 의도로 개최되었습니다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62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267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파이썬 버전</a:t>
            </a:r>
            <a:r>
              <a:rPr lang="en-US" altLang="ko-KR" dirty="0"/>
              <a:t>, </a:t>
            </a:r>
            <a:r>
              <a:rPr lang="ko-KR" altLang="en-US" dirty="0" err="1"/>
              <a:t>쥬피터노트북</a:t>
            </a:r>
            <a:r>
              <a:rPr lang="en-US" altLang="ko-KR" dirty="0"/>
              <a:t>, vs</a:t>
            </a:r>
            <a:r>
              <a:rPr lang="ko-KR" altLang="en-US" dirty="0"/>
              <a:t>코드를 사용</a:t>
            </a:r>
            <a:r>
              <a:rPr lang="en-US" altLang="ko-KR" dirty="0"/>
              <a:t>, </a:t>
            </a:r>
            <a:r>
              <a:rPr lang="ko-KR" altLang="en-US" dirty="0"/>
              <a:t>오픈</a:t>
            </a:r>
            <a:r>
              <a:rPr lang="en-US" altLang="ko-KR" dirty="0"/>
              <a:t>AI API, </a:t>
            </a:r>
            <a:r>
              <a:rPr lang="ko-KR" altLang="en-US" dirty="0" err="1"/>
              <a:t>랭체인</a:t>
            </a:r>
            <a:r>
              <a:rPr lang="en-US" altLang="ko-KR" dirty="0"/>
              <a:t>, </a:t>
            </a:r>
            <a:r>
              <a:rPr lang="en-US" altLang="ko-KR" dirty="0" err="1"/>
              <a:t>mysql</a:t>
            </a:r>
            <a:r>
              <a:rPr lang="ko-KR" altLang="en-US" dirty="0"/>
              <a:t>클라이언트</a:t>
            </a:r>
            <a:r>
              <a:rPr lang="en-US" altLang="ko-KR" dirty="0"/>
              <a:t>, </a:t>
            </a:r>
            <a:r>
              <a:rPr lang="ko-KR" altLang="en-US" dirty="0"/>
              <a:t>장고 프레임워크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542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5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pdf/2404.18231" TargetMode="External"/><Relationship Id="rId5" Type="http://schemas.openxmlformats.org/officeDocument/2006/relationships/hyperlink" Target="https://www.hbs.edu/ris/Publication%20Files/23-062_ed720ebc-ec4d-4bc3-a6ba-bad8cfbd9d51.pdf" TargetMode="External"/><Relationship Id="rId4" Type="http://schemas.openxmlformats.org/officeDocument/2006/relationships/image" Target="../media/image4.sv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158500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07584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158500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en-US" altLang="ko-KR" sz="2800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00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00" b="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295370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시뮬레이션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062919"/>
            <a:ext cx="10027786" cy="120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프롬프트 엔지니어링 역할부여를 통한 </a:t>
            </a:r>
            <a:endParaRPr lang="en-US" altLang="ko-KR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  <a:p>
            <a:pPr algn="l">
              <a:lnSpc>
                <a:spcPct val="150000"/>
              </a:lnSpc>
            </a:pP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44841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40049" y="845823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ko-KR" altLang="en-US" sz="2400" b="1" spc="-3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고추참치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2619445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2"/>
          <p:cNvCxnSpPr/>
          <p:nvPr/>
        </p:nvCxnSpPr>
        <p:spPr>
          <a:xfrm>
            <a:off x="3126317" y="1806144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2"/>
          <p:cNvCxnSpPr/>
          <p:nvPr/>
        </p:nvCxnSpPr>
        <p:spPr>
          <a:xfrm>
            <a:off x="3126317" y="3724611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2"/>
          <p:cNvSpPr txBox="1"/>
          <p:nvPr/>
        </p:nvSpPr>
        <p:spPr>
          <a:xfrm>
            <a:off x="6691152" y="2359465"/>
            <a:ext cx="29511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개발목표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983765" y="2359465"/>
            <a:ext cx="29511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추진배경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97103" y="2257980"/>
            <a:ext cx="14298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프로젝트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개요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197103" y="4129961"/>
            <a:ext cx="14298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데이터 분석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517297" y="2359465"/>
            <a:ext cx="26910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업무분장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691152" y="1799880"/>
            <a:ext cx="993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1-2</a:t>
            </a:r>
            <a:endParaRPr sz="2400">
              <a:latin typeface="+mn-ea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983765" y="1799880"/>
            <a:ext cx="993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1-1</a:t>
            </a:r>
            <a:endParaRPr sz="2400">
              <a:latin typeface="+mn-ea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197103" y="1799880"/>
            <a:ext cx="10815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Part 1</a:t>
            </a:r>
            <a:endParaRPr sz="2400">
              <a:latin typeface="+mn-ea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197103" y="3635508"/>
            <a:ext cx="10815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Part 2</a:t>
            </a:r>
            <a:endParaRPr sz="2400">
              <a:latin typeface="+mn-ea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036594" y="3724611"/>
            <a:ext cx="1424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2-1</a:t>
            </a:r>
            <a:endParaRPr sz="2400">
              <a:latin typeface="+mn-ea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9517297" y="1799880"/>
            <a:ext cx="992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1-3</a:t>
            </a:r>
            <a:endParaRPr sz="2400">
              <a:latin typeface="+mn-ea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765388" y="3724611"/>
            <a:ext cx="992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2-2</a:t>
            </a:r>
            <a:endParaRPr sz="2400">
              <a:latin typeface="+mn-ea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2170758" y="2359465"/>
            <a:ext cx="20064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일정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036594" y="4221337"/>
            <a:ext cx="29511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데이터 수집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765388" y="4202484"/>
            <a:ext cx="2804700" cy="9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고객 세그먼트 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분석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9565410" y="4202484"/>
            <a:ext cx="29184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판매 제품 분석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197103" y="787028"/>
            <a:ext cx="3736349" cy="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Content</a:t>
            </a:r>
            <a:endParaRPr>
              <a:latin typeface="+mn-ea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2170758" y="1799880"/>
            <a:ext cx="1163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1-4</a:t>
            </a:r>
            <a:endParaRPr sz="2400">
              <a:latin typeface="+mn-ea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9565410" y="3724611"/>
            <a:ext cx="975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2-3</a:t>
            </a:r>
            <a:endParaRPr sz="2400">
              <a:latin typeface="+mn-ea"/>
            </a:endParaRPr>
          </a:p>
        </p:txBody>
      </p:sp>
      <p:cxnSp>
        <p:nvCxnSpPr>
          <p:cNvPr id="125" name="Google Shape;125;p2"/>
          <p:cNvCxnSpPr/>
          <p:nvPr/>
        </p:nvCxnSpPr>
        <p:spPr>
          <a:xfrm>
            <a:off x="1197103" y="3478500"/>
            <a:ext cx="14840700" cy="0"/>
          </a:xfrm>
          <a:prstGeom prst="straightConnector1">
            <a:avLst/>
          </a:prstGeom>
          <a:noFill/>
          <a:ln w="9525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2"/>
          <p:cNvSpPr txBox="1"/>
          <p:nvPr/>
        </p:nvSpPr>
        <p:spPr>
          <a:xfrm>
            <a:off x="14457629" y="2359465"/>
            <a:ext cx="20064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개발 환경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4457629" y="1799880"/>
            <a:ext cx="1163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1-5</a:t>
            </a:r>
            <a:endParaRPr sz="2400">
              <a:latin typeface="+mn-ea"/>
            </a:endParaRPr>
          </a:p>
        </p:txBody>
      </p:sp>
      <p:cxnSp>
        <p:nvCxnSpPr>
          <p:cNvPr id="128" name="Google Shape;128;p2"/>
          <p:cNvCxnSpPr/>
          <p:nvPr/>
        </p:nvCxnSpPr>
        <p:spPr>
          <a:xfrm>
            <a:off x="3126317" y="5785848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2"/>
          <p:cNvSpPr txBox="1"/>
          <p:nvPr/>
        </p:nvSpPr>
        <p:spPr>
          <a:xfrm>
            <a:off x="1197102" y="6191198"/>
            <a:ext cx="1875183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dirty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페르소나</a:t>
            </a:r>
            <a:endParaRPr sz="2400" b="1" dirty="0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dirty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시뮬레이션</a:t>
            </a:r>
            <a:endParaRPr sz="2400" b="1" dirty="0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197103" y="5696745"/>
            <a:ext cx="10815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Part 3</a:t>
            </a:r>
            <a:endParaRPr sz="2400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cxnSp>
        <p:nvCxnSpPr>
          <p:cNvPr id="131" name="Google Shape;131;p2"/>
          <p:cNvCxnSpPr/>
          <p:nvPr/>
        </p:nvCxnSpPr>
        <p:spPr>
          <a:xfrm>
            <a:off x="1197103" y="5413500"/>
            <a:ext cx="14840700" cy="0"/>
          </a:xfrm>
          <a:prstGeom prst="straightConnector1">
            <a:avLst/>
          </a:prstGeom>
          <a:noFill/>
          <a:ln w="9525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2"/>
          <p:cNvSpPr txBox="1"/>
          <p:nvPr/>
        </p:nvSpPr>
        <p:spPr>
          <a:xfrm>
            <a:off x="6765062" y="6256330"/>
            <a:ext cx="1931700" cy="9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dirty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프롬프트</a:t>
            </a:r>
            <a:endParaRPr sz="2400" b="1" dirty="0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dirty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엔지니어링</a:t>
            </a:r>
            <a:endParaRPr sz="2400" b="1" dirty="0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4057675" y="6256330"/>
            <a:ext cx="1722000" cy="9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시뮬레이션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계획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9591207" y="6256330"/>
            <a:ext cx="2691000" cy="9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예측 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시뮬레이션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765062" y="5696745"/>
            <a:ext cx="993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3-2</a:t>
            </a:r>
            <a:endParaRPr sz="2400">
              <a:latin typeface="+mn-ea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4057675" y="5696745"/>
            <a:ext cx="993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3</a:t>
            </a: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-1</a:t>
            </a:r>
            <a:endParaRPr sz="2400">
              <a:latin typeface="+mn-ea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9591207" y="5696745"/>
            <a:ext cx="992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3-3</a:t>
            </a:r>
            <a:endParaRPr sz="2400">
              <a:latin typeface="+mn-ea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12244668" y="6256330"/>
            <a:ext cx="20064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평가 및 검증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12244668" y="5696745"/>
            <a:ext cx="1163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3-4</a:t>
            </a:r>
            <a:endParaRPr sz="2400">
              <a:latin typeface="+mn-ea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12789000" y="4202484"/>
            <a:ext cx="2918400" cy="48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외생 변수 가공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2789000" y="3724611"/>
            <a:ext cx="975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2-4</a:t>
            </a:r>
            <a:endParaRPr sz="2400">
              <a:latin typeface="+mn-ea"/>
            </a:endParaRPr>
          </a:p>
        </p:txBody>
      </p:sp>
      <p:cxnSp>
        <p:nvCxnSpPr>
          <p:cNvPr id="142" name="Google Shape;142;p2"/>
          <p:cNvCxnSpPr/>
          <p:nvPr/>
        </p:nvCxnSpPr>
        <p:spPr>
          <a:xfrm>
            <a:off x="3126317" y="8013611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2"/>
          <p:cNvSpPr txBox="1"/>
          <p:nvPr/>
        </p:nvSpPr>
        <p:spPr>
          <a:xfrm>
            <a:off x="1197103" y="8418961"/>
            <a:ext cx="14298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결과 및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평가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197103" y="7924508"/>
            <a:ext cx="10815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Part </a:t>
            </a:r>
            <a:r>
              <a:rPr lang="ko-KR" sz="2400">
                <a:latin typeface="+mn-ea"/>
                <a:cs typeface="Calibri"/>
                <a:sym typeface="Calibri"/>
              </a:rPr>
              <a:t>4</a:t>
            </a:r>
            <a:endParaRPr sz="2400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4036594" y="8013611"/>
            <a:ext cx="14241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+mn-ea"/>
                <a:cs typeface="Calibri"/>
                <a:sym typeface="Calibri"/>
              </a:rPr>
              <a:t>4</a:t>
            </a: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-1</a:t>
            </a:r>
            <a:endParaRPr sz="2400">
              <a:latin typeface="+mn-ea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6765388" y="8013611"/>
            <a:ext cx="9921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+mn-ea"/>
                <a:cs typeface="Calibri"/>
                <a:sym typeface="Calibri"/>
              </a:rPr>
              <a:t>4</a:t>
            </a: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-2</a:t>
            </a:r>
            <a:endParaRPr sz="2400">
              <a:latin typeface="+mn-ea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4036594" y="8510337"/>
            <a:ext cx="2092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최종 결과</a:t>
            </a:r>
            <a:endParaRPr sz="2400" b="1">
              <a:solidFill>
                <a:srgbClr val="000000"/>
              </a:solidFill>
              <a:latin typeface="+mn-ea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765388" y="8491484"/>
            <a:ext cx="2804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기대 효과</a:t>
            </a:r>
            <a:endParaRPr sz="2400" b="1">
              <a:latin typeface="+mn-ea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9565410" y="8491484"/>
            <a:ext cx="2918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400" b="1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  <a:t>자체 피드백</a:t>
            </a:r>
            <a:endParaRPr sz="2400" b="1" dirty="0">
              <a:solidFill>
                <a:schemeClr val="dk1"/>
              </a:solidFill>
              <a:latin typeface="+mn-ea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latin typeface="+mn-ea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9565410" y="8013611"/>
            <a:ext cx="975000" cy="51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+mn-ea"/>
                <a:cs typeface="Calibri"/>
                <a:sym typeface="Calibri"/>
              </a:rPr>
              <a:t>4</a:t>
            </a:r>
            <a:r>
              <a:rPr lang="ko-KR" sz="240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-3</a:t>
            </a:r>
            <a:endParaRPr sz="2400">
              <a:latin typeface="+mn-ea"/>
            </a:endParaRPr>
          </a:p>
        </p:txBody>
      </p:sp>
      <p:cxnSp>
        <p:nvCxnSpPr>
          <p:cNvPr id="151" name="Google Shape;151;p2"/>
          <p:cNvCxnSpPr/>
          <p:nvPr/>
        </p:nvCxnSpPr>
        <p:spPr>
          <a:xfrm>
            <a:off x="1197103" y="7483500"/>
            <a:ext cx="14840700" cy="0"/>
          </a:xfrm>
          <a:prstGeom prst="straightConnector1">
            <a:avLst/>
          </a:prstGeom>
          <a:noFill/>
          <a:ln w="9525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45639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05537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36270" y="6742688"/>
            <a:ext cx="2369187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198752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28603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376544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5639" y="6253335"/>
            <a:ext cx="874928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05537" y="6253335"/>
            <a:ext cx="874928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6270" y="6253335"/>
            <a:ext cx="873479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25452" y="6742688"/>
            <a:ext cx="274130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925452" y="6253335"/>
            <a:ext cx="1024538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198798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742131" y="6742688"/>
            <a:ext cx="274130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747706" y="6253335"/>
            <a:ext cx="102453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4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4235732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5906142"/>
            <a:ext cx="5806018" cy="3078090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754000" y="6898500"/>
            <a:ext cx="4599425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세그먼트를 분류하여 페르소나를 생성</a:t>
            </a:r>
            <a:r>
              <a:rPr lang="en-US" altLang="ko-KR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z="2000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시뮬레이터 개발 </a:t>
            </a:r>
            <a:endParaRPr lang="en-US" sz="2000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ko-KR" altLang="en-US" sz="24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페르소나를 활용한 시장 예측</a:t>
            </a:r>
            <a:endParaRPr lang="en-US" sz="20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6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3791404" y="5906142"/>
            <a:ext cx="5200538" cy="37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289796-56CF-DEC1-EA2C-FF0153610E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2097" y="1450500"/>
            <a:ext cx="10783805" cy="2133898"/>
          </a:xfrm>
          <a:prstGeom prst="rect">
            <a:avLst/>
          </a:prstGeom>
        </p:spPr>
      </p:pic>
      <p:sp>
        <p:nvSpPr>
          <p:cNvPr id="4" name="Freeform 31">
            <a:extLst>
              <a:ext uri="{FF2B5EF4-FFF2-40B4-BE49-F238E27FC236}">
                <a16:creationId xmlns:a16="http://schemas.microsoft.com/office/drawing/2014/main" id="{1B654AA2-7E72-B5D0-7EC4-6FF5FD6C4C7E}"/>
              </a:ext>
            </a:extLst>
          </p:cNvPr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924001" y="7880086"/>
            <a:ext cx="3869999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 소비자태도 조사 데이터와 제품 데이터를 기반으로 분류된 마이크로 세그먼트 페르소나를 구축</a:t>
            </a:r>
            <a:endParaRPr lang="en-US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29959" y="7639461"/>
            <a:ext cx="386999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924001" y="7256215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29959" y="7015590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3924000" y="2263500"/>
            <a:ext cx="3357435" cy="4781355"/>
          </a:xfrm>
          <a:prstGeom prst="rect">
            <a:avLst/>
          </a:prstGeom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9657508" y="2928862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078614"/>
              </p:ext>
            </p:extLst>
          </p:nvPr>
        </p:nvGraphicFramePr>
        <p:xfrm>
          <a:off x="1345552" y="2281500"/>
          <a:ext cx="15596897" cy="682199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84926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54594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박진성</a:t>
                      </a:r>
                      <a:endParaRPr lang="en-US" altLang="ko-KR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2000" dirty="0"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lvl="0" algn="ctr" latinLnBrk="1"/>
                      <a:r>
                        <a:rPr lang="en-US" altLang="ko-KR" sz="2000" dirty="0">
                          <a:latin typeface="+mn-ea"/>
                          <a:ea typeface="+mn-ea"/>
                        </a:rPr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샘플 페르소나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네이버 검색 트랜드 조사 및 검색 계수 도출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웹페이지 기획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47559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주용곤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 및 제품 특징 정보 캡슐화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 프롬프트 엔지니어링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47559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시장 규모 추정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 판매량 추정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경쟁사 제품 정보 및 비교 리서치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모델 교차 검증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47559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최장호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소비자 추정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A1465D3F-4B41-AF48-6F09-D3C5692EA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0" y="1883438"/>
            <a:ext cx="17895886" cy="6815062"/>
          </a:xfrm>
          <a:prstGeom prst="rect">
            <a:avLst/>
          </a:prstGeom>
        </p:spPr>
      </p:pic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C15815-176F-1B62-ADC5-DE645E8F2303}"/>
              </a:ext>
            </a:extLst>
          </p:cNvPr>
          <p:cNvSpPr/>
          <p:nvPr/>
        </p:nvSpPr>
        <p:spPr>
          <a:xfrm>
            <a:off x="234000" y="2623500"/>
            <a:ext cx="17819123" cy="720000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277F66-E8FD-6A3F-9929-E6CBD652A7D5}"/>
              </a:ext>
            </a:extLst>
          </p:cNvPr>
          <p:cNvSpPr/>
          <p:nvPr/>
        </p:nvSpPr>
        <p:spPr>
          <a:xfrm>
            <a:off x="279000" y="3343499"/>
            <a:ext cx="17819123" cy="990001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C2F4D4-ACB1-7326-DA47-F5910F68CB6B}"/>
              </a:ext>
            </a:extLst>
          </p:cNvPr>
          <p:cNvSpPr/>
          <p:nvPr/>
        </p:nvSpPr>
        <p:spPr>
          <a:xfrm>
            <a:off x="234000" y="4333500"/>
            <a:ext cx="17819123" cy="99000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451F81-A8E6-A279-6B7B-1C1CFDB11698}"/>
              </a:ext>
            </a:extLst>
          </p:cNvPr>
          <p:cNvSpPr/>
          <p:nvPr/>
        </p:nvSpPr>
        <p:spPr>
          <a:xfrm>
            <a:off x="234000" y="5323500"/>
            <a:ext cx="17819123" cy="1665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7FBC98-D054-35C0-ECB6-9D8617BE3060}"/>
              </a:ext>
            </a:extLst>
          </p:cNvPr>
          <p:cNvSpPr/>
          <p:nvPr/>
        </p:nvSpPr>
        <p:spPr>
          <a:xfrm>
            <a:off x="234000" y="6988500"/>
            <a:ext cx="17819123" cy="1338593"/>
          </a:xfrm>
          <a:prstGeom prst="rect">
            <a:avLst/>
          </a:prstGeom>
          <a:solidFill>
            <a:schemeClr val="accent3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0C2C94-1F17-302C-DDF7-D15314DE3FBC}"/>
              </a:ext>
            </a:extLst>
          </p:cNvPr>
          <p:cNvSpPr/>
          <p:nvPr/>
        </p:nvSpPr>
        <p:spPr>
          <a:xfrm>
            <a:off x="234000" y="8310992"/>
            <a:ext cx="17819123" cy="387508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D1BB0A-5960-7B2D-3112-C8A2C0DBAB69}"/>
              </a:ext>
            </a:extLst>
          </p:cNvPr>
          <p:cNvSpPr/>
          <p:nvPr/>
        </p:nvSpPr>
        <p:spPr>
          <a:xfrm>
            <a:off x="15309000" y="1754910"/>
            <a:ext cx="2789123" cy="641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64887"/>
              </p:ext>
            </p:extLst>
          </p:nvPr>
        </p:nvGraphicFramePr>
        <p:xfrm>
          <a:off x="1345552" y="2263500"/>
          <a:ext cx="14953448" cy="71128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Anaconda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asgiref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==3.9.1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==2.2.7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python-decouple==3.8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sqlparse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==0.5.3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typing_extensions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==4.14.1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tzdata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==2025.2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Django(Django==5.2.4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555637" y="6742688"/>
            <a:ext cx="259818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87322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555637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999453B8-1FC1-F725-9FB1-72597AE043B7}"/>
              </a:ext>
            </a:extLst>
          </p:cNvPr>
          <p:cNvSpPr txBox="1"/>
          <p:nvPr/>
        </p:nvSpPr>
        <p:spPr>
          <a:xfrm>
            <a:off x="11476232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A5C604EE-E7B8-1029-0DD2-2535DDBFDC97}"/>
              </a:ext>
            </a:extLst>
          </p:cNvPr>
          <p:cNvSpPr/>
          <p:nvPr/>
        </p:nvSpPr>
        <p:spPr>
          <a:xfrm>
            <a:off x="11079000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D5D6859-5777-6DAB-E95F-F738895F3F10}"/>
              </a:ext>
            </a:extLst>
          </p:cNvPr>
          <p:cNvSpPr txBox="1"/>
          <p:nvPr/>
        </p:nvSpPr>
        <p:spPr>
          <a:xfrm>
            <a:off x="11476232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6F1B8C7-2DD6-CA3A-49C6-89CE30CC469A}"/>
              </a:ext>
            </a:extLst>
          </p:cNvPr>
          <p:cNvSpPr txBox="1"/>
          <p:nvPr/>
        </p:nvSpPr>
        <p:spPr>
          <a:xfrm>
            <a:off x="14319363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6DB3CA9-385E-9EFE-CC99-078D100435D6}"/>
              </a:ext>
            </a:extLst>
          </p:cNvPr>
          <p:cNvSpPr/>
          <p:nvPr/>
        </p:nvSpPr>
        <p:spPr>
          <a:xfrm>
            <a:off x="13824000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D37F8BC-5BC0-59BD-C15E-B60EB34EE35E}"/>
              </a:ext>
            </a:extLst>
          </p:cNvPr>
          <p:cNvSpPr txBox="1"/>
          <p:nvPr/>
        </p:nvSpPr>
        <p:spPr>
          <a:xfrm>
            <a:off x="14319363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4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FD75-BDDA-7099-3136-26409925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C80ACAB-4260-1AB6-556B-C4155B61E3BC}"/>
              </a:ext>
            </a:extLst>
          </p:cNvPr>
          <p:cNvSpPr/>
          <p:nvPr/>
        </p:nvSpPr>
        <p:spPr>
          <a:xfrm>
            <a:off x="3789001" y="1074277"/>
            <a:ext cx="1358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A735144-CBCB-AA02-6E8F-C2F192C53BD2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22339ED9-6D43-07EB-76E0-433AE134281E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83B8738-F22F-4684-F4CD-8B8AB4266083}"/>
              </a:ext>
            </a:extLst>
          </p:cNvPr>
          <p:cNvSpPr txBox="1"/>
          <p:nvPr/>
        </p:nvSpPr>
        <p:spPr>
          <a:xfrm>
            <a:off x="1206628" y="2376645"/>
            <a:ext cx="6722370" cy="708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신제품 데이터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227B6A0-339E-E2C8-7DC1-304F127E9718}"/>
              </a:ext>
            </a:extLst>
          </p:cNvPr>
          <p:cNvSpPr txBox="1"/>
          <p:nvPr/>
        </p:nvSpPr>
        <p:spPr>
          <a:xfrm>
            <a:off x="1206628" y="4540090"/>
            <a:ext cx="7442372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7145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 자료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가구형태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월소득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등의 인구통계학적 데이터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건강식품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HMR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대한 개인별 선호도 등이 포함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A92A396-FD8F-4105-B9DE-45A32D300509}"/>
              </a:ext>
            </a:extLst>
          </p:cNvPr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대회 제공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3961F5-8F14-1305-7DBE-6AFF4CAA616A}"/>
              </a:ext>
            </a:extLst>
          </p:cNvPr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설문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133B08E-8FA0-873E-8BF4-C011E30EF183}"/>
              </a:ext>
            </a:extLst>
          </p:cNvPr>
          <p:cNvSpPr txBox="1"/>
          <p:nvPr/>
        </p:nvSpPr>
        <p:spPr>
          <a:xfrm>
            <a:off x="1206628" y="6851967"/>
            <a:ext cx="7442372" cy="2187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동원몰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및 타 마켓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크롤링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가격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후기수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구성 등 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식품산업통계정보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제조사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브랜드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세분시장 별 월별 매출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리서치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경쟁사 제품의 가격 및 제품 정보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데이터랩을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통한 제품 검색 트랜드 정보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900"/>
              </a:lnSpc>
              <a:buFontTx/>
              <a:buChar char="-"/>
            </a:pP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76DCD29-C9E9-4708-B6B5-82E19B04A261}"/>
              </a:ext>
            </a:extLst>
          </p:cNvPr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규모 및 제품 판매 추정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0F9097-F5DB-D873-537B-1A91256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386"/>
              </p:ext>
            </p:extLst>
          </p:nvPr>
        </p:nvGraphicFramePr>
        <p:xfrm>
          <a:off x="8961900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A68A7558-261F-2727-A8DF-04E64CD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000" y="5440206"/>
            <a:ext cx="8739805" cy="38734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85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6ACC54-93E0-0D55-8A7E-F0D6F06F3B4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1206628" y="2416308"/>
            <a:ext cx="8702372" cy="2250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2425" algn="l"/>
              </a:tabLst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1207828" y="5166350"/>
            <a:ext cx="8836172" cy="317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z="2000" dirty="0"/>
              <a:t>카테고리 분류를 위한 키워드 사전 작성 및 </a:t>
            </a:r>
            <a:r>
              <a:rPr lang="ko-KR" altLang="en-US" sz="2000" dirty="0" err="1"/>
              <a:t>태깅</a:t>
            </a:r>
            <a:r>
              <a:rPr lang="ko-KR" altLang="en-US" sz="2000" dirty="0"/>
              <a:t> </a:t>
            </a:r>
            <a:r>
              <a:rPr lang="en-US" altLang="ko-KR" sz="2000" dirty="0"/>
              <a:t>(</a:t>
            </a:r>
            <a:r>
              <a:rPr lang="ko-KR" altLang="en-US" sz="2000" dirty="0"/>
              <a:t>코딩</a:t>
            </a:r>
            <a:r>
              <a:rPr lang="en-US" altLang="ko-KR" sz="2000" dirty="0"/>
              <a:t>)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z="2000" dirty="0"/>
              <a:t>설문조사 결과에 대한 스코어 집계</a:t>
            </a:r>
            <a:r>
              <a:rPr lang="en-US" altLang="ko-KR" sz="2000" dirty="0"/>
              <a:t>(</a:t>
            </a:r>
            <a:r>
              <a:rPr lang="ko-KR" altLang="en-US" sz="2000" dirty="0"/>
              <a:t>코딩</a:t>
            </a:r>
            <a:r>
              <a:rPr lang="en-US" altLang="ko-KR" sz="2000" dirty="0"/>
              <a:t>)</a:t>
            </a:r>
            <a:endParaRPr lang="en-US" altLang="ko-KR" sz="2000" spc="-28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000" y="1359129"/>
            <a:ext cx="5994730" cy="8475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C5F8769-E066-2F4A-30EB-8B4DFA085D9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616F90-37E0-343A-4C16-02CE9211995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54FEDB3-BE96-93B7-DEAE-DAF539984336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2373235"/>
            <a:ext cx="5629911" cy="7585264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9954000" y="1813500"/>
            <a:ext cx="5985000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34" y="2373235"/>
            <a:ext cx="5298265" cy="76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6A45CC0-4D69-C180-A981-9782E8D84617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5266EF2-620B-B5F2-096F-151A62FBA3F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121789A-678F-36D9-7048-D3789C6E4A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1206628" y="2386806"/>
            <a:ext cx="6722370" cy="2251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5143500"/>
            <a:ext cx="7612061" cy="4995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9324000" y="2386806"/>
            <a:ext cx="6722370" cy="2712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</a:pPr>
            <a:r>
              <a:rPr lang="en-US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  ** </a:t>
            </a:r>
            <a:r>
              <a:rPr lang="ko-KR" altLang="en-US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pc="-28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91396"/>
              </p:ext>
            </p:extLst>
          </p:nvPr>
        </p:nvGraphicFramePr>
        <p:xfrm>
          <a:off x="9311612" y="5503500"/>
          <a:ext cx="8556986" cy="3797420"/>
        </p:xfrm>
        <a:graphic>
          <a:graphicData uri="http://schemas.openxmlformats.org/drawingml/2006/table">
            <a:tbl>
              <a:tblPr/>
              <a:tblGrid>
                <a:gridCol w="602284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1018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A355-CDAC-F0B1-7878-91B9F603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18E236F-A105-BA8F-9D62-8520D47F701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5DD2A8E-D8D1-0D1F-F5DD-B46E80ED344B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B6B422B-B494-C51F-2A38-B039CDC6EBD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9C4F421-3AD3-3EE4-DCDF-D15CB79B3477}"/>
              </a:ext>
            </a:extLst>
          </p:cNvPr>
          <p:cNvSpPr txBox="1"/>
          <p:nvPr/>
        </p:nvSpPr>
        <p:spPr>
          <a:xfrm>
            <a:off x="1206628" y="2311427"/>
            <a:ext cx="16164362" cy="686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성별의 절대값에는 차이가 있으나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대체로 세그먼트 별 연령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 분포는 균일함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 남성이 더 낮은 비율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소극적 소비자를 제외하면 모두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HMR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선호도가 높으며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비슷한 가격 민감도를 가지고 있음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53B776D-C91C-DBA2-57BC-212C67280C6E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 정보 시각화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47E7A-DD6D-24D9-3745-0986C9D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3298500"/>
            <a:ext cx="12478740" cy="3503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4F59D-B9EB-F891-923E-9D0415F1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04" y="6676010"/>
            <a:ext cx="12370636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09AD47B-492D-8EC2-7F28-285A229F7E27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01C872F-6449-FC7E-A6E4-A4D24E4272A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206628" y="2350463"/>
            <a:ext cx="6497372" cy="684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product_name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category_level_1~3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7" y="6403500"/>
            <a:ext cx="16528182" cy="3258005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2817102" y="3474788"/>
            <a:ext cx="2321898" cy="678712"/>
          </a:xfrm>
          <a:prstGeom prst="downArrow">
            <a:avLst>
              <a:gd name="adj1" fmla="val 50000"/>
              <a:gd name="adj2" fmla="val 6924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197103" y="4474534"/>
            <a:ext cx="6506897" cy="684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판단하기 쉽게 전처리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product_feature2, advertise, </a:t>
            </a: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release_date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price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045126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85C-4018-B6E5-212B-234C40AA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53347B1-F34C-3CE4-8E30-DD6EA077859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5E69ED-FFB1-1260-A4CF-5876262A5CB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778F007-ECFA-E0DD-572C-DFE02D8A93D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F35430-C75C-5A28-2FE2-08FF2E9385C3}"/>
              </a:ext>
            </a:extLst>
          </p:cNvPr>
          <p:cNvSpPr txBox="1"/>
          <p:nvPr/>
        </p:nvSpPr>
        <p:spPr>
          <a:xfrm>
            <a:off x="1206628" y="2350463"/>
            <a:ext cx="3932372" cy="391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캡슐화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데이터와 그 데이터를 다루는 기능을 하나의 단위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객체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로 묶고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외부에 불필요한 내부 구현을 숨기는 것</a:t>
            </a:r>
            <a:br>
              <a:rPr lang="en-US" altLang="ko-KR" sz="2000" dirty="0">
                <a:latin typeface="+mn-ea"/>
              </a:rPr>
            </a:b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indent="-169863" algn="l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의 출력은 자연어 처리이므로 캡슐화 방법 중 출력 결과를 구조화하여 쉽게 파싱하고 활용할 수 있는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변환을 진행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06C0B4-A718-D9B0-E131-2070B482E498}"/>
              </a:ext>
            </a:extLst>
          </p:cNvPr>
          <p:cNvSpPr txBox="1"/>
          <p:nvPr/>
        </p:nvSpPr>
        <p:spPr>
          <a:xfrm>
            <a:off x="1206628" y="1813500"/>
            <a:ext cx="4516269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캡슐화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000" y="1795813"/>
            <a:ext cx="5722132" cy="74169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E90666-A5AF-B612-7EF6-A27F22F6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57" y="1813500"/>
            <a:ext cx="5722133" cy="74169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1848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5C0-ABE8-00E6-2B59-E4344B0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648E589-F7B0-D86E-E851-09D197C54EE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507AE-61BB-E93F-8E05-385DB5CCA47D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1B02E66-60DD-825D-B380-5C8E8FDD1A23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961E3F7-483A-D632-0072-9B2B7E9513D4}"/>
              </a:ext>
            </a:extLst>
          </p:cNvPr>
          <p:cNvSpPr txBox="1"/>
          <p:nvPr/>
        </p:nvSpPr>
        <p:spPr>
          <a:xfrm>
            <a:off x="1206628" y="2350464"/>
            <a:ext cx="11942372" cy="2270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기본계수 </a:t>
            </a:r>
            <a:r>
              <a:rPr lang="en-US" altLang="ko-KR" sz="2000" dirty="0" err="1">
                <a:latin typeface="Malgun Gothic"/>
              </a:rPr>
              <a:t>base_scale</a:t>
            </a:r>
            <a:r>
              <a:rPr lang="en-US" altLang="ko-KR" sz="2000" dirty="0">
                <a:latin typeface="Malgun Gothic"/>
              </a:rPr>
              <a:t> = </a:t>
            </a:r>
            <a:r>
              <a:rPr lang="ko-KR" altLang="en-US" sz="2000" dirty="0">
                <a:latin typeface="Malgun Gothic"/>
              </a:rPr>
              <a:t>카테고리시장가중 </a:t>
            </a:r>
            <a:r>
              <a:rPr lang="en-US" altLang="ko-KR" sz="2000" dirty="0">
                <a:latin typeface="Malgun Gothic"/>
              </a:rPr>
              <a:t>× </a:t>
            </a:r>
            <a:r>
              <a:rPr lang="ko-KR" altLang="en-US" sz="2000" dirty="0">
                <a:latin typeface="Malgun Gothic"/>
              </a:rPr>
              <a:t>카테고리내 제품비중 </a:t>
            </a:r>
            <a:r>
              <a:rPr lang="en-US" altLang="ko-KR" sz="2000" dirty="0">
                <a:latin typeface="Malgun Gothic"/>
              </a:rPr>
              <a:t>× </a:t>
            </a:r>
            <a:r>
              <a:rPr lang="ko-KR" altLang="en-US" sz="2000" dirty="0" err="1">
                <a:latin typeface="Malgun Gothic"/>
              </a:rPr>
              <a:t>역할패널티</a:t>
            </a:r>
            <a:endParaRPr lang="ko-KR" altLang="en-US" sz="2000" dirty="0">
              <a:latin typeface="Malgun Gothic"/>
            </a:endParaRP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카테고리시장가중 </a:t>
            </a:r>
            <a:r>
              <a:rPr lang="en-US" altLang="ko-KR" sz="2000" dirty="0">
                <a:latin typeface="Malgun Gothic"/>
              </a:rPr>
              <a:t>= </a:t>
            </a:r>
            <a:r>
              <a:rPr lang="ko-KR" altLang="en-US" sz="2000" dirty="0">
                <a:latin typeface="Malgun Gothic"/>
              </a:rPr>
              <a:t>카테고리 시장규모 </a:t>
            </a:r>
            <a:r>
              <a:rPr lang="en-US" altLang="ko-KR" sz="2000" dirty="0">
                <a:latin typeface="Malgun Gothic"/>
              </a:rPr>
              <a:t>/ </a:t>
            </a:r>
            <a:r>
              <a:rPr lang="ko-KR" altLang="en-US" sz="2000" dirty="0">
                <a:latin typeface="Malgun Gothic"/>
              </a:rPr>
              <a:t>전체 시장규모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제품비중 </a:t>
            </a:r>
            <a:r>
              <a:rPr lang="en-US" altLang="ko-KR" sz="2000" dirty="0">
                <a:latin typeface="Malgun Gothic"/>
              </a:rPr>
              <a:t>= </a:t>
            </a:r>
            <a:r>
              <a:rPr lang="ko-KR" altLang="en-US" sz="2000" dirty="0">
                <a:latin typeface="Malgun Gothic"/>
              </a:rPr>
              <a:t>제품 예측판매량 </a:t>
            </a:r>
            <a:r>
              <a:rPr lang="en-US" altLang="ko-KR" sz="2000" dirty="0">
                <a:latin typeface="Malgun Gothic"/>
              </a:rPr>
              <a:t>/ </a:t>
            </a:r>
            <a:r>
              <a:rPr lang="ko-KR" altLang="en-US" sz="2000" dirty="0">
                <a:latin typeface="Malgun Gothic"/>
              </a:rPr>
              <a:t>카테고리 내 합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Malgun Gothic"/>
              </a:rPr>
              <a:t>역할패널티</a:t>
            </a:r>
            <a:r>
              <a:rPr lang="en-US" altLang="ko-KR" sz="2000" dirty="0">
                <a:latin typeface="Malgun Gothic"/>
              </a:rPr>
              <a:t>: </a:t>
            </a:r>
            <a:r>
              <a:rPr lang="ko-KR" altLang="en-US" sz="2000" dirty="0">
                <a:latin typeface="Malgun Gothic"/>
              </a:rPr>
              <a:t>플래그십 </a:t>
            </a:r>
            <a:r>
              <a:rPr lang="en-US" altLang="ko-KR" sz="2000" dirty="0">
                <a:latin typeface="Malgun Gothic"/>
              </a:rPr>
              <a:t>1.00 / </a:t>
            </a:r>
            <a:r>
              <a:rPr lang="ko-KR" altLang="en-US" sz="2000" dirty="0">
                <a:latin typeface="Malgun Gothic"/>
              </a:rPr>
              <a:t>서브 </a:t>
            </a:r>
            <a:r>
              <a:rPr lang="en-US" altLang="ko-KR" sz="2000" dirty="0">
                <a:latin typeface="Malgun Gothic"/>
              </a:rPr>
              <a:t>0.80 / </a:t>
            </a:r>
            <a:r>
              <a:rPr lang="ko-KR" altLang="en-US" sz="2000" dirty="0">
                <a:latin typeface="Malgun Gothic"/>
              </a:rPr>
              <a:t>니치 </a:t>
            </a:r>
            <a:r>
              <a:rPr lang="en-US" altLang="ko-KR" sz="2000" dirty="0">
                <a:latin typeface="Malgun Gothic"/>
              </a:rPr>
              <a:t>0.70 / </a:t>
            </a:r>
            <a:r>
              <a:rPr lang="ko-KR" altLang="en-US" sz="2000" dirty="0">
                <a:latin typeface="Malgun Gothic"/>
              </a:rPr>
              <a:t>확장</a:t>
            </a:r>
            <a:r>
              <a:rPr lang="en-US" altLang="ko-KR" sz="2000" dirty="0">
                <a:latin typeface="Malgun Gothic"/>
              </a:rPr>
              <a:t>·</a:t>
            </a:r>
            <a:r>
              <a:rPr lang="ko-KR" altLang="en-US" sz="2000" dirty="0">
                <a:latin typeface="Malgun Gothic"/>
              </a:rPr>
              <a:t>테스트 </a:t>
            </a:r>
            <a:r>
              <a:rPr lang="en-US" altLang="ko-KR" sz="2000" dirty="0">
                <a:latin typeface="Malgun Gothic"/>
              </a:rPr>
              <a:t>0.85 / (</a:t>
            </a:r>
            <a:r>
              <a:rPr lang="ko-KR" altLang="en-US" sz="2000" dirty="0" err="1">
                <a:latin typeface="Malgun Gothic"/>
              </a:rPr>
              <a:t>동원맛참</a:t>
            </a:r>
            <a:r>
              <a:rPr lang="ko-KR" altLang="en-US" sz="2000" dirty="0">
                <a:latin typeface="Malgun Gothic"/>
              </a:rPr>
              <a:t> 서브라인 </a:t>
            </a:r>
            <a:r>
              <a:rPr lang="en-US" altLang="ko-KR" sz="2000" dirty="0">
                <a:latin typeface="Malgun Gothic"/>
              </a:rPr>
              <a:t>0.78)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성장계수</a:t>
            </a:r>
            <a:r>
              <a:rPr lang="en-US" altLang="ko-KR" sz="2000" dirty="0">
                <a:latin typeface="Malgun Gothic"/>
              </a:rPr>
              <a:t>: </a:t>
            </a:r>
            <a:r>
              <a:rPr lang="ko-KR" altLang="en-US" sz="2000" dirty="0">
                <a:latin typeface="Malgun Gothic"/>
              </a:rPr>
              <a:t>연간성장률</a:t>
            </a:r>
            <a:r>
              <a:rPr lang="en-US" altLang="ko-KR" sz="2000" dirty="0">
                <a:latin typeface="Malgun Gothic"/>
              </a:rPr>
              <a:t>(CAGR) → </a:t>
            </a:r>
            <a:r>
              <a:rPr lang="ko-KR" altLang="en-US" sz="2000" dirty="0">
                <a:latin typeface="Malgun Gothic"/>
              </a:rPr>
              <a:t>월별 성장계수 </a:t>
            </a:r>
            <a:r>
              <a:rPr lang="en-US" altLang="ko-KR" sz="2000" dirty="0">
                <a:latin typeface="Malgun Gothic"/>
              </a:rPr>
              <a:t>( (1+CAGR)^(1/12) )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월 </a:t>
            </a:r>
            <a:r>
              <a:rPr lang="en-US" altLang="ko-KR" sz="2000" dirty="0"/>
              <a:t>m</a:t>
            </a:r>
            <a:r>
              <a:rPr lang="ko-KR" altLang="en-US" sz="2000" dirty="0"/>
              <a:t>의 예측치 </a:t>
            </a:r>
            <a:r>
              <a:rPr lang="en-US" altLang="ko-KR" sz="2000" dirty="0"/>
              <a:t>= </a:t>
            </a:r>
            <a:r>
              <a:rPr lang="ko-KR" altLang="en-US" sz="2000" b="1" dirty="0" err="1"/>
              <a:t>기준값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× </a:t>
            </a:r>
            <a:r>
              <a:rPr lang="ko-KR" altLang="en-US" sz="2000" b="1" dirty="0"/>
              <a:t>계절계수</a:t>
            </a:r>
            <a:r>
              <a:rPr lang="en-US" altLang="ko-KR" sz="2000" b="1" dirty="0"/>
              <a:t>[m] × </a:t>
            </a:r>
            <a:r>
              <a:rPr lang="ko-KR" altLang="en-US" sz="2000" b="1" dirty="0"/>
              <a:t>프로모션계수</a:t>
            </a:r>
            <a:r>
              <a:rPr lang="en-US" altLang="ko-KR" sz="2000" b="1" dirty="0"/>
              <a:t>[m] × (</a:t>
            </a:r>
            <a:r>
              <a:rPr lang="ko-KR" altLang="en-US" sz="2000" b="1" dirty="0"/>
              <a:t>월매출계수</a:t>
            </a:r>
            <a:r>
              <a:rPr lang="en-US" altLang="ko-KR" sz="2000" b="1" dirty="0"/>
              <a:t>)^(m-1)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444B6E8-04F8-EC96-DEF4-EDB3E8E75324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시장규모 정보 수집 및 계수 도출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ADD816-4378-FB47-FDE0-5E3E157E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12" y="4873500"/>
            <a:ext cx="12844575" cy="512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2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4001" y="1074278"/>
            <a:ext cx="134469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4" y="795628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1" y="547028"/>
            <a:ext cx="5796992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35"/>
              </a:lnSpc>
              <a:spcBef>
                <a:spcPct val="0"/>
              </a:spcBef>
            </a:pPr>
            <a:r>
              <a:rPr 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5D3ED4-47E3-A5E2-ED64-617B14444FD4}"/>
              </a:ext>
            </a:extLst>
          </p:cNvPr>
          <p:cNvSpPr/>
          <p:nvPr/>
        </p:nvSpPr>
        <p:spPr>
          <a:xfrm>
            <a:off x="1216657" y="1754043"/>
            <a:ext cx="4462343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4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월매출계수</a:t>
            </a:r>
            <a:r>
              <a:rPr lang="en-US" sz="24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(2020-2023)</a:t>
            </a:r>
            <a:endParaRPr lang="en-US" sz="2400" dirty="0">
              <a:latin typeface="+mn-e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114D07-2EC5-D178-D6F2-8E646394E83B}"/>
              </a:ext>
            </a:extLst>
          </p:cNvPr>
          <p:cNvSpPr/>
          <p:nvPr/>
        </p:nvSpPr>
        <p:spPr>
          <a:xfrm>
            <a:off x="1108084" y="2346282"/>
            <a:ext cx="13184744" cy="5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52425" lvl="1" indent="-169863"/>
            <a:r>
              <a:rPr lang="en-US" sz="2000" dirty="0">
                <a:solidFill>
                  <a:srgbClr val="272525"/>
                </a:solidFill>
                <a:latin typeface="+mn-ea"/>
                <a:cs typeface="Inter" pitchFamily="34" charset="-120"/>
              </a:rPr>
              <a:t> 2020년부터 2023년까지 주요 식품 품목의 월별 매출 계수를 도출하여 제품별 매출 추세와 계절성 </a:t>
            </a:r>
            <a:r>
              <a:rPr lang="en-US" sz="2000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패턴을</a:t>
            </a:r>
            <a:r>
              <a:rPr lang="en-US" sz="2000" dirty="0">
                <a:solidFill>
                  <a:srgbClr val="272525"/>
                </a:solidFill>
                <a:latin typeface="+mn-ea"/>
                <a:cs typeface="Inter" pitchFamily="34" charset="-12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파악</a:t>
            </a:r>
            <a:endParaRPr lang="en-US" sz="2000" dirty="0">
              <a:latin typeface="+mn-e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1CA7C1D-6850-739F-BAC7-49AC225F1ED9}"/>
              </a:ext>
            </a:extLst>
          </p:cNvPr>
          <p:cNvSpPr/>
          <p:nvPr/>
        </p:nvSpPr>
        <p:spPr>
          <a:xfrm>
            <a:off x="1195926" y="4537981"/>
            <a:ext cx="2685098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99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&lt;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제품별</a:t>
            </a:r>
            <a:r>
              <a:rPr lang="en-US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분석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&gt;</a:t>
            </a:r>
            <a:endParaRPr lang="en-US" sz="2000" dirty="0">
              <a:latin typeface="+mn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B3097F8-AE42-F313-47D0-2B719F4B9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4952484"/>
            <a:ext cx="5034869" cy="30036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0B54F3C-26DD-1DF7-837D-40A30304F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091" y="4960585"/>
            <a:ext cx="5034869" cy="300361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F24A58-E910-F16E-3CFC-D1462AAF1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133" y="4982569"/>
            <a:ext cx="4875311" cy="290842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EAADD087-1CF7-9A4A-56F5-6C6D85BAFC22}"/>
              </a:ext>
            </a:extLst>
          </p:cNvPr>
          <p:cNvSpPr txBox="1"/>
          <p:nvPr/>
        </p:nvSpPr>
        <p:spPr>
          <a:xfrm>
            <a:off x="1206628" y="2846643"/>
            <a:ext cx="8342372" cy="139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 산출 방식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마켓링크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POS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(2020-2023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전국 유통 채널 매출 포함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계수 산출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=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해당 월 매출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÷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연평균 매출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계수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2020-2023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평균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단일 연도 특이점 상쇄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57217-D06E-6901-AA60-E9C6D9E38199}"/>
              </a:ext>
            </a:extLst>
          </p:cNvPr>
          <p:cNvSpPr txBox="1"/>
          <p:nvPr/>
        </p:nvSpPr>
        <p:spPr>
          <a:xfrm>
            <a:off x="935181" y="7964196"/>
            <a:ext cx="5396029" cy="1814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b="1" dirty="0" err="1">
                <a:latin typeface="+mn-ea"/>
              </a:rPr>
              <a:t>참치캔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동원</a:t>
            </a:r>
            <a:r>
              <a:rPr lang="en-US" altLang="ko-KR" sz="2000" b="1" dirty="0">
                <a:latin typeface="+mn-ea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추세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en-US" altLang="ko-KR" sz="2000" dirty="0">
                <a:latin typeface="+mn-ea"/>
              </a:rPr>
              <a:t>2020</a:t>
            </a:r>
            <a:r>
              <a:rPr lang="ko-KR" altLang="en-US" sz="2000" dirty="0">
                <a:latin typeface="+mn-ea"/>
              </a:rPr>
              <a:t>년 대비 </a:t>
            </a:r>
            <a:r>
              <a:rPr lang="en-US" altLang="ko-KR" sz="2000" dirty="0">
                <a:latin typeface="+mn-ea"/>
              </a:rPr>
              <a:t>2023</a:t>
            </a:r>
            <a:r>
              <a:rPr lang="ko-KR" altLang="en-US" sz="2000" dirty="0">
                <a:latin typeface="+mn-ea"/>
              </a:rPr>
              <a:t>년 월평균 </a:t>
            </a:r>
            <a:r>
              <a:rPr lang="en-US" altLang="ko-KR" sz="2000" dirty="0">
                <a:latin typeface="+mn-ea"/>
              </a:rPr>
              <a:t>-16% 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 </a:t>
            </a:r>
            <a:r>
              <a:rPr lang="ko-KR" altLang="en-US" sz="2000" dirty="0">
                <a:latin typeface="+mn-ea"/>
              </a:rPr>
              <a:t>소폭 감소</a:t>
            </a:r>
            <a:r>
              <a:rPr lang="en-US" altLang="ko-KR" sz="2000" dirty="0">
                <a:latin typeface="+mn-ea"/>
              </a:rPr>
              <a:t>, 2022</a:t>
            </a:r>
            <a:r>
              <a:rPr lang="ko-KR" altLang="en-US" sz="2000" dirty="0">
                <a:latin typeface="+mn-ea"/>
              </a:rPr>
              <a:t>년 하반기부터 회복 기미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계절성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중간 수준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연간 매출 진폭 </a:t>
            </a:r>
            <a:r>
              <a:rPr lang="en-US" altLang="ko-KR" sz="2000" dirty="0">
                <a:latin typeface="+mn-ea"/>
              </a:rPr>
              <a:t>1.58</a:t>
            </a:r>
            <a:r>
              <a:rPr lang="ko-KR" altLang="en-US" sz="2000" dirty="0">
                <a:latin typeface="+mn-ea"/>
              </a:rPr>
              <a:t>배</a:t>
            </a:r>
            <a:r>
              <a:rPr lang="en-US" altLang="ko-KR" sz="2000" dirty="0">
                <a:latin typeface="+mn-ea"/>
              </a:rPr>
              <a:t>)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07B17-9A14-66F7-0E6F-3F5D0052BFFD}"/>
              </a:ext>
            </a:extLst>
          </p:cNvPr>
          <p:cNvSpPr txBox="1"/>
          <p:nvPr/>
        </p:nvSpPr>
        <p:spPr>
          <a:xfrm>
            <a:off x="6828133" y="7964196"/>
            <a:ext cx="5743880" cy="2194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sz="2000" b="1" dirty="0" err="1">
                <a:latin typeface="+mn-ea"/>
              </a:rPr>
              <a:t>참치액</a:t>
            </a:r>
            <a:endParaRPr lang="en-US" altLang="ko-KR" sz="2000" b="1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추세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en-US" altLang="ko-KR" sz="2000" dirty="0">
                <a:latin typeface="+mn-ea"/>
              </a:rPr>
              <a:t>2020</a:t>
            </a:r>
            <a:r>
              <a:rPr lang="ko-KR" altLang="en-US" sz="2000" dirty="0">
                <a:latin typeface="+mn-ea"/>
              </a:rPr>
              <a:t>년 대비 </a:t>
            </a:r>
            <a:r>
              <a:rPr lang="en-US" altLang="ko-KR" sz="2000" dirty="0">
                <a:latin typeface="+mn-ea"/>
              </a:rPr>
              <a:t>2023</a:t>
            </a:r>
            <a:r>
              <a:rPr lang="ko-KR" altLang="en-US" sz="2000" dirty="0">
                <a:latin typeface="+mn-ea"/>
              </a:rPr>
              <a:t>년 월평균 </a:t>
            </a:r>
            <a:r>
              <a:rPr lang="en-US" altLang="ko-KR" sz="2000" dirty="0">
                <a:latin typeface="+mn-ea"/>
              </a:rPr>
              <a:t>+8% </a:t>
            </a:r>
            <a:r>
              <a:rPr lang="ko-KR" altLang="en-US" sz="2000" dirty="0">
                <a:latin typeface="+mn-ea"/>
              </a:rPr>
              <a:t>상승 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      → </a:t>
            </a:r>
            <a:r>
              <a:rPr lang="ko-KR" altLang="en-US" sz="2000" dirty="0">
                <a:latin typeface="+mn-ea"/>
              </a:rPr>
              <a:t>가정식 증가 영향</a:t>
            </a:r>
            <a:endParaRPr lang="en-US" altLang="ko-KR" sz="20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계절성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매우 강함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연간 매출 진폭 </a:t>
            </a:r>
            <a:r>
              <a:rPr lang="en-US" altLang="ko-KR" sz="2000" dirty="0">
                <a:latin typeface="+mn-ea"/>
              </a:rPr>
              <a:t>1.51</a:t>
            </a:r>
            <a:r>
              <a:rPr lang="ko-KR" altLang="en-US" sz="2000" dirty="0">
                <a:latin typeface="+mn-ea"/>
              </a:rPr>
              <a:t>배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월별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높음 </a:t>
            </a:r>
            <a:r>
              <a:rPr lang="en-US" altLang="ko-KR" sz="2000" dirty="0">
                <a:latin typeface="+mn-ea"/>
              </a:rPr>
              <a:t>- 6</a:t>
            </a:r>
            <a:r>
              <a:rPr lang="ko-KR" altLang="en-US" sz="2000" dirty="0">
                <a:latin typeface="+mn-ea"/>
              </a:rPr>
              <a:t>월</a:t>
            </a:r>
            <a:r>
              <a:rPr lang="en-US" altLang="ko-KR" sz="2000" dirty="0">
                <a:latin typeface="+mn-ea"/>
              </a:rPr>
              <a:t>, 9</a:t>
            </a:r>
            <a:r>
              <a:rPr lang="ko-KR" altLang="en-US" sz="2000" dirty="0">
                <a:latin typeface="+mn-ea"/>
              </a:rPr>
              <a:t>월</a:t>
            </a:r>
            <a:r>
              <a:rPr lang="en-US" altLang="ko-KR" sz="2000" dirty="0">
                <a:latin typeface="+mn-ea"/>
              </a:rPr>
              <a:t>, 12</a:t>
            </a:r>
            <a:r>
              <a:rPr lang="ko-KR" altLang="en-US" sz="2000" dirty="0">
                <a:latin typeface="+mn-ea"/>
              </a:rPr>
              <a:t>월 </a:t>
            </a:r>
            <a:r>
              <a:rPr lang="en-US" altLang="ko-KR" sz="2000" dirty="0">
                <a:latin typeface="+mn-ea"/>
              </a:rPr>
              <a:t>/ 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  </a:t>
            </a:r>
            <a:r>
              <a:rPr lang="ko-KR" altLang="en-US" sz="2000" dirty="0">
                <a:latin typeface="+mn-ea"/>
              </a:rPr>
              <a:t>   낮음 </a:t>
            </a:r>
            <a:r>
              <a:rPr lang="en-US" altLang="ko-KR" sz="2000" dirty="0">
                <a:latin typeface="+mn-ea"/>
              </a:rPr>
              <a:t>- 2</a:t>
            </a:r>
            <a:r>
              <a:rPr lang="ko-KR" altLang="en-US" sz="2000" dirty="0">
                <a:latin typeface="+mn-ea"/>
              </a:rPr>
              <a:t>월</a:t>
            </a:r>
            <a:r>
              <a:rPr lang="en-US" altLang="ko-KR" sz="2000" dirty="0">
                <a:latin typeface="+mn-ea"/>
              </a:rPr>
              <a:t>, 10-11</a:t>
            </a:r>
            <a:r>
              <a:rPr lang="ko-KR" altLang="en-US" sz="2000" dirty="0">
                <a:latin typeface="+mn-ea"/>
              </a:rPr>
              <a:t>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07DF23-9121-C065-B335-3E354EC1E7AC}"/>
              </a:ext>
            </a:extLst>
          </p:cNvPr>
          <p:cNvSpPr txBox="1"/>
          <p:nvPr/>
        </p:nvSpPr>
        <p:spPr>
          <a:xfrm>
            <a:off x="12511091" y="7964196"/>
            <a:ext cx="5641288" cy="1898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sz="2000" b="1" dirty="0" err="1">
                <a:latin typeface="+mn-ea"/>
              </a:rPr>
              <a:t>캔햄</a:t>
            </a:r>
            <a:endParaRPr lang="en-US" altLang="ko-KR" sz="2000" b="1" dirty="0">
              <a:latin typeface="+mn-ea"/>
            </a:endParaRPr>
          </a:p>
          <a:p>
            <a:pPr marL="342900" indent="-342900">
              <a:buAutoNum type="arabicPeriod" startAt="3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추세 </a:t>
            </a:r>
            <a:r>
              <a:rPr lang="en-US" altLang="ko-KR" b="1" dirty="0">
                <a:latin typeface="+mn-ea"/>
              </a:rPr>
              <a:t>: </a:t>
            </a:r>
            <a:r>
              <a:rPr lang="en-US" altLang="ko-KR" dirty="0">
                <a:latin typeface="+mn-ea"/>
              </a:rPr>
              <a:t>2020</a:t>
            </a:r>
            <a:r>
              <a:rPr lang="ko-KR" altLang="en-US" dirty="0">
                <a:latin typeface="+mn-ea"/>
              </a:rPr>
              <a:t>년 대비 </a:t>
            </a:r>
            <a:r>
              <a:rPr lang="en-US" altLang="ko-KR" dirty="0">
                <a:latin typeface="+mn-ea"/>
              </a:rPr>
              <a:t>2023</a:t>
            </a:r>
            <a:r>
              <a:rPr lang="ko-KR" altLang="en-US" dirty="0">
                <a:latin typeface="+mn-ea"/>
              </a:rPr>
              <a:t>년 월평균 </a:t>
            </a:r>
            <a:r>
              <a:rPr lang="en-US" altLang="ko-KR" dirty="0">
                <a:latin typeface="+mn-ea"/>
              </a:rPr>
              <a:t>-25% </a:t>
            </a:r>
            <a:r>
              <a:rPr lang="ko-KR" altLang="en-US" dirty="0">
                <a:latin typeface="+mn-ea"/>
              </a:rPr>
              <a:t>감소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  → </a:t>
            </a:r>
            <a:r>
              <a:rPr lang="ko-KR" altLang="en-US" dirty="0">
                <a:latin typeface="+mn-ea"/>
              </a:rPr>
              <a:t>식생활 변화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경쟁 심화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계절성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가장 강함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연간 매출 진폭 </a:t>
            </a:r>
            <a:r>
              <a:rPr lang="en-US" altLang="ko-KR" dirty="0">
                <a:latin typeface="+mn-ea"/>
              </a:rPr>
              <a:t>1.81</a:t>
            </a:r>
            <a:r>
              <a:rPr lang="ko-KR" altLang="en-US" dirty="0">
                <a:latin typeface="+mn-ea"/>
              </a:rPr>
              <a:t>배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월별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높음 </a:t>
            </a:r>
            <a:r>
              <a:rPr lang="en-US" altLang="ko-KR" dirty="0">
                <a:latin typeface="+mn-ea"/>
              </a:rPr>
              <a:t>- 6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, 8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, 12</a:t>
            </a:r>
            <a:r>
              <a:rPr lang="ko-KR" altLang="en-US" dirty="0">
                <a:latin typeface="+mn-ea"/>
              </a:rPr>
              <a:t>월 </a:t>
            </a:r>
            <a:r>
              <a:rPr lang="en-US" altLang="ko-KR" dirty="0">
                <a:latin typeface="+mn-ea"/>
              </a:rPr>
              <a:t>/ </a:t>
            </a:r>
            <a:r>
              <a:rPr lang="ko-KR" altLang="en-US" dirty="0">
                <a:latin typeface="+mn-ea"/>
              </a:rPr>
              <a:t>낮음 </a:t>
            </a:r>
            <a:r>
              <a:rPr lang="en-US" altLang="ko-KR" dirty="0">
                <a:latin typeface="+mn-ea"/>
              </a:rPr>
              <a:t>- 2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, 10-11</a:t>
            </a:r>
            <a:r>
              <a:rPr lang="ko-KR" altLang="en-US" dirty="0">
                <a:latin typeface="+mn-ea"/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810111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4634D30-191B-7444-5FD6-95F352798B86}"/>
              </a:ext>
            </a:extLst>
          </p:cNvPr>
          <p:cNvSpPr txBox="1"/>
          <p:nvPr/>
        </p:nvSpPr>
        <p:spPr>
          <a:xfrm>
            <a:off x="1206628" y="2350463"/>
            <a:ext cx="9377372" cy="3199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상관관계 분석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API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를 이용한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검색량과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식품산업통계 매출 상관 관계를 분석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전체적인 상관관계는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0.2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수준으로 높지 않으나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프로모션 방식에 따라 매출과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선행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후행적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상관 관계가 있는 것으로 추정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8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맛참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급등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(TV PPL,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추석 선물세트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바이럴 광고 추정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하이그릭요거트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리챔오믈레햄의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출시 이후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발생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소잘라떼는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긴 제품명으로 직접적인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측정이 어려움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23F9734-2098-F320-CD09-944506B77462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네이버 검색 트랜드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A2E903-510A-90F4-87EA-687CD16C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59" y="6088500"/>
            <a:ext cx="8704275" cy="3588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57D792-CDFA-67A2-B7C2-04E1618C8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276" y="2823730"/>
            <a:ext cx="7575978" cy="6369769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8434F436-EB7D-39B6-54A4-5D3BCFFD06A0}"/>
              </a:ext>
            </a:extLst>
          </p:cNvPr>
          <p:cNvSpPr/>
          <p:nvPr/>
        </p:nvSpPr>
        <p:spPr>
          <a:xfrm>
            <a:off x="3305759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321A03C-A0F1-032E-8FD9-94C4923E8AF1}"/>
              </a:ext>
            </a:extLst>
          </p:cNvPr>
          <p:cNvSpPr/>
          <p:nvPr/>
        </p:nvSpPr>
        <p:spPr>
          <a:xfrm>
            <a:off x="4115759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A284531-3FC8-F607-F27D-BF8B5D1ED559}"/>
              </a:ext>
            </a:extLst>
          </p:cNvPr>
          <p:cNvSpPr/>
          <p:nvPr/>
        </p:nvSpPr>
        <p:spPr>
          <a:xfrm>
            <a:off x="5825759" y="6538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F40B31-F84F-B79F-C59F-5C4A2CBC1BD2}"/>
              </a:ext>
            </a:extLst>
          </p:cNvPr>
          <p:cNvSpPr/>
          <p:nvPr/>
        </p:nvSpPr>
        <p:spPr>
          <a:xfrm>
            <a:off x="6725759" y="640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6FCB92-74C5-31F5-7B95-C719EE73991C}"/>
              </a:ext>
            </a:extLst>
          </p:cNvPr>
          <p:cNvSpPr/>
          <p:nvPr/>
        </p:nvSpPr>
        <p:spPr>
          <a:xfrm>
            <a:off x="8435759" y="6448500"/>
            <a:ext cx="1035000" cy="1305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4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0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80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6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999000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0547908" y="6742688"/>
            <a:ext cx="230018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0547908" y="6253335"/>
            <a:ext cx="102453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2465092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2906928" y="6742688"/>
            <a:ext cx="1731814" cy="36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3014000" y="6253335"/>
            <a:ext cx="102453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13063332" y="1802192"/>
            <a:ext cx="4387232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4933452" y="1801842"/>
            <a:ext cx="8737111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1025564" y="1802192"/>
            <a:ext cx="4500000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5345563" y="2845331"/>
            <a:ext cx="7425000" cy="7155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A9EB413-C136-136B-1E34-914FF8E3CC74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759377" y="2036687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7879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14134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1025563" y="2845331"/>
            <a:ext cx="3735000" cy="378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1025563" y="6985331"/>
            <a:ext cx="3735000" cy="3015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1406987" y="307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675488" y="3398498"/>
            <a:ext cx="463046" cy="36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설문조사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고객 데이터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4240331"/>
            <a:ext cx="31050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연령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성별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가구형태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</a:t>
            </a:r>
            <a:b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</a:b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결혼여부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월소득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맞벌이여부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2375563" y="6355331"/>
            <a:ext cx="900000" cy="9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2465563" y="6445331"/>
            <a:ext cx="720000" cy="72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1406987" y="7321755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963" y="7456755"/>
            <a:ext cx="705600" cy="7056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7501755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판매 제</a:t>
            </a:r>
            <a:r>
              <a:rPr lang="ko-KR" altLang="en-US" sz="2000" b="1" dirty="0">
                <a:latin typeface="+mj-ea"/>
                <a:ea typeface="+mj-ea"/>
              </a:rPr>
              <a:t>품 데이터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8489976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제품명 및 제품 특징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13400563" y="2845331"/>
            <a:ext cx="3735000" cy="342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13400563" y="6625331"/>
            <a:ext cx="3735000" cy="3375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13781987" y="3070331"/>
            <a:ext cx="968576" cy="9685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다콘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리더보드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4285331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예측 데이터와 실제 데이터를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SMAPE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방식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으로 평가하여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13781987" y="721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739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LLM </a:t>
            </a:r>
            <a:r>
              <a:rPr kumimoji="0" lang="ko-KR" altLang="en-US" sz="2000" b="1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모델별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교차 검증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8425331"/>
            <a:ext cx="3105000" cy="11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GPT-5, Claude, </a:t>
            </a:r>
            <a:r>
              <a:rPr kumimoji="0" lang="en-US" altLang="ko-KR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eXaone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등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동일 프롬프트에 대한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모델별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점수 검증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000" y="-526500"/>
            <a:ext cx="381000" cy="381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6110563" y="3115331"/>
            <a:ext cx="2223001" cy="2313813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6110563" y="5275331"/>
            <a:ext cx="2223001" cy="2313813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6110563" y="7345331"/>
            <a:ext cx="2223001" cy="2313813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31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latin typeface="+mj-ea"/>
                <a:ea typeface="+mj-ea"/>
              </a:rPr>
              <a:t>LLM</a:t>
            </a:r>
            <a:r>
              <a:rPr lang="ko-KR" altLang="en-US" sz="2000" b="1" dirty="0">
                <a:latin typeface="+mj-ea"/>
                <a:ea typeface="+mj-ea"/>
              </a:rPr>
              <a:t> 질의 및 답변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899976"/>
            <a:ext cx="3330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556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외생 변수 계산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6149976"/>
            <a:ext cx="346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7689308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구매량</a:t>
            </a:r>
            <a:r>
              <a:rPr lang="ko-KR" altLang="en-US" sz="2000" b="1" dirty="0">
                <a:latin typeface="+mj-ea"/>
                <a:ea typeface="+mj-ea"/>
              </a:rPr>
              <a:t> 예측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8274308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6470563" y="6130331"/>
            <a:ext cx="765000" cy="63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13985563" y="3340331"/>
            <a:ext cx="544512" cy="460375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6515563" y="8110331"/>
            <a:ext cx="749558" cy="749558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3895563" y="7300331"/>
            <a:ext cx="795000" cy="7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CC59-EB2F-653C-5902-78089B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31914D0-7350-2950-F42F-E07B513C0F07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5E62B-2E5F-6EAF-6FF5-BD581FA1B73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B31B308-0412-0B71-02E0-DE6F8F319B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0F01EE8-0A51-7A81-2051-5902869DC841}"/>
              </a:ext>
            </a:extLst>
          </p:cNvPr>
          <p:cNvSpPr txBox="1"/>
          <p:nvPr/>
        </p:nvSpPr>
        <p:spPr>
          <a:xfrm>
            <a:off x="1206628" y="2579642"/>
            <a:ext cx="8567372" cy="5893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역할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한국 소비자 데이터 분석가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마케팅 전문가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목표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주어진 입력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·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·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을 종합 분석해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구매행동 예측 결과를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으로 생성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분석 단계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프롬프트 지시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  <a:endParaRPr lang="en-US" altLang="ko-KR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핵심 분석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meta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와 가중치 최상위 속성을 기반으로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핵심 동기 정의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–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연결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특징의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긍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부정 요인 평가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상황 적용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 가격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맥락을 페르소나 관점에서 해석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종합 결론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확률과 월별 구매 빈도 최종 예측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제약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‘---’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이후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만 출력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형식 고정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 설명 금지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7B5602-C537-4CDE-47D8-3803610232D7}"/>
              </a:ext>
            </a:extLst>
          </p:cNvPr>
          <p:cNvSpPr txBox="1"/>
          <p:nvPr/>
        </p:nvSpPr>
        <p:spPr>
          <a:xfrm>
            <a:off x="1206628" y="1813500"/>
            <a:ext cx="690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생성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 프롬프트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(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싱글턴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)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559196-DA16-C554-4F12-E07D4E2B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000" y="2579642"/>
            <a:ext cx="7815112" cy="54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01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8CD6-DA08-966F-B981-8389793B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52AD67C-C460-382B-D3BB-30440434F5B8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F4FE724-4FDC-4330-465B-048AFD82364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8CC42B0-297E-F482-2A2F-08C39AFEE261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DD5C5AE-C16D-CA4E-EA90-529AA7E7766C}"/>
              </a:ext>
            </a:extLst>
          </p:cNvPr>
          <p:cNvSpPr txBox="1"/>
          <p:nvPr/>
        </p:nvSpPr>
        <p:spPr>
          <a:xfrm>
            <a:off x="1206628" y="2350463"/>
            <a:ext cx="6722370" cy="1040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정보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데이터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경쟁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환경로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구성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생성된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으로 월 평균 구매 수량 예측 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인구통계학적 계수 총합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0.3 +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성향 계수 총합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0.7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0530FB6-42CF-ED81-9B0E-DD3C7519BA9C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생성된 프롬프트 예시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92395D-414C-899B-750F-5E4B9A42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5143500"/>
            <a:ext cx="4791744" cy="333421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9A11B1-023E-D225-D318-713ED9AE8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00" y="1813500"/>
            <a:ext cx="3870000" cy="56764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D4D557-03B1-FEA1-5087-33824357E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64" y="7578025"/>
            <a:ext cx="10755226" cy="8954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B78B8A2-0D02-9B97-DAC7-5FE37EE27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576" y="8593117"/>
            <a:ext cx="428684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63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314000" y="2623500"/>
            <a:ext cx="6722370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예측 데이터 추출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생성된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persona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에게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제품의 수요를 질문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질문을 여러 번 반복해서 노이즈 제거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답변으로 받은 데이터들을 취합 후 패턴 분석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최종 예측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(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동원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x KAIST competition)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27D754-82D6-235C-4F5D-843EE0E0E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03" y="4846505"/>
            <a:ext cx="5510654" cy="27714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DCC36F-017E-9EE5-BA2D-B9C36E9D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103" y="7753500"/>
            <a:ext cx="5553790" cy="220208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645B79F-0276-0519-E9DA-62AEC6DEF2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342"/>
          <a:stretch>
            <a:fillRect/>
          </a:stretch>
        </p:blipFill>
        <p:spPr>
          <a:xfrm>
            <a:off x="13383357" y="2831687"/>
            <a:ext cx="2146056" cy="3056220"/>
          </a:xfrm>
          <a:prstGeom prst="rect">
            <a:avLst/>
          </a:prstGeom>
        </p:spPr>
      </p:pic>
      <p:pic>
        <p:nvPicPr>
          <p:cNvPr id="5" name="Picture 6" descr="ChatGPT for biomedical simulations">
            <a:extLst>
              <a:ext uri="{FF2B5EF4-FFF2-40B4-BE49-F238E27FC236}">
                <a16:creationId xmlns:a16="http://schemas.microsoft.com/office/drawing/2014/main" id="{3C70EE64-EC7D-EC49-EB73-3018FF005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t="18002" r="49539"/>
          <a:stretch>
            <a:fillRect/>
          </a:stretch>
        </p:blipFill>
        <p:spPr bwMode="auto">
          <a:xfrm>
            <a:off x="9591721" y="2620170"/>
            <a:ext cx="1971979" cy="291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113485-0DC6-2CF6-CB7A-1012896FDD4D}"/>
              </a:ext>
            </a:extLst>
          </p:cNvPr>
          <p:cNvSpPr txBox="1"/>
          <p:nvPr/>
        </p:nvSpPr>
        <p:spPr>
          <a:xfrm>
            <a:off x="10180004" y="2191765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+mn-ea"/>
              </a:rPr>
              <a:t>LLM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B5ACA-C5BB-356D-7108-157A97D45A98}"/>
              </a:ext>
            </a:extLst>
          </p:cNvPr>
          <p:cNvSpPr txBox="1"/>
          <p:nvPr/>
        </p:nvSpPr>
        <p:spPr>
          <a:xfrm>
            <a:off x="13748499" y="219660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n-ea"/>
              </a:rPr>
              <a:t>페르소나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53307B6-5B02-BE79-122F-374A6FB5232A}"/>
              </a:ext>
            </a:extLst>
          </p:cNvPr>
          <p:cNvCxnSpPr/>
          <p:nvPr/>
        </p:nvCxnSpPr>
        <p:spPr>
          <a:xfrm>
            <a:off x="11889000" y="3812007"/>
            <a:ext cx="1080000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47B7AC2-C576-F32A-D4CB-75ADDB3CC8BE}"/>
              </a:ext>
            </a:extLst>
          </p:cNvPr>
          <p:cNvCxnSpPr>
            <a:cxnSpLocks/>
          </p:cNvCxnSpPr>
          <p:nvPr/>
        </p:nvCxnSpPr>
        <p:spPr>
          <a:xfrm flipH="1">
            <a:off x="11843999" y="4532007"/>
            <a:ext cx="1080000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4D8034B-CEB0-0CF7-0D82-A1D37EE3EE44}"/>
              </a:ext>
            </a:extLst>
          </p:cNvPr>
          <p:cNvSpPr txBox="1"/>
          <p:nvPr/>
        </p:nvSpPr>
        <p:spPr>
          <a:xfrm>
            <a:off x="12060834" y="33832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질문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3A10CB-9666-FB58-990B-CB9C9B62D6E8}"/>
              </a:ext>
            </a:extLst>
          </p:cNvPr>
          <p:cNvSpPr txBox="1"/>
          <p:nvPr/>
        </p:nvSpPr>
        <p:spPr>
          <a:xfrm>
            <a:off x="12060834" y="46736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응답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94ADAFA-6750-30F8-CAF0-6318AA031036}"/>
              </a:ext>
            </a:extLst>
          </p:cNvPr>
          <p:cNvCxnSpPr>
            <a:cxnSpLocks/>
          </p:cNvCxnSpPr>
          <p:nvPr/>
        </p:nvCxnSpPr>
        <p:spPr>
          <a:xfrm>
            <a:off x="12383999" y="5773500"/>
            <a:ext cx="0" cy="85500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977398E-B8EC-01A5-1795-7842EC47175E}"/>
              </a:ext>
            </a:extLst>
          </p:cNvPr>
          <p:cNvSpPr txBox="1"/>
          <p:nvPr/>
        </p:nvSpPr>
        <p:spPr>
          <a:xfrm>
            <a:off x="10719000" y="587769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데이터프레임</a:t>
            </a:r>
            <a:endParaRPr lang="en-US" altLang="ko-KR" dirty="0"/>
          </a:p>
          <a:p>
            <a:pPr algn="r"/>
            <a:r>
              <a:rPr lang="ko-KR" altLang="en-US" dirty="0"/>
              <a:t>저장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045FA8E5-9358-A5B5-0B9A-3598E16FC363}"/>
              </a:ext>
            </a:extLst>
          </p:cNvPr>
          <p:cNvSpPr/>
          <p:nvPr/>
        </p:nvSpPr>
        <p:spPr>
          <a:xfrm>
            <a:off x="11649057" y="2985728"/>
            <a:ext cx="1484994" cy="2562772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EAAE29-D5C0-A019-873B-E3A7C62D1BFA}"/>
              </a:ext>
            </a:extLst>
          </p:cNvPr>
          <p:cNvSpPr txBox="1"/>
          <p:nvPr/>
        </p:nvSpPr>
        <p:spPr>
          <a:xfrm>
            <a:off x="12060834" y="26023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반복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3B31DD3E-10A4-8624-418F-56B216B4B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2529" y="6906672"/>
            <a:ext cx="3772942" cy="320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39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CBA53F6-E14C-E64D-5575-D97128C693C7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B4EDB50-7D70-A634-051D-87950CD941D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1C8904-DC8F-3672-E694-21D29A36DD3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1206628" y="2427394"/>
            <a:ext cx="10452024" cy="145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수요 예측 데이터 가공</a:t>
            </a:r>
            <a:r>
              <a:rPr lang="en-US" altLang="ko-KR" sz="2000" b="1" dirty="0">
                <a:latin typeface="+mn-ea"/>
              </a:rPr>
              <a:t>&gt;</a:t>
            </a:r>
          </a:p>
          <a:p>
            <a:pPr marL="177800" lvl="1">
              <a:lnSpc>
                <a:spcPts val="2900"/>
              </a:lnSpc>
            </a:pPr>
            <a:r>
              <a:rPr lang="ko-KR" altLang="en-US" sz="2000" dirty="0">
                <a:latin typeface="+mn-ea"/>
              </a:rPr>
              <a:t>페르소나 </a:t>
            </a:r>
            <a:r>
              <a:rPr lang="en-US" altLang="ko-KR" sz="2000" dirty="0">
                <a:latin typeface="+mn-ea"/>
              </a:rPr>
              <a:t>Q&amp;A </a:t>
            </a:r>
            <a:r>
              <a:rPr lang="ko-KR" altLang="en-US" sz="2000" dirty="0">
                <a:latin typeface="+mn-ea"/>
              </a:rPr>
              <a:t>결과에서 나온 </a:t>
            </a:r>
            <a:r>
              <a:rPr lang="en-US" altLang="ko-KR" sz="2000" dirty="0">
                <a:latin typeface="+mn-ea"/>
              </a:rPr>
              <a:t>SKU</a:t>
            </a:r>
            <a:r>
              <a:rPr lang="ko-KR" altLang="en-US" sz="2000" dirty="0">
                <a:latin typeface="+mn-ea"/>
              </a:rPr>
              <a:t>별 “월 평균 베이스 수요”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에</a:t>
            </a:r>
            <a:r>
              <a:rPr lang="en-US" altLang="ko-KR" sz="2000" dirty="0">
                <a:latin typeface="+mn-ea"/>
              </a:rPr>
              <a:t>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월별 계수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계절성</a:t>
            </a:r>
            <a:r>
              <a:rPr lang="en-US" altLang="ko-KR" sz="2000" dirty="0">
                <a:latin typeface="+mn-ea"/>
              </a:rPr>
              <a:t>) × </a:t>
            </a:r>
            <a:r>
              <a:rPr lang="ko-KR" altLang="en-US" sz="2000" dirty="0">
                <a:latin typeface="+mn-ea"/>
              </a:rPr>
              <a:t>광고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프로모션 계수 </a:t>
            </a:r>
            <a:r>
              <a:rPr lang="en-US" altLang="ko-KR" sz="2000" dirty="0">
                <a:latin typeface="+mn-ea"/>
              </a:rPr>
              <a:t>× </a:t>
            </a:r>
            <a:r>
              <a:rPr lang="ko-KR" altLang="en-US" sz="2000" dirty="0">
                <a:latin typeface="+mn-ea"/>
              </a:rPr>
              <a:t>명절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추석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설</a:t>
            </a:r>
            <a:r>
              <a:rPr lang="en-US" altLang="ko-KR" sz="2000" dirty="0">
                <a:latin typeface="+mn-ea"/>
              </a:rPr>
              <a:t>) × </a:t>
            </a:r>
            <a:r>
              <a:rPr lang="ko-KR" altLang="en-US" sz="2000" dirty="0">
                <a:latin typeface="+mn-ea"/>
              </a:rPr>
              <a:t>특수성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카테고리 이벤트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등을 적용해 </a:t>
            </a:r>
            <a:r>
              <a:rPr lang="en-US" altLang="ko-KR" sz="2000" dirty="0">
                <a:latin typeface="+mn-ea"/>
              </a:rPr>
              <a:t>12</a:t>
            </a:r>
            <a:r>
              <a:rPr lang="ko-KR" altLang="en-US" sz="2000" dirty="0">
                <a:latin typeface="+mn-ea"/>
              </a:rPr>
              <a:t>개월 시리즈를 생성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이후 제품별 출시일을 고려해서 최종판매량 예측</a:t>
            </a:r>
            <a:endParaRPr lang="en-US" altLang="ko-KR" sz="2000" dirty="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A9483C-08FC-2EAF-521C-1DE276046E81}"/>
              </a:ext>
            </a:extLst>
          </p:cNvPr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최종 예측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(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동원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x KAIST competition)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E6EF2-35C1-D740-A421-E7B31DDFE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22" y="5935538"/>
            <a:ext cx="3772942" cy="320656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072D3AC-5D15-F052-4C38-DFF870749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735" y="4182658"/>
            <a:ext cx="1681505" cy="36217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4EF2EFF-5F83-515D-B7F8-876F34938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35" y="4592529"/>
            <a:ext cx="15689798" cy="1001870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AE101607-0D81-6634-3A80-0333C0451A93}"/>
              </a:ext>
            </a:extLst>
          </p:cNvPr>
          <p:cNvSpPr/>
          <p:nvPr/>
        </p:nvSpPr>
        <p:spPr>
          <a:xfrm>
            <a:off x="5756203" y="6038781"/>
            <a:ext cx="821557" cy="3000078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318C6D-5121-2AD0-4D98-6DE6FBAE6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000" y="5935538"/>
            <a:ext cx="11160000" cy="297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0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06628" y="2350463"/>
            <a:ext cx="9107372" cy="104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판매량 예측에 사용한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모델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GPT-4o-mini, EXAONE 3.5 7.8B, GPT-3.5-turbo, Qwen3 8B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토큰 가격이나 정확도를 검증해서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GPT-4o-mini/GPT-5-mini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모델 최종 사용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모델 별 교차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F433F0-1788-0204-9D71-5173010EB7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0" y="4907933"/>
            <a:ext cx="8039999" cy="4824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88B78D-A0E2-B462-AB96-7C12ACB29B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813" y="4907933"/>
            <a:ext cx="8039999" cy="482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83D7F-85C3-3205-91D5-C485EEEFAED4}"/>
              </a:ext>
            </a:extLst>
          </p:cNvPr>
          <p:cNvSpPr txBox="1"/>
          <p:nvPr/>
        </p:nvSpPr>
        <p:spPr>
          <a:xfrm>
            <a:off x="3065277" y="4237335"/>
            <a:ext cx="346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실제 모델 벤치마크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0B78-98B4-1763-77C6-92326A2DFB9F}"/>
              </a:ext>
            </a:extLst>
          </p:cNvPr>
          <p:cNvSpPr txBox="1"/>
          <p:nvPr/>
        </p:nvSpPr>
        <p:spPr>
          <a:xfrm>
            <a:off x="10822137" y="4223014"/>
            <a:ext cx="468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페르소나 응답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판매예측 결과 정확도</a:t>
            </a:r>
          </a:p>
        </p:txBody>
      </p:sp>
    </p:spTree>
    <p:extLst>
      <p:ext uri="{BB962C8B-B14F-4D97-AF65-F5344CB8AC3E}">
        <p14:creationId xmlns:p14="http://schemas.microsoft.com/office/powerpoint/2010/main" val="2466172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15852" y="2350462"/>
            <a:ext cx="6677372" cy="32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평가 산식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SMAPE</a:t>
            </a:r>
            <a:r>
              <a:rPr lang="en-US" altLang="ko-KR" sz="16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600" dirty="0">
                <a:latin typeface="+mn-ea"/>
              </a:rPr>
              <a:t>Symmetric Mean Absolute Percentage Error)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다콘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리더보드 점수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77614F-5A9E-505E-3A76-4DF66B2B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624" y="2185003"/>
            <a:ext cx="8215754" cy="3304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62EC00B-6967-A60C-F9F6-18750858EECF}"/>
              </a:ext>
            </a:extLst>
          </p:cNvPr>
          <p:cNvSpPr txBox="1"/>
          <p:nvPr/>
        </p:nvSpPr>
        <p:spPr>
          <a:xfrm>
            <a:off x="1206627" y="3924915"/>
            <a:ext cx="7757373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274638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평가방식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차 평가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리더보드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Private Score </a:t>
            </a:r>
            <a:r>
              <a:rPr lang="en-US" altLang="ko-KR" sz="1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400" dirty="0">
                <a:latin typeface="+mn-ea"/>
              </a:rPr>
              <a:t>24.07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~ 24.12 </a:t>
            </a:r>
            <a:r>
              <a:rPr lang="ko-KR" altLang="en-US" sz="1400" dirty="0">
                <a:latin typeface="+mn-ea"/>
              </a:rPr>
              <a:t>실제 판매량 기준 </a:t>
            </a:r>
            <a:r>
              <a:rPr lang="en-US" altLang="ko-KR" sz="1400" dirty="0">
                <a:latin typeface="+mn-ea"/>
              </a:rPr>
              <a:t>SMAPE)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차 평가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Private Score </a:t>
            </a:r>
            <a:r>
              <a:rPr lang="en-US" altLang="ko-KR" sz="1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400" dirty="0">
                <a:latin typeface="+mn-ea"/>
              </a:rPr>
              <a:t>24.07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~ 25.06 </a:t>
            </a:r>
            <a:r>
              <a:rPr lang="ko-KR" altLang="en-US" sz="1400" dirty="0">
                <a:latin typeface="+mn-ea"/>
              </a:rPr>
              <a:t>실제 판매량 기준 </a:t>
            </a:r>
            <a:r>
              <a:rPr lang="en-US" altLang="ko-KR" sz="1400" dirty="0">
                <a:latin typeface="+mn-ea"/>
              </a:rPr>
              <a:t>SMAPE)</a:t>
            </a:r>
            <a:endParaRPr lang="en-US" altLang="ko-KR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B0A8D4-D190-3C6B-224F-9E180F02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2738593"/>
            <a:ext cx="3250302" cy="8873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D4C41E-E21C-C290-BD66-FDCB7F4F6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9" b="12656"/>
          <a:stretch>
            <a:fillRect/>
          </a:stretch>
        </p:blipFill>
        <p:spPr>
          <a:xfrm>
            <a:off x="9057324" y="5931167"/>
            <a:ext cx="8215754" cy="3657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DFFBCD-7F8A-887F-70C2-B07972C54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22" y="5931166"/>
            <a:ext cx="7563814" cy="3657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E5323A-A21F-F544-10AB-6F3E3E263ACD}"/>
              </a:ext>
            </a:extLst>
          </p:cNvPr>
          <p:cNvSpPr/>
          <p:nvPr/>
        </p:nvSpPr>
        <p:spPr>
          <a:xfrm>
            <a:off x="1014922" y="8023500"/>
            <a:ext cx="7563814" cy="630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9CC64-4C4C-CD8B-3557-629AF60943CE}"/>
              </a:ext>
            </a:extLst>
          </p:cNvPr>
          <p:cNvSpPr txBox="1"/>
          <p:nvPr/>
        </p:nvSpPr>
        <p:spPr>
          <a:xfrm>
            <a:off x="7097240" y="9643284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2025.08.28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8378A-05C3-9C4D-64D8-3D412C32DC14}"/>
              </a:ext>
            </a:extLst>
          </p:cNvPr>
          <p:cNvSpPr txBox="1"/>
          <p:nvPr/>
        </p:nvSpPr>
        <p:spPr>
          <a:xfrm>
            <a:off x="15792682" y="9643284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2025.08.28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기준</a:t>
            </a:r>
          </a:p>
        </p:txBody>
      </p:sp>
    </p:spTree>
    <p:extLst>
      <p:ext uri="{BB962C8B-B14F-4D97-AF65-F5344CB8AC3E}">
        <p14:creationId xmlns:p14="http://schemas.microsoft.com/office/powerpoint/2010/main" val="3944379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6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최종 결과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FF468-69FE-AEF4-B996-9AFDB227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7032706-9796-66E9-74E6-BB0FB9022F0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8ED5312-2CF3-6B88-1AD2-C817F609DFC2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최종 결과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4D7B3A-AE5B-AD22-2EA8-1FFE09439D36}"/>
              </a:ext>
            </a:extLst>
          </p:cNvPr>
          <p:cNvSpPr txBox="1"/>
          <p:nvPr/>
        </p:nvSpPr>
        <p:spPr>
          <a:xfrm>
            <a:off x="11574000" y="547028"/>
            <a:ext cx="5796991" cy="45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3935"/>
              </a:lnSpc>
              <a:spcBef>
                <a:spcPct val="0"/>
              </a:spcBef>
            </a:pP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5 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A2B15D-C321-4053-E9D7-E8A22C3E42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49"/>
          <a:stretch>
            <a:fillRect/>
          </a:stretch>
        </p:blipFill>
        <p:spPr>
          <a:xfrm>
            <a:off x="5769000" y="1728893"/>
            <a:ext cx="12105000" cy="821694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414E1C-6A8A-D3D0-93D4-4FDC296F0F27}"/>
              </a:ext>
            </a:extLst>
          </p:cNvPr>
          <p:cNvSpPr/>
          <p:nvPr/>
        </p:nvSpPr>
        <p:spPr>
          <a:xfrm>
            <a:off x="5877776" y="6669672"/>
            <a:ext cx="11835000" cy="630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894640-76E6-5B59-8A6E-B3BDCBD731A8}"/>
              </a:ext>
            </a:extLst>
          </p:cNvPr>
          <p:cNvGrpSpPr/>
          <p:nvPr/>
        </p:nvGrpSpPr>
        <p:grpSpPr>
          <a:xfrm>
            <a:off x="1197103" y="1728893"/>
            <a:ext cx="4012448" cy="1410732"/>
            <a:chOff x="0" y="0"/>
            <a:chExt cx="1162540" cy="945277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C3EFBB1-5FCE-CE50-369B-F1A9A666D641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C9AFAA-E27F-B1E3-973B-758E2AB43566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2" name="TextBox 30">
            <a:extLst>
              <a:ext uri="{FF2B5EF4-FFF2-40B4-BE49-F238E27FC236}">
                <a16:creationId xmlns:a16="http://schemas.microsoft.com/office/drawing/2014/main" id="{81E1F6E1-4BB2-B6A6-DFA1-9779F4083A42}"/>
              </a:ext>
            </a:extLst>
          </p:cNvPr>
          <p:cNvSpPr txBox="1"/>
          <p:nvPr/>
        </p:nvSpPr>
        <p:spPr>
          <a:xfrm>
            <a:off x="1127555" y="2275117"/>
            <a:ext cx="4064896" cy="410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6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ko-KR" altLang="en-US" sz="36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예선 </a:t>
            </a:r>
            <a:r>
              <a:rPr lang="en-US" altLang="ko-KR" sz="36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1</a:t>
            </a:r>
            <a:r>
              <a:rPr lang="ko-KR" altLang="en-US" sz="36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등 확정</a:t>
            </a:r>
            <a:r>
              <a:rPr lang="en-US" sz="36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C9FCF973-CB40-CBFF-94E5-4E6047BE17D5}"/>
              </a:ext>
            </a:extLst>
          </p:cNvPr>
          <p:cNvSpPr txBox="1"/>
          <p:nvPr/>
        </p:nvSpPr>
        <p:spPr>
          <a:xfrm>
            <a:off x="1359000" y="3357427"/>
            <a:ext cx="4516269" cy="116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Private Score : 0.4197</a:t>
            </a:r>
          </a:p>
          <a:p>
            <a:pPr>
              <a:lnSpc>
                <a:spcPts val="3148"/>
              </a:lnSpc>
              <a:spcBef>
                <a:spcPct val="0"/>
              </a:spcBef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dirty="0">
                <a:latin typeface="+mn-ea"/>
              </a:rPr>
              <a:t>24.07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~ 25.06 </a:t>
            </a:r>
            <a:r>
              <a:rPr lang="ko-KR" altLang="en-US" dirty="0">
                <a:latin typeface="+mn-ea"/>
              </a:rPr>
              <a:t>실제 판매량 기준 </a:t>
            </a:r>
            <a:r>
              <a:rPr lang="en-US" altLang="ko-KR" dirty="0">
                <a:latin typeface="+mn-ea"/>
              </a:rPr>
              <a:t>SMAPE)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3148"/>
              </a:lnSpc>
              <a:spcBef>
                <a:spcPct val="0"/>
              </a:spcBef>
            </a:pPr>
            <a:endParaRPr lang="ko-KR" alt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6BC1CFE1-879C-B5A8-2A4D-0145FD7AD2BB}"/>
              </a:ext>
            </a:extLst>
          </p:cNvPr>
          <p:cNvSpPr txBox="1"/>
          <p:nvPr/>
        </p:nvSpPr>
        <p:spPr>
          <a:xfrm>
            <a:off x="1359000" y="5128593"/>
            <a:ext cx="4516269" cy="288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&lt;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이후 일정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&gt;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09/05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산출물 제출 마감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09/19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산출물 서면평가 및 검증 마감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09/22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발표 평가 대상자 발표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09/30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발표 평가 및 시상식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ko-KR" alt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68998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708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7" y="5281316"/>
            <a:ext cx="6947373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시장조사를 보완하며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550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82445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새로운 패러다임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sz="20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z="2000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효율적으로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마케팅 방향을 시뮬레이션하고 빠르게 적용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1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910CD9A6-CEE2-61B3-3B36-2F67672662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9996426" y="2549765"/>
            <a:ext cx="5927550" cy="430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3D41-4012-5E3C-F0C0-FE825EE9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73B9FC1-CD86-BCE5-545B-A4A4363DB4C0}"/>
              </a:ext>
            </a:extLst>
          </p:cNvPr>
          <p:cNvSpPr/>
          <p:nvPr/>
        </p:nvSpPr>
        <p:spPr>
          <a:xfrm>
            <a:off x="3474000" y="1074277"/>
            <a:ext cx="1389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2AECBDA-AA2F-F25D-7022-D5A27DA99080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피드백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A77ECC6-6EC0-A9C3-AC80-DE314BBBE114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1D467E62-5FBC-73C8-E5EF-DD0944A7B490}"/>
              </a:ext>
            </a:extLst>
          </p:cNvPr>
          <p:cNvSpPr txBox="1"/>
          <p:nvPr/>
        </p:nvSpPr>
        <p:spPr>
          <a:xfrm>
            <a:off x="1206628" y="3047692"/>
            <a:ext cx="7262372" cy="1452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은 통계적으로 다음에 나올 단어들을 맞추는 모델로서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실제적인 분석과 사고를 하는 것에 한계가 존재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페르소나에게 계수와 시장규모 등을 주어서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질문했을때보다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결과를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뽑은다음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계수를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적용시켰을때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더 일관적인 결과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31B1A16F-1B68-2913-2559-892C8BCA21DC}"/>
              </a:ext>
            </a:extLst>
          </p:cNvPr>
          <p:cNvSpPr txBox="1"/>
          <p:nvPr/>
        </p:nvSpPr>
        <p:spPr>
          <a:xfrm>
            <a:off x="1206628" y="2549765"/>
            <a:ext cx="550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자체의 한계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ACB2524A-81FA-4E32-F2B6-EE6F4BD014F7}"/>
              </a:ext>
            </a:extLst>
          </p:cNvPr>
          <p:cNvSpPr txBox="1"/>
          <p:nvPr/>
        </p:nvSpPr>
        <p:spPr>
          <a:xfrm>
            <a:off x="1206628" y="6143033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데이터의 제한적 사용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13D50228-C739-0F5A-0106-93E01EAB0AEC}"/>
              </a:ext>
            </a:extLst>
          </p:cNvPr>
          <p:cNvSpPr txBox="1"/>
          <p:nvPr/>
        </p:nvSpPr>
        <p:spPr>
          <a:xfrm>
            <a:off x="1206628" y="6651967"/>
            <a:ext cx="6722370" cy="1078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실제 구매 고객의 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판매 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장바구니 데이터 등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사용 가능 데이터의 한계로 고객 세그먼트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유사 상품에 대한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분석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한계점 존재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pic>
        <p:nvPicPr>
          <p:cNvPr id="12" name="Picture 2" descr="대규모 언어 모델 (LLM) 관련 최신 동향 및 발전">
            <a:extLst>
              <a:ext uri="{FF2B5EF4-FFF2-40B4-BE49-F238E27FC236}">
                <a16:creationId xmlns:a16="http://schemas.microsoft.com/office/drawing/2014/main" id="{3C137046-214B-8AF1-6F0A-8FDFAAFB7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000" y="2549765"/>
            <a:ext cx="6047372" cy="604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0506FCB0-A5F4-A435-A521-5CF0FDE4936C}"/>
              </a:ext>
            </a:extLst>
          </p:cNvPr>
          <p:cNvSpPr txBox="1"/>
          <p:nvPr/>
        </p:nvSpPr>
        <p:spPr>
          <a:xfrm>
            <a:off x="1206628" y="4838173"/>
            <a:ext cx="7802372" cy="336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→ </a:t>
            </a:r>
            <a:r>
              <a:rPr lang="ko-KR" altLang="en-US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향후 </a:t>
            </a:r>
            <a:r>
              <a:rPr lang="en-US" altLang="ko-KR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의 발전과 프롬프트 엔지니어링</a:t>
            </a:r>
            <a:r>
              <a:rPr lang="en-US" altLang="ko-KR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b="1" spc="-28" dirty="0" err="1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파인튜닝으로</a:t>
            </a:r>
            <a:r>
              <a:rPr lang="en-US" altLang="ko-KR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보완 가능</a:t>
            </a:r>
            <a:endParaRPr lang="en-US" sz="2000" b="1" spc="-28" dirty="0">
              <a:solidFill>
                <a:srgbClr val="0070C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CD7547A-A680-4FF6-6DA6-20D5A73A31F7}"/>
              </a:ext>
            </a:extLst>
          </p:cNvPr>
          <p:cNvSpPr txBox="1"/>
          <p:nvPr/>
        </p:nvSpPr>
        <p:spPr>
          <a:xfrm>
            <a:off x="1206628" y="8068500"/>
            <a:ext cx="7397372" cy="336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→ </a:t>
            </a:r>
            <a:r>
              <a:rPr lang="ko-KR" altLang="en-US" sz="2000" b="1" spc="-28" dirty="0">
                <a:solidFill>
                  <a:srgbClr val="0070C0"/>
                </a:solidFill>
                <a:latin typeface="+mn-ea"/>
                <a:cs typeface="Source Han Sans KR"/>
                <a:sym typeface="Source Han Sans KR"/>
              </a:rPr>
              <a:t>구체적이고 실제적인 데이터를 통해 더욱 정확한 답변 가능</a:t>
            </a:r>
            <a:endParaRPr lang="en-US" sz="2000" b="1" spc="-28" dirty="0">
              <a:solidFill>
                <a:srgbClr val="0070C0"/>
              </a:solidFill>
              <a:latin typeface="+mn-ea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842284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b="1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b="1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b="1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b="1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ko-KR" altLang="en-US" sz="2811" b="1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고추참치</a:t>
            </a:r>
            <a:endParaRPr lang="en-US" sz="2811" b="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</TotalTime>
  <Words>3219</Words>
  <Application>Microsoft Office PowerPoint</Application>
  <PresentationFormat>사용자 지정</PresentationFormat>
  <Paragraphs>617</Paragraphs>
  <Slides>32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Wingdings</vt:lpstr>
      <vt:lpstr>맑은 고딕</vt:lpstr>
      <vt:lpstr>맑은 고딕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user</cp:lastModifiedBy>
  <cp:revision>134</cp:revision>
  <dcterms:created xsi:type="dcterms:W3CDTF">2006-08-16T00:00:00Z</dcterms:created>
  <dcterms:modified xsi:type="dcterms:W3CDTF">2025-09-04T16:24:32Z</dcterms:modified>
  <dc:identifier>DAGvFTuB4-w</dc:identifier>
</cp:coreProperties>
</file>