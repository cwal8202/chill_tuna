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48">
          <p15:clr>
            <a:srgbClr val="A4A3A4"/>
          </p15:clr>
        </p15:guide>
        <p15:guide id="2" pos="2869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e3iNamTo3qojcVFcfShb5H3XZ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08CECF-5D7E-462B-84A6-28CB28DE4300}">
  <a:tblStyle styleId="{8508CECF-5D7E-462B-84A6-28CB28DE43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61775B-FB3D-4832-A92A-F89553B6C25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E86101-3DE8-42D9-93A8-C3E98B0A9E7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>
        <p:guide orient="horz" pos="2248"/>
        <p:guide pos="2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왜 이 프로젝트를 기획했고, 목표한 바는 무엇이며, 누가 언제 어떻게 개발했는지를 짧게 설명드리겠습니다.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프로젝트는 생성형AI를 이용한 '2025 동원. 카이스트 AI 챌린지' 대회에 참가하기 위해 기획되었습니다.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이 대회는 LLM을 활용한 RPLA의 잠재성이 대두되면서, 페르소나에게 소비자로서의 정체성을 부여하고, 특정 제품에 대한 지불의사 추정을 하는 시장조사 기법을 제대로 활용해보고자 하는 의도로 개최되었습니다.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따라서 개발 목표는 이와 같습니다. 실제 통계청의 가공식품 소비자 태도조사 데이터를 기반으로 페르소나를 정밀하게 설계하고, 시뮬레이션을 통해 최적의 페르소나 모델을 확보하여, 비즈니스 시뮬레이터로서 챗봇을 구현하겠다는 기획을 하였습니다.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업무 분장은 다음과 같습니다. 저는 팀장이자 PM으로서, 본 프로젝트의 기획과 고객데이터 분석, 웹기획, 프로토타입 개발을 주로 맡았고,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용곤님은 제품 분석과 캡슐화, 제품과 페르소나에 대한 프롬프트 엔지니어링 쪽을 위주로,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동현님은 제품과 시장에 대한 각종 리서치와 시물레이터에 대한 프롬프트 엔지니어링,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장호님은 페르소나 생성 프롬프트 엔지니어링과 웹 프론트/백엔드를 위주로 업무를 분배하였습니다.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파이썬 버전, 쥬피터노트북, vs코드를 사용, 오픈AI API, 랭체인, mysql클라이언트, 장고 프레임워크</a:t>
            </a:r>
            <a:endParaRPr/>
          </a:p>
        </p:txBody>
      </p:sp>
      <p:sp>
        <p:nvSpPr>
          <p:cNvPr id="245" name="Google Shape;24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5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54.180.210.6:800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54.180.210.6:80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 extrusionOk="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77087" r="-203699"/>
            </a:stretch>
          </a:blipFill>
          <a:ln>
            <a:noFill/>
          </a:ln>
        </p:spPr>
      </p:sp>
      <p:cxnSp>
        <p:nvCxnSpPr>
          <p:cNvPr id="89" name="Google Shape;89;p1"/>
          <p:cNvCxnSpPr/>
          <p:nvPr/>
        </p:nvCxnSpPr>
        <p:spPr>
          <a:xfrm>
            <a:off x="4554538" y="1067479"/>
            <a:ext cx="1078315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1"/>
          <p:cNvCxnSpPr/>
          <p:nvPr/>
        </p:nvCxnSpPr>
        <p:spPr>
          <a:xfrm>
            <a:off x="1014811" y="8158500"/>
            <a:ext cx="9554206" cy="0"/>
          </a:xfrm>
          <a:prstGeom prst="straightConnector1">
            <a:avLst/>
          </a:prstGeom>
          <a:noFill/>
          <a:ln w="9525" cap="flat" cmpd="sng">
            <a:solidFill>
              <a:srgbClr val="6B6A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"/>
          <p:cNvCxnSpPr/>
          <p:nvPr/>
        </p:nvCxnSpPr>
        <p:spPr>
          <a:xfrm>
            <a:off x="1014811" y="9075843"/>
            <a:ext cx="9554206" cy="0"/>
          </a:xfrm>
          <a:prstGeom prst="straightConnector1">
            <a:avLst/>
          </a:prstGeom>
          <a:noFill/>
          <a:ln w="9525" cap="flat" cmpd="sng">
            <a:solidFill>
              <a:srgbClr val="6B6A6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" name="Google Shape;92;p1"/>
          <p:cNvCxnSpPr/>
          <p:nvPr/>
        </p:nvCxnSpPr>
        <p:spPr>
          <a:xfrm>
            <a:off x="4422167" y="8158500"/>
            <a:ext cx="0" cy="924037"/>
          </a:xfrm>
          <a:prstGeom prst="straightConnector1">
            <a:avLst/>
          </a:prstGeom>
          <a:noFill/>
          <a:ln w="9525" cap="flat" cmpd="sng">
            <a:solidFill>
              <a:srgbClr val="6B6A6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1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동원x카이스트</a:t>
            </a:r>
            <a:br>
              <a:rPr lang="ko-KR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챌린지 프로젝트</a:t>
            </a: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019175" y="3295370"/>
            <a:ext cx="11325225" cy="251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314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RPLA를 활용한 비즈니스 시뮬레이터</a:t>
            </a:r>
            <a:endParaRPr sz="9314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37723" y="6062919"/>
            <a:ext cx="10027786" cy="120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2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 역할부여를 통한 </a:t>
            </a:r>
            <a:endParaRPr sz="2792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2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 신제품 판매 예측 시뮬레이션</a:t>
            </a:r>
            <a:endParaRPr sz="2792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5029200" y="8448417"/>
            <a:ext cx="5006687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rgbClr val="000001"/>
                </a:solidFill>
                <a:latin typeface="Calibri"/>
                <a:ea typeface="Calibri"/>
                <a:cs typeface="Calibri"/>
                <a:sym typeface="Calibri"/>
              </a:rPr>
              <a:t>박진성, 주용곤, 박동현, 최장호</a:t>
            </a:r>
            <a:endParaRPr sz="2400" b="1" i="0" u="none" strike="noStrike" cap="none">
              <a:solidFill>
                <a:srgbClr val="00000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178089" y="8458230"/>
            <a:ext cx="369871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 dirty="0">
                <a:solidFill>
                  <a:srgbClr val="000001"/>
                </a:solidFill>
                <a:latin typeface="Calibri"/>
                <a:ea typeface="Calibri"/>
                <a:cs typeface="Calibri"/>
                <a:sym typeface="Calibri"/>
              </a:rPr>
              <a:t>팀 </a:t>
            </a:r>
            <a:r>
              <a:rPr lang="ko-KR" altLang="en-US" sz="2400" b="1" i="0" u="none" strike="noStrike" cap="none" dirty="0" err="1">
                <a:solidFill>
                  <a:srgbClr val="000001"/>
                </a:solidFill>
                <a:latin typeface="Calibri"/>
                <a:ea typeface="Calibri"/>
                <a:cs typeface="Calibri"/>
                <a:sym typeface="Calibri"/>
              </a:rPr>
              <a:t>고추참치</a:t>
            </a:r>
            <a:endParaRPr sz="2400" b="1" i="0" u="none" strike="noStrike" cap="none" dirty="0">
              <a:solidFill>
                <a:srgbClr val="00000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54984" y="2619445"/>
            <a:ext cx="10027786" cy="409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2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Role-Playing Language Agents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014811" y="9411479"/>
            <a:ext cx="38100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배포 : </a:t>
            </a:r>
            <a:r>
              <a:rPr lang="ko-KR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http://54.180.210.6:8000/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2"/>
          <p:cNvCxnSpPr/>
          <p:nvPr/>
        </p:nvCxnSpPr>
        <p:spPr>
          <a:xfrm>
            <a:off x="3126317" y="1806144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2"/>
          <p:cNvCxnSpPr/>
          <p:nvPr/>
        </p:nvCxnSpPr>
        <p:spPr>
          <a:xfrm>
            <a:off x="3126317" y="3724611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2"/>
          <p:cNvSpPr txBox="1"/>
          <p:nvPr/>
        </p:nvSpPr>
        <p:spPr>
          <a:xfrm>
            <a:off x="6691152" y="2359465"/>
            <a:ext cx="295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3983765" y="2359465"/>
            <a:ext cx="295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추진배경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97103" y="2257980"/>
            <a:ext cx="14298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197103" y="4129961"/>
            <a:ext cx="14298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분석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517297" y="2359465"/>
            <a:ext cx="269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업무분장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691152" y="1799880"/>
            <a:ext cx="99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3983765" y="1799880"/>
            <a:ext cx="99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1-1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97103" y="1799880"/>
            <a:ext cx="10815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197103" y="3635508"/>
            <a:ext cx="10815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4036594" y="3724611"/>
            <a:ext cx="142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2-1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9517297" y="1799880"/>
            <a:ext cx="99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1-3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765388" y="3724611"/>
            <a:ext cx="99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2-2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2170758" y="2359465"/>
            <a:ext cx="20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일정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036594" y="4221337"/>
            <a:ext cx="295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수집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765388" y="4202484"/>
            <a:ext cx="2804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세그먼트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9565410" y="4202484"/>
            <a:ext cx="291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판매 제품 분석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12170758" y="1799880"/>
            <a:ext cx="116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1-4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565410" y="3724611"/>
            <a:ext cx="97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2-3</a:t>
            </a:r>
            <a:endParaRPr/>
          </a:p>
        </p:txBody>
      </p:sp>
      <p:cxnSp>
        <p:nvCxnSpPr>
          <p:cNvPr id="125" name="Google Shape;125;p2"/>
          <p:cNvCxnSpPr/>
          <p:nvPr/>
        </p:nvCxnSpPr>
        <p:spPr>
          <a:xfrm>
            <a:off x="1197103" y="3786253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2"/>
          <p:cNvSpPr txBox="1"/>
          <p:nvPr/>
        </p:nvSpPr>
        <p:spPr>
          <a:xfrm>
            <a:off x="14457629" y="2359465"/>
            <a:ext cx="20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 환경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4457629" y="1799880"/>
            <a:ext cx="116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</a:t>
            </a:r>
            <a:endParaRPr/>
          </a:p>
        </p:txBody>
      </p:sp>
      <p:cxnSp>
        <p:nvCxnSpPr>
          <p:cNvPr id="128" name="Google Shape;128;p2"/>
          <p:cNvCxnSpPr/>
          <p:nvPr/>
        </p:nvCxnSpPr>
        <p:spPr>
          <a:xfrm>
            <a:off x="3126317" y="5785848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2"/>
          <p:cNvSpPr txBox="1"/>
          <p:nvPr/>
        </p:nvSpPr>
        <p:spPr>
          <a:xfrm>
            <a:off x="1197103" y="6191198"/>
            <a:ext cx="14298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197103" y="5696745"/>
            <a:ext cx="10815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239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"/>
          <p:cNvCxnSpPr/>
          <p:nvPr/>
        </p:nvCxnSpPr>
        <p:spPr>
          <a:xfrm>
            <a:off x="1197103" y="5552715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"/>
          <p:cNvSpPr txBox="1"/>
          <p:nvPr/>
        </p:nvSpPr>
        <p:spPr>
          <a:xfrm>
            <a:off x="6765062" y="6256330"/>
            <a:ext cx="1931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엔지니어링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4057675" y="6256330"/>
            <a:ext cx="17220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9591207" y="6256330"/>
            <a:ext cx="26910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예측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765062" y="5696745"/>
            <a:ext cx="99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3-2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4057675" y="5696745"/>
            <a:ext cx="99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9591207" y="5696745"/>
            <a:ext cx="99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3-3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2244668" y="6256330"/>
            <a:ext cx="20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및 검증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12244668" y="5696745"/>
            <a:ext cx="116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3-4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2789000" y="4202484"/>
            <a:ext cx="291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외생 변수 가공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2789000" y="3724611"/>
            <a:ext cx="97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2-4</a:t>
            </a:r>
            <a:endParaRPr/>
          </a:p>
        </p:txBody>
      </p:sp>
      <p:cxnSp>
        <p:nvCxnSpPr>
          <p:cNvPr id="142" name="Google Shape;142;p2"/>
          <p:cNvCxnSpPr/>
          <p:nvPr/>
        </p:nvCxnSpPr>
        <p:spPr>
          <a:xfrm>
            <a:off x="3126317" y="8013611"/>
            <a:ext cx="0" cy="12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2"/>
          <p:cNvSpPr txBox="1"/>
          <p:nvPr/>
        </p:nvSpPr>
        <p:spPr>
          <a:xfrm>
            <a:off x="1197103" y="8418961"/>
            <a:ext cx="14298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 및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197103" y="7924508"/>
            <a:ext cx="10815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lang="ko-KR" sz="2398">
                <a:latin typeface="Calibri"/>
                <a:ea typeface="Calibri"/>
                <a:cs typeface="Calibri"/>
                <a:sym typeface="Calibri"/>
              </a:rPr>
              <a:t>4</a:t>
            </a:r>
            <a:endParaRPr sz="239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4036594" y="8013611"/>
            <a:ext cx="14241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6765388" y="8013611"/>
            <a:ext cx="9921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4036594" y="8510337"/>
            <a:ext cx="2092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결과</a:t>
            </a:r>
            <a:endParaRPr sz="223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765388" y="8491484"/>
            <a:ext cx="28047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3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sz="2237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9565410" y="8491484"/>
            <a:ext cx="29184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237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자체 피드백</a:t>
            </a:r>
            <a:endParaRPr sz="223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37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9565410" y="8013611"/>
            <a:ext cx="9750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98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39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cxnSp>
        <p:nvCxnSpPr>
          <p:cNvPr id="151" name="Google Shape;151;p2"/>
          <p:cNvCxnSpPr/>
          <p:nvPr/>
        </p:nvCxnSpPr>
        <p:spPr>
          <a:xfrm>
            <a:off x="1197103" y="7329853"/>
            <a:ext cx="14840700" cy="0"/>
          </a:xfrm>
          <a:prstGeom prst="straightConnector1">
            <a:avLst/>
          </a:prstGeom>
          <a:noFill/>
          <a:ln w="9525" cap="rnd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Logo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7745639" y="6742688"/>
            <a:ext cx="259818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개발목표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705537" y="6742688"/>
            <a:ext cx="259818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추진배경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9836270" y="6742688"/>
            <a:ext cx="2369187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업무분장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4"/>
          <p:cNvCxnSpPr/>
          <p:nvPr/>
        </p:nvCxnSpPr>
        <p:spPr>
          <a:xfrm>
            <a:off x="7198752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4"/>
          <p:cNvCxnSpPr/>
          <p:nvPr/>
        </p:nvCxnSpPr>
        <p:spPr>
          <a:xfrm>
            <a:off x="9286037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4"/>
          <p:cNvCxnSpPr/>
          <p:nvPr/>
        </p:nvCxnSpPr>
        <p:spPr>
          <a:xfrm>
            <a:off x="11376544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4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endParaRPr sz="8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745639" y="6253335"/>
            <a:ext cx="874928" cy="3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1-2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5705537" y="6253335"/>
            <a:ext cx="874928" cy="3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1-1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9836270" y="6253335"/>
            <a:ext cx="873479" cy="3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1-3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1925452" y="6742688"/>
            <a:ext cx="274130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일정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11925452" y="6253335"/>
            <a:ext cx="1024538" cy="3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1-4</a:t>
            </a:r>
            <a:endParaRPr/>
          </a:p>
        </p:txBody>
      </p:sp>
      <p:cxnSp>
        <p:nvCxnSpPr>
          <p:cNvPr id="171" name="Google Shape;171;p4"/>
          <p:cNvCxnSpPr/>
          <p:nvPr/>
        </p:nvCxnSpPr>
        <p:spPr>
          <a:xfrm>
            <a:off x="13198798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4"/>
          <p:cNvSpPr txBox="1"/>
          <p:nvPr/>
        </p:nvSpPr>
        <p:spPr>
          <a:xfrm>
            <a:off x="13742131" y="6742688"/>
            <a:ext cx="274130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 환경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3747706" y="6253335"/>
            <a:ext cx="102453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176" name="Google Shape;176;p4"/>
            <p:cNvPicPr preferRelativeResize="0"/>
            <p:nvPr/>
          </p:nvPicPr>
          <p:blipFill rotWithShape="1">
            <a:blip r:embed="rId3">
              <a:alphaModFix/>
            </a:blip>
            <a:srcRect t="23992" b="15424"/>
            <a:stretch/>
          </p:blipFill>
          <p:spPr>
            <a:xfrm>
              <a:off x="3744000" y="-4281"/>
              <a:ext cx="10800000" cy="4362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4"/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>
              <a:gsLst>
                <a:gs pos="0">
                  <a:srgbClr val="325880"/>
                </a:gs>
                <a:gs pos="31746">
                  <a:srgbClr val="194470"/>
                </a:gs>
                <a:gs pos="56084">
                  <a:srgbClr val="1A3F6B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>
            <a:off x="3065276" y="4182943"/>
            <a:ext cx="12333723" cy="1100565"/>
            <a:chOff x="0" y="-47625"/>
            <a:chExt cx="1162540" cy="992902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 extrusionOk="0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203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11167983" y="5751061"/>
            <a:ext cx="5806018" cy="3233171"/>
            <a:chOff x="0" y="-47625"/>
            <a:chExt cx="1162540" cy="992902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 extrusionOk="0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188" name="Google Shape;188;p5"/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203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9" name="Google Shape;189;p5"/>
          <p:cNvCxnSpPr/>
          <p:nvPr/>
        </p:nvCxnSpPr>
        <p:spPr>
          <a:xfrm>
            <a:off x="3159000" y="1067583"/>
            <a:ext cx="1421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5"/>
          <p:cNvSpPr txBox="1"/>
          <p:nvPr/>
        </p:nvSpPr>
        <p:spPr>
          <a:xfrm>
            <a:off x="11754000" y="6898500"/>
            <a:ext cx="4599425" cy="17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고객의 소비활동을 기반으로 </a:t>
            </a: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마이크로 세그먼트를 분류하여 페르소나를 생성,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특정 제품에 대한 지불의사 추정을 통해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예측 시뮬레이터 개발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추진 배경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7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 LLM을 활용한 Role-Playing Language Agents (RPLA)의 잠재성 대두”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 extrusionOk="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p5"/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 페르소나를 활용한 시장 예측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39">
                <a:solidFill>
                  <a:srgbClr val="000001"/>
                </a:solidFill>
                <a:latin typeface="Calibri"/>
                <a:ea typeface="Calibri"/>
                <a:cs typeface="Calibri"/>
                <a:sym typeface="Calibri"/>
              </a:rPr>
              <a:t>출처 1 :  HBR - 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LLMs for Market Research [</a:t>
            </a:r>
            <a:r>
              <a:rPr lang="ko-K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링크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r" rtl="0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출처 2 : From Persona to Personalization: A Survey on Role-Playing Language Agents[</a:t>
            </a:r>
            <a:r>
              <a:rPr lang="ko-K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링크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marL="0" marR="0" lvl="0" indent="0" algn="r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9">
              <a:solidFill>
                <a:srgbClr val="00000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1 – 프로젝트 개요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5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/>
          <p:cNvPicPr preferRelativeResize="0"/>
          <p:nvPr/>
        </p:nvPicPr>
        <p:blipFill rotWithShape="1">
          <a:blip r:embed="rId6">
            <a:alphaModFix/>
          </a:blip>
          <a:srcRect b="40272"/>
          <a:stretch/>
        </p:blipFill>
        <p:spPr>
          <a:xfrm>
            <a:off x="3791404" y="5906142"/>
            <a:ext cx="5200538" cy="377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 extrusionOk="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9" name="Google Shape;199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52097" y="1450500"/>
            <a:ext cx="10783805" cy="213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 extrusionOk="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6"/>
          <p:cNvCxnSpPr/>
          <p:nvPr/>
        </p:nvCxnSpPr>
        <p:spPr>
          <a:xfrm>
            <a:off x="3065278" y="1074277"/>
            <a:ext cx="14305713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6"/>
          <p:cNvSpPr txBox="1"/>
          <p:nvPr/>
        </p:nvSpPr>
        <p:spPr>
          <a:xfrm>
            <a:off x="2079001" y="7880086"/>
            <a:ext cx="3869999" cy="17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가공식품 소비자태도 조사 데이터와 제품 데이터를 기반으로 분류된 마이크로 세그먼트 페르소나를 구축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12257916" y="7256215"/>
            <a:ext cx="3869999" cy="13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튜닝된 페르소나를 DB에 저장 후 챗봇으로 만들어 비즈니스 시뮬레이터로 활용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281595" y="7639461"/>
            <a:ext cx="3869999" cy="13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신제품에 대한 개별 페르소나들의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월별 예측 구매액과 계수들을 계산하여 예측 데이터 작성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 목표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2079001" y="7256215"/>
            <a:ext cx="3591943" cy="40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 구축</a:t>
            </a:r>
            <a:endParaRPr sz="240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12257916" y="6632344"/>
            <a:ext cx="3591943" cy="40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비즈니스 시뮬레이터 챗봇</a:t>
            </a:r>
            <a:endParaRPr sz="240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281595" y="7015590"/>
            <a:ext cx="3591943" cy="40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예측 시뮬레이션</a:t>
            </a:r>
            <a:endParaRPr sz="240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1 – 프로젝트 개요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6"/>
          <p:cNvPicPr preferRelativeResize="0"/>
          <p:nvPr/>
        </p:nvPicPr>
        <p:blipFill rotWithShape="1">
          <a:blip r:embed="rId3">
            <a:alphaModFix/>
          </a:blip>
          <a:srcRect t="13342"/>
          <a:stretch/>
        </p:blipFill>
        <p:spPr>
          <a:xfrm>
            <a:off x="2079000" y="2263500"/>
            <a:ext cx="3357435" cy="478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6" descr="ChatGPT for biomedical simulations"/>
          <p:cNvPicPr preferRelativeResize="0"/>
          <p:nvPr/>
        </p:nvPicPr>
        <p:blipFill rotWithShape="1">
          <a:blip r:embed="rId4">
            <a:alphaModFix/>
          </a:blip>
          <a:srcRect l="28839" r="28473"/>
          <a:stretch/>
        </p:blipFill>
        <p:spPr>
          <a:xfrm>
            <a:off x="7009144" y="2928862"/>
            <a:ext cx="3893164" cy="3560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6"/>
          <p:cNvPicPr preferRelativeResize="0"/>
          <p:nvPr/>
        </p:nvPicPr>
        <p:blipFill rotWithShape="1">
          <a:blip r:embed="rId5">
            <a:alphaModFix/>
          </a:blip>
          <a:srcRect l="9590" r="-512"/>
          <a:stretch/>
        </p:blipFill>
        <p:spPr>
          <a:xfrm>
            <a:off x="12240509" y="1633500"/>
            <a:ext cx="3365669" cy="4856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7"/>
          <p:cNvCxnSpPr/>
          <p:nvPr/>
        </p:nvCxnSpPr>
        <p:spPr>
          <a:xfrm>
            <a:off x="3537491" y="1074277"/>
            <a:ext cx="1383350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7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 분장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1 – 프로젝트 개요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7"/>
          <p:cNvGraphicFramePr/>
          <p:nvPr/>
        </p:nvGraphicFramePr>
        <p:xfrm>
          <a:off x="1345552" y="22815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{8508CECF-5D7E-462B-84A6-28CB28DE4300}</a:tableStyleId>
              </a:tblPr>
              <a:tblGrid>
                <a:gridCol w="19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/>
                        <a:t>성명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/>
                        <a:t>역할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/>
                        <a:t>상세내용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박진성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팀장/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기획안 작성, 샘플 페르소나-시뮬레이션 프로토타입 개발, EDA(인구통계학적 세그먼트, 소비패턴 클러스터링), 네이버 검색 트랜드 조사 및 검색 계수 도출, 페르소나 생성 프롬프트 엔지니어링, LLM 시뮬레이션 코드 작성, 예측결과 평가 및 튜닝, 웹페이지 기획, 웹 백엔드 개발, 발표자료 제작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주용곤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판매 제품 컨조인트 분석, 제품 및 제품 특징 정보 캡슐화, 제품 프롬프트 엔지니어링, LLM시뮬레이션 코드 튜닝, 예측결과 평가 및 튜닝, 웹 백엔드 개발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박동현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판매 제품 컨조인트 분석, 시장 규모 추정 데이터 수집, 제품 판매량 추정 데이터 수집, 경쟁사 제품 정보 및 비교 리서치, LLM시뮬레이션 코드 튜닝, LLM 모델 교차 검증, 예측결과 평가 및 튜닝, 웹 백엔드 개발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최장호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팀원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동원몰 웹크롤링 개발 및 데이터 수집, 소비자 추정 데이터 수집, 페르소나 생성 프롬프트 엔지니어링, LLM 시뮬레이션 코드 작성, 예측결과 평가 및 튜닝, 웹 프론트 개발, 웹 백엔드 개발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000" y="1883438"/>
            <a:ext cx="17895886" cy="68150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8"/>
          <p:cNvCxnSpPr/>
          <p:nvPr/>
        </p:nvCxnSpPr>
        <p:spPr>
          <a:xfrm>
            <a:off x="4373999" y="1074277"/>
            <a:ext cx="12996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8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일정(Gantt Chart) 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1 – 프로젝트 개요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234000" y="2623500"/>
            <a:ext cx="17819123" cy="720000"/>
          </a:xfrm>
          <a:prstGeom prst="rect">
            <a:avLst/>
          </a:prstGeom>
          <a:solidFill>
            <a:srgbClr val="CCC0D9">
              <a:alpha val="1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79000" y="3343499"/>
            <a:ext cx="17819123" cy="990001"/>
          </a:xfrm>
          <a:prstGeom prst="rect">
            <a:avLst/>
          </a:prstGeom>
          <a:solidFill>
            <a:srgbClr val="FFFF00">
              <a:alpha val="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34000" y="4333500"/>
            <a:ext cx="17819123" cy="990000"/>
          </a:xfrm>
          <a:prstGeom prst="rect">
            <a:avLst/>
          </a:prstGeom>
          <a:solidFill>
            <a:schemeClr val="accent6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234000" y="5323500"/>
            <a:ext cx="17819123" cy="1665000"/>
          </a:xfrm>
          <a:prstGeom prst="rect">
            <a:avLst/>
          </a:prstGeom>
          <a:solidFill>
            <a:schemeClr val="accent2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234000" y="6988500"/>
            <a:ext cx="17819123" cy="1338593"/>
          </a:xfrm>
          <a:prstGeom prst="rect">
            <a:avLst/>
          </a:prstGeom>
          <a:solidFill>
            <a:schemeClr val="accent3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34000" y="8310992"/>
            <a:ext cx="17819123" cy="387508"/>
          </a:xfrm>
          <a:prstGeom prst="rect">
            <a:avLst/>
          </a:prstGeom>
          <a:solidFill>
            <a:srgbClr val="CCC0D9">
              <a:alpha val="1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5309000" y="1754910"/>
            <a:ext cx="2789123" cy="6418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9"/>
          <p:cNvCxnSpPr/>
          <p:nvPr/>
        </p:nvCxnSpPr>
        <p:spPr>
          <a:xfrm>
            <a:off x="3537491" y="1074277"/>
            <a:ext cx="1383350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8" name="Google Shape;248;p9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개발 환경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1 – 프로젝트 개요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0" name="Google Shape;250;p9"/>
          <p:cNvGraphicFramePr/>
          <p:nvPr/>
        </p:nvGraphicFramePr>
        <p:xfrm>
          <a:off x="1345552" y="22635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{8508CECF-5D7E-462B-84A6-28CB28DE4300}</a:tableStyleId>
              </a:tblPr>
              <a:tblGrid>
                <a:gridCol w="206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구분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/>
                        <a:t>상세내역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 10 / 11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Language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3.10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Anaconda jupyter notebook(데이터 정제 및 병합, 그룹화, ML&amp;DL 분석), VS Code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beautifulsoup4==4.12.2,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requests==2.31.0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pandas==2.0.3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numpy==1.24.4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matplotlib==3.7.2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seaborn==0.12.2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openai&gt;=1.0.0,&lt;2.0.0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langchain&gt;=0.1.0,&lt;0.2.0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langchain-openai&gt;=0.1.0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asgiref==3.9.1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mysqlclient==2.2.7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python-decouple==3.8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sqlparse==0.5.3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typing_extensions==4.14.1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tzdata==2025.2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Django(Django==5.2.4 djangorestframework==3.14.0, channels==4.0.0 )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/>
        </p:nvSpPr>
        <p:spPr>
          <a:xfrm>
            <a:off x="8555637" y="6742688"/>
            <a:ext cx="259818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세그먼트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5916826" y="6742688"/>
            <a:ext cx="259818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수집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7873221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0"/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endParaRPr sz="8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9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8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28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8555637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2-2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2-1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10"/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264" name="Google Shape;264;p10"/>
            <p:cNvPicPr preferRelativeResize="0"/>
            <p:nvPr/>
          </p:nvPicPr>
          <p:blipFill rotWithShape="1">
            <a:blip r:embed="rId3">
              <a:alphaModFix/>
            </a:blip>
            <a:srcRect t="23992" b="15424"/>
            <a:stretch/>
          </p:blipFill>
          <p:spPr>
            <a:xfrm>
              <a:off x="3744000" y="-4281"/>
              <a:ext cx="10800000" cy="4362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0"/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>
              <a:gsLst>
                <a:gs pos="0">
                  <a:srgbClr val="325880"/>
                </a:gs>
                <a:gs pos="31746">
                  <a:srgbClr val="194470"/>
                </a:gs>
                <a:gs pos="56084">
                  <a:srgbClr val="1A3F6B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10"/>
          <p:cNvSpPr txBox="1"/>
          <p:nvPr/>
        </p:nvSpPr>
        <p:spPr>
          <a:xfrm>
            <a:off x="11476232" y="6742688"/>
            <a:ext cx="259818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판매 제품 분석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0"/>
          <p:cNvCxnSpPr/>
          <p:nvPr/>
        </p:nvCxnSpPr>
        <p:spPr>
          <a:xfrm>
            <a:off x="11079000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10"/>
          <p:cNvSpPr txBox="1"/>
          <p:nvPr/>
        </p:nvSpPr>
        <p:spPr>
          <a:xfrm>
            <a:off x="11476232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2-3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14319363" y="6742688"/>
            <a:ext cx="259818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외생 변수 가공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10"/>
          <p:cNvCxnSpPr/>
          <p:nvPr/>
        </p:nvCxnSpPr>
        <p:spPr>
          <a:xfrm>
            <a:off x="13824000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10"/>
          <p:cNvSpPr txBox="1"/>
          <p:nvPr/>
        </p:nvSpPr>
        <p:spPr>
          <a:xfrm>
            <a:off x="14319363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2-4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" name="Google Shape;276;p11"/>
          <p:cNvCxnSpPr/>
          <p:nvPr/>
        </p:nvCxnSpPr>
        <p:spPr>
          <a:xfrm>
            <a:off x="3789001" y="1074277"/>
            <a:ext cx="1358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수집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1206628" y="2376645"/>
            <a:ext cx="6722370" cy="70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예측 대상인 신제품 데이터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제품명, 제품특징, 카테고리 1~3 뎁스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1206628" y="4540090"/>
            <a:ext cx="7442372" cy="108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7145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통계청의 2024년 가공식품 소비자 태도조사 설문 결과 자료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연령, 성별, 가구형태, 월소득 등의 인구통계학적 데이터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가공식품, 건강식품, HMR 등에 대한 개인별 선호도 등이 포함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 데이터 - 대회 제공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 설문 데이터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1206628" y="6851967"/>
            <a:ext cx="7442372" cy="218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동원몰 및 타 마켓 크롤링 : 가격, 후기수, 제품 구성 등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식품산업통계정보 : 제조사, 브랜드, 세분시장 별 월별 매출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리서치 : 경쟁사 제품의 가격 및 제품 정보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검색 트랜드 : 네이버 데이터랩을 통한 제품 검색 트랜드 정보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규모 및 제품 판매 추정 데이터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11"/>
          <p:cNvGraphicFramePr/>
          <p:nvPr/>
        </p:nvGraphicFramePr>
        <p:xfrm>
          <a:off x="8961900" y="1853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{B461775B-FB3D-4832-A92A-F89553B6C250}</a:tableStyleId>
              </a:tblPr>
              <a:tblGrid>
                <a:gridCol w="191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product_name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product_feature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category_level_1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category_level_2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category_level_3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덴마크 하이그릭요거트 400g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이중 유청분리 공법, 꾸덕한 질감, 고소함, 호상(떠먹는) 발효유, 고단백, 아연, 칼슘, 6-7월 TV/Youtube/SNS 광고 진행, 6-8월 수도권 중심 아파트 엘리베이터 광고, 광고모델: 일반인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발효유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호상-중대용량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고소참기름 135g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고소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고소참기름 90g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고소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매콤참기름 135g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매콤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매콤참기름 90g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매콤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순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순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진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진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리챔 오믈레햄 200g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오믈렛(Omelet)과 햄(Ham)의 합성어, 저나트륨, 내열성 케첩 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고급축산캔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가미축산캔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리챔 오믈레햄 340g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오믈렛(Omelet)과 햄(Ham)의 합성어, 저나트륨, 내열성 케첩 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고급축산캔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가미축산캔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소화가 잘되는 우유로 만든 바닐라라떼 250mL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락토프리, 저온효소 처리 기술, 유당 ZERO, 저당 트렌드, 신선한 1등급 원유, SNS 바이럴 2-6월, 광고 X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커피-CUP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소화가 잘되는 우유로 만든 카페라떼 250mL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락토프리, 저온효소 처리 기술, 유당 ZERO, 저당 트렌드, 신선한 1등급 원유, SNS 바이럴 2-6월, 광고 X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커피-CUP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프리미엄 동원참치액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85%,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프리미엄 동원참치액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85%,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286" name="Google Shape;28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4000" y="5440206"/>
            <a:ext cx="8739805" cy="3873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12"/>
          <p:cNvCxnSpPr/>
          <p:nvPr/>
        </p:nvCxnSpPr>
        <p:spPr>
          <a:xfrm>
            <a:off x="4418999" y="1074277"/>
            <a:ext cx="12951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" name="Google Shape;292;p12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데이터 분석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 txBox="1"/>
          <p:nvPr/>
        </p:nvSpPr>
        <p:spPr>
          <a:xfrm>
            <a:off x="1206628" y="2416308"/>
            <a:ext cx="8702372" cy="225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&lt;가공 목표&gt;</a:t>
            </a:r>
            <a:endParaRPr/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통계청의 2024년 가공식품 소비자 태도조사 설문 결과를 토대로 가공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입체감 있는 소비자 페르소나를 생성하기 위한 인구통계학적 특성을 포함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K-means 군집분석 및 실루엣 계수를 활용한 세그먼트 도출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 생성을 위한 기반 정보 제공을 위한 json 파일로 가공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데이터 분석 및 가공 계획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1207828" y="5166350"/>
            <a:ext cx="8836172" cy="317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&lt;작업 과정&gt;</a:t>
            </a:r>
            <a:endParaRPr/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질문+답변 세트를 기반으로 7가지 성향 카테고리를 정의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카테고리 분류를 위한 키워드 사전 작성 및 태깅 (코딩)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필요한 질문+답변 필터링 및 카테고리 세부 조정 및 스코어 작성 (엑셀)</a:t>
            </a:r>
            <a:endParaRPr/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설문조사 결과에 대한 스코어 집계(코딩)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실루엣 계수를 이용한 K-means 최적 군집수 도출 및 군집 분석 (코딩)</a:t>
            </a:r>
            <a:endParaRPr/>
          </a:p>
          <a:p>
            <a:pPr marL="444500" marR="0" lvl="1" indent="-2619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인구통계학적 비율을 고려한 층화랜덤 추출 (코딩)</a:t>
            </a:r>
            <a:endParaRPr/>
          </a:p>
        </p:txBody>
      </p:sp>
      <p:pic>
        <p:nvPicPr>
          <p:cNvPr id="297" name="Google Shape;29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9000" y="1359129"/>
            <a:ext cx="5994730" cy="8475306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13"/>
          <p:cNvCxnSpPr/>
          <p:nvPr/>
        </p:nvCxnSpPr>
        <p:spPr>
          <a:xfrm>
            <a:off x="4418999" y="1074277"/>
            <a:ext cx="12951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3" name="Google Shape;303;p13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데이터 분석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질문지 카테고리 태깅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6882" y="2373235"/>
            <a:ext cx="5629911" cy="758526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3"/>
          <p:cNvSpPr txBox="1"/>
          <p:nvPr/>
        </p:nvSpPr>
        <p:spPr>
          <a:xfrm>
            <a:off x="9954000" y="1813500"/>
            <a:ext cx="5985000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설문 응답에 대한 점수 매핑 + 정규화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20734" y="2373235"/>
            <a:ext cx="5298265" cy="7614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" name="Google Shape;313;p14"/>
          <p:cNvCxnSpPr/>
          <p:nvPr/>
        </p:nvCxnSpPr>
        <p:spPr>
          <a:xfrm>
            <a:off x="4418999" y="1074277"/>
            <a:ext cx="12951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" name="Google Shape;314;p14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데이터 분석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1206628" y="2386806"/>
            <a:ext cx="6722370" cy="225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&lt;스케일 방식에 따른 실루엣 계수 확인&gt;</a:t>
            </a:r>
            <a:endParaRPr/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k-=3~10 클러스터링 &amp; 실루엣 계산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StandardScaler best silhouette: 0.2216 (k=3)</a:t>
            </a:r>
            <a:endParaRPr/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MinMaxScaler best silhouette: 0.2252 (k=4)</a:t>
            </a:r>
            <a:endParaRPr/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QuantileTransformer best silhouette: 0.1794 (k=4)</a:t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K-Means 군집분석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7103" y="5143500"/>
            <a:ext cx="7612061" cy="49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4"/>
          <p:cNvSpPr txBox="1"/>
          <p:nvPr/>
        </p:nvSpPr>
        <p:spPr>
          <a:xfrm>
            <a:off x="9324000" y="2386806"/>
            <a:ext cx="6722370" cy="271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&lt;최적의 클러스터(k=4)에 따른 클러스터링&gt;</a:t>
            </a:r>
            <a:endParaRPr/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클러스터 0 : 실속형 미식가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클러스터 1 : 건강 추구형 소비자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클러스터 2 : 구매 소극적 소비자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클러스터 3 : 트렌드 주도형 소비자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** 클러스터 2는 향후 페르소나 생성에 부적합하여 제거</a:t>
            </a:r>
            <a:endParaRPr sz="1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4"/>
          <p:cNvGraphicFramePr/>
          <p:nvPr/>
        </p:nvGraphicFramePr>
        <p:xfrm>
          <a:off x="9311612" y="55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{E8E86101-3DE8-42D9-93A8-C3E98B0A9E72}</a:tableStyleId>
              </a:tblPr>
              <a:tblGrid>
                <a:gridCol w="60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6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18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cluster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brand_loyalty</a:t>
                      </a:r>
                      <a:b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cooking_convenience_scaled</a:t>
                      </a:r>
                      <a:endParaRPr sz="105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health_orientation_scaled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hmr_preference</a:t>
                      </a:r>
                      <a:b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premium_orientation_scaled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price_sensitivity</a:t>
                      </a:r>
                      <a:b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variety_seeking</a:t>
                      </a:r>
                      <a:b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05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_scaled</a:t>
                      </a:r>
                      <a:endParaRPr/>
                    </a:p>
                  </a:txBody>
                  <a:tcPr marL="118025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0.32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0.55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0.31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0.26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0.36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0.38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0.45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0.66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0.32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0.25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0.22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0.10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0.33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0.01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0.24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0.26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0.28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0.63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0.55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0.37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0.84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0.45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0.36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0.54</a:t>
                      </a:r>
                      <a:endParaRPr/>
                    </a:p>
                  </a:txBody>
                  <a:tcPr marL="6550" marR="6550" marT="65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15"/>
          <p:cNvCxnSpPr/>
          <p:nvPr/>
        </p:nvCxnSpPr>
        <p:spPr>
          <a:xfrm>
            <a:off x="4418999" y="1074277"/>
            <a:ext cx="12951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" name="Google Shape;326;p15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 데이터 분석</a:t>
            </a:r>
            <a:endParaRPr sz="3092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206628" y="2311427"/>
            <a:ext cx="16164362" cy="686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연령, 성별의 절대값에는 차이가 있으나, 대체로 세그먼트 별 연령/성별 분포는 균일함 (단, 건강 추구형은 20대 혹은 남성이 더 낮은 비율)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소극적 소비자를 제외하면 모두 HMR 선호도가 높으며, 비슷한 가격 민감도를 가지고 있음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소비자 페르소나 정보 시각화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000" y="3298500"/>
            <a:ext cx="12478740" cy="350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104" y="6676010"/>
            <a:ext cx="12370636" cy="3419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16"/>
          <p:cNvCxnSpPr/>
          <p:nvPr/>
        </p:nvCxnSpPr>
        <p:spPr>
          <a:xfrm>
            <a:off x="3923999" y="1074277"/>
            <a:ext cx="13446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16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판매 제품 분석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206628" y="2350463"/>
            <a:ext cx="6497372" cy="6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예측 대상인 15개의 신제품 데이터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product_name, product_feature, category_level_1~3</a:t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 데이터 분석 및 가공 계획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6"/>
          <p:cNvGraphicFramePr/>
          <p:nvPr/>
        </p:nvGraphicFramePr>
        <p:xfrm>
          <a:off x="8575496" y="1853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{B461775B-FB3D-4832-A92A-F89553B6C250}</a:tableStyleId>
              </a:tblPr>
              <a:tblGrid>
                <a:gridCol w="191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product_name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product_feature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category_level_1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category_level_2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1" u="none" strike="noStrike" cap="none">
                          <a:solidFill>
                            <a:srgbClr val="000000"/>
                          </a:solidFill>
                        </a:rPr>
                        <a:t>category_level_3</a:t>
                      </a:r>
                      <a:endParaRPr sz="7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>
                    <a:solidFill>
                      <a:srgbClr val="C5D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덴마크 하이그릭요거트 400g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이중 유청분리 공법, 꾸덕한 질감, 고소함, 호상(떠먹는) 발효유, 고단백, 아연, 칼슘, 6-7월 TV/Youtube/SNS 광고 진행, 6-8월 수도권 중심 아파트 엘리베이터 광고, 광고모델: 일반인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발효유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호상-중대용량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고소참기름 135g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고소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고소참기름 90g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고소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매콤참기름 135g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매콤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동원맛참 매콤참기름 90g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광고모델: 안유진, 참기름, 단백질, 셀레늄, 매콤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참치캔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라이트스탠다드참치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순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순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진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동원참치액 진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80%,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리챔 오믈레햄 200g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오믈렛(Omelet)과 햄(Ham)의 합성어, 저나트륨, 내열성 케첩 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고급축산캔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가미축산캔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리챔 오믈레햄 340g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오믈렛(Omelet)과 햄(Ham)의 합성어, 저나트륨, 내열성 케첩 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고급축산캔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가미축산캔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소화가 잘되는 우유로 만든 바닐라라떼 250mL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락토프리, 저온효소 처리 기술, 유당 ZERO, 저당 트렌드, 신선한 1등급 원유, SNS 바이럴 2-6월, 광고 X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커피-CUP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소화가 잘되는 우유로 만든 카페라떼 250mL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락토프리, 저온효소 처리 기술, 유당 ZERO, 저당 트렌드, 신선한 1등급 원유, SNS 바이럴 2-6월, 광고 X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우유류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커피-CUP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프리미엄 동원참치액 500g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85%,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프리미엄 동원참치액 900g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훈연참치추출물 85%, 참기엑기스, 참치명가, 직접 잡은 참치, 가쓰오엑기스, 표고버섯, 무, 감초, 마늘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조미소스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ko-KR" sz="700" b="0" u="none" strike="noStrike" cap="none">
                          <a:solidFill>
                            <a:srgbClr val="000000"/>
                          </a:solidFill>
                        </a:rPr>
                        <a:t>액상조미료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600" marR="4600" marT="460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342" name="Google Shape;34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977" y="6403500"/>
            <a:ext cx="16528182" cy="325800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6"/>
          <p:cNvSpPr/>
          <p:nvPr/>
        </p:nvSpPr>
        <p:spPr>
          <a:xfrm>
            <a:off x="2817102" y="3474788"/>
            <a:ext cx="2321898" cy="678712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1197103" y="4474534"/>
            <a:ext cx="6506897" cy="6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LLM이 판단하기 쉽게 전처리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product_feature2, advertise, release_date, price 추가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17"/>
          <p:cNvCxnSpPr/>
          <p:nvPr/>
        </p:nvCxnSpPr>
        <p:spPr>
          <a:xfrm>
            <a:off x="3923999" y="1074277"/>
            <a:ext cx="13446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" name="Google Shape;350;p17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판매 제품 분석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1206628" y="2350463"/>
            <a:ext cx="3932372" cy="391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0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캡슐화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데이터와 그 데이터를 다루는 기능을 하나의 단위(객체)로 묶고, 외부에 불필요한 내부 구현을 숨기는 것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LLM의 출력은 자연어 처리이므로 캡슐화 방법 중 출력 결과를 구조화하여 쉽게 파싱하고 활용할 수 있는 JSON 변환을 진행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1206628" y="1813500"/>
            <a:ext cx="4516269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 데이터 캡슐화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9000" y="1795813"/>
            <a:ext cx="5722132" cy="741690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5" name="Google Shape;35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8857" y="1813500"/>
            <a:ext cx="5722133" cy="741690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18"/>
          <p:cNvCxnSpPr/>
          <p:nvPr/>
        </p:nvCxnSpPr>
        <p:spPr>
          <a:xfrm>
            <a:off x="3923999" y="1074277"/>
            <a:ext cx="13446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1" name="Google Shape;361;p18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외생 변수 가공</a:t>
            </a:r>
            <a:endParaRPr/>
          </a:p>
        </p:txBody>
      </p:sp>
      <p:sp>
        <p:nvSpPr>
          <p:cNvPr id="362" name="Google Shape;362;p18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 txBox="1"/>
          <p:nvPr/>
        </p:nvSpPr>
        <p:spPr>
          <a:xfrm>
            <a:off x="1206628" y="2350464"/>
            <a:ext cx="11942372" cy="2270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기본계수 base_scale = 카테고리시장가중 × 카테고리내 제품비중 × 역할패널티</a:t>
            </a:r>
            <a:endParaRPr sz="2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카테고리시장가중 = 카테고리 시장규모 / 전체 시장규모</a:t>
            </a:r>
            <a:endParaRPr/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제품비중 = 제품 예측판매량 / 카테고리 내 합</a:t>
            </a:r>
            <a:endParaRPr/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역할패널티: 플래그십 1.00 / 서브 0.80 / 니치 0.70 / 확장·테스트 0.85 / (동원맛참 서브라인 0.78)</a:t>
            </a:r>
            <a:endParaRPr/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성장계수: 연간성장률(CAGR) → 월별 성장계수 ( (1+CAGR)^(1/12) )</a:t>
            </a:r>
            <a:endParaRPr/>
          </a:p>
          <a:p>
            <a:pPr marL="352425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 m의 예측치 = </a:t>
            </a: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기준값 × 계절계수[m] × 프로모션계수[m] × (월매출계수)^(m-1)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시장규모 정보 수집 및 계수 도출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1712" y="4873500"/>
            <a:ext cx="12844575" cy="5122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Google Shape;371;p19"/>
          <p:cNvCxnSpPr/>
          <p:nvPr/>
        </p:nvCxnSpPr>
        <p:spPr>
          <a:xfrm>
            <a:off x="3924001" y="1074278"/>
            <a:ext cx="13446992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" name="Google Shape;372;p19"/>
          <p:cNvSpPr txBox="1"/>
          <p:nvPr/>
        </p:nvSpPr>
        <p:spPr>
          <a:xfrm>
            <a:off x="1197104" y="795628"/>
            <a:ext cx="3736349" cy="5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외생 변수 가공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11574001" y="547028"/>
            <a:ext cx="5796992" cy="45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4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1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1216657" y="1754043"/>
            <a:ext cx="4462343" cy="41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월매출계수(2020-2023)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1108084" y="2346282"/>
            <a:ext cx="13184744" cy="502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2425" marR="0" lvl="1" indent="-169863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rgbClr val="272525"/>
                </a:solidFill>
                <a:latin typeface="Calibri"/>
                <a:ea typeface="Calibri"/>
                <a:cs typeface="Calibri"/>
                <a:sym typeface="Calibri"/>
              </a:rPr>
              <a:t> 2020년부터 2023년까지 주요 식품 품목의 월별 매출 계수를 도출하여 제품별 매출 추세와 계절성 패턴을 파악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1195926" y="4537981"/>
            <a:ext cx="2685098" cy="335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&lt;제품별 분석&gt;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182" y="4952484"/>
            <a:ext cx="5034869" cy="300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11091" y="4960585"/>
            <a:ext cx="5034869" cy="3003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8133" y="4982569"/>
            <a:ext cx="4875311" cy="290842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9"/>
          <p:cNvSpPr txBox="1"/>
          <p:nvPr/>
        </p:nvSpPr>
        <p:spPr>
          <a:xfrm>
            <a:off x="1206628" y="2846643"/>
            <a:ext cx="8342372" cy="139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&lt;데이터 산출 방식&gt;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데이터: 마켓링크 POS 데이터(2020-2023년), 전국 유통 채널 매출 포함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계수 산출: 월매출 계수 = 해당 월 매출 ÷ 연평균 매출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계수: 2020-2023년 월매출 계수 평균, 단일 연도 특이점 상쇄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935181" y="7964196"/>
            <a:ext cx="5396029" cy="181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참치캔(동원)</a:t>
            </a:r>
            <a:endParaRPr/>
          </a:p>
          <a:p>
            <a:pPr marL="342900" marR="0" lvl="0" indent="-254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추세 : 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2020년 대비 2023년 월평균 -16% 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소폭 감소, 2022년 하반기부터 회복 기미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계절성 : 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중간 수준 (연간 매출 진폭 1.58배)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6828133" y="7964196"/>
            <a:ext cx="5743880" cy="219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2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참치액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추세 : 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2020년 대비 2023년 월평균 +8% 상승 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→ 가정식 증가 영향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계절성 : 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매우 강함 (연간 매출 진폭 1.51배)</a:t>
            </a:r>
            <a:endParaRPr/>
          </a:p>
          <a:p>
            <a:pPr marL="285750" marR="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월별 : </a:t>
            </a: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높음 - 6월, 9월, 12월 / 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낮음 - 2월, 10-11월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12511091" y="7964196"/>
            <a:ext cx="5641288" cy="1898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캔햄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추세 : 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2020년 대비 2023년 월평균 -25% 감소</a:t>
            </a:r>
            <a:b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→ 식생활 변화, 경쟁 심화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계절성 : 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가장 강함 (연간 매출 진폭 1.81배)</a:t>
            </a:r>
            <a:endParaRPr/>
          </a:p>
          <a:p>
            <a:pPr marL="285750" marR="0" lvl="0" indent="-285750" algn="l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월별 : 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높음 - 6월, 8월, 12월 / 낮음 - 2월, 10-11월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20"/>
          <p:cNvCxnSpPr/>
          <p:nvPr/>
        </p:nvCxnSpPr>
        <p:spPr>
          <a:xfrm>
            <a:off x="3923999" y="1074277"/>
            <a:ext cx="13446991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20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외생 변수 가공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2 – 데이터 분석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1206628" y="2350463"/>
            <a:ext cx="9377372" cy="319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&lt;상관관계 분석&gt;</a:t>
            </a:r>
            <a:endParaRPr/>
          </a:p>
          <a:p>
            <a:pPr marL="352425" marR="0" lvl="1" indent="-1714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네이버 데이터랩 API를 이용한 검색량과 식품산업통계 매출 상관 관계를 분석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전체적인 상관관계는 0.2 수준으로 높지 않으나, 프로모션 방식에 따라 매출과 </a:t>
            </a:r>
            <a:b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선행 혹은 후행적 상관 관계가 있는 것으로 추정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&lt;검색 트랜드&gt;</a:t>
            </a:r>
            <a:endParaRPr/>
          </a:p>
          <a:p>
            <a:pPr marL="352425" marR="0" lvl="1" indent="-1714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24년 8월, 맛참 검색량 급등(TV PPL, 추석 선물세트, 바이럴 광고 추정)</a:t>
            </a:r>
            <a:endParaRPr/>
          </a:p>
          <a:p>
            <a:pPr marL="352425" marR="0" lvl="1" indent="-1714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하이그릭요거트, 리챔오믈레햄의 출시 이후 검색량 발생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7145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소잘라떼는 긴 제품명으로 직접적인 검색량 측정이 어려움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네이버 검색 트랜드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0759" y="6088500"/>
            <a:ext cx="8704275" cy="358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8276" y="2823730"/>
            <a:ext cx="7575978" cy="636976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"/>
          <p:cNvSpPr/>
          <p:nvPr/>
        </p:nvSpPr>
        <p:spPr>
          <a:xfrm>
            <a:off x="3305759" y="6673500"/>
            <a:ext cx="810000" cy="8100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4115759" y="6673500"/>
            <a:ext cx="810000" cy="8100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5825759" y="6538500"/>
            <a:ext cx="810000" cy="8100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6725759" y="6403500"/>
            <a:ext cx="810000" cy="8100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8435759" y="6448500"/>
            <a:ext cx="1035000" cy="13050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9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</a:t>
            </a:r>
            <a:endParaRPr sz="8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6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28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21"/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408" name="Google Shape;408;p21"/>
            <p:cNvPicPr preferRelativeResize="0"/>
            <p:nvPr/>
          </p:nvPicPr>
          <p:blipFill rotWithShape="1">
            <a:blip r:embed="rId3">
              <a:alphaModFix/>
            </a:blip>
            <a:srcRect t="23992" b="15424"/>
            <a:stretch/>
          </p:blipFill>
          <p:spPr>
            <a:xfrm>
              <a:off x="3744000" y="-4281"/>
              <a:ext cx="10800000" cy="4362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" name="Google Shape;409;p21"/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>
              <a:gsLst>
                <a:gs pos="0">
                  <a:srgbClr val="325880"/>
                </a:gs>
                <a:gs pos="31746">
                  <a:srgbClr val="194470"/>
                </a:gs>
                <a:gs pos="56084">
                  <a:srgbClr val="1A3F6B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p21"/>
          <p:cNvSpPr txBox="1"/>
          <p:nvPr/>
        </p:nvSpPr>
        <p:spPr>
          <a:xfrm>
            <a:off x="8064000" y="6742688"/>
            <a:ext cx="259818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엔지니어링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5916826" y="6742688"/>
            <a:ext cx="1540397" cy="76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계획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>
            <a:off x="7517113" y="6320010"/>
            <a:ext cx="0" cy="117429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3" name="Google Shape;413;p21"/>
          <p:cNvCxnSpPr/>
          <p:nvPr/>
        </p:nvCxnSpPr>
        <p:spPr>
          <a:xfrm>
            <a:off x="9999000" y="6320010"/>
            <a:ext cx="0" cy="117429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4" name="Google Shape;414;p21"/>
          <p:cNvSpPr txBox="1"/>
          <p:nvPr/>
        </p:nvSpPr>
        <p:spPr>
          <a:xfrm>
            <a:off x="8064000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3-2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3-1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10547908" y="6742688"/>
            <a:ext cx="2300185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예측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10547908" y="6253335"/>
            <a:ext cx="102453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3-3</a:t>
            </a:r>
            <a:endParaRPr/>
          </a:p>
        </p:txBody>
      </p:sp>
      <p:cxnSp>
        <p:nvCxnSpPr>
          <p:cNvPr id="418" name="Google Shape;418;p21"/>
          <p:cNvCxnSpPr/>
          <p:nvPr/>
        </p:nvCxnSpPr>
        <p:spPr>
          <a:xfrm>
            <a:off x="12465092" y="6320010"/>
            <a:ext cx="0" cy="117429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9" name="Google Shape;419;p21"/>
          <p:cNvSpPr txBox="1"/>
          <p:nvPr/>
        </p:nvSpPr>
        <p:spPr>
          <a:xfrm>
            <a:off x="12906928" y="6742688"/>
            <a:ext cx="1731814" cy="36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및 검증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13014000" y="6253335"/>
            <a:ext cx="1024538" cy="35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3-4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/>
          <p:nvPr/>
        </p:nvSpPr>
        <p:spPr>
          <a:xfrm>
            <a:off x="13063332" y="1802192"/>
            <a:ext cx="4387232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4933452" y="1801842"/>
            <a:ext cx="8737111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rgbClr val="366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1025564" y="1802192"/>
            <a:ext cx="4500000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5345563" y="2845331"/>
            <a:ext cx="7425000" cy="7155000"/>
          </a:xfrm>
          <a:prstGeom prst="roundRect">
            <a:avLst>
              <a:gd name="adj" fmla="val 3574"/>
            </a:avLst>
          </a:prstGeom>
          <a:solidFill>
            <a:srgbClr val="DAE5F1">
              <a:alpha val="6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22"/>
          <p:cNvCxnSpPr/>
          <p:nvPr/>
        </p:nvCxnSpPr>
        <p:spPr>
          <a:xfrm>
            <a:off x="4239000" y="1074277"/>
            <a:ext cx="1313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" name="Google Shape;430;p22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시뮬레이션 계획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1759377" y="2036687"/>
            <a:ext cx="2357372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입력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7879377" y="2035331"/>
            <a:ext cx="2357372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예측 프로세스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14134377" y="2035331"/>
            <a:ext cx="2357372" cy="39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결과 평가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1025563" y="2845331"/>
            <a:ext cx="3735000" cy="3780000"/>
          </a:xfrm>
          <a:prstGeom prst="roundRect">
            <a:avLst>
              <a:gd name="adj" fmla="val 7486"/>
            </a:avLst>
          </a:prstGeom>
          <a:solidFill>
            <a:srgbClr val="C5D8F1">
              <a:alpha val="6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1025563" y="6985331"/>
            <a:ext cx="3735000" cy="3015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1406987" y="3070331"/>
            <a:ext cx="968576" cy="968576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1675488" y="3398498"/>
            <a:ext cx="463046" cy="360000"/>
          </a:xfrm>
          <a:custGeom>
            <a:avLst/>
            <a:gdLst/>
            <a:ahLst/>
            <a:cxnLst/>
            <a:rect l="l" t="t" r="r" b="b"/>
            <a:pathLst>
              <a:path w="293" h="187" extrusionOk="0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2600563" y="3250331"/>
            <a:ext cx="1665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페르소나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 데이터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2"/>
          <p:cNvSpPr/>
          <p:nvPr/>
        </p:nvSpPr>
        <p:spPr>
          <a:xfrm>
            <a:off x="1385563" y="4240331"/>
            <a:ext cx="3105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연령, 성별, 가구형태,</a:t>
            </a:r>
            <a:b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결혼여부, 월소득, 맞벌이여부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소비성향 세그먼트 및 스코어</a:t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3400" marR="0" lvl="1" indent="-2667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</a:pPr>
            <a:r>
              <a:rPr lang="ko-KR"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실속형 미식가</a:t>
            </a:r>
            <a:endParaRPr sz="16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3400" marR="0" lvl="1" indent="-2667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</a:pPr>
            <a:r>
              <a:rPr lang="ko-KR"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건강 추구형 소비자</a:t>
            </a:r>
            <a:endParaRPr sz="16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3400" marR="0" lvl="1" indent="-26670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</a:pPr>
            <a:r>
              <a:rPr lang="ko-KR" sz="16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트렌드 주도형 소비자</a:t>
            </a:r>
            <a:r>
              <a:rPr lang="ko-KR" sz="16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6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2375563" y="6355331"/>
            <a:ext cx="900000" cy="900000"/>
          </a:xfrm>
          <a:prstGeom prst="ellipse">
            <a:avLst/>
          </a:prstGeom>
          <a:solidFill>
            <a:srgbClr val="B6DD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2465563" y="6445331"/>
            <a:ext cx="720000" cy="720000"/>
          </a:xfrm>
          <a:prstGeom prst="plus">
            <a:avLst>
              <a:gd name="adj" fmla="val 37700"/>
            </a:avLst>
          </a:prstGeom>
          <a:solidFill>
            <a:srgbClr val="92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1406987" y="7321755"/>
            <a:ext cx="968576" cy="968576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22" descr="테이블 차림 단색으로 채워진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4963" y="7456755"/>
            <a:ext cx="705600" cy="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2"/>
          <p:cNvSpPr/>
          <p:nvPr/>
        </p:nvSpPr>
        <p:spPr>
          <a:xfrm>
            <a:off x="2600563" y="7501755"/>
            <a:ext cx="1665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판매 제</a:t>
            </a: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품 데이터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1385563" y="8489976"/>
            <a:ext cx="3105000" cy="106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제품명 및 제품 특징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가격, 후기수, 경쟁상품 비교</a:t>
            </a:r>
            <a:endParaRPr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제품별 시장 규모 등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13400563" y="2845331"/>
            <a:ext cx="3735000" cy="3420000"/>
          </a:xfrm>
          <a:prstGeom prst="roundRect">
            <a:avLst>
              <a:gd name="adj" fmla="val 9866"/>
            </a:avLst>
          </a:prstGeom>
          <a:solidFill>
            <a:srgbClr val="C5D8F1">
              <a:alpha val="6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13400563" y="6625331"/>
            <a:ext cx="3735000" cy="3375000"/>
          </a:xfrm>
          <a:prstGeom prst="roundRect">
            <a:avLst>
              <a:gd name="adj" fmla="val 16667"/>
            </a:avLst>
          </a:prstGeom>
          <a:solidFill>
            <a:srgbClr val="DDEFF5">
              <a:alpha val="6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13781987" y="3070331"/>
            <a:ext cx="968576" cy="968576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14975563" y="3250331"/>
            <a:ext cx="1665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다콘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리더보드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13760563" y="4285331"/>
            <a:ext cx="3105000" cy="106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예측 데이터와 실제 데이터를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SMAPE 방식</a:t>
            </a: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으로 평가하여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제출물에 대한 실시간 점수 반환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13781987" y="7210331"/>
            <a:ext cx="968576" cy="968576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2"/>
          <p:cNvSpPr/>
          <p:nvPr/>
        </p:nvSpPr>
        <p:spPr>
          <a:xfrm>
            <a:off x="14975563" y="7390331"/>
            <a:ext cx="1665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모델별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교차 검증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13760563" y="8425331"/>
            <a:ext cx="3105000" cy="110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GPT-5, Claude, eXaone 등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동일 프롬프트에 대한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lang="ko-KR" sz="160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모델별 점수 검증</a:t>
            </a:r>
            <a:endParaRPr sz="16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9000" y="-526500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22"/>
          <p:cNvGrpSpPr/>
          <p:nvPr/>
        </p:nvGrpSpPr>
        <p:grpSpPr>
          <a:xfrm>
            <a:off x="6110563" y="3115331"/>
            <a:ext cx="2223001" cy="2313813"/>
            <a:chOff x="5678999" y="2059511"/>
            <a:chExt cx="2223001" cy="2313813"/>
          </a:xfrm>
        </p:grpSpPr>
        <p:sp>
          <p:nvSpPr>
            <p:cNvPr id="457" name="Google Shape;457;p22"/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rgbClr val="8CB3E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9" name="Google Shape;459;p22"/>
            <p:cNvCxnSpPr/>
            <p:nvPr/>
          </p:nvCxnSpPr>
          <p:spPr>
            <a:xfrm>
              <a:off x="7209000" y="3216418"/>
              <a:ext cx="585000" cy="0"/>
            </a:xfrm>
            <a:prstGeom prst="straightConnector1">
              <a:avLst/>
            </a:prstGeom>
            <a:noFill/>
            <a:ln w="9525" cap="flat" cmpd="sng">
              <a:solidFill>
                <a:srgbClr val="92929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460" name="Google Shape;460;p22"/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LLM</a:t>
              </a:r>
              <a:endParaRPr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1" name="Google Shape;461;p22" descr="뇌 단색으로 채워진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2" name="Google Shape;462;p22"/>
          <p:cNvGrpSpPr/>
          <p:nvPr/>
        </p:nvGrpSpPr>
        <p:grpSpPr>
          <a:xfrm>
            <a:off x="6110563" y="5275331"/>
            <a:ext cx="2223001" cy="2313813"/>
            <a:chOff x="5678999" y="2059511"/>
            <a:chExt cx="2223001" cy="2313813"/>
          </a:xfrm>
        </p:grpSpPr>
        <p:sp>
          <p:nvSpPr>
            <p:cNvPr id="463" name="Google Shape;463;p22"/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rgbClr val="B6DD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5" name="Google Shape;465;p22"/>
            <p:cNvCxnSpPr/>
            <p:nvPr/>
          </p:nvCxnSpPr>
          <p:spPr>
            <a:xfrm>
              <a:off x="7209000" y="3216418"/>
              <a:ext cx="585000" cy="0"/>
            </a:xfrm>
            <a:prstGeom prst="straightConnector1">
              <a:avLst/>
            </a:prstGeom>
            <a:noFill/>
            <a:ln w="9525" cap="flat" cmpd="sng">
              <a:solidFill>
                <a:srgbClr val="92929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466" name="Google Shape;466;p22"/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Extenal</a:t>
              </a:r>
              <a:endParaRPr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2"/>
          <p:cNvGrpSpPr/>
          <p:nvPr/>
        </p:nvGrpSpPr>
        <p:grpSpPr>
          <a:xfrm>
            <a:off x="6110563" y="7345331"/>
            <a:ext cx="2223001" cy="2313813"/>
            <a:chOff x="5678999" y="2059511"/>
            <a:chExt cx="2223001" cy="2313813"/>
          </a:xfrm>
        </p:grpSpPr>
        <p:sp>
          <p:nvSpPr>
            <p:cNvPr id="468" name="Google Shape;468;p22"/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rgbClr val="8CB3E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0" name="Google Shape;470;p22"/>
            <p:cNvCxnSpPr/>
            <p:nvPr/>
          </p:nvCxnSpPr>
          <p:spPr>
            <a:xfrm>
              <a:off x="7209000" y="3216418"/>
              <a:ext cx="585000" cy="0"/>
            </a:xfrm>
            <a:prstGeom prst="straightConnector1">
              <a:avLst/>
            </a:prstGeom>
            <a:noFill/>
            <a:ln w="9525" cap="flat" cmpd="sng">
              <a:solidFill>
                <a:srgbClr val="92929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471" name="Google Shape;471;p22"/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Predict</a:t>
              </a:r>
              <a:endParaRPr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2" name="Google Shape;472;p22"/>
          <p:cNvSpPr/>
          <p:nvPr/>
        </p:nvSpPr>
        <p:spPr>
          <a:xfrm>
            <a:off x="8765563" y="3314976"/>
            <a:ext cx="3105000" cy="4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질의 및 답변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8765563" y="3899976"/>
            <a:ext cx="3330000" cy="106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통합된 프롬프트로 페르소나 구축</a:t>
            </a:r>
            <a:b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고객 맞춤형 구매 가능성, 선호도 등 예측 결과 도출</a:t>
            </a:r>
            <a:endParaRPr/>
          </a:p>
        </p:txBody>
      </p:sp>
      <p:sp>
        <p:nvSpPr>
          <p:cNvPr id="474" name="Google Shape;474;p22"/>
          <p:cNvSpPr/>
          <p:nvPr/>
        </p:nvSpPr>
        <p:spPr>
          <a:xfrm>
            <a:off x="8765563" y="5564976"/>
            <a:ext cx="3105000" cy="4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외생 변수 계산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2"/>
          <p:cNvSpPr/>
          <p:nvPr/>
        </p:nvSpPr>
        <p:spPr>
          <a:xfrm>
            <a:off x="8765563" y="6149976"/>
            <a:ext cx="3465000" cy="106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월별 판매추이, 검색량 트랜드,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시장규모 및 제품별 차등 계수,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페르소나 증강 계수 등 계산</a:t>
            </a: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8765563" y="7689308"/>
            <a:ext cx="3105000" cy="40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구매량 예측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8765563" y="8274308"/>
            <a:ext cx="3105000" cy="106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LLM 답변 내용과 외생변수의 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계산을 통한 월별 구매량 </a:t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alibri"/>
              <a:buNone/>
            </a:pPr>
            <a:r>
              <a:rPr lang="ko-KR" sz="1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예측 산출물 출력</a:t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6470563" y="6130331"/>
            <a:ext cx="765000" cy="630000"/>
          </a:xfrm>
          <a:custGeom>
            <a:avLst/>
            <a:gdLst/>
            <a:ahLst/>
            <a:cxnLst/>
            <a:rect l="l" t="t" r="r" b="b"/>
            <a:pathLst>
              <a:path w="260" h="259" extrusionOk="0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p22"/>
          <p:cNvGrpSpPr/>
          <p:nvPr/>
        </p:nvGrpSpPr>
        <p:grpSpPr>
          <a:xfrm>
            <a:off x="13985563" y="3340331"/>
            <a:ext cx="544512" cy="460375"/>
            <a:chOff x="1572131" y="3768482"/>
            <a:chExt cx="544512" cy="460375"/>
          </a:xfrm>
        </p:grpSpPr>
        <p:sp>
          <p:nvSpPr>
            <p:cNvPr id="480" name="Google Shape;480;p22"/>
            <p:cNvSpPr/>
            <p:nvPr/>
          </p:nvSpPr>
          <p:spPr>
            <a:xfrm>
              <a:off x="1635631" y="4165357"/>
              <a:ext cx="417512" cy="63500"/>
            </a:xfrm>
            <a:custGeom>
              <a:avLst/>
              <a:gdLst/>
              <a:ahLst/>
              <a:cxnLst/>
              <a:rect l="l" t="t" r="r" b="b"/>
              <a:pathLst>
                <a:path w="263" h="40" extrusionOk="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1572131" y="3768482"/>
              <a:ext cx="544512" cy="376238"/>
            </a:xfrm>
            <a:custGeom>
              <a:avLst/>
              <a:gdLst/>
              <a:ahLst/>
              <a:cxnLst/>
              <a:rect l="l" t="t" r="r" b="b"/>
              <a:pathLst>
                <a:path w="343" h="237" extrusionOk="0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2" name="Google Shape;482;p22"/>
          <p:cNvSpPr/>
          <p:nvPr/>
        </p:nvSpPr>
        <p:spPr>
          <a:xfrm rot="5400000">
            <a:off x="6515563" y="8110331"/>
            <a:ext cx="749558" cy="749558"/>
          </a:xfrm>
          <a:custGeom>
            <a:avLst/>
            <a:gdLst/>
            <a:ahLst/>
            <a:cxnLst/>
            <a:rect l="l" t="t" r="r" b="b"/>
            <a:pathLst>
              <a:path w="1838037" h="1838037" extrusionOk="0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22" descr="비즈니스 성장 단색으로 채워진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13895563" y="7300331"/>
            <a:ext cx="795000" cy="7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Google Shape;488;p23"/>
          <p:cNvCxnSpPr/>
          <p:nvPr/>
        </p:nvCxnSpPr>
        <p:spPr>
          <a:xfrm>
            <a:off x="5229000" y="1074277"/>
            <a:ext cx="1214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9" name="Google Shape;489;p23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 txBox="1"/>
          <p:nvPr/>
        </p:nvSpPr>
        <p:spPr>
          <a:xfrm>
            <a:off x="1206628" y="2579642"/>
            <a:ext cx="8567372" cy="589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역할: 한국 소비자 데이터 분석가 &amp; 마케팅 전문가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809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목표: 주어진 입력(제품·페르소나·시장)을 종합 분석해 </a:t>
            </a:r>
            <a:b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구매행동 예측 결과를 JSON으로 생성</a:t>
            </a:r>
            <a:endParaRPr/>
          </a:p>
          <a:p>
            <a:pPr marL="352425" marR="0" lvl="1" indent="-809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 단계(프롬프트 지시)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3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 핵심 분석: meta와 가중치 최상위 속성을 기반으로 </a:t>
            </a:r>
            <a:b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핵심 동기 정의</a:t>
            </a:r>
            <a:endParaRPr/>
          </a:p>
          <a:p>
            <a:pPr marL="695325" marR="0" lvl="3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제품–페르소나 연결: 제품 특징의 긍/부정 요인 평가</a:t>
            </a:r>
            <a:endParaRPr/>
          </a:p>
          <a:p>
            <a:pPr marL="695325" marR="0" lvl="3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상황 적용: 경쟁 가격/맥락을 페르소나 관점에서 해석</a:t>
            </a:r>
            <a:endParaRPr/>
          </a:p>
          <a:p>
            <a:pPr marL="695325" marR="0" lvl="3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종합 결론: 구매 확률과 월별 구매 빈도 최종 예측</a:t>
            </a:r>
            <a:endParaRPr/>
          </a:p>
          <a:p>
            <a:pPr marL="352425" marR="0" lvl="1" indent="-809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제약: ‘---’ 이후 JSON만 출력, 형식 고정(추가 설명 금지)</a:t>
            </a:r>
            <a:endParaRPr/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1206628" y="1813500"/>
            <a:ext cx="6902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페르소나 생성-질문 프롬프트 (싱글턴)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9000" y="2579642"/>
            <a:ext cx="7815112" cy="54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8" name="Google Shape;498;p24"/>
          <p:cNvCxnSpPr/>
          <p:nvPr/>
        </p:nvCxnSpPr>
        <p:spPr>
          <a:xfrm>
            <a:off x="5229000" y="1074277"/>
            <a:ext cx="1214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24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</a:t>
            </a:r>
            <a:endParaRPr/>
          </a:p>
        </p:txBody>
      </p:sp>
      <p:sp>
        <p:nvSpPr>
          <p:cNvPr id="500" name="Google Shape;500;p24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1206628" y="2350463"/>
            <a:ext cx="6722370" cy="1040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제품 정보 + 페르소나 데이터 + 시장 경쟁 환경로 구성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생성된 JSON으로 월 평균 구매 수량 예측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인구통계학적 계수 총합 0.3 + 구매 성향 계수 총합 0.7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생성된 프롬프트 예시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7103" y="5143500"/>
            <a:ext cx="4791744" cy="333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74000" y="1813500"/>
            <a:ext cx="3870000" cy="567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5764" y="7578025"/>
            <a:ext cx="10755226" cy="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65576" y="8593117"/>
            <a:ext cx="4286848" cy="81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" name="Google Shape;511;p25"/>
          <p:cNvCxnSpPr/>
          <p:nvPr/>
        </p:nvCxnSpPr>
        <p:spPr>
          <a:xfrm>
            <a:off x="4239000" y="1074277"/>
            <a:ext cx="1313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2" name="Google Shape;512;p25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예측 시뮬레이션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1314000" y="2623500"/>
            <a:ext cx="6722370" cy="17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&lt;페르소나 예측 데이터 추출&gt;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생성된 persona에게 15개의 제품의 수요를 질문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질문을 여러 번 반복해서 노이즈 제거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답변으로 받은 데이터들을 취합 후 패턴 분석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예측 (동원 x KAIST competition)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3703" y="4846505"/>
            <a:ext cx="5510654" cy="277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7103" y="7753500"/>
            <a:ext cx="5553790" cy="2202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5"/>
          <p:cNvPicPr preferRelativeResize="0"/>
          <p:nvPr/>
        </p:nvPicPr>
        <p:blipFill rotWithShape="1">
          <a:blip r:embed="rId5">
            <a:alphaModFix/>
          </a:blip>
          <a:srcRect t="13342"/>
          <a:stretch/>
        </p:blipFill>
        <p:spPr>
          <a:xfrm>
            <a:off x="13383357" y="2831687"/>
            <a:ext cx="2146056" cy="305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5" descr="ChatGPT for biomedical simulations"/>
          <p:cNvPicPr preferRelativeResize="0"/>
          <p:nvPr/>
        </p:nvPicPr>
        <p:blipFill rotWithShape="1">
          <a:blip r:embed="rId6">
            <a:alphaModFix/>
          </a:blip>
          <a:srcRect l="28839" t="18002" r="49539"/>
          <a:stretch/>
        </p:blipFill>
        <p:spPr>
          <a:xfrm>
            <a:off x="9591721" y="2620170"/>
            <a:ext cx="1971979" cy="291989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5"/>
          <p:cNvSpPr txBox="1"/>
          <p:nvPr/>
        </p:nvSpPr>
        <p:spPr>
          <a:xfrm>
            <a:off x="10180004" y="2191765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 txBox="1"/>
          <p:nvPr/>
        </p:nvSpPr>
        <p:spPr>
          <a:xfrm>
            <a:off x="13748499" y="2196605"/>
            <a:ext cx="14157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페르소나</a:t>
            </a:r>
            <a:endParaRPr/>
          </a:p>
        </p:txBody>
      </p:sp>
      <p:cxnSp>
        <p:nvCxnSpPr>
          <p:cNvPr id="522" name="Google Shape;522;p25"/>
          <p:cNvCxnSpPr/>
          <p:nvPr/>
        </p:nvCxnSpPr>
        <p:spPr>
          <a:xfrm>
            <a:off x="11889000" y="3812007"/>
            <a:ext cx="1080000" cy="0"/>
          </a:xfrm>
          <a:prstGeom prst="straightConnector1">
            <a:avLst/>
          </a:prstGeom>
          <a:noFill/>
          <a:ln w="57150" cap="flat" cmpd="sng">
            <a:solidFill>
              <a:srgbClr val="3F3F3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3" name="Google Shape;523;p25"/>
          <p:cNvCxnSpPr/>
          <p:nvPr/>
        </p:nvCxnSpPr>
        <p:spPr>
          <a:xfrm rot="10800000">
            <a:off x="11843999" y="4532007"/>
            <a:ext cx="1080000" cy="0"/>
          </a:xfrm>
          <a:prstGeom prst="straightConnector1">
            <a:avLst/>
          </a:prstGeom>
          <a:noFill/>
          <a:ln w="57150" cap="flat" cmpd="sng">
            <a:solidFill>
              <a:srgbClr val="3F3F3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4" name="Google Shape;524;p25"/>
          <p:cNvSpPr txBox="1"/>
          <p:nvPr/>
        </p:nvSpPr>
        <p:spPr>
          <a:xfrm>
            <a:off x="12060834" y="3383245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질문</a:t>
            </a:r>
            <a:endParaRPr/>
          </a:p>
        </p:txBody>
      </p:sp>
      <p:sp>
        <p:nvSpPr>
          <p:cNvPr id="525" name="Google Shape;525;p25"/>
          <p:cNvSpPr txBox="1"/>
          <p:nvPr/>
        </p:nvSpPr>
        <p:spPr>
          <a:xfrm>
            <a:off x="12060834" y="4673688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응답</a:t>
            </a:r>
            <a:endParaRPr/>
          </a:p>
        </p:txBody>
      </p:sp>
      <p:cxnSp>
        <p:nvCxnSpPr>
          <p:cNvPr id="526" name="Google Shape;526;p25"/>
          <p:cNvCxnSpPr/>
          <p:nvPr/>
        </p:nvCxnSpPr>
        <p:spPr>
          <a:xfrm>
            <a:off x="12383999" y="5773500"/>
            <a:ext cx="0" cy="855000"/>
          </a:xfrm>
          <a:prstGeom prst="straightConnector1">
            <a:avLst/>
          </a:prstGeom>
          <a:noFill/>
          <a:ln w="57150" cap="flat" cmpd="sng">
            <a:solidFill>
              <a:srgbClr val="3F3F3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7" name="Google Shape;527;p25"/>
          <p:cNvSpPr txBox="1"/>
          <p:nvPr/>
        </p:nvSpPr>
        <p:spPr>
          <a:xfrm>
            <a:off x="10719000" y="5877690"/>
            <a:ext cx="15696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데이터프레임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저장</a:t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11649057" y="2985728"/>
            <a:ext cx="1484994" cy="2562772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 txBox="1"/>
          <p:nvPr/>
        </p:nvSpPr>
        <p:spPr>
          <a:xfrm>
            <a:off x="12060834" y="2602304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반복</a:t>
            </a:r>
            <a:endParaRPr/>
          </a:p>
        </p:txBody>
      </p:sp>
      <p:pic>
        <p:nvPicPr>
          <p:cNvPr id="530" name="Google Shape;530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42529" y="6906672"/>
            <a:ext cx="3772942" cy="320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5" name="Google Shape;535;p26"/>
          <p:cNvCxnSpPr/>
          <p:nvPr/>
        </p:nvCxnSpPr>
        <p:spPr>
          <a:xfrm>
            <a:off x="4239000" y="1074277"/>
            <a:ext cx="13131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p26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예측 시뮬레이션</a:t>
            </a:r>
            <a:endParaRPr/>
          </a:p>
        </p:txBody>
      </p:sp>
      <p:sp>
        <p:nvSpPr>
          <p:cNvPr id="537" name="Google Shape;537;p26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 txBox="1"/>
          <p:nvPr/>
        </p:nvSpPr>
        <p:spPr>
          <a:xfrm>
            <a:off x="1206628" y="2427394"/>
            <a:ext cx="10452024" cy="145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&lt;수요 예측 데이터 가공&gt;</a:t>
            </a:r>
            <a:endParaRPr/>
          </a:p>
          <a:p>
            <a:pPr marL="177800" marR="0" lvl="1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페르소나 Q&amp;A 결과에서 나온 SKU별 “월 평균 베이스 수요” 에 </a:t>
            </a:r>
            <a:b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월별 계수(계절성) × 광고/프로모션 계수 × 명절(추석/설) × 특수성(카테고리 이벤트) 등을 적용해 12개월 시리즈를 생성, 이후 제품별 출시일을 고려해서 최종판매량 예측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6"/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예측 (동원 x KAIST competition) 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0" name="Google Shape;54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7022" y="5935538"/>
            <a:ext cx="3772942" cy="320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5735" y="4182658"/>
            <a:ext cx="1681505" cy="36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5735" y="4592529"/>
            <a:ext cx="15689798" cy="100187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26"/>
          <p:cNvSpPr/>
          <p:nvPr/>
        </p:nvSpPr>
        <p:spPr>
          <a:xfrm>
            <a:off x="5756203" y="6038781"/>
            <a:ext cx="821557" cy="3000078"/>
          </a:xfrm>
          <a:prstGeom prst="rightArrow">
            <a:avLst>
              <a:gd name="adj1" fmla="val 100000"/>
              <a:gd name="adj2" fmla="val 50000"/>
            </a:avLst>
          </a:prstGeom>
          <a:gradFill>
            <a:gsLst>
              <a:gs pos="0">
                <a:srgbClr val="F4F8FB"/>
              </a:gs>
              <a:gs pos="74000">
                <a:srgbClr val="AEC5E1"/>
              </a:gs>
              <a:gs pos="83000">
                <a:srgbClr val="AEC5E1"/>
              </a:gs>
              <a:gs pos="100000">
                <a:srgbClr val="C8D8EB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4000" y="5935538"/>
            <a:ext cx="11160000" cy="297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9" name="Google Shape;549;p27"/>
          <p:cNvCxnSpPr/>
          <p:nvPr/>
        </p:nvCxnSpPr>
        <p:spPr>
          <a:xfrm>
            <a:off x="4104000" y="1074277"/>
            <a:ext cx="13266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0" name="Google Shape;550;p27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및 검증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 txBox="1"/>
          <p:nvPr/>
        </p:nvSpPr>
        <p:spPr>
          <a:xfrm>
            <a:off x="1206628" y="2350463"/>
            <a:ext cx="9107372" cy="104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판매량 예측에 사용한 LLM 모델 4개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GPT-4o-mini, EXAONE 3.5 7.8B, GPT-3.5-turbo, Qwen3 8B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토큰 가격이나 정확도를 검증해서 GPT-4o-mini/GPT-5-mini 모델 최종 사용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7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모델 별 교차 검증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4907933"/>
            <a:ext cx="8039999" cy="48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813" y="4907933"/>
            <a:ext cx="8039999" cy="48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7"/>
          <p:cNvSpPr txBox="1"/>
          <p:nvPr/>
        </p:nvSpPr>
        <p:spPr>
          <a:xfrm>
            <a:off x="3065277" y="4237335"/>
            <a:ext cx="346872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모델 벤치마크</a:t>
            </a:r>
            <a:endParaRPr/>
          </a:p>
        </p:txBody>
      </p:sp>
      <p:sp>
        <p:nvSpPr>
          <p:cNvPr id="557" name="Google Shape;557;p27"/>
          <p:cNvSpPr txBox="1"/>
          <p:nvPr/>
        </p:nvSpPr>
        <p:spPr>
          <a:xfrm>
            <a:off x="10822137" y="4223014"/>
            <a:ext cx="468372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페르소나 응답 – 판매예측 결과 정확도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2" name="Google Shape;562;p28"/>
          <p:cNvCxnSpPr/>
          <p:nvPr/>
        </p:nvCxnSpPr>
        <p:spPr>
          <a:xfrm>
            <a:off x="4104000" y="1074277"/>
            <a:ext cx="13266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3" name="Google Shape;563;p28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및 검증</a:t>
            </a:r>
            <a:endParaRPr/>
          </a:p>
        </p:txBody>
      </p:sp>
      <p:sp>
        <p:nvSpPr>
          <p:cNvPr id="564" name="Google Shape;564;p28"/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3 – 페르소나 시뮬레이션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 txBox="1"/>
          <p:nvPr/>
        </p:nvSpPr>
        <p:spPr>
          <a:xfrm>
            <a:off x="1215852" y="2350462"/>
            <a:ext cx="6677372" cy="32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평가 산식 : SMAPE</a:t>
            </a:r>
            <a:r>
              <a:rPr lang="ko-KR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 Mean Absolute Percentage Error)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다콘 리더보드 점수 검증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5624" y="2185003"/>
            <a:ext cx="8215754" cy="3304065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8" name="Google Shape;568;p28"/>
          <p:cNvSpPr txBox="1"/>
          <p:nvPr/>
        </p:nvSpPr>
        <p:spPr>
          <a:xfrm>
            <a:off x="1206627" y="3924915"/>
            <a:ext cx="7757373" cy="1399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&lt;평가방식&gt;</a:t>
            </a:r>
            <a:endParaRPr/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1차 평가 : 리더보드 Private Score </a:t>
            </a:r>
            <a:r>
              <a:rPr lang="ko-K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24.07 ~ 24.12 실제 판매량 기준 SMAPE)</a:t>
            </a:r>
            <a:r>
              <a:rPr 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1" indent="-169862" algn="l" rtl="0">
              <a:lnSpc>
                <a:spcPct val="1416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ko-KR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2차 평가 : 최종 Private Score </a:t>
            </a:r>
            <a:r>
              <a:rPr lang="ko-K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24.07 ~ 25.06 실제 판매량 기준 SMAPE)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573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4000" y="2738593"/>
            <a:ext cx="3250302" cy="887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8"/>
          <p:cNvPicPr preferRelativeResize="0"/>
          <p:nvPr/>
        </p:nvPicPr>
        <p:blipFill rotWithShape="1">
          <a:blip r:embed="rId5">
            <a:alphaModFix/>
          </a:blip>
          <a:srcRect l="7679" b="12655"/>
          <a:stretch/>
        </p:blipFill>
        <p:spPr>
          <a:xfrm>
            <a:off x="9057324" y="5931167"/>
            <a:ext cx="8215754" cy="365703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1" name="Google Shape;571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922" y="5931166"/>
            <a:ext cx="7563814" cy="365703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2" name="Google Shape;572;p28"/>
          <p:cNvSpPr/>
          <p:nvPr/>
        </p:nvSpPr>
        <p:spPr>
          <a:xfrm>
            <a:off x="1014922" y="8023500"/>
            <a:ext cx="7563814" cy="630000"/>
          </a:xfrm>
          <a:prstGeom prst="rect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 txBox="1"/>
          <p:nvPr/>
        </p:nvSpPr>
        <p:spPr>
          <a:xfrm>
            <a:off x="7097240" y="9643284"/>
            <a:ext cx="14814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2025.08.28 기준</a:t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15792682" y="9643284"/>
            <a:ext cx="14814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2025.08.28 기준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5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Logo</a:t>
            </a:r>
            <a:endParaRPr/>
          </a:p>
        </p:txBody>
      </p:sp>
      <p:sp>
        <p:nvSpPr>
          <p:cNvPr id="580" name="Google Shape;580;p42"/>
          <p:cNvSpPr txBox="1"/>
          <p:nvPr/>
        </p:nvSpPr>
        <p:spPr>
          <a:xfrm>
            <a:off x="8339348" y="6742688"/>
            <a:ext cx="25983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4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기대효과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2"/>
          <p:cNvSpPr txBox="1"/>
          <p:nvPr/>
        </p:nvSpPr>
        <p:spPr>
          <a:xfrm>
            <a:off x="5916826" y="6742688"/>
            <a:ext cx="2598180" cy="36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결과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2"/>
          <p:cNvSpPr txBox="1"/>
          <p:nvPr/>
        </p:nvSpPr>
        <p:spPr>
          <a:xfrm>
            <a:off x="10937528" y="6742688"/>
            <a:ext cx="23691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자체 피드백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487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42"/>
          <p:cNvCxnSpPr/>
          <p:nvPr/>
        </p:nvCxnSpPr>
        <p:spPr>
          <a:xfrm>
            <a:off x="7792461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4" name="Google Shape;584;p42"/>
          <p:cNvCxnSpPr/>
          <p:nvPr/>
        </p:nvCxnSpPr>
        <p:spPr>
          <a:xfrm>
            <a:off x="10387295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5" name="Google Shape;585;p42"/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 sz="8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9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 평가</a:t>
            </a:r>
            <a:endParaRPr sz="8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2"/>
          <p:cNvSpPr txBox="1"/>
          <p:nvPr/>
        </p:nvSpPr>
        <p:spPr>
          <a:xfrm>
            <a:off x="1299068" y="5101802"/>
            <a:ext cx="1267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lang="ko-KR" sz="2811">
                <a:latin typeface="Calibri"/>
                <a:ea typeface="Calibri"/>
                <a:cs typeface="Calibri"/>
                <a:sym typeface="Calibri"/>
              </a:rPr>
              <a:t>4</a:t>
            </a:r>
            <a:endParaRPr sz="28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2"/>
          <p:cNvSpPr txBox="1"/>
          <p:nvPr/>
        </p:nvSpPr>
        <p:spPr>
          <a:xfrm>
            <a:off x="8339348" y="6253335"/>
            <a:ext cx="8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/>
          </a:p>
        </p:txBody>
      </p:sp>
      <p:sp>
        <p:nvSpPr>
          <p:cNvPr id="588" name="Google Shape;588;p42"/>
          <p:cNvSpPr txBox="1"/>
          <p:nvPr/>
        </p:nvSpPr>
        <p:spPr>
          <a:xfrm>
            <a:off x="5916826" y="6253335"/>
            <a:ext cx="8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589" name="Google Shape;589;p42"/>
          <p:cNvSpPr txBox="1"/>
          <p:nvPr/>
        </p:nvSpPr>
        <p:spPr>
          <a:xfrm>
            <a:off x="10937528" y="6253335"/>
            <a:ext cx="87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ko-K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1" name="Google Shape;591;p42"/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592" name="Google Shape;592;p42"/>
            <p:cNvPicPr preferRelativeResize="0"/>
            <p:nvPr/>
          </p:nvPicPr>
          <p:blipFill rotWithShape="1">
            <a:blip r:embed="rId3">
              <a:alphaModFix/>
            </a:blip>
            <a:srcRect t="23992" b="15424"/>
            <a:stretch/>
          </p:blipFill>
          <p:spPr>
            <a:xfrm>
              <a:off x="3744000" y="-4281"/>
              <a:ext cx="10800000" cy="43621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42"/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>
              <a:gsLst>
                <a:gs pos="0">
                  <a:srgbClr val="325880"/>
                </a:gs>
                <a:gs pos="31746">
                  <a:srgbClr val="194470"/>
                </a:gs>
                <a:gs pos="56084">
                  <a:srgbClr val="1A3F6B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94" name="Google Shape;594;p42"/>
          <p:cNvCxnSpPr/>
          <p:nvPr/>
        </p:nvCxnSpPr>
        <p:spPr>
          <a:xfrm>
            <a:off x="12756482" y="6320010"/>
            <a:ext cx="0" cy="759414"/>
          </a:xfrm>
          <a:prstGeom prst="straightConnector1">
            <a:avLst/>
          </a:prstGeom>
          <a:noFill/>
          <a:ln w="9525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9" name="Google Shape;599;p43"/>
          <p:cNvCxnSpPr/>
          <p:nvPr/>
        </p:nvCxnSpPr>
        <p:spPr>
          <a:xfrm>
            <a:off x="3294000" y="1074277"/>
            <a:ext cx="14076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43"/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결과</a:t>
            </a:r>
            <a:endParaRPr/>
          </a:p>
        </p:txBody>
      </p:sp>
      <p:sp>
        <p:nvSpPr>
          <p:cNvPr id="601" name="Google Shape;601;p43"/>
          <p:cNvSpPr txBox="1"/>
          <p:nvPr/>
        </p:nvSpPr>
        <p:spPr>
          <a:xfrm>
            <a:off x="11574000" y="547028"/>
            <a:ext cx="579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4 – 결과 및 평가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43"/>
          <p:cNvPicPr preferRelativeResize="0"/>
          <p:nvPr/>
        </p:nvPicPr>
        <p:blipFill rotWithShape="1">
          <a:blip r:embed="rId3">
            <a:alphaModFix/>
          </a:blip>
          <a:srcRect b="7448"/>
          <a:stretch/>
        </p:blipFill>
        <p:spPr>
          <a:xfrm>
            <a:off x="5769000" y="1728893"/>
            <a:ext cx="12105000" cy="8216944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5877776" y="6669672"/>
            <a:ext cx="11835000" cy="630000"/>
          </a:xfrm>
          <a:prstGeom prst="rect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p43"/>
          <p:cNvGrpSpPr/>
          <p:nvPr/>
        </p:nvGrpSpPr>
        <p:grpSpPr>
          <a:xfrm>
            <a:off x="1197103" y="1657817"/>
            <a:ext cx="4012448" cy="1481808"/>
            <a:chOff x="0" y="-47625"/>
            <a:chExt cx="1162540" cy="992902"/>
          </a:xfrm>
        </p:grpSpPr>
        <p:sp>
          <p:nvSpPr>
            <p:cNvPr id="605" name="Google Shape;605;p43"/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 extrusionOk="0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606" name="Google Shape;606;p43"/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203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p43"/>
          <p:cNvSpPr txBox="1"/>
          <p:nvPr/>
        </p:nvSpPr>
        <p:spPr>
          <a:xfrm>
            <a:off x="1127555" y="2275117"/>
            <a:ext cx="4064896" cy="41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 예선 1등 확정”</a:t>
            </a:r>
            <a:endParaRPr/>
          </a:p>
        </p:txBody>
      </p:sp>
      <p:sp>
        <p:nvSpPr>
          <p:cNvPr id="608" name="Google Shape;608;p43"/>
          <p:cNvSpPr txBox="1"/>
          <p:nvPr/>
        </p:nvSpPr>
        <p:spPr>
          <a:xfrm>
            <a:off x="1359000" y="3357427"/>
            <a:ext cx="4516269" cy="116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Score : 0.4197</a:t>
            </a:r>
            <a:endParaRPr/>
          </a:p>
          <a:p>
            <a:pPr marL="0" marR="0" lvl="0" indent="0" algn="l" rtl="0">
              <a:lnSpc>
                <a:spcPct val="17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24.07 ~ 25.06 실제 판매량 기준 SMAPE)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3"/>
          <p:cNvSpPr txBox="1"/>
          <p:nvPr/>
        </p:nvSpPr>
        <p:spPr>
          <a:xfrm>
            <a:off x="1359000" y="5128593"/>
            <a:ext cx="4516269" cy="288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&lt;이후 일정&gt;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09/05 산출물 제출 마감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09/19 산출물 서면평가 및 검증 마감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09/22 발표 평가 대상자 발표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09/30 발표 평가 및 시상식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4" name="Google Shape;614;p45"/>
          <p:cNvCxnSpPr/>
          <p:nvPr/>
        </p:nvCxnSpPr>
        <p:spPr>
          <a:xfrm>
            <a:off x="3294000" y="1074277"/>
            <a:ext cx="14076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5" name="Google Shape;615;p45"/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/>
          </a:p>
        </p:txBody>
      </p:sp>
      <p:sp>
        <p:nvSpPr>
          <p:cNvPr id="616" name="Google Shape;616;p45"/>
          <p:cNvSpPr txBox="1"/>
          <p:nvPr/>
        </p:nvSpPr>
        <p:spPr>
          <a:xfrm>
            <a:off x="11574000" y="547028"/>
            <a:ext cx="579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4 – 결과 및 평가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5"/>
          <p:cNvSpPr txBox="1"/>
          <p:nvPr/>
        </p:nvSpPr>
        <p:spPr>
          <a:xfrm>
            <a:off x="1206628" y="3047692"/>
            <a:ext cx="6722370" cy="70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 조사 분야의 기존 방식인 컨조인트 연구, 포커스 그룹, 독점 데이터셋 등에서 소요되는 비용과 시간을 절약 가능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1206627" y="5281316"/>
            <a:ext cx="6947373" cy="108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LLM이 인간 연구와 일관된 응답을 생성함으로써 </a:t>
            </a:r>
            <a:b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시장조사를 보완하며, 제품 개발주기를 단축하고, </a:t>
            </a:r>
            <a:b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신제품의 시장 출시 전 위험을 줄이는데 기여 가능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빠르고 저렴한 선행적 시장조사 가능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정교하게 설계된 페르소나를 통한 시장 예측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5"/>
          <p:cNvSpPr txBox="1"/>
          <p:nvPr/>
        </p:nvSpPr>
        <p:spPr>
          <a:xfrm>
            <a:off x="10346395" y="7582445"/>
            <a:ext cx="6030734" cy="576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시장 조사의 새로운 패러다임 제시</a:t>
            </a:r>
            <a:r>
              <a:rPr lang="ko-KR" sz="2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622" name="Google Shape;622;p45"/>
          <p:cNvCxnSpPr/>
          <p:nvPr/>
        </p:nvCxnSpPr>
        <p:spPr>
          <a:xfrm rot="10800000">
            <a:off x="10132910" y="7596081"/>
            <a:ext cx="0" cy="576056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3" name="Google Shape;623;p45"/>
          <p:cNvSpPr txBox="1"/>
          <p:nvPr/>
        </p:nvSpPr>
        <p:spPr>
          <a:xfrm>
            <a:off x="1206628" y="7503357"/>
            <a:ext cx="6722370" cy="108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구축된 </a:t>
            </a: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비즈니스 시뮬레이터</a:t>
            </a: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를 이용해 효율적으로 </a:t>
            </a:r>
            <a:b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마케팅 방향을 시뮬레이션하고 빠르게 적용, </a:t>
            </a:r>
            <a:b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피드백을 통해 보완하여 체계적인 마케팅 전략을 구축 가능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5"/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체계적인 마케팅 전략 구축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45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/>
          <p:cNvPicPr preferRelativeResize="0"/>
          <p:nvPr/>
        </p:nvPicPr>
        <p:blipFill rotWithShape="1">
          <a:blip r:embed="rId3">
            <a:alphaModFix/>
          </a:blip>
          <a:srcRect b="40272"/>
          <a:stretch/>
        </p:blipFill>
        <p:spPr>
          <a:xfrm>
            <a:off x="9996426" y="2549765"/>
            <a:ext cx="5927550" cy="4303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46"/>
          <p:cNvCxnSpPr/>
          <p:nvPr/>
        </p:nvCxnSpPr>
        <p:spPr>
          <a:xfrm>
            <a:off x="3474000" y="1074277"/>
            <a:ext cx="13896990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46"/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92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자체 피드백</a:t>
            </a:r>
            <a:endParaRPr/>
          </a:p>
        </p:txBody>
      </p:sp>
      <p:sp>
        <p:nvSpPr>
          <p:cNvPr id="632" name="Google Shape;632;p46"/>
          <p:cNvSpPr txBox="1"/>
          <p:nvPr/>
        </p:nvSpPr>
        <p:spPr>
          <a:xfrm>
            <a:off x="11574000" y="547028"/>
            <a:ext cx="5796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5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 4 – 결과 및 평가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6"/>
          <p:cNvSpPr txBox="1"/>
          <p:nvPr/>
        </p:nvSpPr>
        <p:spPr>
          <a:xfrm>
            <a:off x="1206628" y="3047692"/>
            <a:ext cx="8317200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LLM은</a:t>
            </a:r>
            <a:r>
              <a:rPr 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통계적으로 다음에 나올 단어들을 맞추는 모델로서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실제적인 분석과 사고를 하는 것에 한계가 존재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역할을 부여하고 추가적인 정보를 제공한다고 해도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실제적 수요에 접근하기 위해서는 다양한 외생변수를 통한</a:t>
            </a:r>
            <a:r>
              <a:rPr lang="en-US" alt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계산이 필요</a:t>
            </a: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6"/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LLM 자체의 한계</a:t>
            </a:r>
            <a:endParaRPr sz="2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6"/>
          <p:cNvSpPr txBox="1"/>
          <p:nvPr/>
        </p:nvSpPr>
        <p:spPr>
          <a:xfrm>
            <a:off x="1206628" y="6143033"/>
            <a:ext cx="6407372" cy="37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데이터의 제한적 사용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6"/>
          <p:cNvSpPr txBox="1"/>
          <p:nvPr/>
        </p:nvSpPr>
        <p:spPr>
          <a:xfrm>
            <a:off x="1206628" y="6651967"/>
            <a:ext cx="6722370" cy="107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실제 구매 고객의 데이터, 판매 데이터, 장바구니 데이터 등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사용 가능 데이터의 한계로 고객 세그먼트, 유사 상품에 대한 컨조인트 분석 등에 한계점 존재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p46" descr="대규모 언어 모델 (LLM) 관련 최신 동향 및 발전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4000" y="2549765"/>
            <a:ext cx="6047372" cy="6047372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 txBox="1"/>
          <p:nvPr/>
        </p:nvSpPr>
        <p:spPr>
          <a:xfrm>
            <a:off x="1197103" y="5170700"/>
            <a:ext cx="793737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→ 향후 </a:t>
            </a:r>
            <a:r>
              <a:rPr lang="ko-KR" sz="20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LLM의</a:t>
            </a:r>
            <a:r>
              <a:rPr lang="ko-KR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발전과 프롬프트 엔지니어링, </a:t>
            </a:r>
            <a:r>
              <a:rPr lang="ko-KR" sz="20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파인튜닝으로</a:t>
            </a:r>
            <a:r>
              <a:rPr lang="ko-KR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보완이 가능</a:t>
            </a:r>
            <a:endParaRPr sz="20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6"/>
          <p:cNvSpPr txBox="1"/>
          <p:nvPr/>
        </p:nvSpPr>
        <p:spPr>
          <a:xfrm>
            <a:off x="1206628" y="8124771"/>
            <a:ext cx="7397372" cy="33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→ 구체적이고 실제적인 데이터를 통해 더욱 정확한 답변 가능</a:t>
            </a:r>
            <a:endParaRPr sz="2000" b="1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7"/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박진성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주용곤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박동현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최장호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47"/>
          <p:cNvCxnSpPr/>
          <p:nvPr/>
        </p:nvCxnSpPr>
        <p:spPr>
          <a:xfrm>
            <a:off x="4933452" y="6782489"/>
            <a:ext cx="9046359" cy="0"/>
          </a:xfrm>
          <a:prstGeom prst="straightConnector1">
            <a:avLst/>
          </a:prstGeom>
          <a:noFill/>
          <a:ln w="95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6" name="Google Shape;646;p47"/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11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팀 Chill Tuna</a:t>
            </a:r>
            <a:endParaRPr sz="2811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7"/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214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/>
          </a:p>
        </p:txBody>
      </p:sp>
      <p:pic>
        <p:nvPicPr>
          <p:cNvPr id="648" name="Google Shape;648;p47"/>
          <p:cNvPicPr preferRelativeResize="0"/>
          <p:nvPr/>
        </p:nvPicPr>
        <p:blipFill rotWithShape="1">
          <a:blip r:embed="rId3">
            <a:alphaModFix/>
          </a:blip>
          <a:srcRect l="20097" t="2012" r="20096"/>
          <a:stretch/>
        </p:blipFill>
        <p:spPr>
          <a:xfrm>
            <a:off x="14470498" y="-1"/>
            <a:ext cx="3817502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7"/>
          <p:cNvSpPr txBox="1"/>
          <p:nvPr/>
        </p:nvSpPr>
        <p:spPr>
          <a:xfrm>
            <a:off x="10314000" y="6979652"/>
            <a:ext cx="381008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배포 : </a:t>
            </a:r>
            <a:r>
              <a:rPr lang="ko-KR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http://54.180.210.6:8000/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3341</Words>
  <Application>Microsoft Office PowerPoint</Application>
  <PresentationFormat>사용자 지정</PresentationFormat>
  <Paragraphs>627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Noto Sans Symbols</vt:lpstr>
      <vt:lpstr>Arial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user</cp:lastModifiedBy>
  <cp:revision>2</cp:revision>
  <dcterms:created xsi:type="dcterms:W3CDTF">2006-08-16T00:00:00Z</dcterms:created>
  <dcterms:modified xsi:type="dcterms:W3CDTF">2025-09-04T15:56:59Z</dcterms:modified>
</cp:coreProperties>
</file>