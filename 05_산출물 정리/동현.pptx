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328" r:id="rId3"/>
    <p:sldId id="315" r:id="rId4"/>
    <p:sldId id="317" r:id="rId5"/>
    <p:sldId id="318" r:id="rId6"/>
    <p:sldId id="331" r:id="rId7"/>
    <p:sldId id="256" r:id="rId8"/>
    <p:sldId id="338" r:id="rId9"/>
    <p:sldId id="339" r:id="rId10"/>
    <p:sldId id="34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3" autoAdjust="0"/>
    <p:restoredTop sz="94660"/>
  </p:normalViewPr>
  <p:slideViewPr>
    <p:cSldViewPr snapToGrid="0">
      <p:cViewPr>
        <p:scale>
          <a:sx n="100" d="100"/>
          <a:sy n="100" d="100"/>
        </p:scale>
        <p:origin x="67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1DB71-E394-4580-A70F-E94DA568E307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6D485-2F91-419F-AE9A-0F9CC4445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21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왜 이 프로젝트를 기획했고</a:t>
            </a:r>
            <a:r>
              <a:rPr lang="en-US" altLang="ko-KR" dirty="0"/>
              <a:t>, </a:t>
            </a:r>
            <a:r>
              <a:rPr lang="ko-KR" altLang="en-US" dirty="0"/>
              <a:t>목표한 바는 무엇이며</a:t>
            </a:r>
            <a:r>
              <a:rPr lang="en-US" altLang="ko-KR" dirty="0"/>
              <a:t>, </a:t>
            </a:r>
            <a:r>
              <a:rPr lang="ko-KR" altLang="en-US" dirty="0"/>
              <a:t>누가 언제 어떻게 개발했는지를 짧게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883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287AC-4A42-46B7-BDB8-F17A13B52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0E1C66-ABD7-43D2-AC9B-DCD260130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EA1FAA-4D9A-441C-AE22-B019DF03B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64E505-EE75-4E48-A6C7-140A344C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B6CAB4-7979-43E8-A570-4DD2E963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B220B-9094-47B8-8D7B-EC01C450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8BD50B-8490-4182-9FF5-C0F5BA5FF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3EA3A-287D-440C-8A5E-A06D555E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92DFFB-DD06-4189-BA74-4077AC0F7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F01B99-D34E-4FBF-AD48-F6CA0020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55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2B01E-2B3C-4566-BA14-E0F261B8C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7B74F5-7228-4BAD-81AF-21F0AE4B2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0D454F-4883-4299-B30D-5AE40BAE9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1365EE-707B-4184-BA7E-E8FFC70B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9361C7-A9AB-4FC5-822B-8BE652542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175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9146F-FD8B-4770-ADAD-F1D972FB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CEEA26-A073-4B60-8C08-E63608C6A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B229D6-A148-4752-AB74-FE9D268B2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85F139-DF9B-49CF-9D6F-4DF2703F7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5ECFC3-8275-45DB-8BC5-4CA303D3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077FBE-B4FB-412F-9492-461652A0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675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39188-4068-4603-A665-F0CB599DE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96EC2C-B399-4FC1-85C2-28B048E3E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8388BB-1E70-49FD-B06E-396CACA89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339490-AB22-4895-ACC5-FB232771F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97083A-C300-4A3C-84C9-3C3FEC5DE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72CED42-DEE3-407A-B91F-EF8DB298E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233FFC-3D40-4C08-9EA2-261D6988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17D758-DD55-42A0-816F-62358E6D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34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03338-7B87-4DC6-976D-31FB79870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4B4960-E782-4899-89EF-B0E7A6E4C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FB6936-98F1-44EF-8BB0-1AF26B93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B8885C-3930-4D8E-984A-59E4BEC90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57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118828-F469-4A5B-8E9F-0419ED5AE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B45C08E-93FC-4E39-A606-633A46611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933F7-C52B-4C25-819B-7C42B968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10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DA66F-E9FC-4DB0-9459-F02C7513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11EA42-A391-40D4-9346-B0284FD5C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65DCF3-692A-4E40-A843-9E7A9AA90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632AC2-2BF7-4C62-86E9-556708235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DC838A-24EB-4551-97BB-DD05DE0B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63D14B-5190-48EB-9D6D-7815AFFB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59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51D52-D50B-4645-AB2F-FC02B2EA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21BC59-B91F-4403-807D-58554CDF5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4B8CBC-77EE-488B-AC42-4A05AAD0A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2F7DEA-B4C3-451D-912C-C4FB0D57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ED752A-352D-4D66-BDFF-2D972C9F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1F20E9-6765-4CAE-88D1-232AC758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57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B7474-30BE-4A90-B428-EED4941E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827A62-03F4-49A7-BF87-E5795B1F3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495646-E62F-4ED8-8882-E1DB884E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F876B9-55D9-443F-8D16-8D799D0B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811685-DE0B-4C50-B537-D25F8F67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433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E4FFBF-367E-4149-808D-83CABBD30C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5C9D69-8DB0-4866-A56F-A68655A29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445409-B1B8-4EF8-9241-8045D740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14BFB1-3375-4C68-969E-FD43BBF5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B24E01-36E5-4A95-A67A-A3A67E29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345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D7C9616-352C-4423-9006-BEA9E4CE0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3829E8-3EC0-4936-9423-269AFC75F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C65AF6-6ACF-4A2A-BCAE-ED844E5A1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ADC07-B5D7-4523-9028-DE551745805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FDB5DE-CF32-427A-8782-A0374A130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7B96A0-857C-4421-9649-DAE69167C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97557-A6DC-4647-92ED-0082B23C4A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72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1144585" y="5850804"/>
            <a:ext cx="828453" cy="280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61"/>
              </a:lnSpc>
            </a:pPr>
            <a:r>
              <a:rPr lang="en-US" sz="1687" b="1" spc="-29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0701" y="2687927"/>
            <a:ext cx="9690598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50"/>
              </a:lnSpc>
            </a:pPr>
            <a:r>
              <a:rPr lang="ko-KR" altLang="en-US" sz="5867" b="1" spc="-41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증빙 자료</a:t>
            </a:r>
            <a:endParaRPr lang="en-US" sz="5867" b="1" spc="-411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9F06C9-A144-DAF8-34DA-67E5A8CA34F8}"/>
              </a:ext>
            </a:extLst>
          </p:cNvPr>
          <p:cNvSpPr/>
          <p:nvPr/>
        </p:nvSpPr>
        <p:spPr>
          <a:xfrm>
            <a:off x="9636000" y="-729189"/>
            <a:ext cx="2556000" cy="2912615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B2FAAE9-A1C1-9C16-C1FD-591178C740F0}"/>
              </a:ext>
            </a:extLst>
          </p:cNvPr>
          <p:cNvGrpSpPr/>
          <p:nvPr/>
        </p:nvGrpSpPr>
        <p:grpSpPr>
          <a:xfrm>
            <a:off x="0" y="-729189"/>
            <a:ext cx="9696000" cy="2912615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A5426DD-1916-EB66-4D58-F5E6568BFE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BB1CEEF-9630-DD45-D365-F26945D94E06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21" name="AutoShape 4">
            <a:extLst>
              <a:ext uri="{FF2B5EF4-FFF2-40B4-BE49-F238E27FC236}">
                <a16:creationId xmlns:a16="http://schemas.microsoft.com/office/drawing/2014/main" id="{35B4B918-7E1C-3FA6-ED90-776A03E17284}"/>
              </a:ext>
            </a:extLst>
          </p:cNvPr>
          <p:cNvSpPr/>
          <p:nvPr/>
        </p:nvSpPr>
        <p:spPr>
          <a:xfrm>
            <a:off x="6327900" y="5679354"/>
            <a:ext cx="5502037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1D287F56-D0C1-894D-39A1-4FD3CAE99D41}"/>
              </a:ext>
            </a:extLst>
          </p:cNvPr>
          <p:cNvSpPr/>
          <p:nvPr/>
        </p:nvSpPr>
        <p:spPr>
          <a:xfrm>
            <a:off x="6327900" y="6463347"/>
            <a:ext cx="5502037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9BBBFEE2-3D4A-15FB-F613-76DB3CE7DD97}"/>
              </a:ext>
            </a:extLst>
          </p:cNvPr>
          <p:cNvSpPr/>
          <p:nvPr/>
        </p:nvSpPr>
        <p:spPr>
          <a:xfrm>
            <a:off x="8185553" y="5679354"/>
            <a:ext cx="0" cy="783993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FA6026E0-D149-4666-CE2A-FB680F508A5A}"/>
              </a:ext>
            </a:extLst>
          </p:cNvPr>
          <p:cNvSpPr txBox="1"/>
          <p:nvPr/>
        </p:nvSpPr>
        <p:spPr>
          <a:xfrm>
            <a:off x="8442614" y="5921646"/>
            <a:ext cx="3749386" cy="309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ko-KR" altLang="en-US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박진성</a:t>
            </a:r>
            <a:r>
              <a:rPr lang="en-US" altLang="ko-KR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1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주용곤</a:t>
            </a:r>
            <a:r>
              <a:rPr lang="en-US" altLang="ko-KR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박동현</a:t>
            </a:r>
            <a:r>
              <a:rPr lang="en-US" altLang="ko-KR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1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최장호</a:t>
            </a:r>
            <a:endParaRPr lang="en-US" sz="1400" b="1" spc="25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60645C60-833F-6DD9-EC15-00921A5C134E}"/>
              </a:ext>
            </a:extLst>
          </p:cNvPr>
          <p:cNvSpPr txBox="1"/>
          <p:nvPr/>
        </p:nvSpPr>
        <p:spPr>
          <a:xfrm>
            <a:off x="6655862" y="5921934"/>
            <a:ext cx="1566972" cy="327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ko-KR" altLang="en-US" sz="16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팀 </a:t>
            </a:r>
            <a:r>
              <a:rPr lang="ko-KR" altLang="en-US" sz="1600" b="1" spc="-3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고추참치</a:t>
            </a:r>
            <a:endParaRPr lang="en-US" sz="1600" b="1" spc="-3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6768-CF18-77AD-61C1-BE487011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화살표: 오른쪽 96">
            <a:extLst>
              <a:ext uri="{FF2B5EF4-FFF2-40B4-BE49-F238E27FC236}">
                <a16:creationId xmlns:a16="http://schemas.microsoft.com/office/drawing/2014/main" id="{8A5F21A2-BD29-0451-ABD4-8B4572067F21}"/>
              </a:ext>
            </a:extLst>
          </p:cNvPr>
          <p:cNvSpPr/>
          <p:nvPr/>
        </p:nvSpPr>
        <p:spPr>
          <a:xfrm>
            <a:off x="8708888" y="1201461"/>
            <a:ext cx="2924821" cy="577044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8D36CF51-8536-C998-87BA-50591D59D77F}"/>
              </a:ext>
            </a:extLst>
          </p:cNvPr>
          <p:cNvSpPr/>
          <p:nvPr/>
        </p:nvSpPr>
        <p:spPr>
          <a:xfrm>
            <a:off x="3288968" y="1201228"/>
            <a:ext cx="5824741" cy="577044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3EB0B9EA-25D4-2DB9-944E-9CFEFBA06220}"/>
              </a:ext>
            </a:extLst>
          </p:cNvPr>
          <p:cNvSpPr/>
          <p:nvPr/>
        </p:nvSpPr>
        <p:spPr>
          <a:xfrm>
            <a:off x="683709" y="1201461"/>
            <a:ext cx="3000000" cy="577044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0AF6921-A0CA-1E02-9401-905990D97E8D}"/>
              </a:ext>
            </a:extLst>
          </p:cNvPr>
          <p:cNvSpPr/>
          <p:nvPr/>
        </p:nvSpPr>
        <p:spPr>
          <a:xfrm>
            <a:off x="3563709" y="1896887"/>
            <a:ext cx="4950000" cy="4770000"/>
          </a:xfrm>
          <a:prstGeom prst="roundRect">
            <a:avLst>
              <a:gd name="adj" fmla="val 3574"/>
            </a:avLst>
          </a:prstGeom>
          <a:solidFill>
            <a:schemeClr val="accent1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4E25581-9ED6-233D-56A4-AE6676C4C689}"/>
              </a:ext>
            </a:extLst>
          </p:cNvPr>
          <p:cNvSpPr/>
          <p:nvPr/>
        </p:nvSpPr>
        <p:spPr>
          <a:xfrm>
            <a:off x="3288968" y="716185"/>
            <a:ext cx="829169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BFFAC-A47B-CA6F-1ACF-D17C80840B8F}"/>
              </a:ext>
            </a:extLst>
          </p:cNvPr>
          <p:cNvSpPr txBox="1"/>
          <p:nvPr/>
        </p:nvSpPr>
        <p:spPr>
          <a:xfrm>
            <a:off x="798069" y="530418"/>
            <a:ext cx="2490899" cy="34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ko-KR" altLang="en-US" sz="2400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 계획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7CC6A37-DC98-928A-AF83-5073B3EAF014}"/>
              </a:ext>
            </a:extLst>
          </p:cNvPr>
          <p:cNvSpPr txBox="1"/>
          <p:nvPr/>
        </p:nvSpPr>
        <p:spPr>
          <a:xfrm>
            <a:off x="1172918" y="1357791"/>
            <a:ext cx="157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ko-KR" altLang="en-US" sz="1867" b="1" spc="-82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데이터 입력</a:t>
            </a:r>
            <a:endParaRPr lang="en-US" sz="1867" b="1" spc="-82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F90A8246-AA60-90C7-02F7-80021E230A82}"/>
              </a:ext>
            </a:extLst>
          </p:cNvPr>
          <p:cNvSpPr txBox="1"/>
          <p:nvPr/>
        </p:nvSpPr>
        <p:spPr>
          <a:xfrm>
            <a:off x="5252918" y="1356887"/>
            <a:ext cx="157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ko-KR" altLang="en-US" sz="1867" b="1" spc="-82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예측 프로세스</a:t>
            </a:r>
            <a:endParaRPr lang="en-US" sz="1867" b="1" spc="-82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35031A0-ADC5-5590-BDE6-6C81B463DE7E}"/>
              </a:ext>
            </a:extLst>
          </p:cNvPr>
          <p:cNvSpPr txBox="1"/>
          <p:nvPr/>
        </p:nvSpPr>
        <p:spPr>
          <a:xfrm>
            <a:off x="9422918" y="1356887"/>
            <a:ext cx="157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ko-KR" altLang="en-US" sz="1867" b="1" spc="-82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결과 평가</a:t>
            </a:r>
            <a:endParaRPr lang="en-US" sz="1867" b="1" spc="-82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F5280C-4865-012D-F083-E4D2997EF05A}"/>
              </a:ext>
            </a:extLst>
          </p:cNvPr>
          <p:cNvSpPr/>
          <p:nvPr/>
        </p:nvSpPr>
        <p:spPr>
          <a:xfrm>
            <a:off x="683709" y="1896887"/>
            <a:ext cx="2490000" cy="2520000"/>
          </a:xfrm>
          <a:prstGeom prst="roundRect">
            <a:avLst>
              <a:gd name="adj" fmla="val 748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B0D263C-5479-0D7A-8202-DD27464D5D0B}"/>
              </a:ext>
            </a:extLst>
          </p:cNvPr>
          <p:cNvSpPr/>
          <p:nvPr/>
        </p:nvSpPr>
        <p:spPr>
          <a:xfrm>
            <a:off x="683709" y="4656887"/>
            <a:ext cx="2490000" cy="2010000"/>
          </a:xfrm>
          <a:prstGeom prst="roundRect">
            <a:avLst>
              <a:gd name="adj" fmla="val 11191"/>
            </a:avLst>
          </a:prstGeom>
          <a:solidFill>
            <a:srgbClr val="DD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F5DC60E-CCE5-EFC9-4DA2-4CE5C2B36087}"/>
              </a:ext>
            </a:extLst>
          </p:cNvPr>
          <p:cNvSpPr/>
          <p:nvPr/>
        </p:nvSpPr>
        <p:spPr>
          <a:xfrm>
            <a:off x="937992" y="2046888"/>
            <a:ext cx="645717" cy="645717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812CC7D-383F-F8BE-4CB3-FDE411D2DF70}"/>
              </a:ext>
            </a:extLst>
          </p:cNvPr>
          <p:cNvSpPr>
            <a:spLocks noEditPoints="1"/>
          </p:cNvSpPr>
          <p:nvPr/>
        </p:nvSpPr>
        <p:spPr bwMode="auto">
          <a:xfrm>
            <a:off x="1116992" y="2265665"/>
            <a:ext cx="308697" cy="240000"/>
          </a:xfrm>
          <a:custGeom>
            <a:avLst/>
            <a:gdLst>
              <a:gd name="T0" fmla="*/ 200 w 293"/>
              <a:gd name="T1" fmla="*/ 80 h 187"/>
              <a:gd name="T2" fmla="*/ 240 w 293"/>
              <a:gd name="T3" fmla="*/ 40 h 187"/>
              <a:gd name="T4" fmla="*/ 200 w 293"/>
              <a:gd name="T5" fmla="*/ 0 h 187"/>
              <a:gd name="T6" fmla="*/ 160 w 293"/>
              <a:gd name="T7" fmla="*/ 40 h 187"/>
              <a:gd name="T8" fmla="*/ 200 w 293"/>
              <a:gd name="T9" fmla="*/ 80 h 187"/>
              <a:gd name="T10" fmla="*/ 200 w 293"/>
              <a:gd name="T11" fmla="*/ 80 h 187"/>
              <a:gd name="T12" fmla="*/ 93 w 293"/>
              <a:gd name="T13" fmla="*/ 80 h 187"/>
              <a:gd name="T14" fmla="*/ 133 w 293"/>
              <a:gd name="T15" fmla="*/ 40 h 187"/>
              <a:gd name="T16" fmla="*/ 93 w 293"/>
              <a:gd name="T17" fmla="*/ 0 h 187"/>
              <a:gd name="T18" fmla="*/ 53 w 293"/>
              <a:gd name="T19" fmla="*/ 40 h 187"/>
              <a:gd name="T20" fmla="*/ 93 w 293"/>
              <a:gd name="T21" fmla="*/ 80 h 187"/>
              <a:gd name="T22" fmla="*/ 93 w 293"/>
              <a:gd name="T23" fmla="*/ 80 h 187"/>
              <a:gd name="T24" fmla="*/ 93 w 293"/>
              <a:gd name="T25" fmla="*/ 107 h 187"/>
              <a:gd name="T26" fmla="*/ 0 w 293"/>
              <a:gd name="T27" fmla="*/ 154 h 187"/>
              <a:gd name="T28" fmla="*/ 0 w 293"/>
              <a:gd name="T29" fmla="*/ 187 h 187"/>
              <a:gd name="T30" fmla="*/ 187 w 293"/>
              <a:gd name="T31" fmla="*/ 187 h 187"/>
              <a:gd name="T32" fmla="*/ 187 w 293"/>
              <a:gd name="T33" fmla="*/ 154 h 187"/>
              <a:gd name="T34" fmla="*/ 93 w 293"/>
              <a:gd name="T35" fmla="*/ 107 h 187"/>
              <a:gd name="T36" fmla="*/ 93 w 293"/>
              <a:gd name="T37" fmla="*/ 107 h 187"/>
              <a:gd name="T38" fmla="*/ 200 w 293"/>
              <a:gd name="T39" fmla="*/ 107 h 187"/>
              <a:gd name="T40" fmla="*/ 187 w 293"/>
              <a:gd name="T41" fmla="*/ 108 h 187"/>
              <a:gd name="T42" fmla="*/ 213 w 293"/>
              <a:gd name="T43" fmla="*/ 154 h 187"/>
              <a:gd name="T44" fmla="*/ 213 w 293"/>
              <a:gd name="T45" fmla="*/ 187 h 187"/>
              <a:gd name="T46" fmla="*/ 293 w 293"/>
              <a:gd name="T47" fmla="*/ 187 h 187"/>
              <a:gd name="T48" fmla="*/ 293 w 293"/>
              <a:gd name="T49" fmla="*/ 154 h 187"/>
              <a:gd name="T50" fmla="*/ 200 w 293"/>
              <a:gd name="T51" fmla="*/ 107 h 187"/>
              <a:gd name="T52" fmla="*/ 200 w 293"/>
              <a:gd name="T53" fmla="*/ 107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93" h="187">
                <a:moveTo>
                  <a:pt x="200" y="80"/>
                </a:moveTo>
                <a:cubicBezTo>
                  <a:pt x="222" y="80"/>
                  <a:pt x="240" y="62"/>
                  <a:pt x="240" y="40"/>
                </a:cubicBezTo>
                <a:cubicBezTo>
                  <a:pt x="240" y="18"/>
                  <a:pt x="222" y="0"/>
                  <a:pt x="200" y="0"/>
                </a:cubicBezTo>
                <a:cubicBezTo>
                  <a:pt x="178" y="0"/>
                  <a:pt x="160" y="18"/>
                  <a:pt x="160" y="40"/>
                </a:cubicBezTo>
                <a:cubicBezTo>
                  <a:pt x="160" y="62"/>
                  <a:pt x="178" y="80"/>
                  <a:pt x="200" y="80"/>
                </a:cubicBezTo>
                <a:lnTo>
                  <a:pt x="200" y="80"/>
                </a:lnTo>
                <a:close/>
                <a:moveTo>
                  <a:pt x="93" y="80"/>
                </a:moveTo>
                <a:cubicBezTo>
                  <a:pt x="115" y="80"/>
                  <a:pt x="133" y="62"/>
                  <a:pt x="133" y="40"/>
                </a:cubicBezTo>
                <a:cubicBezTo>
                  <a:pt x="133" y="18"/>
                  <a:pt x="115" y="0"/>
                  <a:pt x="93" y="0"/>
                </a:cubicBezTo>
                <a:cubicBezTo>
                  <a:pt x="71" y="0"/>
                  <a:pt x="53" y="18"/>
                  <a:pt x="53" y="40"/>
                </a:cubicBezTo>
                <a:cubicBezTo>
                  <a:pt x="53" y="62"/>
                  <a:pt x="71" y="80"/>
                  <a:pt x="93" y="80"/>
                </a:cubicBezTo>
                <a:lnTo>
                  <a:pt x="93" y="80"/>
                </a:lnTo>
                <a:close/>
                <a:moveTo>
                  <a:pt x="93" y="107"/>
                </a:moveTo>
                <a:cubicBezTo>
                  <a:pt x="62" y="107"/>
                  <a:pt x="0" y="123"/>
                  <a:pt x="0" y="154"/>
                </a:cubicBezTo>
                <a:lnTo>
                  <a:pt x="0" y="187"/>
                </a:lnTo>
                <a:lnTo>
                  <a:pt x="187" y="187"/>
                </a:lnTo>
                <a:lnTo>
                  <a:pt x="187" y="154"/>
                </a:lnTo>
                <a:cubicBezTo>
                  <a:pt x="187" y="123"/>
                  <a:pt x="124" y="107"/>
                  <a:pt x="93" y="107"/>
                </a:cubicBezTo>
                <a:lnTo>
                  <a:pt x="93" y="107"/>
                </a:lnTo>
                <a:close/>
                <a:moveTo>
                  <a:pt x="200" y="107"/>
                </a:moveTo>
                <a:cubicBezTo>
                  <a:pt x="196" y="107"/>
                  <a:pt x="192" y="107"/>
                  <a:pt x="187" y="108"/>
                </a:cubicBezTo>
                <a:cubicBezTo>
                  <a:pt x="203" y="119"/>
                  <a:pt x="213" y="134"/>
                  <a:pt x="213" y="154"/>
                </a:cubicBezTo>
                <a:lnTo>
                  <a:pt x="213" y="187"/>
                </a:lnTo>
                <a:lnTo>
                  <a:pt x="293" y="187"/>
                </a:lnTo>
                <a:lnTo>
                  <a:pt x="293" y="154"/>
                </a:lnTo>
                <a:cubicBezTo>
                  <a:pt x="293" y="123"/>
                  <a:pt x="231" y="107"/>
                  <a:pt x="200" y="107"/>
                </a:cubicBezTo>
                <a:lnTo>
                  <a:pt x="200" y="10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endParaRPr lang="ko-KR" altLang="en-US" sz="1200"/>
          </a:p>
        </p:txBody>
      </p:sp>
      <p:sp>
        <p:nvSpPr>
          <p:cNvPr id="15" name="Rectangle 948">
            <a:extLst>
              <a:ext uri="{FF2B5EF4-FFF2-40B4-BE49-F238E27FC236}">
                <a16:creationId xmlns:a16="http://schemas.microsoft.com/office/drawing/2014/main" id="{89C5EAB6-B1A4-A7A7-442A-4D5659C8C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709" y="2166888"/>
            <a:ext cx="1110000" cy="41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설문조사</a:t>
            </a:r>
            <a:endParaRPr lang="en-US" altLang="ko-KR" sz="1333" b="1" dirty="0">
              <a:latin typeface="+mj-ea"/>
              <a:ea typeface="+mj-ea"/>
            </a:endParaRPr>
          </a:p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고객 데이터</a:t>
            </a:r>
            <a:endParaRPr lang="ko-KR" altLang="ko-KR" sz="1333" b="1" dirty="0">
              <a:latin typeface="+mj-ea"/>
              <a:ea typeface="+mj-ea"/>
            </a:endParaRPr>
          </a:p>
        </p:txBody>
      </p:sp>
      <p:sp>
        <p:nvSpPr>
          <p:cNvPr id="16" name="Rectangle 948">
            <a:extLst>
              <a:ext uri="{FF2B5EF4-FFF2-40B4-BE49-F238E27FC236}">
                <a16:creationId xmlns:a16="http://schemas.microsoft.com/office/drawing/2014/main" id="{EE7068CC-7714-7090-0319-A61EFDCA5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709" y="2826887"/>
            <a:ext cx="2070000" cy="1231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연령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성별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가구형태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</a:t>
            </a:r>
            <a:b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</a:b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결혼여부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월소득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맞벌이여부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소비성향 세그먼트 및 스코어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355618" lvl="1" indent="-177809">
              <a:buFont typeface="Arial" panose="020B0604020202020204" pitchFamily="34" charset="0"/>
              <a:buChar char="•"/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실속형 미식가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355618" lvl="1" indent="-177809">
              <a:buFont typeface="Arial" panose="020B0604020202020204" pitchFamily="34" charset="0"/>
              <a:buChar char="•"/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건강 추구형 소비자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355618" lvl="1" indent="-177809">
              <a:buFont typeface="Arial" panose="020B0604020202020204" pitchFamily="34" charset="0"/>
              <a:buChar char="•"/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트렌드 주도형 소비자</a:t>
            </a:r>
            <a:r>
              <a:rPr lang="en-US" altLang="ko-KR" sz="1067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 </a:t>
            </a:r>
            <a:endParaRPr lang="ko-KR" altLang="ko-KR" sz="1067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66963ED-54A5-31B4-CE7B-CF6E4B18D14D}"/>
              </a:ext>
            </a:extLst>
          </p:cNvPr>
          <p:cNvSpPr/>
          <p:nvPr/>
        </p:nvSpPr>
        <p:spPr>
          <a:xfrm>
            <a:off x="1583709" y="4236887"/>
            <a:ext cx="600000" cy="600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" name="십자형 18">
            <a:extLst>
              <a:ext uri="{FF2B5EF4-FFF2-40B4-BE49-F238E27FC236}">
                <a16:creationId xmlns:a16="http://schemas.microsoft.com/office/drawing/2014/main" id="{8D7D317B-EF0B-24E7-7EA9-FDBC2E4C56A9}"/>
              </a:ext>
            </a:extLst>
          </p:cNvPr>
          <p:cNvSpPr/>
          <p:nvPr/>
        </p:nvSpPr>
        <p:spPr>
          <a:xfrm>
            <a:off x="1643709" y="4296887"/>
            <a:ext cx="480000" cy="480000"/>
          </a:xfrm>
          <a:prstGeom prst="plus">
            <a:avLst>
              <a:gd name="adj" fmla="val 377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BED569F-B271-B8B8-F9A6-6C8928C938C9}"/>
              </a:ext>
            </a:extLst>
          </p:cNvPr>
          <p:cNvSpPr/>
          <p:nvPr/>
        </p:nvSpPr>
        <p:spPr>
          <a:xfrm>
            <a:off x="937992" y="4881170"/>
            <a:ext cx="645717" cy="645717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pic>
        <p:nvPicPr>
          <p:cNvPr id="21" name="그래픽 20" descr="테이블 차림 단색으로 채워진">
            <a:extLst>
              <a:ext uri="{FF2B5EF4-FFF2-40B4-BE49-F238E27FC236}">
                <a16:creationId xmlns:a16="http://schemas.microsoft.com/office/drawing/2014/main" id="{F2FAF325-1306-34D7-4649-9A3503C44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309" y="4971170"/>
            <a:ext cx="470400" cy="470400"/>
          </a:xfrm>
          <a:prstGeom prst="rect">
            <a:avLst/>
          </a:prstGeom>
        </p:spPr>
      </p:pic>
      <p:sp>
        <p:nvSpPr>
          <p:cNvPr id="23" name="Rectangle 948">
            <a:extLst>
              <a:ext uri="{FF2B5EF4-FFF2-40B4-BE49-F238E27FC236}">
                <a16:creationId xmlns:a16="http://schemas.microsoft.com/office/drawing/2014/main" id="{BB70B7CF-4E6D-BBD6-E6C5-3F8592C2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709" y="5001171"/>
            <a:ext cx="1110000" cy="41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판매 제품 데이터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24" name="Rectangle 948">
            <a:extLst>
              <a:ext uri="{FF2B5EF4-FFF2-40B4-BE49-F238E27FC236}">
                <a16:creationId xmlns:a16="http://schemas.microsoft.com/office/drawing/2014/main" id="{A0F15468-85F9-185E-7380-F56450159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709" y="5659984"/>
            <a:ext cx="207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제품명 및 제품 특징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가격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후기수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경쟁상품 비교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제품별 시장 규모 등</a:t>
            </a:r>
            <a:endParaRPr lang="ko-KR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478E301-6A9F-E4C5-7E55-B8FDAD5FB662}"/>
              </a:ext>
            </a:extLst>
          </p:cNvPr>
          <p:cNvSpPr/>
          <p:nvPr/>
        </p:nvSpPr>
        <p:spPr>
          <a:xfrm>
            <a:off x="8933709" y="1896887"/>
            <a:ext cx="2490000" cy="2280000"/>
          </a:xfrm>
          <a:prstGeom prst="roundRect">
            <a:avLst>
              <a:gd name="adj" fmla="val 986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235E111-D2F8-C839-C277-ED07991D8D2E}"/>
              </a:ext>
            </a:extLst>
          </p:cNvPr>
          <p:cNvSpPr/>
          <p:nvPr/>
        </p:nvSpPr>
        <p:spPr>
          <a:xfrm>
            <a:off x="8933709" y="4416887"/>
            <a:ext cx="2490000" cy="2250000"/>
          </a:xfrm>
          <a:prstGeom prst="roundRect">
            <a:avLst/>
          </a:prstGeom>
          <a:solidFill>
            <a:srgbClr val="DDEFF5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D167CD1-EF23-CE6E-C680-B400DB826AF2}"/>
              </a:ext>
            </a:extLst>
          </p:cNvPr>
          <p:cNvSpPr/>
          <p:nvPr/>
        </p:nvSpPr>
        <p:spPr>
          <a:xfrm>
            <a:off x="9187992" y="2046888"/>
            <a:ext cx="645717" cy="6457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0" name="Rectangle 948">
            <a:extLst>
              <a:ext uri="{FF2B5EF4-FFF2-40B4-BE49-F238E27FC236}">
                <a16:creationId xmlns:a16="http://schemas.microsoft.com/office/drawing/2014/main" id="{D4CCFF10-C836-5D0F-7061-FEF0CCF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3709" y="2166888"/>
            <a:ext cx="1110000" cy="41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/>
            <a:r>
              <a:rPr lang="ko-KR" altLang="en-US" sz="1333" b="1" dirty="0" err="1">
                <a:latin typeface="+mj-ea"/>
                <a:ea typeface="+mj-ea"/>
              </a:rPr>
              <a:t>다콘</a:t>
            </a:r>
            <a:endParaRPr lang="en-US" altLang="ko-KR" sz="1333" b="1" dirty="0">
              <a:latin typeface="+mj-ea"/>
              <a:ea typeface="+mj-ea"/>
            </a:endParaRPr>
          </a:p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리더보드</a:t>
            </a:r>
            <a:endParaRPr lang="ko-KR" altLang="ko-KR" sz="1333" b="1" dirty="0">
              <a:latin typeface="+mj-ea"/>
              <a:ea typeface="+mj-ea"/>
            </a:endParaRPr>
          </a:p>
        </p:txBody>
      </p:sp>
      <p:sp>
        <p:nvSpPr>
          <p:cNvPr id="31" name="Rectangle 948">
            <a:extLst>
              <a:ext uri="{FF2B5EF4-FFF2-40B4-BE49-F238E27FC236}">
                <a16:creationId xmlns:a16="http://schemas.microsoft.com/office/drawing/2014/main" id="{160C94CE-9AE2-B083-219E-CAD8A7CEA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3709" y="2856887"/>
            <a:ext cx="207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예측 데이터와 실제 데이터를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en-US" altLang="ko-KR" sz="1067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SMAPE </a:t>
            </a:r>
            <a:r>
              <a:rPr lang="ko-KR" altLang="en-US" sz="1067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방식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으로 평가하여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제출물에 대한 실시간 점수 반환</a:t>
            </a:r>
            <a:endParaRPr lang="ko-KR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2D4BCCF-B273-377D-EA5C-7110FB4AC8FB}"/>
              </a:ext>
            </a:extLst>
          </p:cNvPr>
          <p:cNvSpPr/>
          <p:nvPr/>
        </p:nvSpPr>
        <p:spPr>
          <a:xfrm>
            <a:off x="9187992" y="4806888"/>
            <a:ext cx="645717" cy="645717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6" name="Rectangle 948">
            <a:extLst>
              <a:ext uri="{FF2B5EF4-FFF2-40B4-BE49-F238E27FC236}">
                <a16:creationId xmlns:a16="http://schemas.microsoft.com/office/drawing/2014/main" id="{C9E3D97E-DBFB-A2D7-A87D-F865EE2FD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3709" y="4926888"/>
            <a:ext cx="1110000" cy="41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/>
            <a:r>
              <a:rPr lang="en-US" altLang="ko-KR" sz="1333" b="1" dirty="0">
                <a:latin typeface="+mj-ea"/>
                <a:ea typeface="+mj-ea"/>
              </a:rPr>
              <a:t>LLM </a:t>
            </a:r>
            <a:r>
              <a:rPr lang="ko-KR" altLang="en-US" sz="1333" b="1" dirty="0" err="1">
                <a:latin typeface="+mj-ea"/>
                <a:ea typeface="+mj-ea"/>
              </a:rPr>
              <a:t>모델별</a:t>
            </a:r>
            <a:endParaRPr lang="en-US" altLang="ko-KR" sz="1333" b="1" dirty="0">
              <a:latin typeface="+mj-ea"/>
              <a:ea typeface="+mj-ea"/>
            </a:endParaRPr>
          </a:p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교차 검증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37" name="Rectangle 948">
            <a:extLst>
              <a:ext uri="{FF2B5EF4-FFF2-40B4-BE49-F238E27FC236}">
                <a16:creationId xmlns:a16="http://schemas.microsoft.com/office/drawing/2014/main" id="{92DC6FA2-8E9D-89EA-A08A-1200AD1C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3709" y="5616887"/>
            <a:ext cx="207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GPT-5, Claude, </a:t>
            </a:r>
            <a:r>
              <a:rPr lang="en-US" altLang="ko-KR" sz="10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eXaone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등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동일 프롬프트에 대한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모델별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점수 검증</a:t>
            </a:r>
            <a:endParaRPr lang="ko-KR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9758DE4-20E4-E53B-C600-A44DB145FE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000" y="-351000"/>
            <a:ext cx="254000" cy="254000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14F14DF4-8612-FCD4-E918-BD655ABC5AC3}"/>
              </a:ext>
            </a:extLst>
          </p:cNvPr>
          <p:cNvGrpSpPr/>
          <p:nvPr/>
        </p:nvGrpSpPr>
        <p:grpSpPr>
          <a:xfrm>
            <a:off x="4073709" y="2076888"/>
            <a:ext cx="1482001" cy="1542542"/>
            <a:chOff x="5678999" y="2059511"/>
            <a:chExt cx="2223001" cy="2313813"/>
          </a:xfrm>
        </p:grpSpPr>
        <p:sp>
          <p:nvSpPr>
            <p:cNvPr id="38" name="갈매기형 수장 1">
              <a:extLst>
                <a:ext uri="{FF2B5EF4-FFF2-40B4-BE49-F238E27FC236}">
                  <a16:creationId xmlns:a16="http://schemas.microsoft.com/office/drawing/2014/main" id="{4CA00E9E-3871-048D-71E6-7D0C892F3CC5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8194C2B-F937-D761-1996-D94B37222399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3E2B0CA2-435E-2D22-68C3-5570E1F34701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10DA64-C5C3-5512-DF5D-E321AFFD0E8F}"/>
                </a:ext>
              </a:extLst>
            </p:cNvPr>
            <p:cNvSpPr txBox="1"/>
            <p:nvPr/>
          </p:nvSpPr>
          <p:spPr>
            <a:xfrm>
              <a:off x="5769000" y="3658500"/>
              <a:ext cx="1354791" cy="35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33" b="1" dirty="0">
                  <a:solidFill>
                    <a:schemeClr val="bg1"/>
                  </a:solidFill>
                  <a:latin typeface="+mn-ea"/>
                </a:rPr>
                <a:t>LLM</a:t>
              </a:r>
              <a:endParaRPr lang="ko-KR" altLang="en-US" sz="933" b="1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9" name="그래픽 48" descr="뇌 단색으로 채워진">
              <a:extLst>
                <a:ext uri="{FF2B5EF4-FFF2-40B4-BE49-F238E27FC236}">
                  <a16:creationId xmlns:a16="http://schemas.microsoft.com/office/drawing/2014/main" id="{56BDE1BA-B035-8B41-BDDF-53201D271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8999" y="2824511"/>
              <a:ext cx="779400" cy="779400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A5B0A66-8624-C40A-3974-969C3764FA7C}"/>
              </a:ext>
            </a:extLst>
          </p:cNvPr>
          <p:cNvGrpSpPr/>
          <p:nvPr/>
        </p:nvGrpSpPr>
        <p:grpSpPr>
          <a:xfrm>
            <a:off x="4073709" y="3516888"/>
            <a:ext cx="1482001" cy="1542542"/>
            <a:chOff x="5678999" y="2059511"/>
            <a:chExt cx="2223001" cy="2313813"/>
          </a:xfrm>
        </p:grpSpPr>
        <p:sp>
          <p:nvSpPr>
            <p:cNvPr id="56" name="갈매기형 수장 1">
              <a:extLst>
                <a:ext uri="{FF2B5EF4-FFF2-40B4-BE49-F238E27FC236}">
                  <a16:creationId xmlns:a16="http://schemas.microsoft.com/office/drawing/2014/main" id="{7149D481-954A-0823-DABA-D4A27756ECC7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8024C469-C0F3-0B8A-88C3-1B1E912803BA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B1C6371-5971-3614-7A11-C7F15C168C4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265A5DB-1A10-12B3-C178-1744E9F2DFE4}"/>
                </a:ext>
              </a:extLst>
            </p:cNvPr>
            <p:cNvSpPr txBox="1"/>
            <p:nvPr/>
          </p:nvSpPr>
          <p:spPr>
            <a:xfrm>
              <a:off x="5769000" y="3658500"/>
              <a:ext cx="1354791" cy="35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33" b="1" dirty="0" err="1">
                  <a:solidFill>
                    <a:schemeClr val="bg1"/>
                  </a:solidFill>
                  <a:latin typeface="+mn-ea"/>
                </a:rPr>
                <a:t>Extenal</a:t>
              </a:r>
              <a:endParaRPr lang="ko-KR" altLang="en-US" sz="933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0899D3C-E6B0-883D-474F-26BAD42F2B37}"/>
              </a:ext>
            </a:extLst>
          </p:cNvPr>
          <p:cNvGrpSpPr/>
          <p:nvPr/>
        </p:nvGrpSpPr>
        <p:grpSpPr>
          <a:xfrm>
            <a:off x="4073709" y="4896888"/>
            <a:ext cx="1482001" cy="1542542"/>
            <a:chOff x="5678999" y="2059511"/>
            <a:chExt cx="2223001" cy="2313813"/>
          </a:xfrm>
        </p:grpSpPr>
        <p:sp>
          <p:nvSpPr>
            <p:cNvPr id="62" name="갈매기형 수장 1">
              <a:extLst>
                <a:ext uri="{FF2B5EF4-FFF2-40B4-BE49-F238E27FC236}">
                  <a16:creationId xmlns:a16="http://schemas.microsoft.com/office/drawing/2014/main" id="{A83E8BB8-6577-0A7C-8A58-111742C16F32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88C1DBA-E627-88F3-F988-E2AAFF05E6D8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0FE2B4C5-23D3-F3F5-0D10-ECCBAB602454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34BFB31-A3E4-40CF-E533-F3E5CEE0B6E9}"/>
                </a:ext>
              </a:extLst>
            </p:cNvPr>
            <p:cNvSpPr txBox="1"/>
            <p:nvPr/>
          </p:nvSpPr>
          <p:spPr>
            <a:xfrm>
              <a:off x="5769000" y="3658500"/>
              <a:ext cx="1354791" cy="35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33" b="1" dirty="0">
                  <a:solidFill>
                    <a:schemeClr val="bg1"/>
                  </a:solidFill>
                  <a:latin typeface="+mn-ea"/>
                </a:rPr>
                <a:t>Predict</a:t>
              </a:r>
              <a:endParaRPr lang="ko-KR" altLang="en-US" sz="933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8" name="Rectangle 948">
            <a:extLst>
              <a:ext uri="{FF2B5EF4-FFF2-40B4-BE49-F238E27FC236}">
                <a16:creationId xmlns:a16="http://schemas.microsoft.com/office/drawing/2014/main" id="{3ED0F80C-ECFD-B20F-F8B0-36F7E0892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2209984"/>
            <a:ext cx="2070000" cy="26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en-US" altLang="ko-KR" sz="1333" b="1" dirty="0">
                <a:latin typeface="+mj-ea"/>
                <a:ea typeface="+mj-ea"/>
              </a:rPr>
              <a:t>LLM</a:t>
            </a:r>
            <a:r>
              <a:rPr lang="ko-KR" altLang="en-US" sz="1333" b="1" dirty="0">
                <a:latin typeface="+mj-ea"/>
                <a:ea typeface="+mj-ea"/>
              </a:rPr>
              <a:t> 질의 및 답변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70" name="Rectangle 948">
            <a:extLst>
              <a:ext uri="{FF2B5EF4-FFF2-40B4-BE49-F238E27FC236}">
                <a16:creationId xmlns:a16="http://schemas.microsoft.com/office/drawing/2014/main" id="{9FD13496-E59E-19DD-43E5-0E3E87BC5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2599984"/>
            <a:ext cx="222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통합된 프롬프트로 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페르소나 구축</a:t>
            </a:r>
            <a:b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</a:b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고객 맞춤형 구매 가능성</a:t>
            </a: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선호도 등 예측 결과 도출</a:t>
            </a:r>
          </a:p>
        </p:txBody>
      </p:sp>
      <p:sp>
        <p:nvSpPr>
          <p:cNvPr id="71" name="Rectangle 948">
            <a:extLst>
              <a:ext uri="{FF2B5EF4-FFF2-40B4-BE49-F238E27FC236}">
                <a16:creationId xmlns:a16="http://schemas.microsoft.com/office/drawing/2014/main" id="{EC851289-BF66-9E7A-D6F0-96D1EEE74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3709984"/>
            <a:ext cx="2070000" cy="26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333" b="1" dirty="0">
                <a:latin typeface="+mj-ea"/>
                <a:ea typeface="+mj-ea"/>
              </a:rPr>
              <a:t>외생 변수 계산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72" name="Rectangle 948">
            <a:extLst>
              <a:ext uri="{FF2B5EF4-FFF2-40B4-BE49-F238E27FC236}">
                <a16:creationId xmlns:a16="http://schemas.microsoft.com/office/drawing/2014/main" id="{1F2D29F4-0294-63D0-E45B-F697FE2CF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4099984"/>
            <a:ext cx="231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월별 판매추이</a:t>
            </a: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검색량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트랜드</a:t>
            </a: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시장규모 및 제품별 차등 계수</a:t>
            </a: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페르소나 증강 계수 등 계산</a:t>
            </a:r>
          </a:p>
        </p:txBody>
      </p:sp>
      <p:sp>
        <p:nvSpPr>
          <p:cNvPr id="73" name="Rectangle 948">
            <a:extLst>
              <a:ext uri="{FF2B5EF4-FFF2-40B4-BE49-F238E27FC236}">
                <a16:creationId xmlns:a16="http://schemas.microsoft.com/office/drawing/2014/main" id="{15ED770E-4AE3-4574-FC5F-5904E66AB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5126206"/>
            <a:ext cx="2070000" cy="26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333" b="1" dirty="0" err="1">
                <a:latin typeface="+mj-ea"/>
                <a:ea typeface="+mj-ea"/>
              </a:rPr>
              <a:t>구매량</a:t>
            </a:r>
            <a:r>
              <a:rPr lang="ko-KR" altLang="en-US" sz="1333" b="1" dirty="0">
                <a:latin typeface="+mj-ea"/>
                <a:ea typeface="+mj-ea"/>
              </a:rPr>
              <a:t> 예측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74" name="Rectangle 948">
            <a:extLst>
              <a:ext uri="{FF2B5EF4-FFF2-40B4-BE49-F238E27FC236}">
                <a16:creationId xmlns:a16="http://schemas.microsoft.com/office/drawing/2014/main" id="{2901CA35-F908-99CB-5009-951E34E40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5516205"/>
            <a:ext cx="207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LLM 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답변 내용과 외생변수의 </a:t>
            </a:r>
            <a:endParaRPr lang="en-US" altLang="ko-KR" sz="1067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계산을 통한 월별 </a:t>
            </a:r>
            <a:r>
              <a:rPr lang="ko-KR" altLang="en-US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구매량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endParaRPr lang="en-US" altLang="ko-KR" sz="1067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예측 산출물 출력</a:t>
            </a:r>
          </a:p>
        </p:txBody>
      </p:sp>
      <p:sp>
        <p:nvSpPr>
          <p:cNvPr id="75" name="Freeform 1032">
            <a:extLst>
              <a:ext uri="{FF2B5EF4-FFF2-40B4-BE49-F238E27FC236}">
                <a16:creationId xmlns:a16="http://schemas.microsoft.com/office/drawing/2014/main" id="{E66AFCFF-9844-2051-1647-402E86298FE6}"/>
              </a:ext>
            </a:extLst>
          </p:cNvPr>
          <p:cNvSpPr>
            <a:spLocks noEditPoints="1"/>
          </p:cNvSpPr>
          <p:nvPr/>
        </p:nvSpPr>
        <p:spPr bwMode="auto">
          <a:xfrm>
            <a:off x="4313709" y="4086887"/>
            <a:ext cx="510000" cy="420000"/>
          </a:xfrm>
          <a:custGeom>
            <a:avLst/>
            <a:gdLst>
              <a:gd name="T0" fmla="*/ 260 w 260"/>
              <a:gd name="T1" fmla="*/ 242 h 259"/>
              <a:gd name="T2" fmla="*/ 260 w 260"/>
              <a:gd name="T3" fmla="*/ 259 h 259"/>
              <a:gd name="T4" fmla="*/ 0 w 260"/>
              <a:gd name="T5" fmla="*/ 259 h 259"/>
              <a:gd name="T6" fmla="*/ 0 w 260"/>
              <a:gd name="T7" fmla="*/ 0 h 259"/>
              <a:gd name="T8" fmla="*/ 16 w 260"/>
              <a:gd name="T9" fmla="*/ 0 h 259"/>
              <a:gd name="T10" fmla="*/ 16 w 260"/>
              <a:gd name="T11" fmla="*/ 242 h 259"/>
              <a:gd name="T12" fmla="*/ 260 w 260"/>
              <a:gd name="T13" fmla="*/ 242 h 259"/>
              <a:gd name="T14" fmla="*/ 116 w 260"/>
              <a:gd name="T15" fmla="*/ 90 h 259"/>
              <a:gd name="T16" fmla="*/ 182 w 260"/>
              <a:gd name="T17" fmla="*/ 107 h 259"/>
              <a:gd name="T18" fmla="*/ 205 w 260"/>
              <a:gd name="T19" fmla="*/ 66 h 259"/>
              <a:gd name="T20" fmla="*/ 224 w 260"/>
              <a:gd name="T21" fmla="*/ 81 h 259"/>
              <a:gd name="T22" fmla="*/ 227 w 260"/>
              <a:gd name="T23" fmla="*/ 14 h 259"/>
              <a:gd name="T24" fmla="*/ 170 w 260"/>
              <a:gd name="T25" fmla="*/ 47 h 259"/>
              <a:gd name="T26" fmla="*/ 191 w 260"/>
              <a:gd name="T27" fmla="*/ 59 h 259"/>
              <a:gd name="T28" fmla="*/ 175 w 260"/>
              <a:gd name="T29" fmla="*/ 88 h 259"/>
              <a:gd name="T30" fmla="*/ 111 w 260"/>
              <a:gd name="T31" fmla="*/ 71 h 259"/>
              <a:gd name="T32" fmla="*/ 42 w 260"/>
              <a:gd name="T33" fmla="*/ 140 h 259"/>
              <a:gd name="T34" fmla="*/ 54 w 260"/>
              <a:gd name="T35" fmla="*/ 152 h 259"/>
              <a:gd name="T36" fmla="*/ 116 w 260"/>
              <a:gd name="T37" fmla="*/ 90 h 259"/>
              <a:gd name="T38" fmla="*/ 97 w 260"/>
              <a:gd name="T39" fmla="*/ 226 h 259"/>
              <a:gd name="T40" fmla="*/ 130 w 260"/>
              <a:gd name="T41" fmla="*/ 226 h 259"/>
              <a:gd name="T42" fmla="*/ 130 w 260"/>
              <a:gd name="T43" fmla="*/ 109 h 259"/>
              <a:gd name="T44" fmla="*/ 120 w 260"/>
              <a:gd name="T45" fmla="*/ 107 h 259"/>
              <a:gd name="T46" fmla="*/ 97 w 260"/>
              <a:gd name="T47" fmla="*/ 131 h 259"/>
              <a:gd name="T48" fmla="*/ 97 w 260"/>
              <a:gd name="T49" fmla="*/ 226 h 259"/>
              <a:gd name="T50" fmla="*/ 49 w 260"/>
              <a:gd name="T51" fmla="*/ 169 h 259"/>
              <a:gd name="T52" fmla="*/ 49 w 260"/>
              <a:gd name="T53" fmla="*/ 226 h 259"/>
              <a:gd name="T54" fmla="*/ 80 w 260"/>
              <a:gd name="T55" fmla="*/ 226 h 259"/>
              <a:gd name="T56" fmla="*/ 80 w 260"/>
              <a:gd name="T57" fmla="*/ 147 h 259"/>
              <a:gd name="T58" fmla="*/ 54 w 260"/>
              <a:gd name="T59" fmla="*/ 173 h 259"/>
              <a:gd name="T60" fmla="*/ 49 w 260"/>
              <a:gd name="T61" fmla="*/ 169 h 259"/>
              <a:gd name="T62" fmla="*/ 194 w 260"/>
              <a:gd name="T63" fmla="*/ 116 h 259"/>
              <a:gd name="T64" fmla="*/ 194 w 260"/>
              <a:gd name="T65" fmla="*/ 226 h 259"/>
              <a:gd name="T66" fmla="*/ 227 w 260"/>
              <a:gd name="T67" fmla="*/ 226 h 259"/>
              <a:gd name="T68" fmla="*/ 227 w 260"/>
              <a:gd name="T69" fmla="*/ 100 h 259"/>
              <a:gd name="T70" fmla="*/ 210 w 260"/>
              <a:gd name="T71" fmla="*/ 90 h 259"/>
              <a:gd name="T72" fmla="*/ 194 w 260"/>
              <a:gd name="T73" fmla="*/ 116 h 259"/>
              <a:gd name="T74" fmla="*/ 177 w 260"/>
              <a:gd name="T75" fmla="*/ 226 h 259"/>
              <a:gd name="T76" fmla="*/ 177 w 260"/>
              <a:gd name="T77" fmla="*/ 121 h 259"/>
              <a:gd name="T78" fmla="*/ 146 w 260"/>
              <a:gd name="T79" fmla="*/ 114 h 259"/>
              <a:gd name="T80" fmla="*/ 146 w 260"/>
              <a:gd name="T81" fmla="*/ 226 h 259"/>
              <a:gd name="T82" fmla="*/ 177 w 260"/>
              <a:gd name="T83" fmla="*/ 226 h 259"/>
              <a:gd name="T84" fmla="*/ 177 w 260"/>
              <a:gd name="T85" fmla="*/ 226 h 259"/>
              <a:gd name="T86" fmla="*/ 177 w 260"/>
              <a:gd name="T87" fmla="*/ 226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0" h="259">
                <a:moveTo>
                  <a:pt x="260" y="242"/>
                </a:moveTo>
                <a:lnTo>
                  <a:pt x="260" y="259"/>
                </a:lnTo>
                <a:lnTo>
                  <a:pt x="0" y="259"/>
                </a:lnTo>
                <a:lnTo>
                  <a:pt x="0" y="0"/>
                </a:lnTo>
                <a:lnTo>
                  <a:pt x="16" y="0"/>
                </a:lnTo>
                <a:lnTo>
                  <a:pt x="16" y="242"/>
                </a:lnTo>
                <a:lnTo>
                  <a:pt x="260" y="242"/>
                </a:lnTo>
                <a:close/>
                <a:moveTo>
                  <a:pt x="116" y="90"/>
                </a:moveTo>
                <a:lnTo>
                  <a:pt x="182" y="107"/>
                </a:lnTo>
                <a:lnTo>
                  <a:pt x="205" y="66"/>
                </a:lnTo>
                <a:lnTo>
                  <a:pt x="224" y="81"/>
                </a:lnTo>
                <a:lnTo>
                  <a:pt x="227" y="14"/>
                </a:lnTo>
                <a:lnTo>
                  <a:pt x="170" y="47"/>
                </a:lnTo>
                <a:lnTo>
                  <a:pt x="191" y="59"/>
                </a:lnTo>
                <a:lnTo>
                  <a:pt x="175" y="88"/>
                </a:lnTo>
                <a:lnTo>
                  <a:pt x="111" y="71"/>
                </a:lnTo>
                <a:lnTo>
                  <a:pt x="42" y="140"/>
                </a:lnTo>
                <a:lnTo>
                  <a:pt x="54" y="152"/>
                </a:lnTo>
                <a:lnTo>
                  <a:pt x="116" y="90"/>
                </a:lnTo>
                <a:close/>
                <a:moveTo>
                  <a:pt x="97" y="226"/>
                </a:moveTo>
                <a:lnTo>
                  <a:pt x="130" y="226"/>
                </a:lnTo>
                <a:lnTo>
                  <a:pt x="130" y="109"/>
                </a:lnTo>
                <a:lnTo>
                  <a:pt x="120" y="107"/>
                </a:lnTo>
                <a:lnTo>
                  <a:pt x="97" y="131"/>
                </a:lnTo>
                <a:lnTo>
                  <a:pt x="97" y="226"/>
                </a:lnTo>
                <a:close/>
                <a:moveTo>
                  <a:pt x="49" y="169"/>
                </a:moveTo>
                <a:lnTo>
                  <a:pt x="49" y="226"/>
                </a:lnTo>
                <a:lnTo>
                  <a:pt x="80" y="226"/>
                </a:lnTo>
                <a:lnTo>
                  <a:pt x="80" y="147"/>
                </a:lnTo>
                <a:lnTo>
                  <a:pt x="54" y="173"/>
                </a:lnTo>
                <a:lnTo>
                  <a:pt x="49" y="169"/>
                </a:lnTo>
                <a:close/>
                <a:moveTo>
                  <a:pt x="194" y="116"/>
                </a:moveTo>
                <a:lnTo>
                  <a:pt x="194" y="226"/>
                </a:lnTo>
                <a:lnTo>
                  <a:pt x="227" y="226"/>
                </a:lnTo>
                <a:lnTo>
                  <a:pt x="227" y="100"/>
                </a:lnTo>
                <a:lnTo>
                  <a:pt x="210" y="90"/>
                </a:lnTo>
                <a:lnTo>
                  <a:pt x="194" y="116"/>
                </a:lnTo>
                <a:close/>
                <a:moveTo>
                  <a:pt x="177" y="226"/>
                </a:moveTo>
                <a:lnTo>
                  <a:pt x="177" y="121"/>
                </a:lnTo>
                <a:lnTo>
                  <a:pt x="146" y="114"/>
                </a:lnTo>
                <a:lnTo>
                  <a:pt x="146" y="226"/>
                </a:lnTo>
                <a:lnTo>
                  <a:pt x="177" y="226"/>
                </a:lnTo>
                <a:close/>
                <a:moveTo>
                  <a:pt x="177" y="226"/>
                </a:moveTo>
                <a:lnTo>
                  <a:pt x="177" y="22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endParaRPr lang="ko-KR" altLang="en-US" sz="1200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344CD9F-4ECD-5F1C-868F-D55A4186271B}"/>
              </a:ext>
            </a:extLst>
          </p:cNvPr>
          <p:cNvGrpSpPr/>
          <p:nvPr/>
        </p:nvGrpSpPr>
        <p:grpSpPr>
          <a:xfrm>
            <a:off x="9323709" y="2226888"/>
            <a:ext cx="363008" cy="306917"/>
            <a:chOff x="1572131" y="3768482"/>
            <a:chExt cx="544512" cy="460375"/>
          </a:xfrm>
          <a:solidFill>
            <a:srgbClr val="F2F2F2"/>
          </a:solidFill>
        </p:grpSpPr>
        <p:sp>
          <p:nvSpPr>
            <p:cNvPr id="80" name="Freeform 1499">
              <a:extLst>
                <a:ext uri="{FF2B5EF4-FFF2-40B4-BE49-F238E27FC236}">
                  <a16:creationId xmlns:a16="http://schemas.microsoft.com/office/drawing/2014/main" id="{449F9242-96EF-B390-C109-1C8F12E9F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631" y="4165357"/>
              <a:ext cx="417512" cy="63500"/>
            </a:xfrm>
            <a:custGeom>
              <a:avLst/>
              <a:gdLst>
                <a:gd name="T0" fmla="*/ 250 w 263"/>
                <a:gd name="T1" fmla="*/ 27 h 40"/>
                <a:gd name="T2" fmla="*/ 184 w 263"/>
                <a:gd name="T3" fmla="*/ 27 h 40"/>
                <a:gd name="T4" fmla="*/ 184 w 263"/>
                <a:gd name="T5" fmla="*/ 14 h 40"/>
                <a:gd name="T6" fmla="*/ 184 w 263"/>
                <a:gd name="T7" fmla="*/ 14 h 40"/>
                <a:gd name="T8" fmla="*/ 184 w 263"/>
                <a:gd name="T9" fmla="*/ 7 h 40"/>
                <a:gd name="T10" fmla="*/ 181 w 263"/>
                <a:gd name="T11" fmla="*/ 4 h 40"/>
                <a:gd name="T12" fmla="*/ 178 w 263"/>
                <a:gd name="T13" fmla="*/ 0 h 40"/>
                <a:gd name="T14" fmla="*/ 171 w 263"/>
                <a:gd name="T15" fmla="*/ 0 h 40"/>
                <a:gd name="T16" fmla="*/ 92 w 263"/>
                <a:gd name="T17" fmla="*/ 0 h 40"/>
                <a:gd name="T18" fmla="*/ 92 w 263"/>
                <a:gd name="T19" fmla="*/ 0 h 40"/>
                <a:gd name="T20" fmla="*/ 85 w 263"/>
                <a:gd name="T21" fmla="*/ 4 h 40"/>
                <a:gd name="T22" fmla="*/ 82 w 263"/>
                <a:gd name="T23" fmla="*/ 7 h 40"/>
                <a:gd name="T24" fmla="*/ 79 w 263"/>
                <a:gd name="T25" fmla="*/ 14 h 40"/>
                <a:gd name="T26" fmla="*/ 79 w 263"/>
                <a:gd name="T27" fmla="*/ 27 h 40"/>
                <a:gd name="T28" fmla="*/ 13 w 263"/>
                <a:gd name="T29" fmla="*/ 27 h 40"/>
                <a:gd name="T30" fmla="*/ 13 w 263"/>
                <a:gd name="T31" fmla="*/ 27 h 40"/>
                <a:gd name="T32" fmla="*/ 6 w 263"/>
                <a:gd name="T33" fmla="*/ 27 h 40"/>
                <a:gd name="T34" fmla="*/ 3 w 263"/>
                <a:gd name="T35" fmla="*/ 30 h 40"/>
                <a:gd name="T36" fmla="*/ 0 w 263"/>
                <a:gd name="T37" fmla="*/ 40 h 40"/>
                <a:gd name="T38" fmla="*/ 263 w 263"/>
                <a:gd name="T39" fmla="*/ 40 h 40"/>
                <a:gd name="T40" fmla="*/ 263 w 263"/>
                <a:gd name="T41" fmla="*/ 40 h 40"/>
                <a:gd name="T42" fmla="*/ 263 w 263"/>
                <a:gd name="T43" fmla="*/ 33 h 40"/>
                <a:gd name="T44" fmla="*/ 260 w 263"/>
                <a:gd name="T45" fmla="*/ 30 h 40"/>
                <a:gd name="T46" fmla="*/ 257 w 263"/>
                <a:gd name="T47" fmla="*/ 27 h 40"/>
                <a:gd name="T48" fmla="*/ 250 w 263"/>
                <a:gd name="T49" fmla="*/ 27 h 40"/>
                <a:gd name="T50" fmla="*/ 250 w 263"/>
                <a:gd name="T51" fmla="*/ 2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3" h="40">
                  <a:moveTo>
                    <a:pt x="250" y="27"/>
                  </a:moveTo>
                  <a:lnTo>
                    <a:pt x="184" y="27"/>
                  </a:lnTo>
                  <a:lnTo>
                    <a:pt x="184" y="14"/>
                  </a:lnTo>
                  <a:lnTo>
                    <a:pt x="184" y="14"/>
                  </a:lnTo>
                  <a:lnTo>
                    <a:pt x="184" y="7"/>
                  </a:lnTo>
                  <a:lnTo>
                    <a:pt x="181" y="4"/>
                  </a:lnTo>
                  <a:lnTo>
                    <a:pt x="178" y="0"/>
                  </a:lnTo>
                  <a:lnTo>
                    <a:pt x="171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85" y="4"/>
                  </a:lnTo>
                  <a:lnTo>
                    <a:pt x="82" y="7"/>
                  </a:lnTo>
                  <a:lnTo>
                    <a:pt x="79" y="14"/>
                  </a:lnTo>
                  <a:lnTo>
                    <a:pt x="79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6" y="27"/>
                  </a:lnTo>
                  <a:lnTo>
                    <a:pt x="3" y="30"/>
                  </a:lnTo>
                  <a:lnTo>
                    <a:pt x="0" y="40"/>
                  </a:lnTo>
                  <a:lnTo>
                    <a:pt x="263" y="40"/>
                  </a:lnTo>
                  <a:lnTo>
                    <a:pt x="263" y="40"/>
                  </a:lnTo>
                  <a:lnTo>
                    <a:pt x="263" y="33"/>
                  </a:lnTo>
                  <a:lnTo>
                    <a:pt x="260" y="30"/>
                  </a:lnTo>
                  <a:lnTo>
                    <a:pt x="257" y="27"/>
                  </a:lnTo>
                  <a:lnTo>
                    <a:pt x="250" y="27"/>
                  </a:lnTo>
                  <a:lnTo>
                    <a:pt x="25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  <p:sp>
          <p:nvSpPr>
            <p:cNvPr id="81" name="Freeform 1500">
              <a:extLst>
                <a:ext uri="{FF2B5EF4-FFF2-40B4-BE49-F238E27FC236}">
                  <a16:creationId xmlns:a16="http://schemas.microsoft.com/office/drawing/2014/main" id="{CF16114F-F685-10C5-D12D-8E50354F8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2131" y="3768482"/>
              <a:ext cx="544512" cy="376238"/>
            </a:xfrm>
            <a:custGeom>
              <a:avLst/>
              <a:gdLst>
                <a:gd name="T0" fmla="*/ 330 w 343"/>
                <a:gd name="T1" fmla="*/ 0 h 237"/>
                <a:gd name="T2" fmla="*/ 13 w 343"/>
                <a:gd name="T3" fmla="*/ 0 h 237"/>
                <a:gd name="T4" fmla="*/ 13 w 343"/>
                <a:gd name="T5" fmla="*/ 0 h 237"/>
                <a:gd name="T6" fmla="*/ 7 w 343"/>
                <a:gd name="T7" fmla="*/ 0 h 237"/>
                <a:gd name="T8" fmla="*/ 3 w 343"/>
                <a:gd name="T9" fmla="*/ 3 h 237"/>
                <a:gd name="T10" fmla="*/ 0 w 343"/>
                <a:gd name="T11" fmla="*/ 7 h 237"/>
                <a:gd name="T12" fmla="*/ 0 w 343"/>
                <a:gd name="T13" fmla="*/ 13 h 237"/>
                <a:gd name="T14" fmla="*/ 0 w 343"/>
                <a:gd name="T15" fmla="*/ 224 h 237"/>
                <a:gd name="T16" fmla="*/ 0 w 343"/>
                <a:gd name="T17" fmla="*/ 224 h 237"/>
                <a:gd name="T18" fmla="*/ 0 w 343"/>
                <a:gd name="T19" fmla="*/ 231 h 237"/>
                <a:gd name="T20" fmla="*/ 3 w 343"/>
                <a:gd name="T21" fmla="*/ 234 h 237"/>
                <a:gd name="T22" fmla="*/ 7 w 343"/>
                <a:gd name="T23" fmla="*/ 237 h 237"/>
                <a:gd name="T24" fmla="*/ 13 w 343"/>
                <a:gd name="T25" fmla="*/ 237 h 237"/>
                <a:gd name="T26" fmla="*/ 330 w 343"/>
                <a:gd name="T27" fmla="*/ 237 h 237"/>
                <a:gd name="T28" fmla="*/ 330 w 343"/>
                <a:gd name="T29" fmla="*/ 237 h 237"/>
                <a:gd name="T30" fmla="*/ 336 w 343"/>
                <a:gd name="T31" fmla="*/ 237 h 237"/>
                <a:gd name="T32" fmla="*/ 340 w 343"/>
                <a:gd name="T33" fmla="*/ 234 h 237"/>
                <a:gd name="T34" fmla="*/ 343 w 343"/>
                <a:gd name="T35" fmla="*/ 231 h 237"/>
                <a:gd name="T36" fmla="*/ 343 w 343"/>
                <a:gd name="T37" fmla="*/ 224 h 237"/>
                <a:gd name="T38" fmla="*/ 343 w 343"/>
                <a:gd name="T39" fmla="*/ 13 h 237"/>
                <a:gd name="T40" fmla="*/ 343 w 343"/>
                <a:gd name="T41" fmla="*/ 13 h 237"/>
                <a:gd name="T42" fmla="*/ 343 w 343"/>
                <a:gd name="T43" fmla="*/ 7 h 237"/>
                <a:gd name="T44" fmla="*/ 340 w 343"/>
                <a:gd name="T45" fmla="*/ 3 h 237"/>
                <a:gd name="T46" fmla="*/ 336 w 343"/>
                <a:gd name="T47" fmla="*/ 0 h 237"/>
                <a:gd name="T48" fmla="*/ 330 w 343"/>
                <a:gd name="T49" fmla="*/ 0 h 237"/>
                <a:gd name="T50" fmla="*/ 330 w 343"/>
                <a:gd name="T51" fmla="*/ 0 h 237"/>
                <a:gd name="T52" fmla="*/ 317 w 343"/>
                <a:gd name="T53" fmla="*/ 198 h 237"/>
                <a:gd name="T54" fmla="*/ 26 w 343"/>
                <a:gd name="T55" fmla="*/ 198 h 237"/>
                <a:gd name="T56" fmla="*/ 26 w 343"/>
                <a:gd name="T57" fmla="*/ 26 h 237"/>
                <a:gd name="T58" fmla="*/ 317 w 343"/>
                <a:gd name="T59" fmla="*/ 26 h 237"/>
                <a:gd name="T60" fmla="*/ 317 w 343"/>
                <a:gd name="T61" fmla="*/ 198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3" h="237">
                  <a:moveTo>
                    <a:pt x="330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31"/>
                  </a:lnTo>
                  <a:lnTo>
                    <a:pt x="3" y="234"/>
                  </a:lnTo>
                  <a:lnTo>
                    <a:pt x="7" y="237"/>
                  </a:lnTo>
                  <a:lnTo>
                    <a:pt x="13" y="237"/>
                  </a:lnTo>
                  <a:lnTo>
                    <a:pt x="330" y="237"/>
                  </a:lnTo>
                  <a:lnTo>
                    <a:pt x="330" y="237"/>
                  </a:lnTo>
                  <a:lnTo>
                    <a:pt x="336" y="237"/>
                  </a:lnTo>
                  <a:lnTo>
                    <a:pt x="340" y="234"/>
                  </a:lnTo>
                  <a:lnTo>
                    <a:pt x="343" y="231"/>
                  </a:lnTo>
                  <a:lnTo>
                    <a:pt x="343" y="224"/>
                  </a:lnTo>
                  <a:lnTo>
                    <a:pt x="343" y="13"/>
                  </a:lnTo>
                  <a:lnTo>
                    <a:pt x="343" y="13"/>
                  </a:lnTo>
                  <a:lnTo>
                    <a:pt x="343" y="7"/>
                  </a:lnTo>
                  <a:lnTo>
                    <a:pt x="340" y="3"/>
                  </a:lnTo>
                  <a:lnTo>
                    <a:pt x="336" y="0"/>
                  </a:lnTo>
                  <a:lnTo>
                    <a:pt x="330" y="0"/>
                  </a:lnTo>
                  <a:lnTo>
                    <a:pt x="330" y="0"/>
                  </a:lnTo>
                  <a:close/>
                  <a:moveTo>
                    <a:pt x="317" y="198"/>
                  </a:moveTo>
                  <a:lnTo>
                    <a:pt x="26" y="198"/>
                  </a:lnTo>
                  <a:lnTo>
                    <a:pt x="26" y="26"/>
                  </a:lnTo>
                  <a:lnTo>
                    <a:pt x="317" y="26"/>
                  </a:lnTo>
                  <a:lnTo>
                    <a:pt x="317" y="1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</p:grpSp>
      <p:sp>
        <p:nvSpPr>
          <p:cNvPr id="82" name="Freeform 103">
            <a:extLst>
              <a:ext uri="{FF2B5EF4-FFF2-40B4-BE49-F238E27FC236}">
                <a16:creationId xmlns:a16="http://schemas.microsoft.com/office/drawing/2014/main" id="{1BDA4F77-DDE9-77F0-F13B-4B862CAE3705}"/>
              </a:ext>
            </a:extLst>
          </p:cNvPr>
          <p:cNvSpPr/>
          <p:nvPr/>
        </p:nvSpPr>
        <p:spPr>
          <a:xfrm rot="5400000">
            <a:off x="4343709" y="5406888"/>
            <a:ext cx="499705" cy="499705"/>
          </a:xfrm>
          <a:custGeom>
            <a:avLst/>
            <a:gdLst>
              <a:gd name="connsiteX0" fmla="*/ 1200727 w 1838037"/>
              <a:gd name="connsiteY0" fmla="*/ 189346 h 1838037"/>
              <a:gd name="connsiteX1" fmla="*/ 1200727 w 1838037"/>
              <a:gd name="connsiteY1" fmla="*/ 0 h 1838037"/>
              <a:gd name="connsiteX2" fmla="*/ 1838037 w 1838037"/>
              <a:gd name="connsiteY2" fmla="*/ 0 h 1838037"/>
              <a:gd name="connsiteX3" fmla="*/ 1838037 w 1838037"/>
              <a:gd name="connsiteY3" fmla="*/ 637310 h 1838037"/>
              <a:gd name="connsiteX4" fmla="*/ 1648691 w 1838037"/>
              <a:gd name="connsiteY4" fmla="*/ 637310 h 1838037"/>
              <a:gd name="connsiteX5" fmla="*/ 1648691 w 1838037"/>
              <a:gd name="connsiteY5" fmla="*/ 189346 h 1838037"/>
              <a:gd name="connsiteX6" fmla="*/ 1200727 w 1838037"/>
              <a:gd name="connsiteY6" fmla="*/ 1838037 h 1838037"/>
              <a:gd name="connsiteX7" fmla="*/ 1200727 w 1838037"/>
              <a:gd name="connsiteY7" fmla="*/ 1648692 h 1838037"/>
              <a:gd name="connsiteX8" fmla="*/ 1648691 w 1838037"/>
              <a:gd name="connsiteY8" fmla="*/ 1648692 h 1838037"/>
              <a:gd name="connsiteX9" fmla="*/ 1648691 w 1838037"/>
              <a:gd name="connsiteY9" fmla="*/ 1200729 h 1838037"/>
              <a:gd name="connsiteX10" fmla="*/ 1838037 w 1838037"/>
              <a:gd name="connsiteY10" fmla="*/ 1200729 h 1838037"/>
              <a:gd name="connsiteX11" fmla="*/ 1838037 w 1838037"/>
              <a:gd name="connsiteY11" fmla="*/ 1838037 h 1838037"/>
              <a:gd name="connsiteX12" fmla="*/ 967509 w 1838037"/>
              <a:gd name="connsiteY12" fmla="*/ 870528 h 1838037"/>
              <a:gd name="connsiteX13" fmla="*/ 1193347 w 1838037"/>
              <a:gd name="connsiteY13" fmla="*/ 870528 h 1838037"/>
              <a:gd name="connsiteX14" fmla="*/ 1188015 w 1838037"/>
              <a:gd name="connsiteY14" fmla="*/ 835262 h 1838037"/>
              <a:gd name="connsiteX15" fmla="*/ 1028653 w 1838037"/>
              <a:gd name="connsiteY15" fmla="*/ 659493 h 1838037"/>
              <a:gd name="connsiteX16" fmla="*/ 967509 w 1838037"/>
              <a:gd name="connsiteY16" fmla="*/ 647149 h 1838037"/>
              <a:gd name="connsiteX17" fmla="*/ 967509 w 1838037"/>
              <a:gd name="connsiteY17" fmla="*/ 1190889 h 1838037"/>
              <a:gd name="connsiteX18" fmla="*/ 1028653 w 1838037"/>
              <a:gd name="connsiteY18" fmla="*/ 1178545 h 1838037"/>
              <a:gd name="connsiteX19" fmla="*/ 1188015 w 1838037"/>
              <a:gd name="connsiteY19" fmla="*/ 1002776 h 1838037"/>
              <a:gd name="connsiteX20" fmla="*/ 1193347 w 1838037"/>
              <a:gd name="connsiteY20" fmla="*/ 967510 h 1838037"/>
              <a:gd name="connsiteX21" fmla="*/ 967509 w 1838037"/>
              <a:gd name="connsiteY21" fmla="*/ 967510 h 1838037"/>
              <a:gd name="connsiteX22" fmla="*/ 644689 w 1838037"/>
              <a:gd name="connsiteY22" fmla="*/ 870528 h 1838037"/>
              <a:gd name="connsiteX23" fmla="*/ 870527 w 1838037"/>
              <a:gd name="connsiteY23" fmla="*/ 870528 h 1838037"/>
              <a:gd name="connsiteX24" fmla="*/ 870527 w 1838037"/>
              <a:gd name="connsiteY24" fmla="*/ 647149 h 1838037"/>
              <a:gd name="connsiteX25" fmla="*/ 809383 w 1838037"/>
              <a:gd name="connsiteY25" fmla="*/ 659493 h 1838037"/>
              <a:gd name="connsiteX26" fmla="*/ 650021 w 1838037"/>
              <a:gd name="connsiteY26" fmla="*/ 835262 h 1838037"/>
              <a:gd name="connsiteX27" fmla="*/ 644689 w 1838037"/>
              <a:gd name="connsiteY27" fmla="*/ 967510 h 1838037"/>
              <a:gd name="connsiteX28" fmla="*/ 650021 w 1838037"/>
              <a:gd name="connsiteY28" fmla="*/ 1002776 h 1838037"/>
              <a:gd name="connsiteX29" fmla="*/ 809383 w 1838037"/>
              <a:gd name="connsiteY29" fmla="*/ 1178545 h 1838037"/>
              <a:gd name="connsiteX30" fmla="*/ 870527 w 1838037"/>
              <a:gd name="connsiteY30" fmla="*/ 1190889 h 1838037"/>
              <a:gd name="connsiteX31" fmla="*/ 870527 w 1838037"/>
              <a:gd name="connsiteY31" fmla="*/ 967510 h 1838037"/>
              <a:gd name="connsiteX32" fmla="*/ 297476 w 1838037"/>
              <a:gd name="connsiteY32" fmla="*/ 967510 h 1838037"/>
              <a:gd name="connsiteX33" fmla="*/ 297476 w 1838037"/>
              <a:gd name="connsiteY33" fmla="*/ 870528 h 1838037"/>
              <a:gd name="connsiteX34" fmla="*/ 544894 w 1838037"/>
              <a:gd name="connsiteY34" fmla="*/ 870528 h 1838037"/>
              <a:gd name="connsiteX35" fmla="*/ 546526 w 1838037"/>
              <a:gd name="connsiteY35" fmla="*/ 852036 h 1838037"/>
              <a:gd name="connsiteX36" fmla="*/ 842756 w 1838037"/>
              <a:gd name="connsiteY36" fmla="*/ 548305 h 1838037"/>
              <a:gd name="connsiteX37" fmla="*/ 870527 w 1838037"/>
              <a:gd name="connsiteY37" fmla="*/ 545506 h 1838037"/>
              <a:gd name="connsiteX38" fmla="*/ 870527 w 1838037"/>
              <a:gd name="connsiteY38" fmla="*/ 297477 h 1838037"/>
              <a:gd name="connsiteX39" fmla="*/ 967509 w 1838037"/>
              <a:gd name="connsiteY39" fmla="*/ 297477 h 1838037"/>
              <a:gd name="connsiteX40" fmla="*/ 967509 w 1838037"/>
              <a:gd name="connsiteY40" fmla="*/ 545506 h 1838037"/>
              <a:gd name="connsiteX41" fmla="*/ 995280 w 1838037"/>
              <a:gd name="connsiteY41" fmla="*/ 548305 h 1838037"/>
              <a:gd name="connsiteX42" fmla="*/ 1291510 w 1838037"/>
              <a:gd name="connsiteY42" fmla="*/ 852036 h 1838037"/>
              <a:gd name="connsiteX43" fmla="*/ 1293142 w 1838037"/>
              <a:gd name="connsiteY43" fmla="*/ 870528 h 1838037"/>
              <a:gd name="connsiteX44" fmla="*/ 1540560 w 1838037"/>
              <a:gd name="connsiteY44" fmla="*/ 870528 h 1838037"/>
              <a:gd name="connsiteX45" fmla="*/ 1540560 w 1838037"/>
              <a:gd name="connsiteY45" fmla="*/ 967510 h 1838037"/>
              <a:gd name="connsiteX46" fmla="*/ 1293142 w 1838037"/>
              <a:gd name="connsiteY46" fmla="*/ 967510 h 1838037"/>
              <a:gd name="connsiteX47" fmla="*/ 1291510 w 1838037"/>
              <a:gd name="connsiteY47" fmla="*/ 986003 h 1838037"/>
              <a:gd name="connsiteX48" fmla="*/ 995280 w 1838037"/>
              <a:gd name="connsiteY48" fmla="*/ 1289733 h 1838037"/>
              <a:gd name="connsiteX49" fmla="*/ 967509 w 1838037"/>
              <a:gd name="connsiteY49" fmla="*/ 1292533 h 1838037"/>
              <a:gd name="connsiteX50" fmla="*/ 967509 w 1838037"/>
              <a:gd name="connsiteY50" fmla="*/ 1540561 h 1838037"/>
              <a:gd name="connsiteX51" fmla="*/ 870527 w 1838037"/>
              <a:gd name="connsiteY51" fmla="*/ 1540561 h 1838037"/>
              <a:gd name="connsiteX52" fmla="*/ 870527 w 1838037"/>
              <a:gd name="connsiteY52" fmla="*/ 1292533 h 1838037"/>
              <a:gd name="connsiteX53" fmla="*/ 842756 w 1838037"/>
              <a:gd name="connsiteY53" fmla="*/ 1289733 h 1838037"/>
              <a:gd name="connsiteX54" fmla="*/ 546526 w 1838037"/>
              <a:gd name="connsiteY54" fmla="*/ 986003 h 1838037"/>
              <a:gd name="connsiteX55" fmla="*/ 544894 w 1838037"/>
              <a:gd name="connsiteY55" fmla="*/ 967510 h 1838037"/>
              <a:gd name="connsiteX56" fmla="*/ 0 w 1838037"/>
              <a:gd name="connsiteY56" fmla="*/ 637310 h 1838037"/>
              <a:gd name="connsiteX57" fmla="*/ 0 w 1838037"/>
              <a:gd name="connsiteY57" fmla="*/ 0 h 1838037"/>
              <a:gd name="connsiteX58" fmla="*/ 637308 w 1838037"/>
              <a:gd name="connsiteY58" fmla="*/ 0 h 1838037"/>
              <a:gd name="connsiteX59" fmla="*/ 637308 w 1838037"/>
              <a:gd name="connsiteY59" fmla="*/ 189346 h 1838037"/>
              <a:gd name="connsiteX60" fmla="*/ 189345 w 1838037"/>
              <a:gd name="connsiteY60" fmla="*/ 189346 h 1838037"/>
              <a:gd name="connsiteX61" fmla="*/ 189345 w 1838037"/>
              <a:gd name="connsiteY61" fmla="*/ 637310 h 1838037"/>
              <a:gd name="connsiteX62" fmla="*/ 0 w 1838037"/>
              <a:gd name="connsiteY62" fmla="*/ 1838037 h 1838037"/>
              <a:gd name="connsiteX63" fmla="*/ 0 w 1838037"/>
              <a:gd name="connsiteY63" fmla="*/ 1200729 h 1838037"/>
              <a:gd name="connsiteX64" fmla="*/ 189345 w 1838037"/>
              <a:gd name="connsiteY64" fmla="*/ 1200729 h 1838037"/>
              <a:gd name="connsiteX65" fmla="*/ 189345 w 1838037"/>
              <a:gd name="connsiteY65" fmla="*/ 1648692 h 1838037"/>
              <a:gd name="connsiteX66" fmla="*/ 637308 w 1838037"/>
              <a:gd name="connsiteY66" fmla="*/ 1648692 h 1838037"/>
              <a:gd name="connsiteX67" fmla="*/ 637308 w 1838037"/>
              <a:gd name="connsiteY67" fmla="*/ 1838037 h 183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38037" h="1838037">
                <a:moveTo>
                  <a:pt x="1200727" y="189346"/>
                </a:moveTo>
                <a:lnTo>
                  <a:pt x="1200727" y="0"/>
                </a:lnTo>
                <a:lnTo>
                  <a:pt x="1838037" y="0"/>
                </a:lnTo>
                <a:lnTo>
                  <a:pt x="1838037" y="637310"/>
                </a:lnTo>
                <a:lnTo>
                  <a:pt x="1648691" y="637310"/>
                </a:lnTo>
                <a:lnTo>
                  <a:pt x="1648691" y="189346"/>
                </a:lnTo>
                <a:close/>
                <a:moveTo>
                  <a:pt x="1200727" y="1838037"/>
                </a:moveTo>
                <a:lnTo>
                  <a:pt x="1200727" y="1648692"/>
                </a:lnTo>
                <a:lnTo>
                  <a:pt x="1648691" y="1648692"/>
                </a:lnTo>
                <a:lnTo>
                  <a:pt x="1648691" y="1200729"/>
                </a:lnTo>
                <a:lnTo>
                  <a:pt x="1838037" y="1200729"/>
                </a:lnTo>
                <a:lnTo>
                  <a:pt x="1838037" y="1838037"/>
                </a:lnTo>
                <a:close/>
                <a:moveTo>
                  <a:pt x="967509" y="870528"/>
                </a:moveTo>
                <a:lnTo>
                  <a:pt x="1193347" y="870528"/>
                </a:lnTo>
                <a:lnTo>
                  <a:pt x="1188015" y="835262"/>
                </a:lnTo>
                <a:cubicBezTo>
                  <a:pt x="1163327" y="755886"/>
                  <a:pt x="1104472" y="691562"/>
                  <a:pt x="1028653" y="659493"/>
                </a:cubicBezTo>
                <a:lnTo>
                  <a:pt x="967509" y="647149"/>
                </a:lnTo>
                <a:close/>
                <a:moveTo>
                  <a:pt x="967509" y="1190889"/>
                </a:moveTo>
                <a:lnTo>
                  <a:pt x="1028653" y="1178545"/>
                </a:lnTo>
                <a:cubicBezTo>
                  <a:pt x="1104472" y="1146476"/>
                  <a:pt x="1163327" y="1082153"/>
                  <a:pt x="1188015" y="1002776"/>
                </a:cubicBezTo>
                <a:lnTo>
                  <a:pt x="1193347" y="967510"/>
                </a:lnTo>
                <a:lnTo>
                  <a:pt x="967509" y="967510"/>
                </a:lnTo>
                <a:close/>
                <a:moveTo>
                  <a:pt x="644689" y="870528"/>
                </a:moveTo>
                <a:lnTo>
                  <a:pt x="870527" y="870528"/>
                </a:lnTo>
                <a:lnTo>
                  <a:pt x="870527" y="647149"/>
                </a:lnTo>
                <a:lnTo>
                  <a:pt x="809383" y="659493"/>
                </a:lnTo>
                <a:cubicBezTo>
                  <a:pt x="733564" y="691562"/>
                  <a:pt x="674709" y="755886"/>
                  <a:pt x="650021" y="835262"/>
                </a:cubicBezTo>
                <a:close/>
                <a:moveTo>
                  <a:pt x="644689" y="967510"/>
                </a:moveTo>
                <a:lnTo>
                  <a:pt x="650021" y="1002776"/>
                </a:lnTo>
                <a:cubicBezTo>
                  <a:pt x="674709" y="1082153"/>
                  <a:pt x="733564" y="1146476"/>
                  <a:pt x="809383" y="1178545"/>
                </a:cubicBezTo>
                <a:lnTo>
                  <a:pt x="870527" y="1190889"/>
                </a:lnTo>
                <a:lnTo>
                  <a:pt x="870527" y="967510"/>
                </a:lnTo>
                <a:close/>
                <a:moveTo>
                  <a:pt x="297476" y="967510"/>
                </a:moveTo>
                <a:lnTo>
                  <a:pt x="297476" y="870528"/>
                </a:lnTo>
                <a:lnTo>
                  <a:pt x="544894" y="870528"/>
                </a:lnTo>
                <a:lnTo>
                  <a:pt x="546526" y="852036"/>
                </a:lnTo>
                <a:cubicBezTo>
                  <a:pt x="573711" y="699848"/>
                  <a:pt x="691879" y="579179"/>
                  <a:pt x="842756" y="548305"/>
                </a:cubicBezTo>
                <a:lnTo>
                  <a:pt x="870527" y="545506"/>
                </a:lnTo>
                <a:lnTo>
                  <a:pt x="870527" y="297477"/>
                </a:lnTo>
                <a:lnTo>
                  <a:pt x="967509" y="297477"/>
                </a:lnTo>
                <a:lnTo>
                  <a:pt x="967509" y="545506"/>
                </a:lnTo>
                <a:lnTo>
                  <a:pt x="995280" y="548305"/>
                </a:lnTo>
                <a:cubicBezTo>
                  <a:pt x="1146157" y="579179"/>
                  <a:pt x="1264325" y="699848"/>
                  <a:pt x="1291510" y="852036"/>
                </a:cubicBezTo>
                <a:lnTo>
                  <a:pt x="1293142" y="870528"/>
                </a:lnTo>
                <a:lnTo>
                  <a:pt x="1540560" y="870528"/>
                </a:lnTo>
                <a:lnTo>
                  <a:pt x="1540560" y="967510"/>
                </a:lnTo>
                <a:lnTo>
                  <a:pt x="1293142" y="967510"/>
                </a:lnTo>
                <a:lnTo>
                  <a:pt x="1291510" y="986003"/>
                </a:lnTo>
                <a:cubicBezTo>
                  <a:pt x="1264325" y="1138191"/>
                  <a:pt x="1146157" y="1258859"/>
                  <a:pt x="995280" y="1289733"/>
                </a:cubicBezTo>
                <a:lnTo>
                  <a:pt x="967509" y="1292533"/>
                </a:lnTo>
                <a:lnTo>
                  <a:pt x="967509" y="1540561"/>
                </a:lnTo>
                <a:lnTo>
                  <a:pt x="870527" y="1540561"/>
                </a:lnTo>
                <a:lnTo>
                  <a:pt x="870527" y="1292533"/>
                </a:lnTo>
                <a:lnTo>
                  <a:pt x="842756" y="1289733"/>
                </a:lnTo>
                <a:cubicBezTo>
                  <a:pt x="691879" y="1258859"/>
                  <a:pt x="573711" y="1138191"/>
                  <a:pt x="546526" y="986003"/>
                </a:cubicBezTo>
                <a:lnTo>
                  <a:pt x="544894" y="967510"/>
                </a:lnTo>
                <a:close/>
                <a:moveTo>
                  <a:pt x="0" y="637310"/>
                </a:moveTo>
                <a:lnTo>
                  <a:pt x="0" y="0"/>
                </a:lnTo>
                <a:lnTo>
                  <a:pt x="637308" y="0"/>
                </a:lnTo>
                <a:lnTo>
                  <a:pt x="637308" y="189346"/>
                </a:lnTo>
                <a:lnTo>
                  <a:pt x="189345" y="189346"/>
                </a:lnTo>
                <a:lnTo>
                  <a:pt x="189345" y="637310"/>
                </a:lnTo>
                <a:close/>
                <a:moveTo>
                  <a:pt x="0" y="1838037"/>
                </a:moveTo>
                <a:lnTo>
                  <a:pt x="0" y="1200729"/>
                </a:lnTo>
                <a:lnTo>
                  <a:pt x="189345" y="1200729"/>
                </a:lnTo>
                <a:lnTo>
                  <a:pt x="189345" y="1648692"/>
                </a:lnTo>
                <a:lnTo>
                  <a:pt x="637308" y="1648692"/>
                </a:lnTo>
                <a:lnTo>
                  <a:pt x="637308" y="18380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/>
          </a:p>
        </p:txBody>
      </p:sp>
      <p:pic>
        <p:nvPicPr>
          <p:cNvPr id="91" name="그래픽 90" descr="비즈니스 성장 단색으로 채워진">
            <a:extLst>
              <a:ext uri="{FF2B5EF4-FFF2-40B4-BE49-F238E27FC236}">
                <a16:creationId xmlns:a16="http://schemas.microsoft.com/office/drawing/2014/main" id="{FF01271B-1678-309E-9942-1D111E27DD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9263709" y="4866887"/>
            <a:ext cx="530000" cy="530000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F2B1B96C-2398-5DDF-FE6F-1EA36131CFBB}"/>
              </a:ext>
            </a:extLst>
          </p:cNvPr>
          <p:cNvSpPr/>
          <p:nvPr/>
        </p:nvSpPr>
        <p:spPr>
          <a:xfrm>
            <a:off x="586790" y="1815997"/>
            <a:ext cx="363002" cy="373582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1</a:t>
            </a:r>
            <a:endParaRPr lang="ko-KR" altLang="en-US" sz="2000" b="1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0F07CB0-2AD4-C00A-0D94-809773B8CC2E}"/>
              </a:ext>
            </a:extLst>
          </p:cNvPr>
          <p:cNvSpPr/>
          <p:nvPr/>
        </p:nvSpPr>
        <p:spPr>
          <a:xfrm>
            <a:off x="586790" y="4532346"/>
            <a:ext cx="363002" cy="373582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2</a:t>
            </a:r>
            <a:endParaRPr lang="ko-KR" altLang="en-US" sz="20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00078D4-721F-4E8A-6134-A23A804DE4FA}"/>
              </a:ext>
            </a:extLst>
          </p:cNvPr>
          <p:cNvSpPr/>
          <p:nvPr/>
        </p:nvSpPr>
        <p:spPr>
          <a:xfrm>
            <a:off x="3819617" y="3456737"/>
            <a:ext cx="363002" cy="373582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3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12083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FCB0-B513-807A-E17D-E397093A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26C2A911-6211-B6D2-E036-81098AAE657E}"/>
              </a:ext>
            </a:extLst>
          </p:cNvPr>
          <p:cNvSpPr/>
          <p:nvPr/>
        </p:nvSpPr>
        <p:spPr>
          <a:xfrm>
            <a:off x="3076575" y="716185"/>
            <a:ext cx="85040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071944E-63EB-26CB-4DA4-3927C8C7DFF1}"/>
              </a:ext>
            </a:extLst>
          </p:cNvPr>
          <p:cNvSpPr txBox="1"/>
          <p:nvPr/>
        </p:nvSpPr>
        <p:spPr>
          <a:xfrm>
            <a:off x="798069" y="530418"/>
            <a:ext cx="2490899" cy="33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1.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2061" b="1" spc="-131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5D2D118-A9D7-F5D9-98F3-55F7C76F95AB}"/>
              </a:ext>
            </a:extLst>
          </p:cNvPr>
          <p:cNvSpPr txBox="1"/>
          <p:nvPr/>
        </p:nvSpPr>
        <p:spPr>
          <a:xfrm>
            <a:off x="804419" y="1610872"/>
            <a:ext cx="5801581" cy="1500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 목표</a:t>
            </a: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34962" lvl="1" indent="-114306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34962" algn="l"/>
              </a:tabLst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결과를 토대로 가공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430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입체감 있는 소비자 페르소나를 생성하기 위한 인구통계학적 특성을 포함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430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K-means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군집분석 및 실루엣 계수를 활용한 세그먼트 도출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430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생성을 위한 기반 정보 제공을 위한 </a:t>
            </a:r>
            <a:r>
              <a:rPr lang="en-US" altLang="ko-KR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파일로 가공</a:t>
            </a:r>
            <a:endParaRPr lang="en-US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85DC4AA-50CF-908B-27A1-4B95EAD3ABEB}"/>
              </a:ext>
            </a:extLst>
          </p:cNvPr>
          <p:cNvSpPr txBox="1"/>
          <p:nvPr/>
        </p:nvSpPr>
        <p:spPr>
          <a:xfrm>
            <a:off x="804419" y="1143141"/>
            <a:ext cx="3010846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고객 데이터 분석 및 가공 계획</a:t>
            </a:r>
            <a:endParaRPr lang="en-US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F25EBB2-9734-5C74-8CE1-1BC1C906A32D}"/>
              </a:ext>
            </a:extLst>
          </p:cNvPr>
          <p:cNvSpPr txBox="1"/>
          <p:nvPr/>
        </p:nvSpPr>
        <p:spPr>
          <a:xfrm>
            <a:off x="805219" y="3444234"/>
            <a:ext cx="5890781" cy="2114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작업 과정</a:t>
            </a: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96348" lvl="1" indent="-174634">
              <a:lnSpc>
                <a:spcPct val="150000"/>
              </a:lnSpc>
              <a:buAutoNum type="arabicPeriod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질문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세트를 기반으로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7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가지 성향 카테고리를 정의 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96348" lvl="1" indent="-174634">
              <a:lnSpc>
                <a:spcPct val="150000"/>
              </a:lnSpc>
              <a:buAutoNum type="arabicPeriod"/>
            </a:pPr>
            <a:r>
              <a:rPr lang="ko-KR" altLang="en-US" sz="1333" dirty="0"/>
              <a:t>카테고리 분류를 위한 키워드 사전 작성 및 </a:t>
            </a:r>
            <a:r>
              <a:rPr lang="ko-KR" altLang="en-US" sz="1333" dirty="0" err="1"/>
              <a:t>태깅</a:t>
            </a:r>
            <a:r>
              <a:rPr lang="ko-KR" altLang="en-US" sz="1333" dirty="0"/>
              <a:t> </a:t>
            </a:r>
            <a:r>
              <a:rPr lang="en-US" altLang="ko-KR" sz="1333" dirty="0"/>
              <a:t>(</a:t>
            </a:r>
            <a:r>
              <a:rPr lang="ko-KR" altLang="en-US" sz="1333" dirty="0"/>
              <a:t>코딩</a:t>
            </a:r>
            <a:r>
              <a:rPr lang="en-US" altLang="ko-KR" sz="1333" dirty="0"/>
              <a:t>)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96348" lvl="1" indent="-174634">
              <a:lnSpc>
                <a:spcPct val="150000"/>
              </a:lnSpc>
              <a:buAutoNum type="arabicPeriod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필요한 질문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필터링 및 카테고리 세부 조정 및 스코어 작성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엑셀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296348" lvl="1" indent="-174634">
              <a:lnSpc>
                <a:spcPct val="150000"/>
              </a:lnSpc>
              <a:buFontTx/>
              <a:buAutoNum type="arabicPeriod"/>
            </a:pPr>
            <a:r>
              <a:rPr lang="ko-KR" altLang="en-US" sz="1333" dirty="0"/>
              <a:t>설문조사 결과에 대한 스코어 집계</a:t>
            </a:r>
            <a:r>
              <a:rPr lang="en-US" altLang="ko-KR" sz="1333" dirty="0"/>
              <a:t>(</a:t>
            </a:r>
            <a:r>
              <a:rPr lang="ko-KR" altLang="en-US" sz="1333" dirty="0"/>
              <a:t>코딩</a:t>
            </a:r>
            <a:r>
              <a:rPr lang="en-US" altLang="ko-KR" sz="1333" dirty="0"/>
              <a:t>)</a:t>
            </a:r>
            <a:endParaRPr lang="en-US" altLang="ko-KR" sz="1333" spc="-19" dirty="0">
              <a:solidFill>
                <a:srgbClr val="000000"/>
              </a:solidFill>
              <a:latin typeface="+mn-ea"/>
              <a:sym typeface="Source Han Sans KR"/>
            </a:endParaRPr>
          </a:p>
          <a:p>
            <a:pPr marL="296348" lvl="1" indent="-174634">
              <a:lnSpc>
                <a:spcPct val="150000"/>
              </a:lnSpc>
              <a:buFontTx/>
              <a:buAutoNum type="arabicPeriod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실루엣 계수를 이용한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K-means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최적 </a:t>
            </a:r>
            <a:r>
              <a:rPr lang="ko-KR" altLang="en-US" sz="1333" spc="-19" dirty="0" err="1">
                <a:solidFill>
                  <a:srgbClr val="000000"/>
                </a:solidFill>
                <a:latin typeface="+mn-ea"/>
                <a:sym typeface="Source Han Sans KR"/>
              </a:rPr>
              <a:t>군집수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 도출 및 군집 분석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  <a:p>
            <a:pPr marL="296348" lvl="1" indent="-174634">
              <a:lnSpc>
                <a:spcPct val="150000"/>
              </a:lnSpc>
              <a:buFontTx/>
              <a:buAutoNum type="arabicPeriod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인구통계학적 비율을 고려한 </a:t>
            </a:r>
            <a:r>
              <a:rPr lang="ko-KR" altLang="en-US" sz="1333" spc="-19" dirty="0" err="1">
                <a:solidFill>
                  <a:srgbClr val="000000"/>
                </a:solidFill>
                <a:latin typeface="+mn-ea"/>
                <a:sym typeface="Source Han Sans KR"/>
              </a:rPr>
              <a:t>층화랜덤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 추출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960F6C-219D-51DA-29BD-FDD89294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000" y="906086"/>
            <a:ext cx="3996487" cy="56502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1754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9C22-1A14-D9B6-1375-4767B742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6B79A35B-E9C0-0766-7E24-1CF60CBD8D4B}"/>
              </a:ext>
            </a:extLst>
          </p:cNvPr>
          <p:cNvSpPr txBox="1"/>
          <p:nvPr/>
        </p:nvSpPr>
        <p:spPr>
          <a:xfrm>
            <a:off x="804419" y="1209001"/>
            <a:ext cx="3010846" cy="24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sz="1600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질문지 카테고리 </a:t>
            </a:r>
            <a:r>
              <a:rPr lang="ko-KR" altLang="en-US" sz="1600" b="1" spc="-82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태깅</a:t>
            </a:r>
            <a:endParaRPr lang="en-US" sz="1600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1C7F5F-97B6-DBBC-1AC8-77407D600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88" y="1582157"/>
            <a:ext cx="3753274" cy="5056843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D33CC0D3-AC75-869F-0EE1-28A6F5A0C24C}"/>
              </a:ext>
            </a:extLst>
          </p:cNvPr>
          <p:cNvSpPr txBox="1"/>
          <p:nvPr/>
        </p:nvSpPr>
        <p:spPr>
          <a:xfrm>
            <a:off x="6636000" y="1209001"/>
            <a:ext cx="3990000" cy="248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sz="1600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설문 응답에 대한 점수 매핑 </a:t>
            </a:r>
            <a:r>
              <a:rPr lang="en-US" altLang="ko-KR" sz="1600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+ </a:t>
            </a:r>
            <a:r>
              <a:rPr lang="ko-KR" altLang="en-US" sz="1600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정규화</a:t>
            </a:r>
            <a:endParaRPr lang="en-US" sz="1600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E9F97A-6AFD-A76D-592B-3F170C32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823" y="1582157"/>
            <a:ext cx="3532177" cy="5076395"/>
          </a:xfrm>
          <a:prstGeom prst="rect">
            <a:avLst/>
          </a:prstGeom>
        </p:spPr>
      </p:pic>
      <p:sp>
        <p:nvSpPr>
          <p:cNvPr id="2" name="AutoShape 17">
            <a:extLst>
              <a:ext uri="{FF2B5EF4-FFF2-40B4-BE49-F238E27FC236}">
                <a16:creationId xmlns:a16="http://schemas.microsoft.com/office/drawing/2014/main" id="{9F7A4954-C08A-900E-3CCC-593BBBEED13A}"/>
              </a:ext>
            </a:extLst>
          </p:cNvPr>
          <p:cNvSpPr/>
          <p:nvPr/>
        </p:nvSpPr>
        <p:spPr>
          <a:xfrm>
            <a:off x="3076575" y="716185"/>
            <a:ext cx="85040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26">
            <a:extLst>
              <a:ext uri="{FF2B5EF4-FFF2-40B4-BE49-F238E27FC236}">
                <a16:creationId xmlns:a16="http://schemas.microsoft.com/office/drawing/2014/main" id="{8074DB1D-3636-B4F7-B6A4-18ADB882191C}"/>
              </a:ext>
            </a:extLst>
          </p:cNvPr>
          <p:cNvSpPr txBox="1"/>
          <p:nvPr/>
        </p:nvSpPr>
        <p:spPr>
          <a:xfrm>
            <a:off x="798069" y="530418"/>
            <a:ext cx="2490899" cy="33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1.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2061" b="1" spc="-131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</p:spTree>
    <p:extLst>
      <p:ext uri="{BB962C8B-B14F-4D97-AF65-F5344CB8AC3E}">
        <p14:creationId xmlns:p14="http://schemas.microsoft.com/office/powerpoint/2010/main" val="303249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6C1E-D92B-B868-CC8E-ABFF659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CCA79EB-9A45-2D72-4A75-506A0A47FB33}"/>
              </a:ext>
            </a:extLst>
          </p:cNvPr>
          <p:cNvSpPr txBox="1"/>
          <p:nvPr/>
        </p:nvSpPr>
        <p:spPr>
          <a:xfrm>
            <a:off x="804419" y="1591204"/>
            <a:ext cx="4481580" cy="1500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스케일 방식에 따른 실루엣 계수 확인</a:t>
            </a: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k-=3~10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클러스터링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&amp;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실루엣 계산</a:t>
            </a:r>
            <a:endParaRPr lang="en-US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StandardScaler</a:t>
            </a:r>
            <a:r>
              <a:rPr 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0.2216 (k=3)</a:t>
            </a: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MinMaxScaler</a:t>
            </a:r>
            <a:r>
              <a:rPr 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0.2252 (k=4)</a:t>
            </a: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QuantileTransformer</a:t>
            </a:r>
            <a:r>
              <a:rPr 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0.1794 (k=4)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B23C1EF-05FD-3C82-7FAB-9F1929F084C9}"/>
              </a:ext>
            </a:extLst>
          </p:cNvPr>
          <p:cNvSpPr txBox="1"/>
          <p:nvPr/>
        </p:nvSpPr>
        <p:spPr>
          <a:xfrm>
            <a:off x="804419" y="1119360"/>
            <a:ext cx="301084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en-US" altLang="ko-KR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K-Means </a:t>
            </a:r>
            <a:r>
              <a:rPr lang="ko-KR" altLang="en-US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군집분석</a:t>
            </a:r>
            <a:endParaRPr lang="en-US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46752A-F364-35A4-0424-FADE6977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69" y="3429000"/>
            <a:ext cx="5074707" cy="333000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8FE0DA7C-78B3-BA25-BE78-E8BB38DFB7A8}"/>
              </a:ext>
            </a:extLst>
          </p:cNvPr>
          <p:cNvSpPr txBox="1"/>
          <p:nvPr/>
        </p:nvSpPr>
        <p:spPr>
          <a:xfrm>
            <a:off x="6216000" y="1591204"/>
            <a:ext cx="4481580" cy="1781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최적의 클러스터</a:t>
            </a: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(k=4)</a:t>
            </a:r>
            <a:r>
              <a:rPr lang="ko-KR" altLang="en-US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따른 클러스터링</a:t>
            </a:r>
            <a:r>
              <a:rPr lang="en-US" altLang="ko-KR" sz="1333" b="1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 :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실속형 미식가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 :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 소비자</a:t>
            </a:r>
            <a:endParaRPr lang="en-US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 :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소극적 소비자</a:t>
            </a:r>
            <a:endParaRPr lang="en-US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3 :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트렌드 주도형 소비자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ct val="150000"/>
              </a:lnSpc>
            </a:pPr>
            <a:r>
              <a:rPr lang="en-US" sz="1200" spc="-19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  ** </a:t>
            </a:r>
            <a:r>
              <a:rPr lang="ko-KR" altLang="en-US" sz="1200" spc="-19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z="1200" spc="-19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2</a:t>
            </a:r>
            <a:r>
              <a:rPr lang="ko-KR" altLang="en-US" sz="1200" spc="-19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는 향후 페르소나 생성에 부적합하여 제거</a:t>
            </a:r>
            <a:endParaRPr lang="en-US" sz="1200" spc="-19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ource Han Sans KR"/>
              <a:sym typeface="Source Han Sans KR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59E3ABB-A21E-38E5-4420-1EB12A3BAF64}"/>
              </a:ext>
            </a:extLst>
          </p:cNvPr>
          <p:cNvGraphicFramePr>
            <a:graphicFrameLocks noGrp="1"/>
          </p:cNvGraphicFramePr>
          <p:nvPr/>
        </p:nvGraphicFramePr>
        <p:xfrm>
          <a:off x="6207742" y="3669000"/>
          <a:ext cx="5704660" cy="2531612"/>
        </p:xfrm>
        <a:graphic>
          <a:graphicData uri="http://schemas.openxmlformats.org/drawingml/2006/table">
            <a:tbl>
              <a:tblPr/>
              <a:tblGrid>
                <a:gridCol w="401523">
                  <a:extLst>
                    <a:ext uri="{9D8B030D-6E8A-4147-A177-3AD203B41FA5}">
                      <a16:colId xmlns:a16="http://schemas.microsoft.com/office/drawing/2014/main" val="3379984702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876718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3296977064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1902624355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2417079764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3427366892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2053529130"/>
                    </a:ext>
                  </a:extLst>
                </a:gridCol>
                <a:gridCol w="757591">
                  <a:extLst>
                    <a:ext uri="{9D8B030D-6E8A-4147-A177-3AD203B41FA5}">
                      <a16:colId xmlns:a16="http://schemas.microsoft.com/office/drawing/2014/main" val="3194104869"/>
                    </a:ext>
                  </a:extLst>
                </a:gridCol>
              </a:tblGrid>
              <a:tr h="6789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cluster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brand_loyalty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cooking_convenience_scaled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health_orientation_scaled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hmr_preference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premium_orientation_scaled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price_sensitivity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variety_seeking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78689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361100"/>
                  </a:ext>
                </a:extLst>
              </a:tr>
              <a:tr h="4631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23465"/>
                  </a:ext>
                </a:extLst>
              </a:tr>
              <a:tr h="4631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0.81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0.50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944468"/>
                  </a:ext>
                </a:extLst>
              </a:tr>
              <a:tr h="4631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421135"/>
                  </a:ext>
                </a:extLst>
              </a:tr>
              <a:tr h="4631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0.84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0.54</a:t>
                      </a:r>
                    </a:p>
                  </a:txBody>
                  <a:tcPr marL="4371" marR="4371" marT="437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501049"/>
                  </a:ext>
                </a:extLst>
              </a:tr>
            </a:tbl>
          </a:graphicData>
        </a:graphic>
      </p:graphicFrame>
      <p:sp>
        <p:nvSpPr>
          <p:cNvPr id="4" name="AutoShape 17">
            <a:extLst>
              <a:ext uri="{FF2B5EF4-FFF2-40B4-BE49-F238E27FC236}">
                <a16:creationId xmlns:a16="http://schemas.microsoft.com/office/drawing/2014/main" id="{D19BB033-23D8-A14E-4C5E-96DC0A9B1843}"/>
              </a:ext>
            </a:extLst>
          </p:cNvPr>
          <p:cNvSpPr/>
          <p:nvPr/>
        </p:nvSpPr>
        <p:spPr>
          <a:xfrm>
            <a:off x="3076575" y="716185"/>
            <a:ext cx="85040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26">
            <a:extLst>
              <a:ext uri="{FF2B5EF4-FFF2-40B4-BE49-F238E27FC236}">
                <a16:creationId xmlns:a16="http://schemas.microsoft.com/office/drawing/2014/main" id="{9A0E7A23-DFF8-2D77-3DC6-63A4EA3A9274}"/>
              </a:ext>
            </a:extLst>
          </p:cNvPr>
          <p:cNvSpPr txBox="1"/>
          <p:nvPr/>
        </p:nvSpPr>
        <p:spPr>
          <a:xfrm>
            <a:off x="798069" y="530418"/>
            <a:ext cx="2490899" cy="33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1.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2061" b="1" spc="-131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</p:spTree>
    <p:extLst>
      <p:ext uri="{BB962C8B-B14F-4D97-AF65-F5344CB8AC3E}">
        <p14:creationId xmlns:p14="http://schemas.microsoft.com/office/powerpoint/2010/main" val="2827667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6CC0-6AA5-4051-BCE8-46FEE26F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>
            <a:extLst>
              <a:ext uri="{FF2B5EF4-FFF2-40B4-BE49-F238E27FC236}">
                <a16:creationId xmlns:a16="http://schemas.microsoft.com/office/drawing/2014/main" id="{AFCD0C3A-6994-1794-0C26-6CED1E9D79D6}"/>
              </a:ext>
            </a:extLst>
          </p:cNvPr>
          <p:cNvSpPr txBox="1"/>
          <p:nvPr/>
        </p:nvSpPr>
        <p:spPr>
          <a:xfrm>
            <a:off x="798069" y="530418"/>
            <a:ext cx="249089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2.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804419" y="1566976"/>
            <a:ext cx="4331581" cy="463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4962" lvl="1" indent="-113248">
              <a:lnSpc>
                <a:spcPts val="1889"/>
              </a:lnSpc>
              <a:buFont typeface="Arial" panose="020B0604020202020204" pitchFamily="34" charset="0"/>
              <a:buChar char="•"/>
            </a:pP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ts val="1889"/>
              </a:lnSpc>
              <a:buFont typeface="Arial" panose="020B0604020202020204" pitchFamily="34" charset="0"/>
              <a:buChar char="•"/>
            </a:pPr>
            <a:r>
              <a:rPr lang="en-US" altLang="ko-KR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product_name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en-US" altLang="ko-KR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product_feature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category_level_1~3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B40D309-F00C-A9C0-11B1-ECFB72A4923B}"/>
              </a:ext>
            </a:extLst>
          </p:cNvPr>
          <p:cNvSpPr txBox="1"/>
          <p:nvPr/>
        </p:nvSpPr>
        <p:spPr>
          <a:xfrm>
            <a:off x="804419" y="1117121"/>
            <a:ext cx="301084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</a:t>
            </a:r>
            <a:endParaRPr lang="en-US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BD6A322-08EC-26CC-FCDF-1634A54C84DD}"/>
              </a:ext>
            </a:extLst>
          </p:cNvPr>
          <p:cNvGraphicFramePr>
            <a:graphicFrameLocks noGrp="1"/>
          </p:cNvGraphicFramePr>
          <p:nvPr/>
        </p:nvGraphicFramePr>
        <p:xfrm>
          <a:off x="5716998" y="1235944"/>
          <a:ext cx="5862463" cy="203532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279003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2986595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497653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497653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601559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5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1965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1582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741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204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71" marR="3071" marT="3071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85" y="4269001"/>
            <a:ext cx="11018788" cy="2172003"/>
          </a:xfrm>
          <a:prstGeom prst="rect">
            <a:avLst/>
          </a:prstGeom>
        </p:spPr>
      </p:pic>
      <p:sp>
        <p:nvSpPr>
          <p:cNvPr id="7" name="아래쪽 화살표 6"/>
          <p:cNvSpPr/>
          <p:nvPr/>
        </p:nvSpPr>
        <p:spPr>
          <a:xfrm>
            <a:off x="1878068" y="2316525"/>
            <a:ext cx="1547932" cy="452475"/>
          </a:xfrm>
          <a:prstGeom prst="downArrow">
            <a:avLst>
              <a:gd name="adj1" fmla="val 50000"/>
              <a:gd name="adj2" fmla="val 6924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798069" y="2983023"/>
            <a:ext cx="4337931" cy="463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4962" lvl="1" indent="-113248">
              <a:lnSpc>
                <a:spcPts val="1889"/>
              </a:lnSpc>
              <a:buFont typeface="Arial" panose="020B0604020202020204" pitchFamily="34" charset="0"/>
              <a:buChar char="•"/>
            </a:pP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판단하기 쉽게 전처리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34962" lvl="1" indent="-113248">
              <a:lnSpc>
                <a:spcPts val="1889"/>
              </a:lnSpc>
              <a:buFont typeface="Arial" panose="020B0604020202020204" pitchFamily="34" charset="0"/>
              <a:buChar char="•"/>
            </a:pP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product_feature2, advertise, </a:t>
            </a:r>
            <a:r>
              <a:rPr lang="en-US" altLang="ko-KR" sz="1333" spc="-1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release_date</a:t>
            </a:r>
            <a:r>
              <a:rPr lang="en-US" altLang="ko-KR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price </a:t>
            </a:r>
            <a:r>
              <a:rPr lang="ko-KR" altLang="en-US" sz="1333" spc="-1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추가</a:t>
            </a:r>
            <a:endParaRPr lang="en-US" altLang="ko-KR" sz="1333" spc="-1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8C2130E9-B9CB-6511-C5D1-935BE7F68590}"/>
              </a:ext>
            </a:extLst>
          </p:cNvPr>
          <p:cNvSpPr/>
          <p:nvPr/>
        </p:nvSpPr>
        <p:spPr>
          <a:xfrm>
            <a:off x="3076575" y="716185"/>
            <a:ext cx="85040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45126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4FF90C0-E13B-457F-A5D9-51A30E658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183" y="1482375"/>
            <a:ext cx="2642478" cy="239870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E8FC283-C66E-4791-B9D1-4BCDF670C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292" y="4507661"/>
            <a:ext cx="7730484" cy="2154398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7CDCF0E3-4ADE-4309-B2CC-80DF7F9233BA}"/>
              </a:ext>
            </a:extLst>
          </p:cNvPr>
          <p:cNvSpPr/>
          <p:nvPr/>
        </p:nvSpPr>
        <p:spPr>
          <a:xfrm>
            <a:off x="8341187" y="2573671"/>
            <a:ext cx="417444" cy="3876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8ED71B49-688D-4EA5-A1E6-FA3E85E4559B}"/>
              </a:ext>
            </a:extLst>
          </p:cNvPr>
          <p:cNvSpPr/>
          <p:nvPr/>
        </p:nvSpPr>
        <p:spPr>
          <a:xfrm>
            <a:off x="10021224" y="4054602"/>
            <a:ext cx="447261" cy="3876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C84FB-960E-40D1-A4B6-1B0434675424}"/>
              </a:ext>
            </a:extLst>
          </p:cNvPr>
          <p:cNvSpPr txBox="1"/>
          <p:nvPr/>
        </p:nvSpPr>
        <p:spPr>
          <a:xfrm>
            <a:off x="798069" y="1807135"/>
            <a:ext cx="36178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/>
              <a:t>제품별 페르소나에게 질문 후 기본 판매량 예측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시장규모</a:t>
            </a:r>
            <a:r>
              <a:rPr lang="en-US" altLang="ko-KR" sz="1400" dirty="0"/>
              <a:t>, </a:t>
            </a:r>
            <a:r>
              <a:rPr lang="ko-KR" altLang="en-US" sz="1400" dirty="0"/>
              <a:t>점유율</a:t>
            </a:r>
            <a:r>
              <a:rPr lang="en-US" altLang="ko-KR" sz="1400" dirty="0"/>
              <a:t>, </a:t>
            </a:r>
            <a:r>
              <a:rPr lang="ko-KR" altLang="en-US" sz="1400" dirty="0"/>
              <a:t>성장률 조사 후 </a:t>
            </a:r>
            <a:r>
              <a:rPr lang="ko-KR" altLang="en-US" sz="1400" dirty="0" err="1"/>
              <a:t>한달치</a:t>
            </a:r>
            <a:r>
              <a:rPr lang="ko-KR" altLang="en-US" sz="1400" dirty="0"/>
              <a:t> 판매량 예측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각각 월별 계수 적용 후 출시일을 고려해 최종 판매량 예측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54B9D6B-CB45-467E-AC64-540C0762F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869" y="1489501"/>
            <a:ext cx="3020345" cy="2425953"/>
          </a:xfrm>
          <a:prstGeom prst="rect">
            <a:avLst/>
          </a:prstGeom>
        </p:spPr>
      </p:pic>
      <p:sp>
        <p:nvSpPr>
          <p:cNvPr id="2" name="TextBox 26">
            <a:extLst>
              <a:ext uri="{FF2B5EF4-FFF2-40B4-BE49-F238E27FC236}">
                <a16:creationId xmlns:a16="http://schemas.microsoft.com/office/drawing/2014/main" id="{A002159B-58D5-4E24-7765-0B6C7A180068}"/>
              </a:ext>
            </a:extLst>
          </p:cNvPr>
          <p:cNvSpPr txBox="1"/>
          <p:nvPr/>
        </p:nvSpPr>
        <p:spPr>
          <a:xfrm>
            <a:off x="798069" y="530418"/>
            <a:ext cx="249089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3.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외생변수</a:t>
            </a:r>
          </a:p>
        </p:txBody>
      </p:sp>
      <p:sp>
        <p:nvSpPr>
          <p:cNvPr id="3" name="AutoShape 17">
            <a:extLst>
              <a:ext uri="{FF2B5EF4-FFF2-40B4-BE49-F238E27FC236}">
                <a16:creationId xmlns:a16="http://schemas.microsoft.com/office/drawing/2014/main" id="{10CA7DD8-1F2D-1D6E-64F0-4EF3969591C7}"/>
              </a:ext>
            </a:extLst>
          </p:cNvPr>
          <p:cNvSpPr/>
          <p:nvPr/>
        </p:nvSpPr>
        <p:spPr>
          <a:xfrm>
            <a:off x="2352675" y="716185"/>
            <a:ext cx="92279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A94D1512-6966-0CAD-3B81-6263C664FC69}"/>
              </a:ext>
            </a:extLst>
          </p:cNvPr>
          <p:cNvSpPr txBox="1"/>
          <p:nvPr/>
        </p:nvSpPr>
        <p:spPr>
          <a:xfrm>
            <a:off x="804419" y="1209001"/>
            <a:ext cx="301084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b="1" spc="-82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시뮬레이션 방식</a:t>
            </a:r>
            <a:endParaRPr lang="en-US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01509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FE3D-1E92-BCAF-F073-C72127BA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7B9769F5-FAB3-644D-1032-79E95E730C8A}"/>
              </a:ext>
            </a:extLst>
          </p:cNvPr>
          <p:cNvSpPr txBox="1"/>
          <p:nvPr/>
        </p:nvSpPr>
        <p:spPr>
          <a:xfrm>
            <a:off x="755048" y="1799290"/>
            <a:ext cx="9681364" cy="2169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33"/>
              </a:lnSpc>
            </a:pPr>
            <a:r>
              <a:rPr lang="ko-KR" altLang="en-US" sz="1400" b="1" dirty="0"/>
              <a:t>관련 시장 규모</a:t>
            </a:r>
            <a:r>
              <a:rPr lang="en-US" altLang="ko-KR" sz="1400" dirty="0"/>
              <a:t>: '</a:t>
            </a:r>
            <a:r>
              <a:rPr lang="ko-KR" altLang="en-US" sz="1400" dirty="0" err="1"/>
              <a:t>가공참치</a:t>
            </a:r>
            <a:r>
              <a:rPr lang="en-US" altLang="ko-KR" sz="1400" dirty="0"/>
              <a:t>' </a:t>
            </a:r>
            <a:r>
              <a:rPr lang="ko-KR" altLang="en-US" sz="1400" dirty="0"/>
              <a:t>시장 </a:t>
            </a:r>
            <a:r>
              <a:rPr lang="en-US" altLang="ko-KR" sz="1400" dirty="0"/>
              <a:t>3,366</a:t>
            </a:r>
            <a:r>
              <a:rPr lang="ko-KR" altLang="en-US" sz="1400" dirty="0"/>
              <a:t>억 원</a:t>
            </a:r>
            <a:r>
              <a:rPr lang="en-US" altLang="ko-KR" sz="1400" dirty="0"/>
              <a:t>, '</a:t>
            </a:r>
            <a:r>
              <a:rPr lang="ko-KR" altLang="en-US" sz="1400" dirty="0"/>
              <a:t>액상조미료</a:t>
            </a:r>
            <a:r>
              <a:rPr lang="en-US" altLang="ko-KR" sz="1400" dirty="0"/>
              <a:t>' </a:t>
            </a:r>
            <a:r>
              <a:rPr lang="ko-KR" altLang="en-US" sz="1400" dirty="0"/>
              <a:t>시장 </a:t>
            </a:r>
            <a:r>
              <a:rPr lang="en-US" altLang="ko-KR" sz="1400" dirty="0"/>
              <a:t>530</a:t>
            </a:r>
            <a:r>
              <a:rPr lang="ko-KR" altLang="en-US" sz="1400" dirty="0"/>
              <a:t>억 원 등 각 카테고리의 연간 시장 규모</a:t>
            </a:r>
            <a:r>
              <a:rPr lang="en-US" altLang="ko-KR" sz="1400" dirty="0"/>
              <a:t>.</a:t>
            </a:r>
          </a:p>
          <a:p>
            <a:pPr>
              <a:lnSpc>
                <a:spcPts val="1933"/>
              </a:lnSpc>
            </a:pPr>
            <a:endParaRPr lang="en-US" altLang="ko-KR" sz="1400" dirty="0">
              <a:latin typeface="+mn-ea"/>
            </a:endParaRPr>
          </a:p>
          <a:p>
            <a:pPr>
              <a:lnSpc>
                <a:spcPts val="1933"/>
              </a:lnSpc>
            </a:pPr>
            <a:r>
              <a:rPr lang="ko-KR" altLang="en-US" sz="1400" b="1" dirty="0"/>
              <a:t>예상 시장 점유율</a:t>
            </a:r>
            <a:r>
              <a:rPr lang="en-US" altLang="ko-KR" sz="1400" dirty="0"/>
              <a:t>: '</a:t>
            </a:r>
            <a:r>
              <a:rPr lang="ko-KR" altLang="en-US" sz="1400" dirty="0" err="1"/>
              <a:t>가공참치</a:t>
            </a:r>
            <a:r>
              <a:rPr lang="en-US" altLang="ko-KR" sz="1400" dirty="0"/>
              <a:t>' 80% </a:t>
            </a:r>
            <a:r>
              <a:rPr lang="ko-KR" altLang="en-US" sz="1400" dirty="0"/>
              <a:t>이상</a:t>
            </a:r>
            <a:r>
              <a:rPr lang="en-US" altLang="ko-KR" sz="1400" dirty="0"/>
              <a:t>, '</a:t>
            </a:r>
            <a:r>
              <a:rPr lang="ko-KR" altLang="en-US" sz="1400" dirty="0" err="1"/>
              <a:t>캔햄</a:t>
            </a:r>
            <a:r>
              <a:rPr lang="en-US" altLang="ko-KR" sz="1400" dirty="0"/>
              <a:t>' 20%, 'RTD </a:t>
            </a:r>
            <a:r>
              <a:rPr lang="ko-KR" altLang="en-US" sz="1400" dirty="0"/>
              <a:t>커피</a:t>
            </a:r>
            <a:r>
              <a:rPr lang="en-US" altLang="ko-KR" sz="1400" dirty="0"/>
              <a:t>' 1% </a:t>
            </a:r>
            <a:r>
              <a:rPr lang="ko-KR" altLang="en-US" sz="1400" dirty="0"/>
              <a:t>미만 등 동원</a:t>
            </a:r>
            <a:r>
              <a:rPr lang="en-US" altLang="ko-KR" sz="1400" dirty="0"/>
              <a:t>F&amp;B</a:t>
            </a:r>
            <a:r>
              <a:rPr lang="ko-KR" altLang="en-US" sz="1400" dirty="0"/>
              <a:t>의 목표 점유율</a:t>
            </a:r>
            <a:r>
              <a:rPr lang="en-US" altLang="ko-KR" sz="1400" dirty="0"/>
              <a:t>.</a:t>
            </a:r>
          </a:p>
          <a:p>
            <a:pPr>
              <a:lnSpc>
                <a:spcPts val="1933"/>
              </a:lnSpc>
            </a:pPr>
            <a:endParaRPr lang="en-US" altLang="ko-KR" sz="1400" dirty="0">
              <a:latin typeface="+mn-ea"/>
            </a:endParaRPr>
          </a:p>
          <a:p>
            <a:pPr>
              <a:lnSpc>
                <a:spcPts val="1933"/>
              </a:lnSpc>
            </a:pPr>
            <a:r>
              <a:rPr lang="ko-KR" altLang="en-US" sz="1400" b="1" dirty="0"/>
              <a:t>전략적 역할</a:t>
            </a:r>
            <a:r>
              <a:rPr lang="en-US" altLang="ko-KR" sz="1400" dirty="0"/>
              <a:t>: '</a:t>
            </a:r>
            <a:r>
              <a:rPr lang="ko-KR" altLang="en-US" sz="1400" dirty="0"/>
              <a:t>주력 제품</a:t>
            </a:r>
            <a:r>
              <a:rPr lang="en-US" altLang="ko-KR" sz="1400" dirty="0"/>
              <a:t>', '</a:t>
            </a:r>
            <a:r>
              <a:rPr lang="ko-KR" altLang="en-US" sz="1400" dirty="0"/>
              <a:t>서브 제품</a:t>
            </a:r>
            <a:r>
              <a:rPr lang="en-US" altLang="ko-KR" sz="1400" dirty="0"/>
              <a:t>', '</a:t>
            </a:r>
            <a:r>
              <a:rPr lang="ko-KR" altLang="en-US" sz="1400" dirty="0"/>
              <a:t>모험 제품</a:t>
            </a:r>
            <a:r>
              <a:rPr lang="en-US" altLang="ko-KR" sz="1400" dirty="0"/>
              <a:t>' </a:t>
            </a:r>
            <a:r>
              <a:rPr lang="ko-KR" altLang="en-US" sz="1400" dirty="0"/>
              <a:t>등 포트폴리오 내에서의 제품별 위상</a:t>
            </a:r>
            <a:r>
              <a:rPr lang="en-US" altLang="ko-KR" sz="1400" dirty="0"/>
              <a:t>.</a:t>
            </a:r>
          </a:p>
          <a:p>
            <a:pPr>
              <a:lnSpc>
                <a:spcPts val="1933"/>
              </a:lnSpc>
            </a:pPr>
            <a:endParaRPr lang="en-US" altLang="ko-KR" sz="1400" dirty="0">
              <a:latin typeface="+mn-ea"/>
            </a:endParaRPr>
          </a:p>
          <a:p>
            <a:pPr>
              <a:lnSpc>
                <a:spcPts val="1933"/>
              </a:lnSpc>
            </a:pPr>
            <a:r>
              <a:rPr lang="ko-KR" altLang="en-US" sz="1400" b="1" dirty="0"/>
              <a:t>목표 연간 매출액 산정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예시</a:t>
            </a:r>
            <a:r>
              <a:rPr lang="en-US" altLang="ko-KR" sz="1400" b="1" dirty="0"/>
              <a:t>)</a:t>
            </a:r>
            <a:r>
              <a:rPr lang="en-US" altLang="ko-KR" sz="1400" dirty="0"/>
              <a:t>: </a:t>
            </a:r>
            <a:r>
              <a:rPr lang="ko-KR" altLang="en-US" sz="1400" dirty="0"/>
              <a:t>시장 규모</a:t>
            </a:r>
            <a:r>
              <a:rPr lang="en-US" altLang="ko-KR" sz="1400" dirty="0"/>
              <a:t>(3,366</a:t>
            </a:r>
            <a:r>
              <a:rPr lang="ko-KR" altLang="en-US" sz="1400" dirty="0"/>
              <a:t>억 원</a:t>
            </a:r>
            <a:r>
              <a:rPr lang="en-US" altLang="ko-KR" sz="1400" dirty="0"/>
              <a:t>) × </a:t>
            </a:r>
            <a:r>
              <a:rPr lang="ko-KR" altLang="en-US" sz="1400" dirty="0"/>
              <a:t>예상 점유율</a:t>
            </a:r>
            <a:r>
              <a:rPr lang="en-US" altLang="ko-KR" sz="1400" dirty="0"/>
              <a:t>(5%) = </a:t>
            </a:r>
            <a:r>
              <a:rPr lang="ko-KR" altLang="en-US" sz="1400" dirty="0"/>
              <a:t>약 </a:t>
            </a:r>
            <a:r>
              <a:rPr lang="en-US" altLang="ko-KR" sz="1400" dirty="0"/>
              <a:t>168</a:t>
            </a:r>
            <a:r>
              <a:rPr lang="ko-KR" altLang="en-US" sz="1400" dirty="0"/>
              <a:t>억 원</a:t>
            </a:r>
            <a:endParaRPr lang="en-US" altLang="ko-KR" sz="1400" dirty="0"/>
          </a:p>
          <a:p>
            <a:pPr>
              <a:lnSpc>
                <a:spcPts val="1933"/>
              </a:lnSpc>
            </a:pPr>
            <a:r>
              <a:rPr lang="ko-KR" altLang="en-US" sz="1400" b="1" dirty="0"/>
              <a:t>목표 월평균 매출액 산정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예시</a:t>
            </a:r>
            <a:r>
              <a:rPr lang="en-US" altLang="ko-KR" sz="1400" b="1" dirty="0"/>
              <a:t>)</a:t>
            </a:r>
            <a:r>
              <a:rPr lang="en-US" altLang="ko-KR" sz="1400" dirty="0"/>
              <a:t>: 168</a:t>
            </a:r>
            <a:r>
              <a:rPr lang="ko-KR" altLang="en-US" sz="1400" dirty="0"/>
              <a:t>억 원 </a:t>
            </a:r>
            <a:r>
              <a:rPr lang="en-US" altLang="ko-KR" sz="1400" dirty="0"/>
              <a:t>/ 12</a:t>
            </a:r>
            <a:r>
              <a:rPr lang="ko-KR" altLang="en-US" sz="1400" dirty="0"/>
              <a:t>개월 </a:t>
            </a:r>
            <a:r>
              <a:rPr lang="en-US" altLang="ko-KR" sz="1400" dirty="0"/>
              <a:t>= </a:t>
            </a:r>
            <a:r>
              <a:rPr lang="ko-KR" altLang="en-US" sz="1400" dirty="0"/>
              <a:t>약 </a:t>
            </a:r>
            <a:r>
              <a:rPr lang="en-US" altLang="ko-KR" sz="1400" dirty="0"/>
              <a:t>14</a:t>
            </a:r>
            <a:r>
              <a:rPr lang="ko-KR" altLang="en-US" sz="1400" dirty="0"/>
              <a:t>억 원</a:t>
            </a:r>
            <a:endParaRPr lang="en-US" altLang="ko-KR" sz="1400" dirty="0"/>
          </a:p>
          <a:p>
            <a:pPr>
              <a:lnSpc>
                <a:spcPts val="1933"/>
              </a:lnSpc>
            </a:pPr>
            <a:endParaRPr lang="en-US" altLang="ko-KR" sz="1333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66F5C1-EFEC-42A4-8D39-B42B4BE7F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69" y="3968538"/>
            <a:ext cx="11039062" cy="2560849"/>
          </a:xfrm>
          <a:prstGeom prst="rect">
            <a:avLst/>
          </a:prstGeom>
        </p:spPr>
      </p:pic>
      <p:sp>
        <p:nvSpPr>
          <p:cNvPr id="2" name="TextBox 26">
            <a:extLst>
              <a:ext uri="{FF2B5EF4-FFF2-40B4-BE49-F238E27FC236}">
                <a16:creationId xmlns:a16="http://schemas.microsoft.com/office/drawing/2014/main" id="{C908A313-30A8-EF5E-AF8A-8B15BA38A7A4}"/>
              </a:ext>
            </a:extLst>
          </p:cNvPr>
          <p:cNvSpPr txBox="1"/>
          <p:nvPr/>
        </p:nvSpPr>
        <p:spPr>
          <a:xfrm>
            <a:off x="798069" y="530418"/>
            <a:ext cx="249089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3.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외생변수</a:t>
            </a:r>
          </a:p>
        </p:txBody>
      </p:sp>
      <p:sp>
        <p:nvSpPr>
          <p:cNvPr id="5" name="AutoShape 17">
            <a:extLst>
              <a:ext uri="{FF2B5EF4-FFF2-40B4-BE49-F238E27FC236}">
                <a16:creationId xmlns:a16="http://schemas.microsoft.com/office/drawing/2014/main" id="{B7656DC0-3EE7-7777-55D2-0913858787AE}"/>
              </a:ext>
            </a:extLst>
          </p:cNvPr>
          <p:cNvSpPr/>
          <p:nvPr/>
        </p:nvSpPr>
        <p:spPr>
          <a:xfrm>
            <a:off x="2352675" y="716185"/>
            <a:ext cx="92279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31B9015-4887-E701-2F47-01A8288856D4}"/>
              </a:ext>
            </a:extLst>
          </p:cNvPr>
          <p:cNvSpPr txBox="1"/>
          <p:nvPr/>
        </p:nvSpPr>
        <p:spPr>
          <a:xfrm>
            <a:off x="755048" y="1209001"/>
            <a:ext cx="432003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b="1" dirty="0"/>
              <a:t>시장규모 </a:t>
            </a:r>
            <a:r>
              <a:rPr lang="ko-KR" altLang="en-US" b="1" dirty="0" err="1"/>
              <a:t>업스케일</a:t>
            </a:r>
            <a:r>
              <a:rPr lang="ko-KR" altLang="en-US" b="1" dirty="0"/>
              <a:t> </a:t>
            </a:r>
            <a:r>
              <a:rPr lang="en-US" altLang="ko-KR" b="1" dirty="0"/>
              <a:t>&amp; </a:t>
            </a:r>
            <a:r>
              <a:rPr lang="ko-KR" altLang="en-US" b="1" dirty="0"/>
              <a:t>시장점유율 설정</a:t>
            </a:r>
            <a:endParaRPr lang="en-US" altLang="ko-KR" b="1" spc="-82" dirty="0">
              <a:solidFill>
                <a:srgbClr val="000000"/>
              </a:solidFill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1540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FE3D-1E92-BCAF-F073-C72127BA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7B9769F5-FAB3-644D-1032-79E95E730C8A}"/>
              </a:ext>
            </a:extLst>
          </p:cNvPr>
          <p:cNvSpPr txBox="1"/>
          <p:nvPr/>
        </p:nvSpPr>
        <p:spPr>
          <a:xfrm>
            <a:off x="755048" y="1799290"/>
            <a:ext cx="9681364" cy="3503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33"/>
              </a:lnSpc>
            </a:pPr>
            <a:r>
              <a:rPr lang="ko-KR" altLang="en-US" sz="1400" b="1" dirty="0" err="1">
                <a:latin typeface="+mn-ea"/>
              </a:rPr>
              <a:t>검색트렌드</a:t>
            </a:r>
            <a:r>
              <a:rPr lang="ko-KR" altLang="en-US" sz="1400" b="1" dirty="0">
                <a:latin typeface="+mn-ea"/>
              </a:rPr>
              <a:t> 계수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카테고리</a:t>
            </a:r>
            <a:r>
              <a:rPr lang="en-US" altLang="ko-KR" sz="1400" b="1" dirty="0">
                <a:latin typeface="+mn-ea"/>
              </a:rPr>
              <a:t>)</a:t>
            </a:r>
            <a:r>
              <a:rPr lang="en-US" altLang="ko-KR" sz="1400" dirty="0">
                <a:latin typeface="+mn-ea"/>
              </a:rPr>
              <a:t>: 24</a:t>
            </a:r>
            <a:r>
              <a:rPr lang="ko-KR" altLang="en-US" sz="1400" dirty="0">
                <a:latin typeface="+mn-ea"/>
              </a:rPr>
              <a:t>년 </a:t>
            </a:r>
            <a:r>
              <a:rPr lang="en-US" altLang="ko-KR" sz="1400" dirty="0">
                <a:latin typeface="+mn-ea"/>
              </a:rPr>
              <a:t>7</a:t>
            </a:r>
            <a:r>
              <a:rPr lang="ko-KR" altLang="en-US" sz="1400" dirty="0">
                <a:latin typeface="+mn-ea"/>
              </a:rPr>
              <a:t>월</a:t>
            </a:r>
            <a:r>
              <a:rPr lang="en-US" altLang="ko-KR" sz="1400" dirty="0">
                <a:latin typeface="+mn-ea"/>
              </a:rPr>
              <a:t>~25</a:t>
            </a:r>
            <a:r>
              <a:rPr lang="ko-KR" altLang="en-US" sz="1400" dirty="0">
                <a:latin typeface="+mn-ea"/>
              </a:rPr>
              <a:t>년 </a:t>
            </a:r>
            <a:r>
              <a:rPr lang="en-US" altLang="ko-KR" sz="1400" dirty="0">
                <a:latin typeface="+mn-ea"/>
              </a:rPr>
              <a:t>6</a:t>
            </a:r>
            <a:r>
              <a:rPr lang="ko-KR" altLang="en-US" sz="1400" dirty="0">
                <a:latin typeface="+mn-ea"/>
              </a:rPr>
              <a:t>월 기간의 관심도 흐름을 반영</a:t>
            </a:r>
            <a:endParaRPr lang="en-US" altLang="ko-KR" sz="1400" dirty="0">
              <a:latin typeface="+mn-ea"/>
            </a:endParaRPr>
          </a:p>
          <a:p>
            <a:pPr>
              <a:lnSpc>
                <a:spcPts val="1933"/>
              </a:lnSpc>
            </a:pPr>
            <a:endParaRPr lang="en-US" altLang="ko-KR" sz="1400" dirty="0">
              <a:latin typeface="+mn-ea"/>
            </a:endParaRPr>
          </a:p>
          <a:p>
            <a:r>
              <a:rPr lang="ko-KR" altLang="en-US" sz="1400" b="1" dirty="0">
                <a:latin typeface="+mn-ea"/>
              </a:rPr>
              <a:t>맛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 err="1">
                <a:latin typeface="+mn-ea"/>
              </a:rPr>
              <a:t>플레이버</a:t>
            </a:r>
            <a:r>
              <a:rPr lang="en-US" altLang="ko-KR" sz="1400" b="1" dirty="0">
                <a:latin typeface="+mn-ea"/>
              </a:rPr>
              <a:t>), </a:t>
            </a:r>
            <a:r>
              <a:rPr lang="ko-KR" altLang="en-US" sz="1400" b="1" dirty="0">
                <a:latin typeface="+mn-ea"/>
              </a:rPr>
              <a:t>용량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사이즈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ko-KR" altLang="en-US" sz="1400" b="1" dirty="0">
                <a:latin typeface="+mn-ea"/>
              </a:rPr>
              <a:t>선호도</a:t>
            </a:r>
            <a:r>
              <a:rPr lang="en-US" altLang="ko-KR" sz="1400" dirty="0">
                <a:latin typeface="+mn-ea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</a:rPr>
              <a:t>고소</a:t>
            </a:r>
            <a:r>
              <a:rPr lang="en-US" altLang="ko-KR" sz="1400" dirty="0">
                <a:latin typeface="+mn-ea"/>
              </a:rPr>
              <a:t>:</a:t>
            </a:r>
            <a:r>
              <a:rPr lang="ko-KR" altLang="en-US" sz="1400" dirty="0" err="1">
                <a:latin typeface="+mn-ea"/>
              </a:rPr>
              <a:t>매콤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= 100:55, </a:t>
            </a:r>
            <a:r>
              <a:rPr lang="ko-KR" altLang="en-US" sz="1400" dirty="0" err="1">
                <a:latin typeface="+mn-ea"/>
              </a:rPr>
              <a:t>참치액</a:t>
            </a:r>
            <a:r>
              <a:rPr lang="ko-KR" altLang="en-US" sz="1400" dirty="0">
                <a:latin typeface="+mn-ea"/>
              </a:rPr>
              <a:t> 진</a:t>
            </a:r>
            <a:r>
              <a:rPr lang="en-US" altLang="ko-KR" sz="1400" dirty="0">
                <a:latin typeface="+mn-ea"/>
              </a:rPr>
              <a:t>:</a:t>
            </a:r>
            <a:r>
              <a:rPr lang="ko-KR" altLang="en-US" sz="1400" dirty="0">
                <a:latin typeface="+mn-ea"/>
              </a:rPr>
              <a:t>순</a:t>
            </a:r>
            <a:r>
              <a:rPr lang="en-US" altLang="ko-KR" sz="1400" dirty="0">
                <a:latin typeface="+mn-ea"/>
              </a:rPr>
              <a:t>:</a:t>
            </a:r>
            <a:r>
              <a:rPr lang="ko-KR" altLang="en-US" sz="1400" dirty="0">
                <a:latin typeface="+mn-ea"/>
              </a:rPr>
              <a:t>프리미엄 </a:t>
            </a:r>
            <a:r>
              <a:rPr lang="en-US" altLang="ko-KR" sz="1400" dirty="0">
                <a:latin typeface="+mn-ea"/>
              </a:rPr>
              <a:t>= </a:t>
            </a:r>
            <a:r>
              <a:rPr lang="ko-KR" altLang="en-US" sz="1400" dirty="0">
                <a:latin typeface="+mn-ea"/>
              </a:rPr>
              <a:t>메인</a:t>
            </a:r>
            <a:r>
              <a:rPr lang="en-US" altLang="ko-KR" sz="1400" dirty="0">
                <a:latin typeface="+mn-ea"/>
              </a:rPr>
              <a:t>:</a:t>
            </a:r>
            <a:r>
              <a:rPr lang="ko-KR" altLang="en-US" sz="1400" dirty="0">
                <a:latin typeface="+mn-ea"/>
              </a:rPr>
              <a:t>서브</a:t>
            </a:r>
            <a:r>
              <a:rPr lang="en-US" altLang="ko-KR" sz="1400" dirty="0">
                <a:latin typeface="+mn-ea"/>
              </a:rPr>
              <a:t>:</a:t>
            </a:r>
            <a:r>
              <a:rPr lang="ko-KR" altLang="en-US" sz="1400" dirty="0">
                <a:latin typeface="+mn-ea"/>
              </a:rPr>
              <a:t>프리미엄 분배</a:t>
            </a:r>
            <a:endParaRPr lang="en-US" altLang="ko-KR" sz="1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+mn-ea"/>
              </a:rPr>
              <a:t>참치캔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135g:90g = 8:11, </a:t>
            </a:r>
            <a:r>
              <a:rPr lang="ko-KR" altLang="en-US" sz="1400" dirty="0">
                <a:latin typeface="+mn-ea"/>
              </a:rPr>
              <a:t>조미료 </a:t>
            </a:r>
            <a:r>
              <a:rPr lang="en-US" altLang="ko-KR" sz="1400" dirty="0">
                <a:latin typeface="+mn-ea"/>
              </a:rPr>
              <a:t>500g:900g = 7:3</a:t>
            </a:r>
          </a:p>
          <a:p>
            <a:pPr lvl="1"/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b="1" dirty="0">
                <a:latin typeface="+mn-ea"/>
              </a:rPr>
              <a:t>시즌</a:t>
            </a:r>
            <a:r>
              <a:rPr lang="en-US" altLang="ko-KR" sz="1400" b="1" dirty="0">
                <a:latin typeface="+mn-ea"/>
              </a:rPr>
              <a:t>·</a:t>
            </a:r>
            <a:r>
              <a:rPr lang="ko-KR" altLang="en-US" sz="1400" b="1" dirty="0">
                <a:latin typeface="+mn-ea"/>
              </a:rPr>
              <a:t>이벤트 계수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명절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행사 등 월별 패턴 반영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추석 특수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 err="1">
                <a:latin typeface="+mn-ea"/>
              </a:rPr>
              <a:t>유통사</a:t>
            </a:r>
            <a:r>
              <a:rPr lang="ko-KR" altLang="en-US" sz="1400" dirty="0">
                <a:latin typeface="+mn-ea"/>
              </a:rPr>
              <a:t> 명절선물세트</a:t>
            </a:r>
            <a:r>
              <a:rPr lang="en-US" altLang="ko-KR" sz="1400" dirty="0">
                <a:latin typeface="+mn-ea"/>
              </a:rPr>
              <a:t>·</a:t>
            </a:r>
            <a:r>
              <a:rPr lang="ko-KR" altLang="en-US" sz="1400" dirty="0">
                <a:latin typeface="+mn-ea"/>
              </a:rPr>
              <a:t>식품 매출 급증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개학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개강 특수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가공식품 판매량 증가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b="1" dirty="0">
                <a:latin typeface="+mn-ea"/>
              </a:rPr>
              <a:t>프로모션 계수 </a:t>
            </a:r>
            <a:r>
              <a:rPr lang="en-US" altLang="ko-KR" sz="1400" dirty="0">
                <a:latin typeface="+mn-ea"/>
              </a:rPr>
              <a:t>: 1+1/2+1/</a:t>
            </a:r>
            <a:r>
              <a:rPr lang="ko-KR" altLang="en-US" sz="1400" dirty="0">
                <a:latin typeface="+mn-ea"/>
              </a:rPr>
              <a:t>특가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쿠폰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랜딩 노출 증대 등 판촉 리프트 반영</a:t>
            </a:r>
            <a:r>
              <a:rPr lang="en-US" altLang="ko-KR" sz="1400" dirty="0">
                <a:latin typeface="+mn-ea"/>
              </a:rPr>
              <a:t>( </a:t>
            </a:r>
            <a:r>
              <a:rPr lang="ko-KR" altLang="en-US" sz="1400" dirty="0">
                <a:latin typeface="+mn-ea"/>
              </a:rPr>
              <a:t>최대 </a:t>
            </a:r>
            <a:r>
              <a:rPr lang="en-US" altLang="ko-KR" sz="1400" dirty="0">
                <a:latin typeface="+mn-ea"/>
              </a:rPr>
              <a:t>80% </a:t>
            </a:r>
            <a:r>
              <a:rPr lang="ko-KR" altLang="en-US" sz="1400" dirty="0">
                <a:latin typeface="+mn-ea"/>
              </a:rPr>
              <a:t>증가라는 기사 참고</a:t>
            </a:r>
            <a:r>
              <a:rPr lang="en-US" altLang="ko-KR" sz="1400" dirty="0">
                <a:latin typeface="+mn-ea"/>
              </a:rPr>
              <a:t>)</a:t>
            </a: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b="1" dirty="0">
                <a:latin typeface="+mn-ea"/>
              </a:rPr>
              <a:t>계절 계수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여름에 </a:t>
            </a:r>
            <a:r>
              <a:rPr lang="en-US" altLang="ko-KR" sz="1400" dirty="0">
                <a:latin typeface="+mn-ea"/>
              </a:rPr>
              <a:t>RTD</a:t>
            </a:r>
            <a:r>
              <a:rPr lang="ko-KR" altLang="en-US" sz="1400" dirty="0">
                <a:latin typeface="+mn-ea"/>
              </a:rPr>
              <a:t>커피 수요 증가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등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r>
              <a:rPr lang="ko-KR" altLang="en-US" sz="1400" b="1" dirty="0">
                <a:latin typeface="+mn-ea"/>
              </a:rPr>
              <a:t>광고</a:t>
            </a:r>
            <a:r>
              <a:rPr lang="en-US" altLang="ko-KR" sz="1400" b="1" dirty="0">
                <a:latin typeface="+mn-ea"/>
              </a:rPr>
              <a:t>·</a:t>
            </a:r>
            <a:r>
              <a:rPr lang="ko-KR" altLang="en-US" sz="1400" b="1" dirty="0">
                <a:latin typeface="+mn-ea"/>
              </a:rPr>
              <a:t>모델 계수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광고 집행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온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오프라인</a:t>
            </a:r>
            <a:r>
              <a:rPr lang="en-US" altLang="ko-KR" sz="1400" dirty="0">
                <a:latin typeface="+mn-ea"/>
              </a:rPr>
              <a:t>)·</a:t>
            </a:r>
            <a:r>
              <a:rPr lang="ko-KR" altLang="en-US" sz="1400" dirty="0">
                <a:latin typeface="+mn-ea"/>
              </a:rPr>
              <a:t>모델 효과의 단기 판매 리프트 반영 </a:t>
            </a:r>
            <a:r>
              <a:rPr lang="en-US" altLang="ko-KR" sz="1400" dirty="0">
                <a:latin typeface="+mn-ea"/>
              </a:rPr>
              <a:t>, </a:t>
            </a:r>
            <a:r>
              <a:rPr lang="en-US" altLang="ko-KR" sz="1400" dirty="0" err="1">
                <a:latin typeface="+mn-ea"/>
              </a:rPr>
              <a:t>NCS·Nielsen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메타 연구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b="1" dirty="0">
                <a:latin typeface="+mn-ea"/>
              </a:rPr>
              <a:t>크리에이티브</a:t>
            </a:r>
            <a:r>
              <a:rPr lang="en-US" altLang="ko-KR" sz="1400" b="1" dirty="0">
                <a:latin typeface="+mn-ea"/>
              </a:rPr>
              <a:t>/</a:t>
            </a:r>
            <a:r>
              <a:rPr lang="ko-KR" altLang="en-US" sz="1400" b="1" dirty="0">
                <a:latin typeface="+mn-ea"/>
              </a:rPr>
              <a:t>브랜드 요인</a:t>
            </a:r>
            <a:r>
              <a:rPr lang="ko-KR" altLang="en-US" sz="1400" dirty="0">
                <a:latin typeface="+mn-ea"/>
              </a:rPr>
              <a:t>이 리프트의 핵심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단기 평균 </a:t>
            </a:r>
            <a:r>
              <a:rPr lang="en-US" altLang="ko-KR" sz="1400" b="1" dirty="0">
                <a:latin typeface="+mn-ea"/>
              </a:rPr>
              <a:t>~10–20%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8A9483C-08FC-2EAF-521C-1DE276046E81}"/>
              </a:ext>
            </a:extLst>
          </p:cNvPr>
          <p:cNvSpPr txBox="1"/>
          <p:nvPr/>
        </p:nvSpPr>
        <p:spPr>
          <a:xfrm>
            <a:off x="804419" y="1209001"/>
            <a:ext cx="529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b="1" dirty="0">
                <a:latin typeface="+mn-ea"/>
              </a:rPr>
              <a:t>검색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>
                <a:latin typeface="+mn-ea"/>
              </a:rPr>
              <a:t>맛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>
                <a:latin typeface="+mn-ea"/>
              </a:rPr>
              <a:t>용량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>
                <a:latin typeface="+mn-ea"/>
              </a:rPr>
              <a:t>계절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>
                <a:latin typeface="+mn-ea"/>
              </a:rPr>
              <a:t>이벤트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>
                <a:latin typeface="+mn-ea"/>
              </a:rPr>
              <a:t>프로모션</a:t>
            </a:r>
            <a:r>
              <a:rPr lang="en-US" altLang="ko-KR" b="1" dirty="0">
                <a:latin typeface="+mn-ea"/>
              </a:rPr>
              <a:t>·</a:t>
            </a:r>
            <a:r>
              <a:rPr lang="ko-KR" altLang="en-US" b="1" dirty="0">
                <a:latin typeface="+mn-ea"/>
              </a:rPr>
              <a:t>광고 계수</a:t>
            </a:r>
            <a:endParaRPr lang="en-US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2" name="TextBox 26">
            <a:extLst>
              <a:ext uri="{FF2B5EF4-FFF2-40B4-BE49-F238E27FC236}">
                <a16:creationId xmlns:a16="http://schemas.microsoft.com/office/drawing/2014/main" id="{C0C50C65-8686-D2AA-310F-629C184585BA}"/>
              </a:ext>
            </a:extLst>
          </p:cNvPr>
          <p:cNvSpPr txBox="1"/>
          <p:nvPr/>
        </p:nvSpPr>
        <p:spPr>
          <a:xfrm>
            <a:off x="798069" y="530418"/>
            <a:ext cx="249089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3.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외생변수</a:t>
            </a:r>
          </a:p>
        </p:txBody>
      </p:sp>
      <p:sp>
        <p:nvSpPr>
          <p:cNvPr id="3" name="AutoShape 17">
            <a:extLst>
              <a:ext uri="{FF2B5EF4-FFF2-40B4-BE49-F238E27FC236}">
                <a16:creationId xmlns:a16="http://schemas.microsoft.com/office/drawing/2014/main" id="{C7EB4740-3628-FC8D-4D5C-BD70E0111537}"/>
              </a:ext>
            </a:extLst>
          </p:cNvPr>
          <p:cNvSpPr/>
          <p:nvPr/>
        </p:nvSpPr>
        <p:spPr>
          <a:xfrm>
            <a:off x="2352675" y="716185"/>
            <a:ext cx="92279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614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E165-B23B-5360-23DF-5A11711EB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>
            <a:extLst>
              <a:ext uri="{FF2B5EF4-FFF2-40B4-BE49-F238E27FC236}">
                <a16:creationId xmlns:a16="http://schemas.microsoft.com/office/drawing/2014/main" id="{30996FC7-500F-D093-E34C-8B458F282842}"/>
              </a:ext>
            </a:extLst>
          </p:cNvPr>
          <p:cNvSpPr txBox="1"/>
          <p:nvPr/>
        </p:nvSpPr>
        <p:spPr>
          <a:xfrm>
            <a:off x="804419" y="1052752"/>
            <a:ext cx="529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99"/>
              </a:lnSpc>
              <a:spcBef>
                <a:spcPct val="0"/>
              </a:spcBef>
            </a:pPr>
            <a:r>
              <a:rPr lang="ko-KR" altLang="en-US" b="1">
                <a:latin typeface="+mn-ea"/>
              </a:rPr>
              <a:t>추가 출처 명시</a:t>
            </a:r>
            <a:endParaRPr lang="en-US" b="1" spc="-82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2" name="TextBox 26">
            <a:extLst>
              <a:ext uri="{FF2B5EF4-FFF2-40B4-BE49-F238E27FC236}">
                <a16:creationId xmlns:a16="http://schemas.microsoft.com/office/drawing/2014/main" id="{53C34AA6-AD8E-40B5-6217-2E4FC3D8D154}"/>
              </a:ext>
            </a:extLst>
          </p:cNvPr>
          <p:cNvSpPr txBox="1"/>
          <p:nvPr/>
        </p:nvSpPr>
        <p:spPr>
          <a:xfrm>
            <a:off x="798069" y="530418"/>
            <a:ext cx="2490899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en-US" altLang="ko-KR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3. </a:t>
            </a:r>
            <a:r>
              <a:rPr lang="ko-KR" altLang="en-US" sz="2061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외생변수</a:t>
            </a:r>
          </a:p>
        </p:txBody>
      </p:sp>
      <p:sp>
        <p:nvSpPr>
          <p:cNvPr id="3" name="AutoShape 17">
            <a:extLst>
              <a:ext uri="{FF2B5EF4-FFF2-40B4-BE49-F238E27FC236}">
                <a16:creationId xmlns:a16="http://schemas.microsoft.com/office/drawing/2014/main" id="{426F508B-38EF-6CD4-B9E9-9DDF5C2A3694}"/>
              </a:ext>
            </a:extLst>
          </p:cNvPr>
          <p:cNvSpPr/>
          <p:nvPr/>
        </p:nvSpPr>
        <p:spPr>
          <a:xfrm>
            <a:off x="2352675" y="716185"/>
            <a:ext cx="922798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9112C240-12DD-30B4-06B8-CF19995656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910193"/>
              </p:ext>
            </p:extLst>
          </p:nvPr>
        </p:nvGraphicFramePr>
        <p:xfrm>
          <a:off x="804419" y="1658622"/>
          <a:ext cx="9407425" cy="479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344400" imgH="6295999" progId="Excel.Sheet.12">
                  <p:embed/>
                </p:oleObj>
              </mc:Choice>
              <mc:Fallback>
                <p:oleObj name="Worksheet" r:id="rId2" imgW="12344400" imgH="629599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04419" y="1658622"/>
                        <a:ext cx="9407425" cy="4797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067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1277</Words>
  <Application>Microsoft Office PowerPoint</Application>
  <PresentationFormat>와이드스크린</PresentationFormat>
  <Paragraphs>238</Paragraphs>
  <Slides>10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Source Han Sans KR Medium</vt:lpstr>
      <vt:lpstr>Arial</vt:lpstr>
      <vt:lpstr>맑은 고딕</vt:lpstr>
      <vt:lpstr>Office 테마</vt:lpstr>
      <vt:lpstr>Microsoft Excel 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bdh99</dc:creator>
  <cp:lastModifiedBy>user</cp:lastModifiedBy>
  <cp:revision>10</cp:revision>
  <dcterms:created xsi:type="dcterms:W3CDTF">2025-09-04T08:06:24Z</dcterms:created>
  <dcterms:modified xsi:type="dcterms:W3CDTF">2025-09-04T16:39:50Z</dcterms:modified>
</cp:coreProperties>
</file>