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69" r:id="rId4"/>
    <p:sldId id="258" r:id="rId5"/>
    <p:sldId id="270" r:id="rId6"/>
    <p:sldId id="259" r:id="rId7"/>
    <p:sldId id="271" r:id="rId8"/>
    <p:sldId id="274" r:id="rId9"/>
    <p:sldId id="272" r:id="rId10"/>
    <p:sldId id="278" r:id="rId11"/>
    <p:sldId id="314" r:id="rId12"/>
    <p:sldId id="315" r:id="rId13"/>
    <p:sldId id="317" r:id="rId14"/>
    <p:sldId id="318" r:id="rId15"/>
    <p:sldId id="316" r:id="rId16"/>
    <p:sldId id="331" r:id="rId17"/>
    <p:sldId id="332" r:id="rId18"/>
    <p:sldId id="334" r:id="rId19"/>
    <p:sldId id="329" r:id="rId20"/>
    <p:sldId id="322" r:id="rId21"/>
    <p:sldId id="292" r:id="rId22"/>
    <p:sldId id="328" r:id="rId23"/>
    <p:sldId id="335" r:id="rId24"/>
    <p:sldId id="336" r:id="rId25"/>
    <p:sldId id="325" r:id="rId26"/>
    <p:sldId id="337" r:id="rId27"/>
    <p:sldId id="338" r:id="rId28"/>
    <p:sldId id="339" r:id="rId29"/>
    <p:sldId id="327" r:id="rId30"/>
    <p:sldId id="333" r:id="rId31"/>
    <p:sldId id="299" r:id="rId32"/>
    <p:sldId id="330" r:id="rId33"/>
    <p:sldId id="300" r:id="rId34"/>
    <p:sldId id="303" r:id="rId35"/>
    <p:sldId id="304" r:id="rId36"/>
    <p:sldId id="306" r:id="rId37"/>
    <p:sldId id="307" r:id="rId38"/>
    <p:sldId id="310" r:id="rId39"/>
    <p:sldId id="340" r:id="rId40"/>
    <p:sldId id="312" r:id="rId41"/>
  </p:sldIdLst>
  <p:sldSz cx="18288000" cy="10287000"/>
  <p:notesSz cx="6858000" cy="9144000"/>
  <p:embeddedFontLst>
    <p:embeddedFont>
      <p:font typeface="맑은 고딕" panose="020B0503020000020004" pitchFamily="50" charset="-127"/>
      <p:regular r:id="rId43"/>
      <p:bold r:id="rId44"/>
    </p:embeddedFont>
    <p:embeddedFont>
      <p:font typeface="맑은 고딕" panose="020B0503020000020004" pitchFamily="50" charset="-127"/>
      <p:regular r:id="rId43"/>
      <p:bold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8" userDrawn="1">
          <p15:clr>
            <a:srgbClr val="A4A3A4"/>
          </p15:clr>
        </p15:guide>
        <p15:guide id="2" pos="2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FF5"/>
    <a:srgbClr val="F2F2F2"/>
    <a:srgbClr val="FFFF99"/>
    <a:srgbClr val="FFFF66"/>
    <a:srgbClr val="FF9900"/>
    <a:srgbClr val="FFCC00"/>
    <a:srgbClr val="FFCC99"/>
    <a:srgbClr val="1A3F6B"/>
    <a:srgbClr val="131933"/>
    <a:srgbClr val="3258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23" autoAdjust="0"/>
    <p:restoredTop sz="96279" autoAdjust="0"/>
  </p:normalViewPr>
  <p:slideViewPr>
    <p:cSldViewPr>
      <p:cViewPr>
        <p:scale>
          <a:sx n="75" d="100"/>
          <a:sy n="75" d="100"/>
        </p:scale>
        <p:origin x="324" y="18"/>
      </p:cViewPr>
      <p:guideLst>
        <p:guide orient="horz" pos="2248"/>
        <p:guide pos="28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A5B7F-7B8A-42A5-9B6B-2D2B2E035833}" type="datetimeFigureOut">
              <a:rPr lang="ko-KR" altLang="en-US" smtClean="0"/>
              <a:t>2025-08-30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FE74F-0990-4438-8AB4-17B5663E8F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65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125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85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54.180.210.6:800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svg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hyperlink" Target="https://arxiv.org/pdf/2404.18231" TargetMode="External"/><Relationship Id="rId4" Type="http://schemas.openxmlformats.org/officeDocument/2006/relationships/hyperlink" Target="https://www.hbs.edu/ris/Publication%20Files/23-062_ed720ebc-ec4d-4bc3-a6ba-bad8cfbd9d51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sv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54.180.210.6:8000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54.180.210.6:8000/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7688" y="2510"/>
            <a:ext cx="2950312" cy="10281980"/>
          </a:xfrm>
          <a:custGeom>
            <a:avLst/>
            <a:gdLst/>
            <a:ahLst/>
            <a:cxnLst/>
            <a:rect l="l" t="t" r="r" b="b"/>
            <a:pathLst>
              <a:path w="2950312" h="10281980">
                <a:moveTo>
                  <a:pt x="0" y="0"/>
                </a:moveTo>
                <a:lnTo>
                  <a:pt x="2950312" y="0"/>
                </a:lnTo>
                <a:lnTo>
                  <a:pt x="2950312" y="10281980"/>
                </a:lnTo>
                <a:lnTo>
                  <a:pt x="0" y="1028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7118" r="-203723"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4554538" y="1067479"/>
            <a:ext cx="1078315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14811" y="8158500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14811" y="9075843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4422167" y="8158500"/>
            <a:ext cx="0" cy="924037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14811" y="588854"/>
            <a:ext cx="4349189" cy="956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동원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x</a:t>
            </a: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카이스트</a:t>
            </a:r>
            <a:b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</a:br>
            <a:r>
              <a:rPr lang="en-US" altLang="ko-KR" sz="2811" b="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AI </a:t>
            </a:r>
            <a:r>
              <a:rPr lang="ko-KR" altLang="en-US" sz="2811" b="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챌린지 프로젝트</a:t>
            </a:r>
            <a:endParaRPr lang="en-US" sz="2811" b="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19175" y="3838225"/>
            <a:ext cx="11325225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79"/>
              </a:lnSpc>
            </a:pPr>
            <a:r>
              <a:rPr 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</a:t>
            </a:r>
            <a:r>
              <a:rPr lang="ko-KR" alt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를 활용한 비즈니스 시뮬레이터</a:t>
            </a:r>
            <a:endParaRPr lang="en-US" sz="9314" b="1" spc="-624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7723" y="6847926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ko-KR" altLang="en-US" sz="2792" b="1" spc="-201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파인튜닝된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페르소나를 이용한 신제품 판매 예측 시뮬레이션</a:t>
            </a:r>
            <a:endParaRPr lang="en-US" sz="2792" b="1" spc="-201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029200" y="8448417"/>
            <a:ext cx="500668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박진성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주용곤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박동현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최장호</a:t>
            </a:r>
            <a:endParaRPr lang="en-US" sz="2400" b="1" spc="25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8089" y="8458230"/>
            <a:ext cx="369871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ko-KR" altLang="en-US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팀 </a:t>
            </a:r>
            <a:r>
              <a:rPr lang="en-US" altLang="ko-KR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Chill Tuna</a:t>
            </a:r>
            <a:endParaRPr lang="en-US" sz="2400" b="1" spc="-3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AA0823AB-8BFD-7BE4-425D-170A335EDBA2}"/>
              </a:ext>
            </a:extLst>
          </p:cNvPr>
          <p:cNvSpPr txBox="1"/>
          <p:nvPr/>
        </p:nvSpPr>
        <p:spPr>
          <a:xfrm>
            <a:off x="1054984" y="3162300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09D58-D8CD-772C-1205-714CC06A9AF5}"/>
              </a:ext>
            </a:extLst>
          </p:cNvPr>
          <p:cNvSpPr txBox="1"/>
          <p:nvPr/>
        </p:nvSpPr>
        <p:spPr>
          <a:xfrm>
            <a:off x="1014811" y="9411479"/>
            <a:ext cx="3810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챗봇</a:t>
            </a:r>
            <a:r>
              <a:rPr lang="ko-KR" altLang="en-US" dirty="0"/>
              <a:t> 배포 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http://54.180.210.6:8000/</a:t>
            </a:r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126317" y="2956544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3126317" y="5402861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6691152" y="3509865"/>
            <a:ext cx="2950956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983765" y="3509865"/>
            <a:ext cx="2950956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7103" y="3408380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프로젝트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7103" y="5808211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17297" y="3509865"/>
            <a:ext cx="2690871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91152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83765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7103" y="2950280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7103" y="5313758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36594" y="5402861"/>
            <a:ext cx="1424056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17297" y="2950280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65388" y="5402861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70758" y="3509865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036594" y="5899587"/>
            <a:ext cx="295095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765388" y="5880734"/>
            <a:ext cx="2804658" cy="76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분석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56541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Content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70758" y="2950280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6541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683" y="1527188"/>
            <a:ext cx="6913999" cy="7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5622" b="1" spc="-376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목차</a:t>
            </a:r>
            <a:endParaRPr lang="en-US" sz="5622" b="1" spc="-376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197103" y="4719103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111D637D-ADF8-BB14-FE40-9BE5C6A9A9DF}"/>
              </a:ext>
            </a:extLst>
          </p:cNvPr>
          <p:cNvSpPr txBox="1"/>
          <p:nvPr/>
        </p:nvSpPr>
        <p:spPr>
          <a:xfrm>
            <a:off x="14861629" y="3509865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AF8CC8F2-495D-568F-E28F-F90B65DEB68D}"/>
              </a:ext>
            </a:extLst>
          </p:cNvPr>
          <p:cNvSpPr txBox="1"/>
          <p:nvPr/>
        </p:nvSpPr>
        <p:spPr>
          <a:xfrm>
            <a:off x="14861629" y="2950280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1-5</a:t>
            </a:r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FBE7BEF0-ABEB-91A8-4DE9-A84302469628}"/>
              </a:ext>
            </a:extLst>
          </p:cNvPr>
          <p:cNvSpPr/>
          <p:nvPr/>
        </p:nvSpPr>
        <p:spPr>
          <a:xfrm>
            <a:off x="3126317" y="7805948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C8752153-9B06-84ED-1C40-1B5EC1775F89}"/>
              </a:ext>
            </a:extLst>
          </p:cNvPr>
          <p:cNvSpPr txBox="1"/>
          <p:nvPr/>
        </p:nvSpPr>
        <p:spPr>
          <a:xfrm>
            <a:off x="1197103" y="8211298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E7BB47E0-7241-0AEF-9424-0E8A579A765F}"/>
              </a:ext>
            </a:extLst>
          </p:cNvPr>
          <p:cNvSpPr txBox="1"/>
          <p:nvPr/>
        </p:nvSpPr>
        <p:spPr>
          <a:xfrm>
            <a:off x="1197103" y="7716845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36" name="AutoShape 24">
            <a:extLst>
              <a:ext uri="{FF2B5EF4-FFF2-40B4-BE49-F238E27FC236}">
                <a16:creationId xmlns:a16="http://schemas.microsoft.com/office/drawing/2014/main" id="{5AB74ECC-504F-3AE0-AC25-9C3BF3D504FE}"/>
              </a:ext>
            </a:extLst>
          </p:cNvPr>
          <p:cNvSpPr/>
          <p:nvPr/>
        </p:nvSpPr>
        <p:spPr>
          <a:xfrm>
            <a:off x="1197103" y="7122190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E38EFC03-A41C-49CC-2546-5D8B2DFF0819}"/>
              </a:ext>
            </a:extLst>
          </p:cNvPr>
          <p:cNvSpPr txBox="1"/>
          <p:nvPr/>
        </p:nvSpPr>
        <p:spPr>
          <a:xfrm>
            <a:off x="6765062" y="8276430"/>
            <a:ext cx="1931732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6CA1A748-9C4E-938E-F9F9-0342F76F3983}"/>
              </a:ext>
            </a:extLst>
          </p:cNvPr>
          <p:cNvSpPr txBox="1"/>
          <p:nvPr/>
        </p:nvSpPr>
        <p:spPr>
          <a:xfrm>
            <a:off x="4057675" y="8276430"/>
            <a:ext cx="1722104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A807EF01-B4F5-E63C-345E-8E5B4D2A0A81}"/>
              </a:ext>
            </a:extLst>
          </p:cNvPr>
          <p:cNvSpPr txBox="1"/>
          <p:nvPr/>
        </p:nvSpPr>
        <p:spPr>
          <a:xfrm>
            <a:off x="9591207" y="8276430"/>
            <a:ext cx="2690871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생성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15C75304-A0AD-2C12-5CEF-1EF945C99180}"/>
              </a:ext>
            </a:extLst>
          </p:cNvPr>
          <p:cNvSpPr txBox="1"/>
          <p:nvPr/>
        </p:nvSpPr>
        <p:spPr>
          <a:xfrm>
            <a:off x="6765062" y="7716845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B47F37B6-9F1D-C2BF-2AE6-DBDA1D337A98}"/>
              </a:ext>
            </a:extLst>
          </p:cNvPr>
          <p:cNvSpPr txBox="1"/>
          <p:nvPr/>
        </p:nvSpPr>
        <p:spPr>
          <a:xfrm>
            <a:off x="4057675" y="7716845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400" dirty="0">
                <a:latin typeface="+mn-ea"/>
                <a:cs typeface="Telegraf"/>
                <a:sym typeface="Telegraf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2766E59C-3AEA-599A-AFA8-01905DF6A6B1}"/>
              </a:ext>
            </a:extLst>
          </p:cNvPr>
          <p:cNvSpPr txBox="1"/>
          <p:nvPr/>
        </p:nvSpPr>
        <p:spPr>
          <a:xfrm>
            <a:off x="9591207" y="7716845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170C03CB-A8D7-37DD-4B36-83E406D5AB9B}"/>
              </a:ext>
            </a:extLst>
          </p:cNvPr>
          <p:cNvSpPr txBox="1"/>
          <p:nvPr/>
        </p:nvSpPr>
        <p:spPr>
          <a:xfrm>
            <a:off x="12244668" y="8276430"/>
            <a:ext cx="2006411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E6B87391-72F4-E286-2408-19CD1330294C}"/>
              </a:ext>
            </a:extLst>
          </p:cNvPr>
          <p:cNvSpPr txBox="1"/>
          <p:nvPr/>
        </p:nvSpPr>
        <p:spPr>
          <a:xfrm>
            <a:off x="12244668" y="7716845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07088547-203C-C81C-47C8-3F6C194DB6BA}"/>
              </a:ext>
            </a:extLst>
          </p:cNvPr>
          <p:cNvSpPr txBox="1"/>
          <p:nvPr/>
        </p:nvSpPr>
        <p:spPr>
          <a:xfrm>
            <a:off x="14935539" y="8276430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3D782EB4-B956-6561-5257-CE967B003B90}"/>
              </a:ext>
            </a:extLst>
          </p:cNvPr>
          <p:cNvSpPr txBox="1"/>
          <p:nvPr/>
        </p:nvSpPr>
        <p:spPr>
          <a:xfrm>
            <a:off x="14935539" y="7716845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-5</a:t>
            </a: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F555EC4D-9B8D-F2E5-E58E-6B4F13EEAB4C}"/>
              </a:ext>
            </a:extLst>
          </p:cNvPr>
          <p:cNvSpPr txBox="1"/>
          <p:nvPr/>
        </p:nvSpPr>
        <p:spPr>
          <a:xfrm>
            <a:off x="1278900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  <a:endParaRPr lang="en-US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24CE49B5-4373-9AB4-C99A-0F8075A23651}"/>
              </a:ext>
            </a:extLst>
          </p:cNvPr>
          <p:cNvSpPr txBox="1"/>
          <p:nvPr/>
        </p:nvSpPr>
        <p:spPr>
          <a:xfrm>
            <a:off x="1278900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13547-2A40-9511-2F2D-36DBB8C8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E5BA034-D040-161C-30F3-64E770DF1BF7}"/>
              </a:ext>
            </a:extLst>
          </p:cNvPr>
          <p:cNvSpPr/>
          <p:nvPr/>
        </p:nvSpPr>
        <p:spPr>
          <a:xfrm>
            <a:off x="3126317" y="2956544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BB0E09-A747-EAA4-28A3-AA7EB50772F4}"/>
              </a:ext>
            </a:extLst>
          </p:cNvPr>
          <p:cNvSpPr/>
          <p:nvPr/>
        </p:nvSpPr>
        <p:spPr>
          <a:xfrm>
            <a:off x="3126317" y="5402861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C7C47F-73BE-AA3F-D9F6-99D8F1C7A8CE}"/>
              </a:ext>
            </a:extLst>
          </p:cNvPr>
          <p:cNvSpPr txBox="1"/>
          <p:nvPr/>
        </p:nvSpPr>
        <p:spPr>
          <a:xfrm>
            <a:off x="6691152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화면기획서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DB137CC-7ACF-8FA2-EFC3-FE5B0AEEBA77}"/>
              </a:ext>
            </a:extLst>
          </p:cNvPr>
          <p:cNvSpPr txBox="1"/>
          <p:nvPr/>
        </p:nvSpPr>
        <p:spPr>
          <a:xfrm>
            <a:off x="3983765" y="3509865"/>
            <a:ext cx="1740234" cy="760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플로우차트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44B028-E0BE-B880-BBFE-5B1C8AB64AC5}"/>
              </a:ext>
            </a:extLst>
          </p:cNvPr>
          <p:cNvSpPr txBox="1"/>
          <p:nvPr/>
        </p:nvSpPr>
        <p:spPr>
          <a:xfrm>
            <a:off x="1197103" y="3408380"/>
            <a:ext cx="1429735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웹페이지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6CF5F5B-8113-6D22-6143-D1BECC5DE82B}"/>
              </a:ext>
            </a:extLst>
          </p:cNvPr>
          <p:cNvSpPr txBox="1"/>
          <p:nvPr/>
        </p:nvSpPr>
        <p:spPr>
          <a:xfrm>
            <a:off x="1197103" y="5808211"/>
            <a:ext cx="1429735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 및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E85676-C4F6-DF6D-19C8-1A1DB814A209}"/>
              </a:ext>
            </a:extLst>
          </p:cNvPr>
          <p:cNvSpPr txBox="1"/>
          <p:nvPr/>
        </p:nvSpPr>
        <p:spPr>
          <a:xfrm>
            <a:off x="6691152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06407D-7326-AF3E-7F34-D341FF5EF10F}"/>
              </a:ext>
            </a:extLst>
          </p:cNvPr>
          <p:cNvSpPr txBox="1"/>
          <p:nvPr/>
        </p:nvSpPr>
        <p:spPr>
          <a:xfrm>
            <a:off x="3983765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7CFED1F-BC1E-3ABF-8323-C392CA4C1C33}"/>
              </a:ext>
            </a:extLst>
          </p:cNvPr>
          <p:cNvSpPr txBox="1"/>
          <p:nvPr/>
        </p:nvSpPr>
        <p:spPr>
          <a:xfrm>
            <a:off x="1197103" y="2950280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12CEE7D-C368-36A7-069C-2D9AA19B62B3}"/>
              </a:ext>
            </a:extLst>
          </p:cNvPr>
          <p:cNvSpPr txBox="1"/>
          <p:nvPr/>
        </p:nvSpPr>
        <p:spPr>
          <a:xfrm>
            <a:off x="1197103" y="5313758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2381D79-6317-33B3-3096-126E06AFA12E}"/>
              </a:ext>
            </a:extLst>
          </p:cNvPr>
          <p:cNvSpPr txBox="1"/>
          <p:nvPr/>
        </p:nvSpPr>
        <p:spPr>
          <a:xfrm>
            <a:off x="4036594" y="5402861"/>
            <a:ext cx="1424056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2D6BFD3-D1F0-3C04-35E3-BA5649ADD5D0}"/>
              </a:ext>
            </a:extLst>
          </p:cNvPr>
          <p:cNvSpPr txBox="1"/>
          <p:nvPr/>
        </p:nvSpPr>
        <p:spPr>
          <a:xfrm>
            <a:off x="6765388" y="5402861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D4F8680-F08A-8B41-C2A4-BB5BFCF6C66E}"/>
              </a:ext>
            </a:extLst>
          </p:cNvPr>
          <p:cNvSpPr txBox="1"/>
          <p:nvPr/>
        </p:nvSpPr>
        <p:spPr>
          <a:xfrm>
            <a:off x="4036594" y="5899587"/>
            <a:ext cx="2092403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B0FA740-92B6-CA92-0E2D-F8F69DF9F1CE}"/>
              </a:ext>
            </a:extLst>
          </p:cNvPr>
          <p:cNvSpPr txBox="1"/>
          <p:nvPr/>
        </p:nvSpPr>
        <p:spPr>
          <a:xfrm>
            <a:off x="6765388" y="5880734"/>
            <a:ext cx="2804658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BDCA8A3-4191-D582-3BAC-EB05B2EAAC2A}"/>
              </a:ext>
            </a:extLst>
          </p:cNvPr>
          <p:cNvSpPr txBox="1"/>
          <p:nvPr/>
        </p:nvSpPr>
        <p:spPr>
          <a:xfrm>
            <a:off x="956541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997DA83-1951-8A5C-AFA0-40B80E24BA9A}"/>
              </a:ext>
            </a:extLst>
          </p:cNvPr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Content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07A1F50-57C9-9996-3B3A-6BFAEE9549BF}"/>
              </a:ext>
            </a:extLst>
          </p:cNvPr>
          <p:cNvSpPr txBox="1"/>
          <p:nvPr/>
        </p:nvSpPr>
        <p:spPr>
          <a:xfrm>
            <a:off x="956541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A062BF6-7719-B597-C6E7-B42819F8C69B}"/>
              </a:ext>
            </a:extLst>
          </p:cNvPr>
          <p:cNvSpPr txBox="1"/>
          <p:nvPr/>
        </p:nvSpPr>
        <p:spPr>
          <a:xfrm>
            <a:off x="1107683" y="1527188"/>
            <a:ext cx="6913999" cy="7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5622" b="1" spc="-376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목차</a:t>
            </a:r>
            <a:endParaRPr lang="en-US" sz="5622" b="1" spc="-376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47E1CCA2-4CBC-BFB8-F687-76F7E639D124}"/>
              </a:ext>
            </a:extLst>
          </p:cNvPr>
          <p:cNvSpPr/>
          <p:nvPr/>
        </p:nvSpPr>
        <p:spPr>
          <a:xfrm>
            <a:off x="1197103" y="4719103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039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45639" y="6742688"/>
            <a:ext cx="259818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4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705537" y="6742688"/>
            <a:ext cx="259818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4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836270" y="6742688"/>
            <a:ext cx="2369187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4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198752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9286037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376544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83714" y="6035503"/>
            <a:ext cx="4502923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99068" y="5101802"/>
            <a:ext cx="1267504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45639" y="6253335"/>
            <a:ext cx="874928" cy="35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05537" y="6253335"/>
            <a:ext cx="874928" cy="35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36270" y="6253335"/>
            <a:ext cx="873479" cy="35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25452" y="6742688"/>
            <a:ext cx="274130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4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925452" y="6253335"/>
            <a:ext cx="1024538" cy="35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9E2FDB18-BD8B-AD40-380C-E5B878EA1A56}"/>
              </a:ext>
            </a:extLst>
          </p:cNvPr>
          <p:cNvSpPr/>
          <p:nvPr/>
        </p:nvSpPr>
        <p:spPr>
          <a:xfrm>
            <a:off x="13198798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9A3CF3D2-3F1F-C3A4-5D57-40102211123A}"/>
              </a:ext>
            </a:extLst>
          </p:cNvPr>
          <p:cNvSpPr txBox="1"/>
          <p:nvPr/>
        </p:nvSpPr>
        <p:spPr>
          <a:xfrm>
            <a:off x="13742131" y="6742688"/>
            <a:ext cx="274130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4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ABFF10AE-E2B0-D5D4-B575-7D805B1D3754}"/>
              </a:ext>
            </a:extLst>
          </p:cNvPr>
          <p:cNvSpPr txBox="1"/>
          <p:nvPr/>
        </p:nvSpPr>
        <p:spPr>
          <a:xfrm>
            <a:off x="13747706" y="6253335"/>
            <a:ext cx="102453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</a:t>
            </a: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4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9F06C9-A144-DAF8-34DA-67E5A8CA34F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B2FAAE9-A1C1-9C16-C1FD-591178C740F0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A5426DD-1916-EB66-4D58-F5E6568BFE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BB1CEEF-9630-DD45-D365-F26945D94E06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00F85-BA12-74A1-FE41-8CBE5092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18">
            <a:extLst>
              <a:ext uri="{FF2B5EF4-FFF2-40B4-BE49-F238E27FC236}">
                <a16:creationId xmlns:a16="http://schemas.microsoft.com/office/drawing/2014/main" id="{D5C54937-B391-A11E-DFD7-34DE8554C4B3}"/>
              </a:ext>
            </a:extLst>
          </p:cNvPr>
          <p:cNvGrpSpPr/>
          <p:nvPr/>
        </p:nvGrpSpPr>
        <p:grpSpPr>
          <a:xfrm>
            <a:off x="3065276" y="4235732"/>
            <a:ext cx="12333723" cy="1047776"/>
            <a:chOff x="0" y="0"/>
            <a:chExt cx="1162540" cy="945277"/>
          </a:xfrm>
        </p:grpSpPr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65B15FA0-D054-65C9-B616-95597FE8146B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38" name="TextBox 20">
              <a:extLst>
                <a:ext uri="{FF2B5EF4-FFF2-40B4-BE49-F238E27FC236}">
                  <a16:creationId xmlns:a16="http://schemas.microsoft.com/office/drawing/2014/main" id="{CBFCF64C-9361-A5AC-D320-5971C3F47187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01F5E6A-9B7C-EAE6-BED7-F0C2EDF97FB0}"/>
              </a:ext>
            </a:extLst>
          </p:cNvPr>
          <p:cNvGrpSpPr/>
          <p:nvPr/>
        </p:nvGrpSpPr>
        <p:grpSpPr>
          <a:xfrm>
            <a:off x="11167983" y="5906142"/>
            <a:ext cx="5806018" cy="3078090"/>
            <a:chOff x="0" y="0"/>
            <a:chExt cx="1162540" cy="94527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6C1B6A5D-83FC-6AE0-7ADA-49BBBBB018D6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F9D40C5D-D4FA-2F72-7C05-9EF66883D12B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3" name="AutoShape 23">
            <a:extLst>
              <a:ext uri="{FF2B5EF4-FFF2-40B4-BE49-F238E27FC236}">
                <a16:creationId xmlns:a16="http://schemas.microsoft.com/office/drawing/2014/main" id="{B67F5783-40C0-DB79-7644-0ED6EF57D18A}"/>
              </a:ext>
            </a:extLst>
          </p:cNvPr>
          <p:cNvSpPr/>
          <p:nvPr/>
        </p:nvSpPr>
        <p:spPr>
          <a:xfrm>
            <a:off x="3159000" y="1067583"/>
            <a:ext cx="1421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EB61A32-D495-0901-C928-4CA4FEBC6BAE}"/>
              </a:ext>
            </a:extLst>
          </p:cNvPr>
          <p:cNvSpPr txBox="1"/>
          <p:nvPr/>
        </p:nvSpPr>
        <p:spPr>
          <a:xfrm>
            <a:off x="11754000" y="6898500"/>
            <a:ext cx="4599425" cy="178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000" dirty="0"/>
              <a:t>고객의 소비활동을 기반으로 </a:t>
            </a: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마이크로 </a:t>
            </a:r>
            <a:r>
              <a:rPr lang="ko-KR" altLang="en-US" sz="2000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세그먼트를 분류하여 페르소나를 생성</a:t>
            </a:r>
            <a:r>
              <a:rPr lang="en-US" altLang="ko-KR" sz="2000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000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특정 제품에 대한 지불의사 추정을 통해 </a:t>
            </a:r>
            <a:endParaRPr lang="en-US" altLang="ko-KR" sz="2000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000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시뮬레이터 개발 </a:t>
            </a:r>
            <a:endParaRPr lang="en-US" sz="2000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E662B2F-A86C-7127-3827-3DAD942A5C7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 배경</a:t>
            </a:r>
            <a:endParaRPr lang="en-US" altLang="ko-KR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D898888-7A0D-16B1-59F8-09B4470439AC}"/>
              </a:ext>
            </a:extLst>
          </p:cNvPr>
          <p:cNvSpPr txBox="1"/>
          <p:nvPr/>
        </p:nvSpPr>
        <p:spPr>
          <a:xfrm>
            <a:off x="3537490" y="4590908"/>
            <a:ext cx="1121302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LLM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을 활용한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 (RPLA)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의 잠재성 대두</a:t>
            </a: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”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54037AB0-B2E6-ACD9-78A3-72D98B498862}"/>
              </a:ext>
            </a:extLst>
          </p:cNvPr>
          <p:cNvSpPr/>
          <p:nvPr/>
        </p:nvSpPr>
        <p:spPr>
          <a:xfrm rot="-5400000">
            <a:off x="9042497" y="544763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57298BD-772B-5AC6-A57C-18627397E8E2}"/>
              </a:ext>
            </a:extLst>
          </p:cNvPr>
          <p:cNvSpPr txBox="1"/>
          <p:nvPr/>
        </p:nvSpPr>
        <p:spPr>
          <a:xfrm>
            <a:off x="11691511" y="6269471"/>
            <a:ext cx="4758961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8"/>
              </a:lnSpc>
            </a:pPr>
            <a:r>
              <a:rPr lang="ko-KR" altLang="en-US" sz="24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페르소나를 활용한 시장 예측</a:t>
            </a:r>
            <a:endParaRPr lang="en-US" sz="2000" b="1" spc="-184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4B9C0EC-A329-0070-7B32-03B5550AFDA7}"/>
              </a:ext>
            </a:extLst>
          </p:cNvPr>
          <p:cNvSpPr txBox="1"/>
          <p:nvPr/>
        </p:nvSpPr>
        <p:spPr>
          <a:xfrm>
            <a:off x="8739000" y="9414482"/>
            <a:ext cx="8948339" cy="859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95"/>
              </a:lnSpc>
            </a:pP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출처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1</a:t>
            </a: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:  HBR - </a:t>
            </a:r>
            <a:r>
              <a:rPr lang="en-US" altLang="ko-KR" dirty="0"/>
              <a:t>Using LLMs for Market Research [</a:t>
            </a:r>
            <a:r>
              <a:rPr lang="ko-KR" altLang="en-US" dirty="0">
                <a:hlinkClick r:id="rId4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r>
              <a:rPr lang="ko-KR" altLang="en-US" dirty="0"/>
              <a:t>출처 </a:t>
            </a:r>
            <a:r>
              <a:rPr lang="en-US" altLang="ko-KR" dirty="0"/>
              <a:t>2 : From Persona to Personalization: A Survey on Role-Playing Language Agents[</a:t>
            </a:r>
            <a:r>
              <a:rPr lang="ko-KR" altLang="en-US" dirty="0">
                <a:hlinkClick r:id="rId5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endParaRPr lang="en-US" sz="1639" spc="-27" dirty="0">
              <a:solidFill>
                <a:srgbClr val="000001"/>
              </a:solidFill>
              <a:latin typeface="+mn-ea"/>
              <a:cs typeface="Telegraf Medium"/>
              <a:sym typeface="Telegraf Medium"/>
            </a:endParaRP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51E20B05-055B-AA33-9BDD-192F0F41C44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26" name="Picture 2" descr="In Role-Playing, LLMs act according to assigned personas (i.e., roles) under a defined environment. For example, given role names with descriptions, LLMs role-play in a social simulation game. For Personalization, LLMs consider user personas to generate tailored responses to the same question. Dashed rectangles are prompts and solid rectangles are LLMs' responses.">
            <a:extLst>
              <a:ext uri="{FF2B5EF4-FFF2-40B4-BE49-F238E27FC236}">
                <a16:creationId xmlns:a16="http://schemas.microsoft.com/office/drawing/2014/main" id="{EDE43190-BD70-CFFF-DABD-1A6E9A5E4E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816" b="56844" l="340" r="98812">
                        <a14:foregroundMark x1="2037" y1="4190" x2="23430" y2="43715"/>
                        <a14:foregroundMark x1="23430" y1="43715" x2="38710" y2="48603"/>
                        <a14:foregroundMark x1="38710" y1="48603" x2="68421" y2="48883"/>
                        <a14:foregroundMark x1="68421" y1="48883" x2="83531" y2="48603"/>
                        <a14:foregroundMark x1="83531" y1="48603" x2="91851" y2="45531"/>
                        <a14:foregroundMark x1="91851" y1="45531" x2="95756" y2="38408"/>
                        <a14:foregroundMark x1="95756" y1="38408" x2="97793" y2="14944"/>
                        <a14:foregroundMark x1="97793" y1="14944" x2="86587" y2="4469"/>
                        <a14:foregroundMark x1="86587" y1="4469" x2="9338" y2="2235"/>
                        <a14:foregroundMark x1="9338" y1="2235" x2="1019" y2="6006"/>
                        <a14:foregroundMark x1="1358" y1="2374" x2="11885" y2="1397"/>
                        <a14:foregroundMark x1="11885" y1="1397" x2="56537" y2="3911"/>
                        <a14:foregroundMark x1="56537" y1="3911" x2="41766" y2="1536"/>
                        <a14:foregroundMark x1="41766" y1="1536" x2="54499" y2="4469"/>
                        <a14:foregroundMark x1="54499" y1="4469" x2="82003" y2="1257"/>
                        <a14:foregroundMark x1="82003" y1="1257" x2="92699" y2="1816"/>
                        <a14:foregroundMark x1="92699" y1="1816" x2="97453" y2="11453"/>
                        <a14:foregroundMark x1="97453" y1="11453" x2="96435" y2="47207"/>
                        <a14:foregroundMark x1="96435" y1="47207" x2="83362" y2="51257"/>
                        <a14:foregroundMark x1="83362" y1="51257" x2="7301" y2="49581"/>
                        <a14:foregroundMark x1="7301" y1="49581" x2="340" y2="42039"/>
                        <a14:foregroundMark x1="340" y1="42039" x2="1528" y2="2793"/>
                        <a14:foregroundMark x1="92699" y1="3631" x2="97793" y2="22207"/>
                        <a14:foregroundMark x1="97793" y1="22207" x2="96095" y2="49302"/>
                        <a14:foregroundMark x1="96095" y1="49302" x2="96095" y2="49302"/>
                        <a14:foregroundMark x1="96604" y1="1816" x2="98812" y2="50419"/>
                        <a14:foregroundMark x1="98812" y1="50419" x2="98642" y2="50559"/>
                        <a14:foregroundMark x1="42105" y1="46648" x2="63497" y2="46648"/>
                        <a14:foregroundMark x1="41426" y1="52374" x2="57895" y2="52933"/>
                        <a14:foregroundMark x1="49576" y1="54609" x2="52632" y2="56844"/>
                        <a14:foregroundMark x1="86757" y1="51536" x2="97623" y2="51397"/>
                        <a14:foregroundMark x1="97623" y1="51397" x2="97623" y2="51397"/>
                        <a14:foregroundMark x1="5093" y1="49581" x2="849" y2="49581"/>
                        <a14:foregroundMark x1="52462" y1="2654" x2="71477" y2="3212"/>
                        <a14:foregroundMark x1="67742" y1="1816" x2="50424" y2="26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0273"/>
          <a:stretch>
            <a:fillRect/>
          </a:stretch>
        </p:blipFill>
        <p:spPr bwMode="auto">
          <a:xfrm>
            <a:off x="3791404" y="5906142"/>
            <a:ext cx="5200538" cy="377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Freeform 31">
            <a:extLst>
              <a:ext uri="{FF2B5EF4-FFF2-40B4-BE49-F238E27FC236}">
                <a16:creationId xmlns:a16="http://schemas.microsoft.com/office/drawing/2014/main" id="{B7979676-289F-61E1-C2E0-02BA628C5555}"/>
              </a:ext>
            </a:extLst>
          </p:cNvPr>
          <p:cNvSpPr/>
          <p:nvPr/>
        </p:nvSpPr>
        <p:spPr>
          <a:xfrm rot="10800000">
            <a:off x="10067813" y="7386230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289796-56CF-DEC1-EA2C-FF0153610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2097" y="1450500"/>
            <a:ext cx="10783805" cy="2133898"/>
          </a:xfrm>
          <a:prstGeom prst="rect">
            <a:avLst/>
          </a:prstGeom>
        </p:spPr>
      </p:pic>
      <p:sp>
        <p:nvSpPr>
          <p:cNvPr id="4" name="Freeform 31">
            <a:extLst>
              <a:ext uri="{FF2B5EF4-FFF2-40B4-BE49-F238E27FC236}">
                <a16:creationId xmlns:a16="http://schemas.microsoft.com/office/drawing/2014/main" id="{1B654AA2-7E72-B5D0-7EC4-6FF5FD6C4C7E}"/>
              </a:ext>
            </a:extLst>
          </p:cNvPr>
          <p:cNvSpPr/>
          <p:nvPr/>
        </p:nvSpPr>
        <p:spPr>
          <a:xfrm rot="-5400000">
            <a:off x="9042497" y="374852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5224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65278" y="1074277"/>
            <a:ext cx="1430571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079001" y="7880086"/>
            <a:ext cx="3869999" cy="178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가공식품 소비자태도 조사 데이터와 제품 데이터를 기반으로 분류된 마이크로 세그먼트 페르소나를 구축</a:t>
            </a:r>
            <a:endParaRPr lang="en-US" sz="2000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257916" y="7256215"/>
            <a:ext cx="3869999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튜닝된</a:t>
            </a:r>
            <a:r>
              <a:rPr lang="ko-KR" altLang="en-US" sz="2000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페르소나를 </a:t>
            </a:r>
            <a:r>
              <a:rPr lang="en-US" altLang="ko-KR" sz="2000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DB</a:t>
            </a:r>
            <a:r>
              <a:rPr lang="ko-KR" altLang="en-US" sz="2000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저장 후 </a:t>
            </a:r>
            <a:r>
              <a:rPr lang="ko-KR" altLang="en-US" sz="2000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챗봇으로</a:t>
            </a:r>
            <a:r>
              <a:rPr lang="ko-KR" altLang="en-US" sz="2000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만들어 비즈니스 시뮬레이터로 활용</a:t>
            </a:r>
            <a:endParaRPr lang="en-US" sz="2000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81595" y="7639461"/>
            <a:ext cx="3869999" cy="1327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신제품에 대한 개별 페르소나들의 </a:t>
            </a:r>
            <a:endParaRPr lang="en-US" altLang="ko-KR" sz="2000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월별 예측 구매액과 계수들을 계산하여 예측 데이터 작성</a:t>
            </a:r>
            <a:endParaRPr lang="en-US" sz="2000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목표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79001" y="7256215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페르소나 구축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257916" y="6632344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 </a:t>
            </a:r>
            <a:r>
              <a:rPr lang="ko-KR" altLang="en-US" sz="2402" b="1" spc="-10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챗봇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281595" y="7015590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예측 시뮬레이션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89ECD1FC-724D-7761-DD32-59D7BFF1391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6595BCF-BB31-A7DE-8B1B-CD8DF0F78D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42"/>
          <a:stretch>
            <a:fillRect/>
          </a:stretch>
        </p:blipFill>
        <p:spPr>
          <a:xfrm>
            <a:off x="2079000" y="2263500"/>
            <a:ext cx="3357435" cy="4781355"/>
          </a:xfrm>
          <a:prstGeom prst="rect">
            <a:avLst/>
          </a:prstGeom>
        </p:spPr>
      </p:pic>
      <p:pic>
        <p:nvPicPr>
          <p:cNvPr id="2054" name="Picture 6" descr="ChatGPT for biomedical simulations">
            <a:extLst>
              <a:ext uri="{FF2B5EF4-FFF2-40B4-BE49-F238E27FC236}">
                <a16:creationId xmlns:a16="http://schemas.microsoft.com/office/drawing/2014/main" id="{38C5E622-3972-E0BD-B485-06E5C8F24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9" r="28473"/>
          <a:stretch>
            <a:fillRect/>
          </a:stretch>
        </p:blipFill>
        <p:spPr bwMode="auto">
          <a:xfrm>
            <a:off x="7009144" y="2928862"/>
            <a:ext cx="3893164" cy="356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058BB7D-49F9-AA09-AA96-7838197435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90" r="-512"/>
          <a:stretch>
            <a:fillRect/>
          </a:stretch>
        </p:blipFill>
        <p:spPr>
          <a:xfrm>
            <a:off x="12240509" y="1633500"/>
            <a:ext cx="3365669" cy="4856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68B7-5C28-E2CA-39BA-B803D9D8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8B8208B4-3989-432E-416B-F805952F2695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5C126BC-B930-5323-C4A2-76BFB60E7B2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 분장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D39B779-FEA2-7B8D-C1F2-F6D268D589C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04343B49-B554-C706-37C9-896F56702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170471"/>
              </p:ext>
            </p:extLst>
          </p:nvPr>
        </p:nvGraphicFramePr>
        <p:xfrm>
          <a:off x="1345552" y="2281500"/>
          <a:ext cx="15596897" cy="682199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4129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611884">
                  <a:extLst>
                    <a:ext uri="{9D8B030D-6E8A-4147-A177-3AD203B41FA5}">
                      <a16:colId xmlns:a16="http://schemas.microsoft.com/office/drawing/2014/main" val="4168032153"/>
                    </a:ext>
                  </a:extLst>
                </a:gridCol>
                <a:gridCol w="120508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84926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/>
                        <a:t>성명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2000" dirty="0"/>
                        <a:t>상세내용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154594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박진성</a:t>
                      </a:r>
                      <a:endParaRPr lang="en-US" altLang="ko-KR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팀장</a:t>
                      </a:r>
                      <a:r>
                        <a:rPr lang="en-US" altLang="ko-KR" sz="2000" dirty="0"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lvl="0" algn="ctr" latinLnBrk="1"/>
                      <a:r>
                        <a:rPr lang="en-US" altLang="ko-KR" sz="2000" dirty="0">
                          <a:latin typeface="+mn-ea"/>
                          <a:ea typeface="+mn-ea"/>
                        </a:rPr>
                        <a:t>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기획안 작성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화면기획서 작성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샘플 페르소나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시뮬레이션 프로토타입 개발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인구통계학적 세그먼트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소비패턴 클러스터링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네이버 검색 트랜드 조사 및 검색 계수 도출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페르소나 생성 프롬프트 엔지니어링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LLM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시뮬레이션 코드 작성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웹페이지 기획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발표자료 제작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1475597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 err="1">
                          <a:latin typeface="+mn-ea"/>
                          <a:ea typeface="+mn-ea"/>
                        </a:rPr>
                        <a:t>주용곤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판매 제품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제품 및 제품 특징 정보 캡슐화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 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제품 프롬프트 엔지니어링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LLM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시뮬레이션 코드 튜닝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1475597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박동현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판매 제품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시장 규모 추정 데이터 수집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 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제품 판매량 추정 데이터 수집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경쟁사 제품 정보 및 비교 리서치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LLM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시뮬레이션 코드 튜닝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LLM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모델 교차 검증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1475597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 err="1">
                          <a:latin typeface="+mn-ea"/>
                          <a:ea typeface="+mn-ea"/>
                        </a:rPr>
                        <a:t>최장호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동원몰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웹크롤링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데이터 수집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소비자 추정 데이터 수집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페르소나 생성 프롬프트 엔지니어링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LLM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시뮬레이션 코드 작성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 프론트 개발</a:t>
                      </a:r>
                      <a:r>
                        <a:rPr lang="en-US" altLang="ko-KR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</a:t>
                      </a:r>
                      <a:endParaRPr lang="ko-KR" altLang="en-US" sz="2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58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5E39-0B67-80C2-8E62-F93CBCC1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2781B1-33C1-22E3-4733-2D30DCBA3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9" y="1858500"/>
            <a:ext cx="17803715" cy="6795000"/>
          </a:xfrm>
          <a:prstGeom prst="rect">
            <a:avLst/>
          </a:prstGeom>
        </p:spPr>
      </p:pic>
      <p:sp>
        <p:nvSpPr>
          <p:cNvPr id="17" name="AutoShape 17">
            <a:extLst>
              <a:ext uri="{FF2B5EF4-FFF2-40B4-BE49-F238E27FC236}">
                <a16:creationId xmlns:a16="http://schemas.microsoft.com/office/drawing/2014/main" id="{5F018E37-FB43-961C-F7DB-AB5D93B51035}"/>
              </a:ext>
            </a:extLst>
          </p:cNvPr>
          <p:cNvSpPr/>
          <p:nvPr/>
        </p:nvSpPr>
        <p:spPr>
          <a:xfrm>
            <a:off x="4373999" y="1074277"/>
            <a:ext cx="1299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D8FB865-6132-1DA9-6753-07E40E0BA0F9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r>
              <a:rPr lang="en-US" altLang="ko-KR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(Gantt Chart)</a:t>
            </a: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 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9F5C4C3-2611-864E-32C7-9E0CF8695D2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C15815-176F-1B62-ADC5-DE645E8F2303}"/>
              </a:ext>
            </a:extLst>
          </p:cNvPr>
          <p:cNvSpPr/>
          <p:nvPr/>
        </p:nvSpPr>
        <p:spPr>
          <a:xfrm>
            <a:off x="234000" y="2623500"/>
            <a:ext cx="17819123" cy="720000"/>
          </a:xfrm>
          <a:prstGeom prst="rect">
            <a:avLst/>
          </a:prstGeom>
          <a:solidFill>
            <a:schemeClr val="accent4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277F66-E8FD-6A3F-9929-E6CBD652A7D5}"/>
              </a:ext>
            </a:extLst>
          </p:cNvPr>
          <p:cNvSpPr/>
          <p:nvPr/>
        </p:nvSpPr>
        <p:spPr>
          <a:xfrm>
            <a:off x="279000" y="3343499"/>
            <a:ext cx="17819123" cy="990001"/>
          </a:xfrm>
          <a:prstGeom prst="rect">
            <a:avLst/>
          </a:prstGeom>
          <a:solidFill>
            <a:srgbClr val="FFFF00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C2F4D4-ACB1-7326-DA47-F5910F68CB6B}"/>
              </a:ext>
            </a:extLst>
          </p:cNvPr>
          <p:cNvSpPr/>
          <p:nvPr/>
        </p:nvSpPr>
        <p:spPr>
          <a:xfrm>
            <a:off x="234000" y="4333500"/>
            <a:ext cx="17819123" cy="990000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451F81-A8E6-A279-6B7B-1C1CFDB11698}"/>
              </a:ext>
            </a:extLst>
          </p:cNvPr>
          <p:cNvSpPr/>
          <p:nvPr/>
        </p:nvSpPr>
        <p:spPr>
          <a:xfrm>
            <a:off x="234000" y="5323500"/>
            <a:ext cx="17819123" cy="1665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7FBC98-D054-35C0-ECB6-9D8617BE3060}"/>
              </a:ext>
            </a:extLst>
          </p:cNvPr>
          <p:cNvSpPr/>
          <p:nvPr/>
        </p:nvSpPr>
        <p:spPr>
          <a:xfrm>
            <a:off x="234000" y="6988500"/>
            <a:ext cx="17819123" cy="1338593"/>
          </a:xfrm>
          <a:prstGeom prst="rect">
            <a:avLst/>
          </a:prstGeom>
          <a:solidFill>
            <a:schemeClr val="accent3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0C2C94-1F17-302C-DDF7-D15314DE3FBC}"/>
              </a:ext>
            </a:extLst>
          </p:cNvPr>
          <p:cNvSpPr/>
          <p:nvPr/>
        </p:nvSpPr>
        <p:spPr>
          <a:xfrm>
            <a:off x="234000" y="8310992"/>
            <a:ext cx="17819123" cy="387508"/>
          </a:xfrm>
          <a:prstGeom prst="rect">
            <a:avLst/>
          </a:prstGeom>
          <a:solidFill>
            <a:schemeClr val="accent4">
              <a:lumMod val="40000"/>
              <a:lumOff val="6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37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2CDE-6F52-AD59-5C06-5A987BEC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441740E-6CE4-C6D7-409E-5CA9F5A73687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34858D8-4B28-87F8-78B8-2506111BBC33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140EEED-9866-93D7-1625-30B54E76553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6B480CE0-2A09-D2DE-B48F-86CBC0452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028407"/>
              </p:ext>
            </p:extLst>
          </p:nvPr>
        </p:nvGraphicFramePr>
        <p:xfrm>
          <a:off x="1345552" y="2263500"/>
          <a:ext cx="14953448" cy="711283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68064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28853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720001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dirty="0"/>
                        <a:t>상세내역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54818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Windows 10 /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kern="0" spc="-16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+mn-ea"/>
                          <a:ea typeface="+mn-ea"/>
                          <a:cs typeface="Manrope" pitchFamily="34" charset="-120"/>
                        </a:rPr>
                        <a:t>Language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Python 3.10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IDE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Anacomda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jupyter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notebook(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데이터 정제 및 병합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그룹화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ML&amp;DL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VS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2331819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Open</a:t>
                      </a:r>
                    </a:p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Source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beautifulsoup4==4.12.2,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requests==2.31.0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pandas==2.0.3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numpy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==1.24.4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matplotlib==3.7.2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seaborn==0.12.2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&gt;=1.0.0,&lt;2.0.0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&gt;=0.1.0,&lt;0.2.0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langchain-openai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asgiref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==3.9.1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mysqlclient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==2.2.7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python-decouple==3.8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sqlparse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==0.5.3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typing_extensions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==4.14.1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tzdata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==2025.2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  <a:tr h="64841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FrameWork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Django(Django==5.2.4 </a:t>
                      </a:r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djangorestframework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==3.14.0, channels==4.0.0 )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45377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05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E142-40C8-82BF-15CC-C1616608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AB15072C-BFAC-66C3-C821-999B31D05528}"/>
              </a:ext>
            </a:extLst>
          </p:cNvPr>
          <p:cNvSpPr txBox="1"/>
          <p:nvPr/>
        </p:nvSpPr>
        <p:spPr>
          <a:xfrm>
            <a:off x="8555637" y="6742688"/>
            <a:ext cx="259818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분석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D714E31-CDE4-0D35-B07F-558F5B61132A}"/>
              </a:ext>
            </a:extLst>
          </p:cNvPr>
          <p:cNvSpPr txBox="1"/>
          <p:nvPr/>
        </p:nvSpPr>
        <p:spPr>
          <a:xfrm>
            <a:off x="5916826" y="6742688"/>
            <a:ext cx="259818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95AF394-1B24-DFBE-B654-61BF6E8DE9AA}"/>
              </a:ext>
            </a:extLst>
          </p:cNvPr>
          <p:cNvSpPr/>
          <p:nvPr/>
        </p:nvSpPr>
        <p:spPr>
          <a:xfrm>
            <a:off x="787322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6AD0C18-AECA-FB0B-DE4E-312C18DCB02A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분석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D1E9433-69A9-0C84-4156-6BDFF19E2D2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730AC43-8A4F-A2BD-1084-7DEEE27CD323}"/>
              </a:ext>
            </a:extLst>
          </p:cNvPr>
          <p:cNvSpPr txBox="1"/>
          <p:nvPr/>
        </p:nvSpPr>
        <p:spPr>
          <a:xfrm>
            <a:off x="8555637" y="6253335"/>
            <a:ext cx="87492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D14ED9A-BA97-1D94-208F-156E9D41FD16}"/>
              </a:ext>
            </a:extLst>
          </p:cNvPr>
          <p:cNvSpPr txBox="1"/>
          <p:nvPr/>
        </p:nvSpPr>
        <p:spPr>
          <a:xfrm>
            <a:off x="5916826" y="6253335"/>
            <a:ext cx="87492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4A58E5-28A1-E4C2-76C5-59ECCC95EDA6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694B6B6-7A1C-CC6D-24BC-0034E6E2EE49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E7C338BE-DC9C-7091-942F-809ADDE200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9D49CBE-C1C0-BBC1-0010-165ED17BF857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5">
            <a:extLst>
              <a:ext uri="{FF2B5EF4-FFF2-40B4-BE49-F238E27FC236}">
                <a16:creationId xmlns:a16="http://schemas.microsoft.com/office/drawing/2014/main" id="{999453B8-1FC1-F725-9FB1-72597AE043B7}"/>
              </a:ext>
            </a:extLst>
          </p:cNvPr>
          <p:cNvSpPr txBox="1"/>
          <p:nvPr/>
        </p:nvSpPr>
        <p:spPr>
          <a:xfrm>
            <a:off x="11836232" y="6742688"/>
            <a:ext cx="259818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" name="AutoShape 8">
            <a:extLst>
              <a:ext uri="{FF2B5EF4-FFF2-40B4-BE49-F238E27FC236}">
                <a16:creationId xmlns:a16="http://schemas.microsoft.com/office/drawing/2014/main" id="{A5C604EE-E7B8-1029-0DD2-2535DDBFDC97}"/>
              </a:ext>
            </a:extLst>
          </p:cNvPr>
          <p:cNvSpPr/>
          <p:nvPr/>
        </p:nvSpPr>
        <p:spPr>
          <a:xfrm>
            <a:off x="11439000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CD5D6859-5777-6DAB-E95F-F738895F3F10}"/>
              </a:ext>
            </a:extLst>
          </p:cNvPr>
          <p:cNvSpPr txBox="1"/>
          <p:nvPr/>
        </p:nvSpPr>
        <p:spPr>
          <a:xfrm>
            <a:off x="11836232" y="6253335"/>
            <a:ext cx="87492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36F1B8C7-2DD6-CA3A-49C6-89CE30CC469A}"/>
              </a:ext>
            </a:extLst>
          </p:cNvPr>
          <p:cNvSpPr txBox="1"/>
          <p:nvPr/>
        </p:nvSpPr>
        <p:spPr>
          <a:xfrm>
            <a:off x="14679363" y="6742688"/>
            <a:ext cx="259818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4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  <a:endParaRPr lang="en-US" altLang="ko-KR" sz="24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B6DB3CA9-385E-9EFE-CC99-078D100435D6}"/>
              </a:ext>
            </a:extLst>
          </p:cNvPr>
          <p:cNvSpPr/>
          <p:nvPr/>
        </p:nvSpPr>
        <p:spPr>
          <a:xfrm>
            <a:off x="14184000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8D37F8BC-5BC0-59BD-C15E-B60EB34EE35E}"/>
              </a:ext>
            </a:extLst>
          </p:cNvPr>
          <p:cNvSpPr txBox="1"/>
          <p:nvPr/>
        </p:nvSpPr>
        <p:spPr>
          <a:xfrm>
            <a:off x="14679363" y="6253335"/>
            <a:ext cx="874928" cy="35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</a:t>
            </a:r>
            <a:r>
              <a:rPr lang="en-US" altLang="ko-KR" sz="24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4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947424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3FD75-BDDA-7099-3136-26409925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C80ACAB-4260-1AB6-556B-C4155B61E3BC}"/>
              </a:ext>
            </a:extLst>
          </p:cNvPr>
          <p:cNvSpPr/>
          <p:nvPr/>
        </p:nvSpPr>
        <p:spPr>
          <a:xfrm>
            <a:off x="3789001" y="1074277"/>
            <a:ext cx="1358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A735144-CBCB-AA02-6E8F-C2F192C53BD2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22339ED9-6D43-07EB-76E0-433AE134281E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83B8738-F22F-4684-F4CD-8B8AB4266083}"/>
              </a:ext>
            </a:extLst>
          </p:cNvPr>
          <p:cNvSpPr txBox="1"/>
          <p:nvPr/>
        </p:nvSpPr>
        <p:spPr>
          <a:xfrm>
            <a:off x="1206628" y="2376645"/>
            <a:ext cx="6722370" cy="686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신제품 데이터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227B6A0-339E-E2C8-7DC1-304F127E9718}"/>
              </a:ext>
            </a:extLst>
          </p:cNvPr>
          <p:cNvSpPr txBox="1"/>
          <p:nvPr/>
        </p:nvSpPr>
        <p:spPr>
          <a:xfrm>
            <a:off x="1206628" y="4540090"/>
            <a:ext cx="7442372" cy="1045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 자료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연령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가구형태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월소득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등의 인구통계학적 데이터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가공식품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건강식품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HMR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등에 대한 개인별 선호도 등이 포함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A92A396-FD8F-4105-B9DE-45A32D300509}"/>
              </a:ext>
            </a:extLst>
          </p:cNvPr>
          <p:cNvSpPr txBox="1"/>
          <p:nvPr/>
        </p:nvSpPr>
        <p:spPr>
          <a:xfrm>
            <a:off x="1206628" y="1828232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-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대회 제공 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13961F5-8F14-1305-7DBE-6AFF4CAA616A}"/>
              </a:ext>
            </a:extLst>
          </p:cNvPr>
          <p:cNvSpPr txBox="1"/>
          <p:nvPr/>
        </p:nvSpPr>
        <p:spPr>
          <a:xfrm>
            <a:off x="1206628" y="3908031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설문 데이터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D133B08E-8FA0-873E-8BF4-C011E30EF183}"/>
              </a:ext>
            </a:extLst>
          </p:cNvPr>
          <p:cNvSpPr txBox="1"/>
          <p:nvPr/>
        </p:nvSpPr>
        <p:spPr>
          <a:xfrm>
            <a:off x="1206628" y="6851967"/>
            <a:ext cx="7442372" cy="2123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동원몰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및 타 마켓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크롤링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가격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후기수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구성 등 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식품산업통계정보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제조사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브랜드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세분시장 별 월별 매출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리서치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경쟁사 제품의 가격 및 제품 정보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 트랜드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네이버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데이터랩을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통한 제품 검색 트랜드 정보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776DCD29-C9E9-4708-B6B5-82E19B04A261}"/>
              </a:ext>
            </a:extLst>
          </p:cNvPr>
          <p:cNvSpPr txBox="1"/>
          <p:nvPr/>
        </p:nvSpPr>
        <p:spPr>
          <a:xfrm>
            <a:off x="1206628" y="6283897"/>
            <a:ext cx="5417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규모 및 제품 판매 추정 데이터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C0F9097-F5DB-D873-537B-1A912560C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9386"/>
              </p:ext>
            </p:extLst>
          </p:nvPr>
        </p:nvGraphicFramePr>
        <p:xfrm>
          <a:off x="8961900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A68A7558-261F-2727-A8DF-04E64CD1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000" y="5440206"/>
            <a:ext cx="8739805" cy="38734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685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FCB0-B513-807A-E17D-E397093A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26C2A911-6211-B6D2-E036-81098AAE657E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071944E-63EB-26CB-4DA4-3927C8C7DFF1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7C6ACC54-93E0-0D55-8A7E-F0D6F06F3B48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5D2D118-A9D7-F5D9-98F3-55F7C76F95AB}"/>
              </a:ext>
            </a:extLst>
          </p:cNvPr>
          <p:cNvSpPr txBox="1"/>
          <p:nvPr/>
        </p:nvSpPr>
        <p:spPr>
          <a:xfrm>
            <a:off x="1206628" y="2416308"/>
            <a:ext cx="8702372" cy="2250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 목표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52425" algn="l"/>
              </a:tabLst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결과를 토대로 가공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입체감 있는 소비자 페르소나를 생성하기 위한 인구통계학적 특성을 포함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K-means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군집분석 및 실루엣 계수를 활용한 세그먼트 도출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생성을 위한 기반 정보 제공을 위한 </a:t>
            </a:r>
            <a:r>
              <a:rPr lang="en-US" altLang="ko-KR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파일로 가공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85DC4AA-50CF-908B-27A1-4B95EAD3ABEB}"/>
              </a:ext>
            </a:extLst>
          </p:cNvPr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고객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F25EBB2-9734-5C74-8CE1-1BC1C906A32D}"/>
              </a:ext>
            </a:extLst>
          </p:cNvPr>
          <p:cNvSpPr txBox="1"/>
          <p:nvPr/>
        </p:nvSpPr>
        <p:spPr>
          <a:xfrm>
            <a:off x="1207828" y="5166350"/>
            <a:ext cx="8836172" cy="3172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작업 과정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444500" lvl="1" indent="-261938">
              <a:lnSpc>
                <a:spcPct val="150000"/>
              </a:lnSpc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질문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세트를 기반으로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7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가지 성향 카테고리를 정의 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444500" lvl="1" indent="-261938">
              <a:lnSpc>
                <a:spcPct val="150000"/>
              </a:lnSpc>
              <a:buAutoNum type="arabicPeriod"/>
            </a:pPr>
            <a:r>
              <a:rPr lang="ko-KR" altLang="en-US" sz="2000" dirty="0"/>
              <a:t>카테고리 분류를 위한 키워드 사전 작성 및 </a:t>
            </a:r>
            <a:r>
              <a:rPr lang="ko-KR" altLang="en-US" sz="2000" dirty="0" err="1"/>
              <a:t>태깅</a:t>
            </a:r>
            <a:r>
              <a:rPr lang="ko-KR" altLang="en-US" sz="2000" dirty="0"/>
              <a:t> </a:t>
            </a:r>
            <a:r>
              <a:rPr lang="en-US" altLang="ko-KR" sz="2000" dirty="0"/>
              <a:t>(</a:t>
            </a:r>
            <a:r>
              <a:rPr lang="ko-KR" altLang="en-US" sz="2000" dirty="0"/>
              <a:t>코딩</a:t>
            </a:r>
            <a:r>
              <a:rPr lang="en-US" altLang="ko-KR" sz="2000" dirty="0"/>
              <a:t>)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444500" lvl="1" indent="-261938">
              <a:lnSpc>
                <a:spcPct val="150000"/>
              </a:lnSpc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필요한 질문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필터링 및 카테고리 세부 조정 및 스코어 작성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엑셀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444500" lvl="1" indent="-261938">
              <a:lnSpc>
                <a:spcPct val="150000"/>
              </a:lnSpc>
              <a:buFontTx/>
              <a:buAutoNum type="arabicPeriod"/>
            </a:pPr>
            <a:r>
              <a:rPr lang="ko-KR" altLang="en-US" sz="2000" dirty="0"/>
              <a:t>설문조사 결과에 대한 스코어 집계</a:t>
            </a:r>
            <a:r>
              <a:rPr lang="en-US" altLang="ko-KR" sz="2000" dirty="0"/>
              <a:t>(</a:t>
            </a:r>
            <a:r>
              <a:rPr lang="ko-KR" altLang="en-US" sz="2000" dirty="0"/>
              <a:t>코딩</a:t>
            </a:r>
            <a:r>
              <a:rPr lang="en-US" altLang="ko-KR" sz="2000" dirty="0"/>
              <a:t>)</a:t>
            </a:r>
            <a:endParaRPr lang="en-US" altLang="ko-KR" sz="2000" spc="-28" dirty="0">
              <a:solidFill>
                <a:srgbClr val="000000"/>
              </a:solidFill>
              <a:latin typeface="+mn-ea"/>
              <a:sym typeface="Source Han Sans KR"/>
            </a:endParaRPr>
          </a:p>
          <a:p>
            <a:pPr marL="444500" lvl="1" indent="-261938">
              <a:lnSpc>
                <a:spcPct val="150000"/>
              </a:lnSpc>
              <a:buFontTx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실루엣 계수를 이용한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K-means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최적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sym typeface="Source Han Sans KR"/>
              </a:rPr>
              <a:t>군집수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 도출 및 군집 분석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  <a:p>
            <a:pPr marL="444500" lvl="1" indent="-261938">
              <a:lnSpc>
                <a:spcPct val="150000"/>
              </a:lnSpc>
              <a:buFontTx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인구통계학적 비율을 고려한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sym typeface="Source Han Sans KR"/>
              </a:rPr>
              <a:t>층화랜덤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 추출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960F6C-219D-51DA-29BD-FDD89294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000" y="1359129"/>
            <a:ext cx="5994730" cy="84753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1754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9C22-1A14-D9B6-1375-4767B742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DC5F8769-E066-2F4A-30EB-8B4DFA085D92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0616F90-37E0-343A-4C16-02CE9211995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54FEDB3-BE96-93B7-DEAE-DAF539984336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6B79A35B-E9C0-0766-7E24-1CF60CBD8D4B}"/>
              </a:ext>
            </a:extLst>
          </p:cNvPr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질문지 카테고리 </a:t>
            </a: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태깅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1C7F5F-97B6-DBBC-1AC8-77407D600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82" y="2373235"/>
            <a:ext cx="5629911" cy="7585264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D33CC0D3-AC75-869F-0EE1-28A6F5A0C24C}"/>
              </a:ext>
            </a:extLst>
          </p:cNvPr>
          <p:cNvSpPr txBox="1"/>
          <p:nvPr/>
        </p:nvSpPr>
        <p:spPr>
          <a:xfrm>
            <a:off x="9954000" y="1813500"/>
            <a:ext cx="5985000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설문 응답에 대한 점수 매핑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+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정규화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E9F97A-6AFD-A76D-592B-3F170C32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34" y="2373235"/>
            <a:ext cx="5298265" cy="761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94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6C1E-D92B-B868-CC8E-ABFF659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6A45CC0-4D69-C180-A981-9782E8D84617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5266EF2-620B-B5F2-096F-151A62FBA3F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D121789A-678F-36D9-7048-D3789C6E4AF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CCA79EB-9A45-2D72-4A75-506A0A47FB33}"/>
              </a:ext>
            </a:extLst>
          </p:cNvPr>
          <p:cNvSpPr txBox="1"/>
          <p:nvPr/>
        </p:nvSpPr>
        <p:spPr>
          <a:xfrm>
            <a:off x="1206628" y="2386806"/>
            <a:ext cx="6722370" cy="2251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스케일 방식에 따른 실루엣 계수 확인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k-=3~10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클러스터링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&amp;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실루엣 계산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StandardScaler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0.2216 (k=3)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MinMaxScaler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0.2252 (k=4)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QuantileTransformer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0.1794 (k=4)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B23C1EF-05FD-3C82-7FAB-9F1929F084C9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K-Means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군집분석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46752A-F364-35A4-0424-FADE6977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3" y="5143500"/>
            <a:ext cx="7612061" cy="499500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8FE0DA7C-78B3-BA25-BE78-E8BB38DFB7A8}"/>
              </a:ext>
            </a:extLst>
          </p:cNvPr>
          <p:cNvSpPr txBox="1"/>
          <p:nvPr/>
        </p:nvSpPr>
        <p:spPr>
          <a:xfrm>
            <a:off x="9324000" y="2386806"/>
            <a:ext cx="6722370" cy="27125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최적의 클러스터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(k=4)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따른 클러스터링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 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실속형 미식가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 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 소비자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 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소극적 소비자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3 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트렌드 주도형 소비자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</a:pPr>
            <a:r>
              <a:rPr lang="en-US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  ** </a:t>
            </a:r>
            <a:r>
              <a:rPr lang="ko-KR" altLang="en-US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2</a:t>
            </a:r>
            <a:r>
              <a:rPr lang="ko-KR" altLang="en-US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는 향후 페르소나 생성에 부적합하여 제거</a:t>
            </a:r>
            <a:endParaRPr lang="en-US" spc="-28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ource Han Sans KR"/>
              <a:sym typeface="Source Han Sans KR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59E3ABB-A21E-38E5-4420-1EB12A3BA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191396"/>
              </p:ext>
            </p:extLst>
          </p:nvPr>
        </p:nvGraphicFramePr>
        <p:xfrm>
          <a:off x="9311612" y="5503500"/>
          <a:ext cx="8556986" cy="3797420"/>
        </p:xfrm>
        <a:graphic>
          <a:graphicData uri="http://schemas.openxmlformats.org/drawingml/2006/table">
            <a:tbl>
              <a:tblPr/>
              <a:tblGrid>
                <a:gridCol w="602284">
                  <a:extLst>
                    <a:ext uri="{9D8B030D-6E8A-4147-A177-3AD203B41FA5}">
                      <a16:colId xmlns:a16="http://schemas.microsoft.com/office/drawing/2014/main" val="3379984702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876718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296977064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1902624355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2417079764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427366892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2053529130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194104869"/>
                    </a:ext>
                  </a:extLst>
                </a:gridCol>
              </a:tblGrid>
              <a:tr h="10184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cluster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brand_loyalty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cooking_convenience_scaled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health_orientation_scaled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hmr_preference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premium_orientation_scaled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price_sensitivity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variety_seeking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361100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23465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944468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421135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501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667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A355-CDAC-F0B1-7878-91B9F603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18E236F-A105-BA8F-9D62-8520D47F7012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5DD2A8E-D8D1-0D1F-F5DD-B46E80ED344B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B6B422B-B494-C51F-2A38-B039CDC6EBD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9C4F421-3AD3-3EE4-DCDF-D15CB79B3477}"/>
              </a:ext>
            </a:extLst>
          </p:cNvPr>
          <p:cNvSpPr txBox="1"/>
          <p:nvPr/>
        </p:nvSpPr>
        <p:spPr>
          <a:xfrm>
            <a:off x="1206628" y="2311427"/>
            <a:ext cx="16164362" cy="686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연령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성별의 절대값에는 차이가 있으나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대체로 세그먼트 별 연령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/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 분포는 균일함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단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추구형은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대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혹은 남성이 더 낮은 비율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소극적 소비자를 제외하면 모두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HMR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선호도가 높으며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비슷한 가격 민감도를 가지고 있음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53B776D-C91C-DBA2-57BC-212C67280C6E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페르소나 정보 시각화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E47E7A-DD6D-24D9-3745-0986C9DBD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" y="3298500"/>
            <a:ext cx="12478740" cy="35032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F4F59D-B9EB-F891-923E-9D0415F19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04" y="6676010"/>
            <a:ext cx="12370636" cy="34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43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6CC0-6AA5-4051-BCE8-46FEE26F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09AD47B-492D-8EC2-7F28-285A229F7E27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FCD0C3A-6994-1794-0C26-6CED1E9D79D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101C872F-6449-FC7E-A6E4-A4D24E4272A9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1206628" y="2350463"/>
            <a:ext cx="6497372" cy="684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product_name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en-US" altLang="ko-KR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product_feature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category_level_1~3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B40D309-F00C-A9C0-11B1-ECFB72A4923B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BD6A322-08EC-26CC-FCDF-1634A54C84DD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77" y="6403500"/>
            <a:ext cx="16528182" cy="3258005"/>
          </a:xfrm>
          <a:prstGeom prst="rect">
            <a:avLst/>
          </a:prstGeom>
        </p:spPr>
      </p:pic>
      <p:sp>
        <p:nvSpPr>
          <p:cNvPr id="7" name="아래쪽 화살표 6"/>
          <p:cNvSpPr/>
          <p:nvPr/>
        </p:nvSpPr>
        <p:spPr>
          <a:xfrm>
            <a:off x="2817102" y="3474788"/>
            <a:ext cx="2321898" cy="678712"/>
          </a:xfrm>
          <a:prstGeom prst="downArrow">
            <a:avLst>
              <a:gd name="adj1" fmla="val 50000"/>
              <a:gd name="adj2" fmla="val 6924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1197103" y="4474534"/>
            <a:ext cx="6506897" cy="684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판단하기 쉽게 전처리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product_feature2, advertise, </a:t>
            </a:r>
            <a:r>
              <a:rPr lang="en-US" altLang="ko-KR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release_date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price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추가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045126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9B85C-4018-B6E5-212B-234C40AA1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53347B1-F34C-3CE4-8E30-DD6EA077859E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95E69ED-FFB1-1260-A4CF-5876262A5CB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F778F007-ECFA-E0DD-572C-DFE02D8A93D8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CF35430-C75C-5A28-2FE2-08FF2E9385C3}"/>
              </a:ext>
            </a:extLst>
          </p:cNvPr>
          <p:cNvSpPr txBox="1"/>
          <p:nvPr/>
        </p:nvSpPr>
        <p:spPr>
          <a:xfrm>
            <a:off x="1206628" y="2350463"/>
            <a:ext cx="3932372" cy="391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캡슐화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 </a:t>
            </a:r>
            <a:br>
              <a:rPr lang="en-US" altLang="ko-KR" sz="2000" dirty="0">
                <a:latin typeface="+mn-ea"/>
              </a:rPr>
            </a:br>
            <a:r>
              <a:rPr lang="ko-KR" altLang="en-US" sz="2000" dirty="0">
                <a:latin typeface="+mn-ea"/>
              </a:rPr>
              <a:t>데이터와 그 데이터를 다루는 기능을 하나의 단위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객체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로 묶고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외부에 불필요한 내부 구현을 숨기는 것</a:t>
            </a:r>
            <a:br>
              <a:rPr lang="en-US" altLang="ko-KR" sz="2000" dirty="0">
                <a:latin typeface="+mn-ea"/>
              </a:rPr>
            </a:b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indent="-169863" algn="l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의 출력은 자연어 처리이므로 캡슐화 방법 중 출력 결과를 구조화하여 쉽게 파싱하고 활용할 수 있는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변환을 진행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F06C0B4-A718-D9B0-E131-2070B482E498}"/>
              </a:ext>
            </a:extLst>
          </p:cNvPr>
          <p:cNvSpPr txBox="1"/>
          <p:nvPr/>
        </p:nvSpPr>
        <p:spPr>
          <a:xfrm>
            <a:off x="1206628" y="1813500"/>
            <a:ext cx="4516269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캡슐화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000" y="1795813"/>
            <a:ext cx="5722132" cy="74169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3E90666-A5AF-B612-7EF6-A27F22F69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8857" y="1813500"/>
            <a:ext cx="5722133" cy="74169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1848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85C0-ABE8-00E6-2B59-E4344B0E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648E589-F7B0-D86E-E851-09D197C54EEE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2B507AE-61BB-E93F-8E05-385DB5CCA47D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1B02E66-60DD-825D-B380-5C8E8FDD1A23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961E3F7-483A-D632-0072-9B2B7E9513D4}"/>
              </a:ext>
            </a:extLst>
          </p:cNvPr>
          <p:cNvSpPr txBox="1"/>
          <p:nvPr/>
        </p:nvSpPr>
        <p:spPr>
          <a:xfrm>
            <a:off x="1206628" y="2350464"/>
            <a:ext cx="11942372" cy="2270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Malgun Gothic"/>
              </a:rPr>
              <a:t>기본계수 </a:t>
            </a:r>
            <a:r>
              <a:rPr lang="en-US" altLang="ko-KR" sz="2000" dirty="0" err="1">
                <a:latin typeface="Malgun Gothic"/>
              </a:rPr>
              <a:t>base_scale</a:t>
            </a:r>
            <a:r>
              <a:rPr lang="en-US" altLang="ko-KR" sz="2000" dirty="0">
                <a:latin typeface="Malgun Gothic"/>
              </a:rPr>
              <a:t> = </a:t>
            </a:r>
            <a:r>
              <a:rPr lang="ko-KR" altLang="en-US" sz="2000" dirty="0">
                <a:latin typeface="Malgun Gothic"/>
              </a:rPr>
              <a:t>카테고리시장가중 </a:t>
            </a:r>
            <a:r>
              <a:rPr lang="en-US" altLang="ko-KR" sz="2000" dirty="0">
                <a:latin typeface="Malgun Gothic"/>
              </a:rPr>
              <a:t>× </a:t>
            </a:r>
            <a:r>
              <a:rPr lang="ko-KR" altLang="en-US" sz="2000" dirty="0">
                <a:latin typeface="Malgun Gothic"/>
              </a:rPr>
              <a:t>카테고리내 제품비중 </a:t>
            </a:r>
            <a:r>
              <a:rPr lang="en-US" altLang="ko-KR" sz="2000" dirty="0">
                <a:latin typeface="Malgun Gothic"/>
              </a:rPr>
              <a:t>× </a:t>
            </a:r>
            <a:r>
              <a:rPr lang="ko-KR" altLang="en-US" sz="2000" dirty="0" err="1">
                <a:latin typeface="Malgun Gothic"/>
              </a:rPr>
              <a:t>역할패널티</a:t>
            </a:r>
            <a:endParaRPr lang="ko-KR" altLang="en-US" sz="2000" dirty="0">
              <a:latin typeface="Malgun Gothic"/>
            </a:endParaRP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Malgun Gothic"/>
              </a:rPr>
              <a:t>카테고리시장가중 </a:t>
            </a:r>
            <a:r>
              <a:rPr lang="en-US" altLang="ko-KR" sz="2000" dirty="0">
                <a:latin typeface="Malgun Gothic"/>
              </a:rPr>
              <a:t>= </a:t>
            </a:r>
            <a:r>
              <a:rPr lang="ko-KR" altLang="en-US" sz="2000" dirty="0">
                <a:latin typeface="Malgun Gothic"/>
              </a:rPr>
              <a:t>카테고리 시장규모 </a:t>
            </a:r>
            <a:r>
              <a:rPr lang="en-US" altLang="ko-KR" sz="2000" dirty="0">
                <a:latin typeface="Malgun Gothic"/>
              </a:rPr>
              <a:t>/ </a:t>
            </a:r>
            <a:r>
              <a:rPr lang="ko-KR" altLang="en-US" sz="2000" dirty="0">
                <a:latin typeface="Malgun Gothic"/>
              </a:rPr>
              <a:t>전체 시장규모</a:t>
            </a: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Malgun Gothic"/>
              </a:rPr>
              <a:t>제품비중 </a:t>
            </a:r>
            <a:r>
              <a:rPr lang="en-US" altLang="ko-KR" sz="2000" dirty="0">
                <a:latin typeface="Malgun Gothic"/>
              </a:rPr>
              <a:t>= </a:t>
            </a:r>
            <a:r>
              <a:rPr lang="ko-KR" altLang="en-US" sz="2000" dirty="0">
                <a:latin typeface="Malgun Gothic"/>
              </a:rPr>
              <a:t>제품 예측판매량 </a:t>
            </a:r>
            <a:r>
              <a:rPr lang="en-US" altLang="ko-KR" sz="2000" dirty="0">
                <a:latin typeface="Malgun Gothic"/>
              </a:rPr>
              <a:t>/ </a:t>
            </a:r>
            <a:r>
              <a:rPr lang="ko-KR" altLang="en-US" sz="2000" dirty="0">
                <a:latin typeface="Malgun Gothic"/>
              </a:rPr>
              <a:t>카테고리 내 합</a:t>
            </a: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Malgun Gothic"/>
              </a:rPr>
              <a:t>역할패널티</a:t>
            </a:r>
            <a:r>
              <a:rPr lang="en-US" altLang="ko-KR" sz="2000" dirty="0">
                <a:latin typeface="Malgun Gothic"/>
              </a:rPr>
              <a:t>: </a:t>
            </a:r>
            <a:r>
              <a:rPr lang="ko-KR" altLang="en-US" sz="2000" dirty="0">
                <a:latin typeface="Malgun Gothic"/>
              </a:rPr>
              <a:t>플래그십 </a:t>
            </a:r>
            <a:r>
              <a:rPr lang="en-US" altLang="ko-KR" sz="2000" dirty="0">
                <a:latin typeface="Malgun Gothic"/>
              </a:rPr>
              <a:t>1.00 / </a:t>
            </a:r>
            <a:r>
              <a:rPr lang="ko-KR" altLang="en-US" sz="2000" dirty="0">
                <a:latin typeface="Malgun Gothic"/>
              </a:rPr>
              <a:t>서브 </a:t>
            </a:r>
            <a:r>
              <a:rPr lang="en-US" altLang="ko-KR" sz="2000" dirty="0">
                <a:latin typeface="Malgun Gothic"/>
              </a:rPr>
              <a:t>0.80 / </a:t>
            </a:r>
            <a:r>
              <a:rPr lang="ko-KR" altLang="en-US" sz="2000" dirty="0">
                <a:latin typeface="Malgun Gothic"/>
              </a:rPr>
              <a:t>니치 </a:t>
            </a:r>
            <a:r>
              <a:rPr lang="en-US" altLang="ko-KR" sz="2000" dirty="0">
                <a:latin typeface="Malgun Gothic"/>
              </a:rPr>
              <a:t>0.70 / </a:t>
            </a:r>
            <a:r>
              <a:rPr lang="ko-KR" altLang="en-US" sz="2000" dirty="0">
                <a:latin typeface="Malgun Gothic"/>
              </a:rPr>
              <a:t>확장</a:t>
            </a:r>
            <a:r>
              <a:rPr lang="en-US" altLang="ko-KR" sz="2000" dirty="0">
                <a:latin typeface="Malgun Gothic"/>
              </a:rPr>
              <a:t>·</a:t>
            </a:r>
            <a:r>
              <a:rPr lang="ko-KR" altLang="en-US" sz="2000" dirty="0">
                <a:latin typeface="Malgun Gothic"/>
              </a:rPr>
              <a:t>테스트 </a:t>
            </a:r>
            <a:r>
              <a:rPr lang="en-US" altLang="ko-KR" sz="2000" dirty="0">
                <a:latin typeface="Malgun Gothic"/>
              </a:rPr>
              <a:t>0.85 / (</a:t>
            </a:r>
            <a:r>
              <a:rPr lang="ko-KR" altLang="en-US" sz="2000" dirty="0" err="1">
                <a:latin typeface="Malgun Gothic"/>
              </a:rPr>
              <a:t>동원맛참</a:t>
            </a:r>
            <a:r>
              <a:rPr lang="ko-KR" altLang="en-US" sz="2000" dirty="0">
                <a:latin typeface="Malgun Gothic"/>
              </a:rPr>
              <a:t> 서브라인 </a:t>
            </a:r>
            <a:r>
              <a:rPr lang="en-US" altLang="ko-KR" sz="2000" dirty="0">
                <a:latin typeface="Malgun Gothic"/>
              </a:rPr>
              <a:t>0.78)</a:t>
            </a: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Malgun Gothic"/>
              </a:rPr>
              <a:t>성장계수</a:t>
            </a:r>
            <a:r>
              <a:rPr lang="en-US" altLang="ko-KR" sz="2000" dirty="0">
                <a:latin typeface="Malgun Gothic"/>
              </a:rPr>
              <a:t>: </a:t>
            </a:r>
            <a:r>
              <a:rPr lang="ko-KR" altLang="en-US" sz="2000" dirty="0">
                <a:latin typeface="Malgun Gothic"/>
              </a:rPr>
              <a:t>연간성장률</a:t>
            </a:r>
            <a:r>
              <a:rPr lang="en-US" altLang="ko-KR" sz="2000" dirty="0">
                <a:latin typeface="Malgun Gothic"/>
              </a:rPr>
              <a:t>(CAGR) → </a:t>
            </a:r>
            <a:r>
              <a:rPr lang="ko-KR" altLang="en-US" sz="2000" dirty="0">
                <a:latin typeface="Malgun Gothic"/>
              </a:rPr>
              <a:t>월별 성장계수 </a:t>
            </a:r>
            <a:r>
              <a:rPr lang="en-US" altLang="ko-KR" sz="2000" dirty="0">
                <a:latin typeface="Malgun Gothic"/>
              </a:rPr>
              <a:t>( (1+CAGR)^(1/12) )</a:t>
            </a:r>
          </a:p>
          <a:p>
            <a:pPr marL="352425" lvl="1" indent="-1714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월 </a:t>
            </a:r>
            <a:r>
              <a:rPr lang="en-US" altLang="ko-KR" sz="2000" dirty="0"/>
              <a:t>m</a:t>
            </a:r>
            <a:r>
              <a:rPr lang="ko-KR" altLang="en-US" sz="2000" dirty="0"/>
              <a:t>의 예측치 </a:t>
            </a:r>
            <a:r>
              <a:rPr lang="en-US" altLang="ko-KR" sz="2000" dirty="0"/>
              <a:t>= </a:t>
            </a:r>
            <a:r>
              <a:rPr lang="ko-KR" altLang="en-US" sz="2000" b="1" dirty="0" err="1"/>
              <a:t>기준값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× </a:t>
            </a:r>
            <a:r>
              <a:rPr lang="ko-KR" altLang="en-US" sz="2000" b="1" dirty="0"/>
              <a:t>계절계수</a:t>
            </a:r>
            <a:r>
              <a:rPr lang="en-US" altLang="ko-KR" sz="2000" b="1" dirty="0"/>
              <a:t>[m] × </a:t>
            </a:r>
            <a:r>
              <a:rPr lang="ko-KR" altLang="en-US" sz="2000" b="1" dirty="0"/>
              <a:t>프로모션계수</a:t>
            </a:r>
            <a:r>
              <a:rPr lang="en-US" altLang="ko-KR" sz="2000" b="1" dirty="0"/>
              <a:t>[m] × (</a:t>
            </a:r>
            <a:r>
              <a:rPr lang="ko-KR" altLang="en-US" sz="2000" b="1" dirty="0"/>
              <a:t>월매출계수</a:t>
            </a:r>
            <a:r>
              <a:rPr lang="en-US" altLang="ko-KR" sz="2000" b="1" dirty="0"/>
              <a:t>)^(m-1)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3444B6E8-04F8-EC96-DEF4-EDB3E8E75324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시장규모 정보 수집 및 계수 도출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ADD816-4378-FB47-FDE0-5E3E157E2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712" y="4873500"/>
            <a:ext cx="12844575" cy="512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126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A80C-4DA8-DB74-15C7-8A18310E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50AC71-6DA5-BC16-7592-8FDE9E9D3EEA}"/>
              </a:ext>
            </a:extLst>
          </p:cNvPr>
          <p:cNvSpPr/>
          <p:nvPr/>
        </p:nvSpPr>
        <p:spPr>
          <a:xfrm>
            <a:off x="3924001" y="1074278"/>
            <a:ext cx="1344699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BD19F59-92F5-211A-D9D8-9F22337E6ED5}"/>
              </a:ext>
            </a:extLst>
          </p:cNvPr>
          <p:cNvSpPr txBox="1"/>
          <p:nvPr/>
        </p:nvSpPr>
        <p:spPr>
          <a:xfrm>
            <a:off x="1197104" y="795628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6A0893C-BFCA-539D-6EB7-CD4AB8C09929}"/>
              </a:ext>
            </a:extLst>
          </p:cNvPr>
          <p:cNvSpPr txBox="1"/>
          <p:nvPr/>
        </p:nvSpPr>
        <p:spPr>
          <a:xfrm>
            <a:off x="11574001" y="547028"/>
            <a:ext cx="5796992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35"/>
              </a:lnSpc>
              <a:spcBef>
                <a:spcPct val="0"/>
              </a:spcBef>
            </a:pPr>
            <a:r>
              <a:rPr lang="en-US" sz="280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A5D3ED4-47E3-A5E2-ED64-617B14444FD4}"/>
              </a:ext>
            </a:extLst>
          </p:cNvPr>
          <p:cNvSpPr/>
          <p:nvPr/>
        </p:nvSpPr>
        <p:spPr>
          <a:xfrm>
            <a:off x="1216657" y="1754043"/>
            <a:ext cx="4462343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400" b="1" dirty="0" err="1">
                <a:solidFill>
                  <a:srgbClr val="000000"/>
                </a:solidFill>
                <a:latin typeface="+mn-ea"/>
                <a:cs typeface="Inter Bold" pitchFamily="34" charset="-120"/>
              </a:rPr>
              <a:t>월매출계수</a:t>
            </a:r>
            <a:r>
              <a:rPr lang="en-US" sz="24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(2020-2023)</a:t>
            </a:r>
            <a:endParaRPr lang="en-US" sz="2400" dirty="0">
              <a:latin typeface="+mn-ea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114D07-2EC5-D178-D6F2-8E646394E83B}"/>
              </a:ext>
            </a:extLst>
          </p:cNvPr>
          <p:cNvSpPr/>
          <p:nvPr/>
        </p:nvSpPr>
        <p:spPr>
          <a:xfrm>
            <a:off x="1108084" y="2346282"/>
            <a:ext cx="13184744" cy="5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52425" lvl="1" indent="-169863"/>
            <a:r>
              <a:rPr lang="en-US" sz="2000" dirty="0">
                <a:solidFill>
                  <a:srgbClr val="272525"/>
                </a:solidFill>
                <a:latin typeface="+mn-ea"/>
                <a:cs typeface="Inter" pitchFamily="34" charset="-120"/>
              </a:rPr>
              <a:t> 2020년부터 2023년까지 주요 식품 품목의 월별 매출 계수를 도출하여 제품별 매출 추세와 계절성 </a:t>
            </a:r>
            <a:r>
              <a:rPr lang="en-US" sz="2000" dirty="0" err="1">
                <a:solidFill>
                  <a:srgbClr val="272525"/>
                </a:solidFill>
                <a:latin typeface="+mn-ea"/>
                <a:cs typeface="Inter" pitchFamily="34" charset="-120"/>
              </a:rPr>
              <a:t>패턴을</a:t>
            </a:r>
            <a:r>
              <a:rPr lang="en-US" sz="2000" dirty="0">
                <a:solidFill>
                  <a:srgbClr val="272525"/>
                </a:solidFill>
                <a:latin typeface="+mn-ea"/>
                <a:cs typeface="Inter" pitchFamily="34" charset="-120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n-ea"/>
                <a:cs typeface="Inter" pitchFamily="34" charset="-120"/>
              </a:rPr>
              <a:t>파악</a:t>
            </a:r>
            <a:endParaRPr lang="en-US" sz="2000" dirty="0">
              <a:latin typeface="+mn-ea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1CA7C1D-6850-739F-BAC7-49AC225F1ED9}"/>
              </a:ext>
            </a:extLst>
          </p:cNvPr>
          <p:cNvSpPr/>
          <p:nvPr/>
        </p:nvSpPr>
        <p:spPr>
          <a:xfrm>
            <a:off x="1195926" y="4537981"/>
            <a:ext cx="2685098" cy="33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99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&lt;</a:t>
            </a:r>
            <a:r>
              <a:rPr lang="en-US" sz="2000" b="1" dirty="0" err="1">
                <a:solidFill>
                  <a:srgbClr val="000000"/>
                </a:solidFill>
                <a:latin typeface="+mn-ea"/>
                <a:cs typeface="Inter Bold" pitchFamily="34" charset="-120"/>
              </a:rPr>
              <a:t>제품별</a:t>
            </a:r>
            <a:r>
              <a:rPr lang="en-US" sz="20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+mn-ea"/>
                <a:cs typeface="Inter Bold" pitchFamily="34" charset="-120"/>
              </a:rPr>
              <a:t>분석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  <a:cs typeface="Inter Bold" pitchFamily="34" charset="-120"/>
              </a:rPr>
              <a:t>&gt;</a:t>
            </a:r>
            <a:endParaRPr lang="en-US" sz="2000" dirty="0">
              <a:latin typeface="+mn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BB3097F8-AE42-F313-47D0-2B719F4B9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82" y="4952484"/>
            <a:ext cx="5034869" cy="300361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0B54F3C-26DD-1DF7-837D-40A30304F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1091" y="4960585"/>
            <a:ext cx="5034869" cy="300361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4F24A58-E910-F16E-3CFC-D1462AAF1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133" y="4982569"/>
            <a:ext cx="4875311" cy="2908427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EAADD087-1CF7-9A4A-56F5-6C6D85BAFC22}"/>
              </a:ext>
            </a:extLst>
          </p:cNvPr>
          <p:cNvSpPr txBox="1"/>
          <p:nvPr/>
        </p:nvSpPr>
        <p:spPr>
          <a:xfrm>
            <a:off x="1206628" y="2846643"/>
            <a:ext cx="8342372" cy="1396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 산출 방식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마켓링크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POS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(2020-2023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전국 유통 채널 매출 포함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계수 산출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월매출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계수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=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해당 월 매출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÷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연평균 매출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최종 계수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2020-2023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월매출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계수 평균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단일 연도 특이점 상쇄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C57217-D06E-6901-AA60-E9C6D9E38199}"/>
              </a:ext>
            </a:extLst>
          </p:cNvPr>
          <p:cNvSpPr txBox="1"/>
          <p:nvPr/>
        </p:nvSpPr>
        <p:spPr>
          <a:xfrm>
            <a:off x="935181" y="7964196"/>
            <a:ext cx="5396029" cy="1814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b="1" dirty="0" err="1">
                <a:latin typeface="+mn-ea"/>
              </a:rPr>
              <a:t>참치캔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동원</a:t>
            </a:r>
            <a:r>
              <a:rPr lang="en-US" altLang="ko-KR" sz="2000" b="1" dirty="0">
                <a:latin typeface="+mn-ea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추세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en-US" altLang="ko-KR" sz="2000" dirty="0">
                <a:latin typeface="+mn-ea"/>
              </a:rPr>
              <a:t>2020</a:t>
            </a:r>
            <a:r>
              <a:rPr lang="ko-KR" altLang="en-US" sz="2000" dirty="0">
                <a:latin typeface="+mn-ea"/>
              </a:rPr>
              <a:t>년 대비 </a:t>
            </a:r>
            <a:r>
              <a:rPr lang="en-US" altLang="ko-KR" sz="2000" dirty="0">
                <a:latin typeface="+mn-ea"/>
              </a:rPr>
              <a:t>2023</a:t>
            </a:r>
            <a:r>
              <a:rPr lang="ko-KR" altLang="en-US" sz="2000" dirty="0">
                <a:latin typeface="+mn-ea"/>
              </a:rPr>
              <a:t>년 월평균 </a:t>
            </a:r>
            <a:r>
              <a:rPr lang="en-US" altLang="ko-KR" sz="2000" dirty="0">
                <a:latin typeface="+mn-ea"/>
              </a:rPr>
              <a:t>-16% </a:t>
            </a:r>
            <a:br>
              <a:rPr lang="en-US" altLang="ko-KR" sz="2000" dirty="0">
                <a:latin typeface="+mn-ea"/>
              </a:rPr>
            </a:br>
            <a:r>
              <a:rPr lang="en-US" altLang="ko-KR" sz="2000" dirty="0">
                <a:latin typeface="+mn-ea"/>
              </a:rPr>
              <a:t>  </a:t>
            </a:r>
            <a:r>
              <a:rPr lang="ko-KR" altLang="en-US" sz="2000" dirty="0">
                <a:latin typeface="+mn-ea"/>
              </a:rPr>
              <a:t>소폭 감소</a:t>
            </a:r>
            <a:r>
              <a:rPr lang="en-US" altLang="ko-KR" sz="2000" dirty="0">
                <a:latin typeface="+mn-ea"/>
              </a:rPr>
              <a:t>, 2022</a:t>
            </a:r>
            <a:r>
              <a:rPr lang="ko-KR" altLang="en-US" sz="2000" dirty="0">
                <a:latin typeface="+mn-ea"/>
              </a:rPr>
              <a:t>년 하반기부터 회복 기미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계절성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중간 수준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연간 매출 진폭 </a:t>
            </a:r>
            <a:r>
              <a:rPr lang="en-US" altLang="ko-KR" sz="2000" dirty="0">
                <a:latin typeface="+mn-ea"/>
              </a:rPr>
              <a:t>1.58</a:t>
            </a:r>
            <a:r>
              <a:rPr lang="ko-KR" altLang="en-US" sz="2000" dirty="0">
                <a:latin typeface="+mn-ea"/>
              </a:rPr>
              <a:t>배</a:t>
            </a:r>
            <a:r>
              <a:rPr lang="en-US" altLang="ko-KR" sz="2000" dirty="0">
                <a:latin typeface="+mn-ea"/>
              </a:rPr>
              <a:t>)</a:t>
            </a:r>
            <a:endParaRPr lang="ko-KR" altLang="en-US" sz="20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E07B17-9A14-66F7-0E6F-3F5D0052BFFD}"/>
              </a:ext>
            </a:extLst>
          </p:cNvPr>
          <p:cNvSpPr txBox="1"/>
          <p:nvPr/>
        </p:nvSpPr>
        <p:spPr>
          <a:xfrm>
            <a:off x="6828133" y="7964196"/>
            <a:ext cx="5743880" cy="2194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ko-KR" altLang="en-US" sz="2000" b="1" dirty="0" err="1">
                <a:latin typeface="+mn-ea"/>
              </a:rPr>
              <a:t>참치액</a:t>
            </a:r>
            <a:endParaRPr lang="en-US" altLang="ko-KR" sz="2000" b="1" dirty="0">
              <a:latin typeface="+mn-ea"/>
            </a:endParaRPr>
          </a:p>
          <a:p>
            <a:pPr marL="342900" indent="-342900">
              <a:buAutoNum type="arabicPeriod" startAt="2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추세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en-US" altLang="ko-KR" sz="2000" dirty="0">
                <a:latin typeface="+mn-ea"/>
              </a:rPr>
              <a:t>2020</a:t>
            </a:r>
            <a:r>
              <a:rPr lang="ko-KR" altLang="en-US" sz="2000" dirty="0">
                <a:latin typeface="+mn-ea"/>
              </a:rPr>
              <a:t>년 대비 </a:t>
            </a:r>
            <a:r>
              <a:rPr lang="en-US" altLang="ko-KR" sz="2000" dirty="0">
                <a:latin typeface="+mn-ea"/>
              </a:rPr>
              <a:t>2023</a:t>
            </a:r>
            <a:r>
              <a:rPr lang="ko-KR" altLang="en-US" sz="2000" dirty="0">
                <a:latin typeface="+mn-ea"/>
              </a:rPr>
              <a:t>년 월평균 </a:t>
            </a:r>
            <a:r>
              <a:rPr lang="en-US" altLang="ko-KR" sz="2000" dirty="0">
                <a:latin typeface="+mn-ea"/>
              </a:rPr>
              <a:t>+8% </a:t>
            </a:r>
            <a:r>
              <a:rPr lang="ko-KR" altLang="en-US" sz="2000" dirty="0">
                <a:latin typeface="+mn-ea"/>
              </a:rPr>
              <a:t>상승 </a:t>
            </a:r>
            <a:br>
              <a:rPr lang="en-US" altLang="ko-KR" sz="2000" dirty="0">
                <a:latin typeface="+mn-ea"/>
              </a:rPr>
            </a:br>
            <a:r>
              <a:rPr lang="en-US" altLang="ko-KR" sz="2000" dirty="0">
                <a:latin typeface="+mn-ea"/>
              </a:rPr>
              <a:t>       → </a:t>
            </a:r>
            <a:r>
              <a:rPr lang="ko-KR" altLang="en-US" sz="2000" dirty="0">
                <a:latin typeface="+mn-ea"/>
              </a:rPr>
              <a:t>가정식 증가 영향</a:t>
            </a:r>
            <a:endParaRPr lang="en-US" altLang="ko-KR" sz="20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계절성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매우 강함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연간 매출 진폭 </a:t>
            </a:r>
            <a:r>
              <a:rPr lang="en-US" altLang="ko-KR" sz="2000" dirty="0">
                <a:latin typeface="+mn-ea"/>
              </a:rPr>
              <a:t>1.51</a:t>
            </a:r>
            <a:r>
              <a:rPr lang="ko-KR" altLang="en-US" sz="2000" dirty="0">
                <a:latin typeface="+mn-ea"/>
              </a:rPr>
              <a:t>배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월별 </a:t>
            </a:r>
            <a:r>
              <a:rPr lang="en-US" altLang="ko-KR" sz="2000" b="1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높음 </a:t>
            </a:r>
            <a:r>
              <a:rPr lang="en-US" altLang="ko-KR" sz="2000" dirty="0">
                <a:latin typeface="+mn-ea"/>
              </a:rPr>
              <a:t>- 6</a:t>
            </a:r>
            <a:r>
              <a:rPr lang="ko-KR" altLang="en-US" sz="2000" dirty="0">
                <a:latin typeface="+mn-ea"/>
              </a:rPr>
              <a:t>월</a:t>
            </a:r>
            <a:r>
              <a:rPr lang="en-US" altLang="ko-KR" sz="2000" dirty="0">
                <a:latin typeface="+mn-ea"/>
              </a:rPr>
              <a:t>, 9</a:t>
            </a:r>
            <a:r>
              <a:rPr lang="ko-KR" altLang="en-US" sz="2000" dirty="0">
                <a:latin typeface="+mn-ea"/>
              </a:rPr>
              <a:t>월</a:t>
            </a:r>
            <a:r>
              <a:rPr lang="en-US" altLang="ko-KR" sz="2000" dirty="0">
                <a:latin typeface="+mn-ea"/>
              </a:rPr>
              <a:t>, 12</a:t>
            </a:r>
            <a:r>
              <a:rPr lang="ko-KR" altLang="en-US" sz="2000" dirty="0">
                <a:latin typeface="+mn-ea"/>
              </a:rPr>
              <a:t>월 </a:t>
            </a:r>
            <a:r>
              <a:rPr lang="en-US" altLang="ko-KR" sz="2000" dirty="0">
                <a:latin typeface="+mn-ea"/>
              </a:rPr>
              <a:t>/ </a:t>
            </a:r>
            <a:br>
              <a:rPr lang="en-US" altLang="ko-KR" sz="2000" dirty="0">
                <a:latin typeface="+mn-ea"/>
              </a:rPr>
            </a:br>
            <a:r>
              <a:rPr lang="en-US" altLang="ko-KR" sz="2000" dirty="0">
                <a:latin typeface="+mn-ea"/>
              </a:rPr>
              <a:t>   </a:t>
            </a:r>
            <a:r>
              <a:rPr lang="ko-KR" altLang="en-US" sz="2000" dirty="0">
                <a:latin typeface="+mn-ea"/>
              </a:rPr>
              <a:t>   낮음 </a:t>
            </a:r>
            <a:r>
              <a:rPr lang="en-US" altLang="ko-KR" sz="2000" dirty="0">
                <a:latin typeface="+mn-ea"/>
              </a:rPr>
              <a:t>- 2</a:t>
            </a:r>
            <a:r>
              <a:rPr lang="ko-KR" altLang="en-US" sz="2000" dirty="0">
                <a:latin typeface="+mn-ea"/>
              </a:rPr>
              <a:t>월</a:t>
            </a:r>
            <a:r>
              <a:rPr lang="en-US" altLang="ko-KR" sz="2000" dirty="0">
                <a:latin typeface="+mn-ea"/>
              </a:rPr>
              <a:t>, 10-11</a:t>
            </a:r>
            <a:r>
              <a:rPr lang="ko-KR" altLang="en-US" sz="2000" dirty="0">
                <a:latin typeface="+mn-ea"/>
              </a:rPr>
              <a:t>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07DF23-9121-C065-B335-3E354EC1E7AC}"/>
              </a:ext>
            </a:extLst>
          </p:cNvPr>
          <p:cNvSpPr txBox="1"/>
          <p:nvPr/>
        </p:nvSpPr>
        <p:spPr>
          <a:xfrm>
            <a:off x="12511091" y="7964196"/>
            <a:ext cx="5641288" cy="18989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ko-KR" altLang="en-US" sz="2000" b="1" dirty="0" err="1">
                <a:latin typeface="+mn-ea"/>
              </a:rPr>
              <a:t>캔햄</a:t>
            </a:r>
            <a:endParaRPr lang="en-US" altLang="ko-KR" sz="2000" b="1" dirty="0">
              <a:latin typeface="+mn-ea"/>
            </a:endParaRPr>
          </a:p>
          <a:p>
            <a:pPr marL="342900" indent="-342900">
              <a:buAutoNum type="arabicPeriod" startAt="3"/>
            </a:pPr>
            <a:endParaRPr lang="en-US" altLang="ko-KR" sz="1400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+mn-ea"/>
              </a:rPr>
              <a:t>추세 </a:t>
            </a:r>
            <a:r>
              <a:rPr lang="en-US" altLang="ko-KR" b="1" dirty="0">
                <a:latin typeface="+mn-ea"/>
              </a:rPr>
              <a:t>: </a:t>
            </a:r>
            <a:r>
              <a:rPr lang="en-US" altLang="ko-KR" dirty="0">
                <a:latin typeface="+mn-ea"/>
              </a:rPr>
              <a:t>2020</a:t>
            </a:r>
            <a:r>
              <a:rPr lang="ko-KR" altLang="en-US" dirty="0">
                <a:latin typeface="+mn-ea"/>
              </a:rPr>
              <a:t>년 대비 </a:t>
            </a:r>
            <a:r>
              <a:rPr lang="en-US" altLang="ko-KR" dirty="0">
                <a:latin typeface="+mn-ea"/>
              </a:rPr>
              <a:t>2023</a:t>
            </a:r>
            <a:r>
              <a:rPr lang="ko-KR" altLang="en-US" dirty="0">
                <a:latin typeface="+mn-ea"/>
              </a:rPr>
              <a:t>년 월평균 </a:t>
            </a:r>
            <a:r>
              <a:rPr lang="en-US" altLang="ko-KR" dirty="0">
                <a:latin typeface="+mn-ea"/>
              </a:rPr>
              <a:t>-25% </a:t>
            </a:r>
            <a:r>
              <a:rPr lang="ko-KR" altLang="en-US" dirty="0">
                <a:latin typeface="+mn-ea"/>
              </a:rPr>
              <a:t>감소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  → </a:t>
            </a:r>
            <a:r>
              <a:rPr lang="ko-KR" altLang="en-US" dirty="0">
                <a:latin typeface="+mn-ea"/>
              </a:rPr>
              <a:t>식생활 변화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경쟁 심화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+mn-ea"/>
              </a:rPr>
              <a:t>계절성 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가장 강함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연간 매출 진폭 </a:t>
            </a:r>
            <a:r>
              <a:rPr lang="en-US" altLang="ko-KR" dirty="0">
                <a:latin typeface="+mn-ea"/>
              </a:rPr>
              <a:t>1.81</a:t>
            </a:r>
            <a:r>
              <a:rPr lang="ko-KR" altLang="en-US" dirty="0">
                <a:latin typeface="+mn-ea"/>
              </a:rPr>
              <a:t>배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+mn-ea"/>
              </a:rPr>
              <a:t>월별 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높음 </a:t>
            </a:r>
            <a:r>
              <a:rPr lang="en-US" altLang="ko-KR" dirty="0">
                <a:latin typeface="+mn-ea"/>
              </a:rPr>
              <a:t>- 6</a:t>
            </a:r>
            <a:r>
              <a:rPr lang="ko-KR" altLang="en-US" dirty="0">
                <a:latin typeface="+mn-ea"/>
              </a:rPr>
              <a:t>월</a:t>
            </a:r>
            <a:r>
              <a:rPr lang="en-US" altLang="ko-KR" dirty="0">
                <a:latin typeface="+mn-ea"/>
              </a:rPr>
              <a:t>, 8</a:t>
            </a:r>
            <a:r>
              <a:rPr lang="ko-KR" altLang="en-US" dirty="0">
                <a:latin typeface="+mn-ea"/>
              </a:rPr>
              <a:t>월</a:t>
            </a:r>
            <a:r>
              <a:rPr lang="en-US" altLang="ko-KR" dirty="0">
                <a:latin typeface="+mn-ea"/>
              </a:rPr>
              <a:t>, 12</a:t>
            </a:r>
            <a:r>
              <a:rPr lang="ko-KR" altLang="en-US" dirty="0">
                <a:latin typeface="+mn-ea"/>
              </a:rPr>
              <a:t>월 </a:t>
            </a:r>
            <a:r>
              <a:rPr lang="en-US" altLang="ko-KR" dirty="0">
                <a:latin typeface="+mn-ea"/>
              </a:rPr>
              <a:t>/ </a:t>
            </a:r>
            <a:r>
              <a:rPr lang="ko-KR" altLang="en-US" dirty="0">
                <a:latin typeface="+mn-ea"/>
              </a:rPr>
              <a:t>낮음 </a:t>
            </a:r>
            <a:r>
              <a:rPr lang="en-US" altLang="ko-KR" dirty="0">
                <a:latin typeface="+mn-ea"/>
              </a:rPr>
              <a:t>- 2</a:t>
            </a:r>
            <a:r>
              <a:rPr lang="ko-KR" altLang="en-US" dirty="0">
                <a:latin typeface="+mn-ea"/>
              </a:rPr>
              <a:t>월</a:t>
            </a:r>
            <a:r>
              <a:rPr lang="en-US" altLang="ko-KR" dirty="0">
                <a:latin typeface="+mn-ea"/>
              </a:rPr>
              <a:t>, 10-11</a:t>
            </a:r>
            <a:r>
              <a:rPr lang="ko-KR" altLang="en-US" dirty="0">
                <a:latin typeface="+mn-ea"/>
              </a:rPr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810111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A80C-4DA8-DB74-15C7-8A18310E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50AC71-6DA5-BC16-7592-8FDE9E9D3EEA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BD19F59-92F5-211A-D9D8-9F22337E6ED5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6A0893C-BFCA-539D-6EB7-CD4AB8C09929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4634D30-191B-7444-5FD6-95F352798B86}"/>
              </a:ext>
            </a:extLst>
          </p:cNvPr>
          <p:cNvSpPr txBox="1"/>
          <p:nvPr/>
        </p:nvSpPr>
        <p:spPr>
          <a:xfrm>
            <a:off x="1206628" y="2350463"/>
            <a:ext cx="9377372" cy="3199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상관관계 분석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네이버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데이터랩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API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를 이용한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검색량과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식품산업통계 매출 상관 관계를 분석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전체적인 상관관계는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0.2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수준으로 높지 않으나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프로모션 방식에 따라 매출과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선행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혹은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후행적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상관 관계가 있는 것으로 추정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833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 트랜드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24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8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맛참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급등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(TV PPL,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추석 선물세트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바이럴 광고 추정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하이그릭요거트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리챔오믈레햄의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출시 이후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발생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71450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소잘라떼는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긴 제품명으로 직접적인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검색량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측정이 어려움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23F9734-2098-F320-CD09-944506B77462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네이버 검색 트랜드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DA2E903-510A-90F4-87EA-687CD16CA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759" y="6088500"/>
            <a:ext cx="8704275" cy="35888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657D792-CDFA-67A2-B7C2-04E1618C8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8276" y="2823730"/>
            <a:ext cx="7575978" cy="6369769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8434F436-EB7D-39B6-54A4-5D3BCFFD06A0}"/>
              </a:ext>
            </a:extLst>
          </p:cNvPr>
          <p:cNvSpPr/>
          <p:nvPr/>
        </p:nvSpPr>
        <p:spPr>
          <a:xfrm>
            <a:off x="3305759" y="6673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321A03C-A0F1-032E-8FD9-94C4923E8AF1}"/>
              </a:ext>
            </a:extLst>
          </p:cNvPr>
          <p:cNvSpPr/>
          <p:nvPr/>
        </p:nvSpPr>
        <p:spPr>
          <a:xfrm>
            <a:off x="4115759" y="6673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A284531-3FC8-F607-F27D-BF8B5D1ED559}"/>
              </a:ext>
            </a:extLst>
          </p:cNvPr>
          <p:cNvSpPr/>
          <p:nvPr/>
        </p:nvSpPr>
        <p:spPr>
          <a:xfrm>
            <a:off x="5825759" y="6538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AF40B31-F84F-B79F-C59F-5C4A2CBC1BD2}"/>
              </a:ext>
            </a:extLst>
          </p:cNvPr>
          <p:cNvSpPr/>
          <p:nvPr/>
        </p:nvSpPr>
        <p:spPr>
          <a:xfrm>
            <a:off x="6725759" y="6403500"/>
            <a:ext cx="810000" cy="81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86FCB92-74C5-31F5-7B95-C719EE73991C}"/>
              </a:ext>
            </a:extLst>
          </p:cNvPr>
          <p:cNvSpPr/>
          <p:nvPr/>
        </p:nvSpPr>
        <p:spPr>
          <a:xfrm>
            <a:off x="8435759" y="6448500"/>
            <a:ext cx="1035000" cy="1305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949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EC86-FAE9-F66B-0DDA-CA3D8FA1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C7463F9E-E043-A325-1394-FD71D61767E2}"/>
              </a:ext>
            </a:extLst>
          </p:cNvPr>
          <p:cNvSpPr txBox="1"/>
          <p:nvPr/>
        </p:nvSpPr>
        <p:spPr>
          <a:xfrm>
            <a:off x="1183714" y="6035503"/>
            <a:ext cx="5608040" cy="236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0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80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66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5B02A83-C67C-F16D-F02B-BF2CD87AA85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732C2AD-04F9-F7F5-52D3-CBED474D675C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DE4D645-6389-C7AB-1207-3A73294980EC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D24626C-E874-799D-1019-4DBF458EFB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7232430-0AA8-90D7-0DA0-C5C2DCDE04FF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E0F0FA35-8BA6-84FD-4497-7F13050417AC}"/>
              </a:ext>
            </a:extLst>
          </p:cNvPr>
          <p:cNvSpPr txBox="1"/>
          <p:nvPr/>
        </p:nvSpPr>
        <p:spPr>
          <a:xfrm>
            <a:off x="8064000" y="6742688"/>
            <a:ext cx="2598180" cy="112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B579F4BF-B9CE-0543-83FB-423610C72194}"/>
              </a:ext>
            </a:extLst>
          </p:cNvPr>
          <p:cNvSpPr txBox="1"/>
          <p:nvPr/>
        </p:nvSpPr>
        <p:spPr>
          <a:xfrm>
            <a:off x="5916826" y="6742688"/>
            <a:ext cx="1540397" cy="751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23384FA4-0E42-CEFB-2B8E-82D33A4FBC52}"/>
              </a:ext>
            </a:extLst>
          </p:cNvPr>
          <p:cNvSpPr txBox="1"/>
          <p:nvPr/>
        </p:nvSpPr>
        <p:spPr>
          <a:xfrm>
            <a:off x="10154632" y="6742688"/>
            <a:ext cx="1537052" cy="751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생성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50A63C82-9134-0630-E1A0-8AF12ED90A9B}"/>
              </a:ext>
            </a:extLst>
          </p:cNvPr>
          <p:cNvSpPr/>
          <p:nvPr/>
        </p:nvSpPr>
        <p:spPr>
          <a:xfrm>
            <a:off x="7517113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9">
            <a:extLst>
              <a:ext uri="{FF2B5EF4-FFF2-40B4-BE49-F238E27FC236}">
                <a16:creationId xmlns:a16="http://schemas.microsoft.com/office/drawing/2014/main" id="{7333041C-178B-5681-2797-93D5BEB51168}"/>
              </a:ext>
            </a:extLst>
          </p:cNvPr>
          <p:cNvSpPr/>
          <p:nvPr/>
        </p:nvSpPr>
        <p:spPr>
          <a:xfrm>
            <a:off x="9604398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BD0098F1-A136-F4B2-46D7-2C0DA9299659}"/>
              </a:ext>
            </a:extLst>
          </p:cNvPr>
          <p:cNvSpPr/>
          <p:nvPr/>
        </p:nvSpPr>
        <p:spPr>
          <a:xfrm>
            <a:off x="11694905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400FCF7B-87F4-ADF1-A06D-9D46CD1A0981}"/>
              </a:ext>
            </a:extLst>
          </p:cNvPr>
          <p:cNvSpPr txBox="1"/>
          <p:nvPr/>
        </p:nvSpPr>
        <p:spPr>
          <a:xfrm>
            <a:off x="8064000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B6364D96-A762-BCA9-DED5-423C4E7B0342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16F71CAD-0844-FAC1-0438-495466329D6F}"/>
              </a:ext>
            </a:extLst>
          </p:cNvPr>
          <p:cNvSpPr txBox="1"/>
          <p:nvPr/>
        </p:nvSpPr>
        <p:spPr>
          <a:xfrm>
            <a:off x="10154631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21183223-B137-29BB-7AB0-F7936238D6E5}"/>
              </a:ext>
            </a:extLst>
          </p:cNvPr>
          <p:cNvSpPr txBox="1"/>
          <p:nvPr/>
        </p:nvSpPr>
        <p:spPr>
          <a:xfrm>
            <a:off x="12243813" y="6742688"/>
            <a:ext cx="1273345" cy="1122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412683F3-A928-3C41-0AFE-63170F1A2D49}"/>
              </a:ext>
            </a:extLst>
          </p:cNvPr>
          <p:cNvSpPr txBox="1"/>
          <p:nvPr/>
        </p:nvSpPr>
        <p:spPr>
          <a:xfrm>
            <a:off x="12243813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C498D18D-47E0-D851-0239-1E503B5112BA}"/>
              </a:ext>
            </a:extLst>
          </p:cNvPr>
          <p:cNvSpPr/>
          <p:nvPr/>
        </p:nvSpPr>
        <p:spPr>
          <a:xfrm>
            <a:off x="13869385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2099EB8F-B5E4-81B4-285F-6128AE0E0D7E}"/>
              </a:ext>
            </a:extLst>
          </p:cNvPr>
          <p:cNvSpPr txBox="1"/>
          <p:nvPr/>
        </p:nvSpPr>
        <p:spPr>
          <a:xfrm>
            <a:off x="14311221" y="6742688"/>
            <a:ext cx="173181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3C4E7360-B7B9-AC19-47B5-1277C265919A}"/>
              </a:ext>
            </a:extLst>
          </p:cNvPr>
          <p:cNvSpPr txBox="1"/>
          <p:nvPr/>
        </p:nvSpPr>
        <p:spPr>
          <a:xfrm>
            <a:off x="14418293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52323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6768-CF18-77AD-61C1-BE487011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화살표: 오른쪽 96">
            <a:extLst>
              <a:ext uri="{FF2B5EF4-FFF2-40B4-BE49-F238E27FC236}">
                <a16:creationId xmlns:a16="http://schemas.microsoft.com/office/drawing/2014/main" id="{8A5F21A2-BD29-0451-ABD4-8B4572067F21}"/>
              </a:ext>
            </a:extLst>
          </p:cNvPr>
          <p:cNvSpPr/>
          <p:nvPr/>
        </p:nvSpPr>
        <p:spPr>
          <a:xfrm>
            <a:off x="13063332" y="1802192"/>
            <a:ext cx="4387232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8D36CF51-8536-C998-87BA-50591D59D77F}"/>
              </a:ext>
            </a:extLst>
          </p:cNvPr>
          <p:cNvSpPr/>
          <p:nvPr/>
        </p:nvSpPr>
        <p:spPr>
          <a:xfrm>
            <a:off x="4933452" y="1801842"/>
            <a:ext cx="8737111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3EB0B9EA-25D4-2DB9-944E-9CFEFBA06220}"/>
              </a:ext>
            </a:extLst>
          </p:cNvPr>
          <p:cNvSpPr/>
          <p:nvPr/>
        </p:nvSpPr>
        <p:spPr>
          <a:xfrm>
            <a:off x="1025564" y="1802192"/>
            <a:ext cx="4500000" cy="865566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0AF6921-A0CA-1E02-9401-905990D97E8D}"/>
              </a:ext>
            </a:extLst>
          </p:cNvPr>
          <p:cNvSpPr/>
          <p:nvPr/>
        </p:nvSpPr>
        <p:spPr>
          <a:xfrm>
            <a:off x="5345563" y="2845331"/>
            <a:ext cx="7425000" cy="7155000"/>
          </a:xfrm>
          <a:prstGeom prst="roundRect">
            <a:avLst>
              <a:gd name="adj" fmla="val 3574"/>
            </a:avLst>
          </a:prstGeom>
          <a:solidFill>
            <a:schemeClr val="accent1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4E25581-9ED6-233D-56A4-AE6676C4C689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BFFAC-A47B-CA6F-1ACF-D17C80840B8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 계획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A9EB413-C136-136B-1E34-914FF8E3CC74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7CC6A37-DC98-928A-AF83-5073B3EAF014}"/>
              </a:ext>
            </a:extLst>
          </p:cNvPr>
          <p:cNvSpPr txBox="1"/>
          <p:nvPr/>
        </p:nvSpPr>
        <p:spPr>
          <a:xfrm>
            <a:off x="1759377" y="2036687"/>
            <a:ext cx="235737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ko-KR" altLang="en-US" sz="2800" b="1" spc="-123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데이터 입력</a:t>
            </a:r>
            <a:endParaRPr lang="en-US" sz="2800" b="1" spc="-123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F90A8246-AA60-90C7-02F7-80021E230A82}"/>
              </a:ext>
            </a:extLst>
          </p:cNvPr>
          <p:cNvSpPr txBox="1"/>
          <p:nvPr/>
        </p:nvSpPr>
        <p:spPr>
          <a:xfrm>
            <a:off x="7879377" y="2035331"/>
            <a:ext cx="235737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ko-KR" altLang="en-US" sz="2800" b="1" spc="-123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예측 프로세스</a:t>
            </a:r>
            <a:endParaRPr lang="en-US" sz="2800" b="1" spc="-123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35031A0-ADC5-5590-BDE6-6C81B463DE7E}"/>
              </a:ext>
            </a:extLst>
          </p:cNvPr>
          <p:cNvSpPr txBox="1"/>
          <p:nvPr/>
        </p:nvSpPr>
        <p:spPr>
          <a:xfrm>
            <a:off x="14134377" y="2035331"/>
            <a:ext cx="235737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ko-KR" altLang="en-US" sz="2800" b="1" spc="-123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결과 평가</a:t>
            </a:r>
            <a:endParaRPr lang="en-US" sz="2800" b="1" spc="-123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F5280C-4865-012D-F083-E4D2997EF05A}"/>
              </a:ext>
            </a:extLst>
          </p:cNvPr>
          <p:cNvSpPr/>
          <p:nvPr/>
        </p:nvSpPr>
        <p:spPr>
          <a:xfrm>
            <a:off x="1025563" y="2845331"/>
            <a:ext cx="3735000" cy="3780000"/>
          </a:xfrm>
          <a:prstGeom prst="roundRect">
            <a:avLst>
              <a:gd name="adj" fmla="val 748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B0D263C-5479-0D7A-8202-DD27464D5D0B}"/>
              </a:ext>
            </a:extLst>
          </p:cNvPr>
          <p:cNvSpPr/>
          <p:nvPr/>
        </p:nvSpPr>
        <p:spPr>
          <a:xfrm>
            <a:off x="1025563" y="6985331"/>
            <a:ext cx="3735000" cy="3015000"/>
          </a:xfrm>
          <a:prstGeom prst="roundRect">
            <a:avLst>
              <a:gd name="adj" fmla="val 11191"/>
            </a:avLst>
          </a:prstGeom>
          <a:solidFill>
            <a:srgbClr val="DD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F5DC60E-CCE5-EFC9-4DA2-4CE5C2B36087}"/>
              </a:ext>
            </a:extLst>
          </p:cNvPr>
          <p:cNvSpPr/>
          <p:nvPr/>
        </p:nvSpPr>
        <p:spPr>
          <a:xfrm>
            <a:off x="1406987" y="3070331"/>
            <a:ext cx="968576" cy="9685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812CC7D-383F-F8BE-4CB3-FDE411D2DF70}"/>
              </a:ext>
            </a:extLst>
          </p:cNvPr>
          <p:cNvSpPr>
            <a:spLocks noEditPoints="1"/>
          </p:cNvSpPr>
          <p:nvPr/>
        </p:nvSpPr>
        <p:spPr bwMode="auto">
          <a:xfrm>
            <a:off x="1675488" y="3398498"/>
            <a:ext cx="463046" cy="360000"/>
          </a:xfrm>
          <a:custGeom>
            <a:avLst/>
            <a:gdLst>
              <a:gd name="T0" fmla="*/ 200 w 293"/>
              <a:gd name="T1" fmla="*/ 80 h 187"/>
              <a:gd name="T2" fmla="*/ 240 w 293"/>
              <a:gd name="T3" fmla="*/ 40 h 187"/>
              <a:gd name="T4" fmla="*/ 200 w 293"/>
              <a:gd name="T5" fmla="*/ 0 h 187"/>
              <a:gd name="T6" fmla="*/ 160 w 293"/>
              <a:gd name="T7" fmla="*/ 40 h 187"/>
              <a:gd name="T8" fmla="*/ 200 w 293"/>
              <a:gd name="T9" fmla="*/ 80 h 187"/>
              <a:gd name="T10" fmla="*/ 200 w 293"/>
              <a:gd name="T11" fmla="*/ 80 h 187"/>
              <a:gd name="T12" fmla="*/ 93 w 293"/>
              <a:gd name="T13" fmla="*/ 80 h 187"/>
              <a:gd name="T14" fmla="*/ 133 w 293"/>
              <a:gd name="T15" fmla="*/ 40 h 187"/>
              <a:gd name="T16" fmla="*/ 93 w 293"/>
              <a:gd name="T17" fmla="*/ 0 h 187"/>
              <a:gd name="T18" fmla="*/ 53 w 293"/>
              <a:gd name="T19" fmla="*/ 40 h 187"/>
              <a:gd name="T20" fmla="*/ 93 w 293"/>
              <a:gd name="T21" fmla="*/ 80 h 187"/>
              <a:gd name="T22" fmla="*/ 93 w 293"/>
              <a:gd name="T23" fmla="*/ 80 h 187"/>
              <a:gd name="T24" fmla="*/ 93 w 293"/>
              <a:gd name="T25" fmla="*/ 107 h 187"/>
              <a:gd name="T26" fmla="*/ 0 w 293"/>
              <a:gd name="T27" fmla="*/ 154 h 187"/>
              <a:gd name="T28" fmla="*/ 0 w 293"/>
              <a:gd name="T29" fmla="*/ 187 h 187"/>
              <a:gd name="T30" fmla="*/ 187 w 293"/>
              <a:gd name="T31" fmla="*/ 187 h 187"/>
              <a:gd name="T32" fmla="*/ 187 w 293"/>
              <a:gd name="T33" fmla="*/ 154 h 187"/>
              <a:gd name="T34" fmla="*/ 93 w 293"/>
              <a:gd name="T35" fmla="*/ 107 h 187"/>
              <a:gd name="T36" fmla="*/ 93 w 293"/>
              <a:gd name="T37" fmla="*/ 107 h 187"/>
              <a:gd name="T38" fmla="*/ 200 w 293"/>
              <a:gd name="T39" fmla="*/ 107 h 187"/>
              <a:gd name="T40" fmla="*/ 187 w 293"/>
              <a:gd name="T41" fmla="*/ 108 h 187"/>
              <a:gd name="T42" fmla="*/ 213 w 293"/>
              <a:gd name="T43" fmla="*/ 154 h 187"/>
              <a:gd name="T44" fmla="*/ 213 w 293"/>
              <a:gd name="T45" fmla="*/ 187 h 187"/>
              <a:gd name="T46" fmla="*/ 293 w 293"/>
              <a:gd name="T47" fmla="*/ 187 h 187"/>
              <a:gd name="T48" fmla="*/ 293 w 293"/>
              <a:gd name="T49" fmla="*/ 154 h 187"/>
              <a:gd name="T50" fmla="*/ 200 w 293"/>
              <a:gd name="T51" fmla="*/ 107 h 187"/>
              <a:gd name="T52" fmla="*/ 200 w 293"/>
              <a:gd name="T53" fmla="*/ 107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93" h="187">
                <a:moveTo>
                  <a:pt x="200" y="80"/>
                </a:moveTo>
                <a:cubicBezTo>
                  <a:pt x="222" y="80"/>
                  <a:pt x="240" y="62"/>
                  <a:pt x="240" y="40"/>
                </a:cubicBezTo>
                <a:cubicBezTo>
                  <a:pt x="240" y="18"/>
                  <a:pt x="222" y="0"/>
                  <a:pt x="200" y="0"/>
                </a:cubicBezTo>
                <a:cubicBezTo>
                  <a:pt x="178" y="0"/>
                  <a:pt x="160" y="18"/>
                  <a:pt x="160" y="40"/>
                </a:cubicBezTo>
                <a:cubicBezTo>
                  <a:pt x="160" y="62"/>
                  <a:pt x="178" y="80"/>
                  <a:pt x="200" y="80"/>
                </a:cubicBezTo>
                <a:lnTo>
                  <a:pt x="200" y="80"/>
                </a:lnTo>
                <a:close/>
                <a:moveTo>
                  <a:pt x="93" y="80"/>
                </a:moveTo>
                <a:cubicBezTo>
                  <a:pt x="115" y="80"/>
                  <a:pt x="133" y="62"/>
                  <a:pt x="133" y="40"/>
                </a:cubicBezTo>
                <a:cubicBezTo>
                  <a:pt x="133" y="18"/>
                  <a:pt x="115" y="0"/>
                  <a:pt x="93" y="0"/>
                </a:cubicBezTo>
                <a:cubicBezTo>
                  <a:pt x="71" y="0"/>
                  <a:pt x="53" y="18"/>
                  <a:pt x="53" y="40"/>
                </a:cubicBezTo>
                <a:cubicBezTo>
                  <a:pt x="53" y="62"/>
                  <a:pt x="71" y="80"/>
                  <a:pt x="93" y="80"/>
                </a:cubicBezTo>
                <a:lnTo>
                  <a:pt x="93" y="80"/>
                </a:lnTo>
                <a:close/>
                <a:moveTo>
                  <a:pt x="93" y="107"/>
                </a:moveTo>
                <a:cubicBezTo>
                  <a:pt x="62" y="107"/>
                  <a:pt x="0" y="123"/>
                  <a:pt x="0" y="154"/>
                </a:cubicBezTo>
                <a:lnTo>
                  <a:pt x="0" y="187"/>
                </a:lnTo>
                <a:lnTo>
                  <a:pt x="187" y="187"/>
                </a:lnTo>
                <a:lnTo>
                  <a:pt x="187" y="154"/>
                </a:lnTo>
                <a:cubicBezTo>
                  <a:pt x="187" y="123"/>
                  <a:pt x="124" y="107"/>
                  <a:pt x="93" y="107"/>
                </a:cubicBezTo>
                <a:lnTo>
                  <a:pt x="93" y="107"/>
                </a:lnTo>
                <a:close/>
                <a:moveTo>
                  <a:pt x="200" y="107"/>
                </a:moveTo>
                <a:cubicBezTo>
                  <a:pt x="196" y="107"/>
                  <a:pt x="192" y="107"/>
                  <a:pt x="187" y="108"/>
                </a:cubicBezTo>
                <a:cubicBezTo>
                  <a:pt x="203" y="119"/>
                  <a:pt x="213" y="134"/>
                  <a:pt x="213" y="154"/>
                </a:cubicBezTo>
                <a:lnTo>
                  <a:pt x="213" y="187"/>
                </a:lnTo>
                <a:lnTo>
                  <a:pt x="293" y="187"/>
                </a:lnTo>
                <a:lnTo>
                  <a:pt x="293" y="154"/>
                </a:lnTo>
                <a:cubicBezTo>
                  <a:pt x="293" y="123"/>
                  <a:pt x="231" y="107"/>
                  <a:pt x="200" y="107"/>
                </a:cubicBezTo>
                <a:lnTo>
                  <a:pt x="200" y="10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Rectangle 948">
            <a:extLst>
              <a:ext uri="{FF2B5EF4-FFF2-40B4-BE49-F238E27FC236}">
                <a16:creationId xmlns:a16="http://schemas.microsoft.com/office/drawing/2014/main" id="{89C5EAB6-B1A4-A7A7-442A-4D5659C8C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563" y="3250331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페르소나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고객 데이터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16" name="Rectangle 948">
            <a:extLst>
              <a:ext uri="{FF2B5EF4-FFF2-40B4-BE49-F238E27FC236}">
                <a16:creationId xmlns:a16="http://schemas.microsoft.com/office/drawing/2014/main" id="{EE7068CC-7714-7090-0319-A61EFDCA5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563" y="4240331"/>
            <a:ext cx="3105000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연령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성별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가구형태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</a:t>
            </a:r>
            <a:b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</a:b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결혼여부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월소득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,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맞벌이여부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소비성향 세그먼트 및 스코어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33400" lvl="1" indent="-2667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실속형 미식가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33400" lvl="1" indent="-2667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건강 추구형 소비자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533400" lvl="1" indent="-2667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트렌드 주도형 소비자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 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66963ED-54A5-31B4-CE7B-CF6E4B18D14D}"/>
              </a:ext>
            </a:extLst>
          </p:cNvPr>
          <p:cNvSpPr/>
          <p:nvPr/>
        </p:nvSpPr>
        <p:spPr>
          <a:xfrm>
            <a:off x="2375563" y="6355331"/>
            <a:ext cx="900000" cy="900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십자형 18">
            <a:extLst>
              <a:ext uri="{FF2B5EF4-FFF2-40B4-BE49-F238E27FC236}">
                <a16:creationId xmlns:a16="http://schemas.microsoft.com/office/drawing/2014/main" id="{8D7D317B-EF0B-24E7-7EA9-FDBC2E4C56A9}"/>
              </a:ext>
            </a:extLst>
          </p:cNvPr>
          <p:cNvSpPr/>
          <p:nvPr/>
        </p:nvSpPr>
        <p:spPr>
          <a:xfrm>
            <a:off x="2465563" y="6445331"/>
            <a:ext cx="720000" cy="720000"/>
          </a:xfrm>
          <a:prstGeom prst="plus">
            <a:avLst>
              <a:gd name="adj" fmla="val 377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BED569F-B271-B8B8-F9A6-6C8928C938C9}"/>
              </a:ext>
            </a:extLst>
          </p:cNvPr>
          <p:cNvSpPr/>
          <p:nvPr/>
        </p:nvSpPr>
        <p:spPr>
          <a:xfrm>
            <a:off x="1406987" y="7321755"/>
            <a:ext cx="968576" cy="9685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래픽 20" descr="테이블 차림 단색으로 채워진">
            <a:extLst>
              <a:ext uri="{FF2B5EF4-FFF2-40B4-BE49-F238E27FC236}">
                <a16:creationId xmlns:a16="http://schemas.microsoft.com/office/drawing/2014/main" id="{F2FAF325-1306-34D7-4649-9A3503C44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4963" y="7456755"/>
            <a:ext cx="705600" cy="705600"/>
          </a:xfrm>
          <a:prstGeom prst="rect">
            <a:avLst/>
          </a:prstGeom>
        </p:spPr>
      </p:pic>
      <p:sp>
        <p:nvSpPr>
          <p:cNvPr id="23" name="Rectangle 948">
            <a:extLst>
              <a:ext uri="{FF2B5EF4-FFF2-40B4-BE49-F238E27FC236}">
                <a16:creationId xmlns:a16="http://schemas.microsoft.com/office/drawing/2014/main" id="{BB70B7CF-4E6D-BBD6-E6C5-3F8592C2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563" y="7501755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판매 제</a:t>
            </a:r>
            <a:r>
              <a:rPr lang="ko-KR" altLang="en-US" sz="2000" b="1" dirty="0">
                <a:latin typeface="+mj-ea"/>
                <a:ea typeface="+mj-ea"/>
              </a:rPr>
              <a:t>품 데이터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24" name="Rectangle 948">
            <a:extLst>
              <a:ext uri="{FF2B5EF4-FFF2-40B4-BE49-F238E27FC236}">
                <a16:creationId xmlns:a16="http://schemas.microsoft.com/office/drawing/2014/main" id="{A0F15468-85F9-185E-7380-F56450159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563" y="8489976"/>
            <a:ext cx="310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제품명 및 제품 특징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가격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후기수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경쟁상품 비교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제품별 시장 규모 등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478E301-6A9F-E4C5-7E55-B8FDAD5FB662}"/>
              </a:ext>
            </a:extLst>
          </p:cNvPr>
          <p:cNvSpPr/>
          <p:nvPr/>
        </p:nvSpPr>
        <p:spPr>
          <a:xfrm>
            <a:off x="13400563" y="2845331"/>
            <a:ext cx="3735000" cy="3420000"/>
          </a:xfrm>
          <a:prstGeom prst="roundRect">
            <a:avLst>
              <a:gd name="adj" fmla="val 986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235E111-D2F8-C839-C277-ED07991D8D2E}"/>
              </a:ext>
            </a:extLst>
          </p:cNvPr>
          <p:cNvSpPr/>
          <p:nvPr/>
        </p:nvSpPr>
        <p:spPr>
          <a:xfrm>
            <a:off x="13400563" y="6625331"/>
            <a:ext cx="3735000" cy="3375000"/>
          </a:xfrm>
          <a:prstGeom prst="roundRect">
            <a:avLst/>
          </a:prstGeom>
          <a:solidFill>
            <a:srgbClr val="DDEFF5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D167CD1-EF23-CE6E-C680-B400DB826AF2}"/>
              </a:ext>
            </a:extLst>
          </p:cNvPr>
          <p:cNvSpPr/>
          <p:nvPr/>
        </p:nvSpPr>
        <p:spPr>
          <a:xfrm>
            <a:off x="13781987" y="3070331"/>
            <a:ext cx="968576" cy="96857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948">
            <a:extLst>
              <a:ext uri="{FF2B5EF4-FFF2-40B4-BE49-F238E27FC236}">
                <a16:creationId xmlns:a16="http://schemas.microsoft.com/office/drawing/2014/main" id="{D4CCFF10-C836-5D0F-7061-FEF0CCF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5563" y="3250331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 err="1">
                <a:latin typeface="+mj-ea"/>
                <a:ea typeface="+mj-ea"/>
              </a:rPr>
              <a:t>다콘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>
                <a:latin typeface="+mj-ea"/>
                <a:ea typeface="+mj-ea"/>
              </a:rPr>
              <a:t>리더보드</a:t>
            </a:r>
            <a:endParaRPr kumimoji="0" lang="ko-KR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31" name="Rectangle 948">
            <a:extLst>
              <a:ext uri="{FF2B5EF4-FFF2-40B4-BE49-F238E27FC236}">
                <a16:creationId xmlns:a16="http://schemas.microsoft.com/office/drawing/2014/main" id="{160C94CE-9AE2-B083-219E-CAD8A7CEA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0563" y="4285331"/>
            <a:ext cx="310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예측 데이터와 실제 데이터를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SMAPE 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방식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으로 평가하여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제출물에 대한 실시간 점수 반환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2D4BCCF-B273-377D-EA5C-7110FB4AC8FB}"/>
              </a:ext>
            </a:extLst>
          </p:cNvPr>
          <p:cNvSpPr/>
          <p:nvPr/>
        </p:nvSpPr>
        <p:spPr>
          <a:xfrm>
            <a:off x="13781987" y="7210331"/>
            <a:ext cx="968576" cy="96857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Rectangle 948">
            <a:extLst>
              <a:ext uri="{FF2B5EF4-FFF2-40B4-BE49-F238E27FC236}">
                <a16:creationId xmlns:a16="http://schemas.microsoft.com/office/drawing/2014/main" id="{C9E3D97E-DBFB-A2D7-A87D-F865EE2FD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5563" y="7390331"/>
            <a:ext cx="16650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LLM </a:t>
            </a:r>
            <a:r>
              <a:rPr kumimoji="0" lang="ko-KR" altLang="en-US" sz="2000" b="1" i="0" u="none" strike="noStrike" cap="none" normalizeH="0" baseline="0" dirty="0" err="1">
                <a:ln>
                  <a:noFill/>
                </a:ln>
                <a:effectLst/>
                <a:latin typeface="+mj-ea"/>
                <a:ea typeface="+mj-ea"/>
              </a:rPr>
              <a:t>모델별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교차 검증</a:t>
            </a:r>
            <a:endParaRPr kumimoji="0" lang="en-US" altLang="ko-KR" sz="2000" b="1" i="0" u="none" strike="noStrike" cap="none" normalizeH="0" baseline="0" dirty="0">
              <a:ln>
                <a:noFill/>
              </a:ln>
              <a:effectLst/>
              <a:latin typeface="+mj-ea"/>
              <a:ea typeface="+mj-ea"/>
            </a:endParaRPr>
          </a:p>
        </p:txBody>
      </p:sp>
      <p:sp>
        <p:nvSpPr>
          <p:cNvPr id="37" name="Rectangle 948">
            <a:extLst>
              <a:ext uri="{FF2B5EF4-FFF2-40B4-BE49-F238E27FC236}">
                <a16:creationId xmlns:a16="http://schemas.microsoft.com/office/drawing/2014/main" id="{92DC6FA2-8E9D-89EA-A08A-1200AD1C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0563" y="8425331"/>
            <a:ext cx="3105000" cy="1100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GPT-5, Claude, </a:t>
            </a:r>
            <a:r>
              <a:rPr kumimoji="0" lang="en-US" altLang="ko-KR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eXaone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등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동일 프롬프트에 대한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모델별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</a:rPr>
              <a:t> 점수 검증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9758DE4-20E4-E53B-C600-A44DB145FE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000" y="-526500"/>
            <a:ext cx="381000" cy="381000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14F14DF4-8612-FCD4-E918-BD655ABC5AC3}"/>
              </a:ext>
            </a:extLst>
          </p:cNvPr>
          <p:cNvGrpSpPr/>
          <p:nvPr/>
        </p:nvGrpSpPr>
        <p:grpSpPr>
          <a:xfrm>
            <a:off x="6110563" y="3115331"/>
            <a:ext cx="2223001" cy="2313813"/>
            <a:chOff x="5678999" y="2059511"/>
            <a:chExt cx="2223001" cy="2313813"/>
          </a:xfrm>
        </p:grpSpPr>
        <p:sp>
          <p:nvSpPr>
            <p:cNvPr id="38" name="갈매기형 수장 1">
              <a:extLst>
                <a:ext uri="{FF2B5EF4-FFF2-40B4-BE49-F238E27FC236}">
                  <a16:creationId xmlns:a16="http://schemas.microsoft.com/office/drawing/2014/main" id="{4CA00E9E-3871-048D-71E6-7D0C892F3CC5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8194C2B-F937-D761-1996-D94B37222399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3E2B0CA2-435E-2D22-68C3-5570E1F34701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10DA64-C5C3-5512-DF5D-E321AFFD0E8F}"/>
                </a:ext>
              </a:extLst>
            </p:cNvPr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+mn-ea"/>
                </a:rPr>
                <a:t>LLM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9" name="그래픽 48" descr="뇌 단색으로 채워진">
              <a:extLst>
                <a:ext uri="{FF2B5EF4-FFF2-40B4-BE49-F238E27FC236}">
                  <a16:creationId xmlns:a16="http://schemas.microsoft.com/office/drawing/2014/main" id="{56BDE1BA-B035-8B41-BDDF-53201D271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8999" y="2824511"/>
              <a:ext cx="779400" cy="779400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A5B0A66-8624-C40A-3974-969C3764FA7C}"/>
              </a:ext>
            </a:extLst>
          </p:cNvPr>
          <p:cNvGrpSpPr/>
          <p:nvPr/>
        </p:nvGrpSpPr>
        <p:grpSpPr>
          <a:xfrm>
            <a:off x="6110563" y="5275331"/>
            <a:ext cx="2223001" cy="2313813"/>
            <a:chOff x="5678999" y="2059511"/>
            <a:chExt cx="2223001" cy="2313813"/>
          </a:xfrm>
        </p:grpSpPr>
        <p:sp>
          <p:nvSpPr>
            <p:cNvPr id="56" name="갈매기형 수장 1">
              <a:extLst>
                <a:ext uri="{FF2B5EF4-FFF2-40B4-BE49-F238E27FC236}">
                  <a16:creationId xmlns:a16="http://schemas.microsoft.com/office/drawing/2014/main" id="{7149D481-954A-0823-DABA-D4A27756ECC7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8024C469-C0F3-0B8A-88C3-1B1E912803BA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B1C6371-5971-3614-7A11-C7F15C168C4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265A5DB-1A10-12B3-C178-1744E9F2DFE4}"/>
                </a:ext>
              </a:extLst>
            </p:cNvPr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err="1">
                  <a:solidFill>
                    <a:schemeClr val="bg1"/>
                  </a:solidFill>
                  <a:latin typeface="+mn-ea"/>
                </a:rPr>
                <a:t>Extenal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0899D3C-E6B0-883D-474F-26BAD42F2B37}"/>
              </a:ext>
            </a:extLst>
          </p:cNvPr>
          <p:cNvGrpSpPr/>
          <p:nvPr/>
        </p:nvGrpSpPr>
        <p:grpSpPr>
          <a:xfrm>
            <a:off x="6110563" y="7345331"/>
            <a:ext cx="2223001" cy="2313813"/>
            <a:chOff x="5678999" y="2059511"/>
            <a:chExt cx="2223001" cy="2313813"/>
          </a:xfrm>
        </p:grpSpPr>
        <p:sp>
          <p:nvSpPr>
            <p:cNvPr id="62" name="갈매기형 수장 1">
              <a:extLst>
                <a:ext uri="{FF2B5EF4-FFF2-40B4-BE49-F238E27FC236}">
                  <a16:creationId xmlns:a16="http://schemas.microsoft.com/office/drawing/2014/main" id="{A83E8BB8-6577-0A7C-8A58-111742C16F32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88C1DBA-E627-88F3-F988-E2AAFF05E6D8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0FE2B4C5-23D3-F3F5-0D10-ECCBAB602454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34BFB31-A3E4-40CF-E533-F3E5CEE0B6E9}"/>
                </a:ext>
              </a:extLst>
            </p:cNvPr>
            <p:cNvSpPr txBox="1"/>
            <p:nvPr/>
          </p:nvSpPr>
          <p:spPr>
            <a:xfrm>
              <a:off x="5769000" y="3658500"/>
              <a:ext cx="1354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+mn-ea"/>
                </a:rPr>
                <a:t>Predict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8" name="Rectangle 948">
            <a:extLst>
              <a:ext uri="{FF2B5EF4-FFF2-40B4-BE49-F238E27FC236}">
                <a16:creationId xmlns:a16="http://schemas.microsoft.com/office/drawing/2014/main" id="{3ED0F80C-ECFD-B20F-F8B0-36F7E0892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3314976"/>
            <a:ext cx="3105000" cy="40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000" b="1" dirty="0">
                <a:latin typeface="+mj-ea"/>
                <a:ea typeface="+mj-ea"/>
              </a:rPr>
              <a:t>LLM</a:t>
            </a:r>
            <a:r>
              <a:rPr lang="ko-KR" altLang="en-US" sz="2000" b="1" dirty="0">
                <a:latin typeface="+mj-ea"/>
                <a:ea typeface="+mj-ea"/>
              </a:rPr>
              <a:t> 질의 및 답변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70" name="Rectangle 948">
            <a:extLst>
              <a:ext uri="{FF2B5EF4-FFF2-40B4-BE49-F238E27FC236}">
                <a16:creationId xmlns:a16="http://schemas.microsoft.com/office/drawing/2014/main" id="{9FD13496-E59E-19DD-43E5-0E3E87BC5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3899976"/>
            <a:ext cx="3330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통합된 프롬프트로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페르소나 구축</a:t>
            </a:r>
            <a:b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</a:b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고객 맞춤형 구매 가능성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선호도 등 예측 결과 도출</a:t>
            </a:r>
          </a:p>
        </p:txBody>
      </p:sp>
      <p:sp>
        <p:nvSpPr>
          <p:cNvPr id="71" name="Rectangle 948">
            <a:extLst>
              <a:ext uri="{FF2B5EF4-FFF2-40B4-BE49-F238E27FC236}">
                <a16:creationId xmlns:a16="http://schemas.microsoft.com/office/drawing/2014/main" id="{EC851289-BF66-9E7A-D6F0-96D1EEE74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5564976"/>
            <a:ext cx="3105000" cy="40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>
                <a:latin typeface="+mj-ea"/>
                <a:ea typeface="+mj-ea"/>
              </a:rPr>
              <a:t>외생 변수 계산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72" name="Rectangle 948">
            <a:extLst>
              <a:ext uri="{FF2B5EF4-FFF2-40B4-BE49-F238E27FC236}">
                <a16:creationId xmlns:a16="http://schemas.microsoft.com/office/drawing/2014/main" id="{1F2D29F4-0294-63D0-E45B-F697FE2CF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6149976"/>
            <a:ext cx="346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월별 판매추이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검색량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트랜드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시장규모 및 제품별 차등 계수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페르소나 증강 계수 등 계산</a:t>
            </a:r>
          </a:p>
        </p:txBody>
      </p:sp>
      <p:sp>
        <p:nvSpPr>
          <p:cNvPr id="73" name="Rectangle 948">
            <a:extLst>
              <a:ext uri="{FF2B5EF4-FFF2-40B4-BE49-F238E27FC236}">
                <a16:creationId xmlns:a16="http://schemas.microsoft.com/office/drawing/2014/main" id="{15ED770E-4AE3-4574-FC5F-5904E66AB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7689308"/>
            <a:ext cx="3105000" cy="402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 err="1">
                <a:latin typeface="+mj-ea"/>
                <a:ea typeface="+mj-ea"/>
              </a:rPr>
              <a:t>구매량</a:t>
            </a:r>
            <a:r>
              <a:rPr lang="ko-KR" altLang="en-US" sz="2000" b="1" dirty="0">
                <a:latin typeface="+mj-ea"/>
                <a:ea typeface="+mj-ea"/>
              </a:rPr>
              <a:t> 예측</a:t>
            </a:r>
            <a:endParaRPr lang="en-US" altLang="ko-KR" sz="2000" b="1" dirty="0">
              <a:latin typeface="+mj-ea"/>
              <a:ea typeface="+mj-ea"/>
            </a:endParaRPr>
          </a:p>
        </p:txBody>
      </p:sp>
      <p:sp>
        <p:nvSpPr>
          <p:cNvPr id="74" name="Rectangle 948">
            <a:extLst>
              <a:ext uri="{FF2B5EF4-FFF2-40B4-BE49-F238E27FC236}">
                <a16:creationId xmlns:a16="http://schemas.microsoft.com/office/drawing/2014/main" id="{2901CA35-F908-99CB-5009-951E34E40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5563" y="8274308"/>
            <a:ext cx="3105000" cy="1060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LLM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답변 내용과 외생변수의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계산을 통한 월별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구매량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예측 산출물 출력</a:t>
            </a:r>
          </a:p>
        </p:txBody>
      </p:sp>
      <p:sp>
        <p:nvSpPr>
          <p:cNvPr id="75" name="Freeform 1032">
            <a:extLst>
              <a:ext uri="{FF2B5EF4-FFF2-40B4-BE49-F238E27FC236}">
                <a16:creationId xmlns:a16="http://schemas.microsoft.com/office/drawing/2014/main" id="{E66AFCFF-9844-2051-1647-402E86298FE6}"/>
              </a:ext>
            </a:extLst>
          </p:cNvPr>
          <p:cNvSpPr>
            <a:spLocks noEditPoints="1"/>
          </p:cNvSpPr>
          <p:nvPr/>
        </p:nvSpPr>
        <p:spPr bwMode="auto">
          <a:xfrm>
            <a:off x="6470563" y="6130331"/>
            <a:ext cx="765000" cy="630000"/>
          </a:xfrm>
          <a:custGeom>
            <a:avLst/>
            <a:gdLst>
              <a:gd name="T0" fmla="*/ 260 w 260"/>
              <a:gd name="T1" fmla="*/ 242 h 259"/>
              <a:gd name="T2" fmla="*/ 260 w 260"/>
              <a:gd name="T3" fmla="*/ 259 h 259"/>
              <a:gd name="T4" fmla="*/ 0 w 260"/>
              <a:gd name="T5" fmla="*/ 259 h 259"/>
              <a:gd name="T6" fmla="*/ 0 w 260"/>
              <a:gd name="T7" fmla="*/ 0 h 259"/>
              <a:gd name="T8" fmla="*/ 16 w 260"/>
              <a:gd name="T9" fmla="*/ 0 h 259"/>
              <a:gd name="T10" fmla="*/ 16 w 260"/>
              <a:gd name="T11" fmla="*/ 242 h 259"/>
              <a:gd name="T12" fmla="*/ 260 w 260"/>
              <a:gd name="T13" fmla="*/ 242 h 259"/>
              <a:gd name="T14" fmla="*/ 116 w 260"/>
              <a:gd name="T15" fmla="*/ 90 h 259"/>
              <a:gd name="T16" fmla="*/ 182 w 260"/>
              <a:gd name="T17" fmla="*/ 107 h 259"/>
              <a:gd name="T18" fmla="*/ 205 w 260"/>
              <a:gd name="T19" fmla="*/ 66 h 259"/>
              <a:gd name="T20" fmla="*/ 224 w 260"/>
              <a:gd name="T21" fmla="*/ 81 h 259"/>
              <a:gd name="T22" fmla="*/ 227 w 260"/>
              <a:gd name="T23" fmla="*/ 14 h 259"/>
              <a:gd name="T24" fmla="*/ 170 w 260"/>
              <a:gd name="T25" fmla="*/ 47 h 259"/>
              <a:gd name="T26" fmla="*/ 191 w 260"/>
              <a:gd name="T27" fmla="*/ 59 h 259"/>
              <a:gd name="T28" fmla="*/ 175 w 260"/>
              <a:gd name="T29" fmla="*/ 88 h 259"/>
              <a:gd name="T30" fmla="*/ 111 w 260"/>
              <a:gd name="T31" fmla="*/ 71 h 259"/>
              <a:gd name="T32" fmla="*/ 42 w 260"/>
              <a:gd name="T33" fmla="*/ 140 h 259"/>
              <a:gd name="T34" fmla="*/ 54 w 260"/>
              <a:gd name="T35" fmla="*/ 152 h 259"/>
              <a:gd name="T36" fmla="*/ 116 w 260"/>
              <a:gd name="T37" fmla="*/ 90 h 259"/>
              <a:gd name="T38" fmla="*/ 97 w 260"/>
              <a:gd name="T39" fmla="*/ 226 h 259"/>
              <a:gd name="T40" fmla="*/ 130 w 260"/>
              <a:gd name="T41" fmla="*/ 226 h 259"/>
              <a:gd name="T42" fmla="*/ 130 w 260"/>
              <a:gd name="T43" fmla="*/ 109 h 259"/>
              <a:gd name="T44" fmla="*/ 120 w 260"/>
              <a:gd name="T45" fmla="*/ 107 h 259"/>
              <a:gd name="T46" fmla="*/ 97 w 260"/>
              <a:gd name="T47" fmla="*/ 131 h 259"/>
              <a:gd name="T48" fmla="*/ 97 w 260"/>
              <a:gd name="T49" fmla="*/ 226 h 259"/>
              <a:gd name="T50" fmla="*/ 49 w 260"/>
              <a:gd name="T51" fmla="*/ 169 h 259"/>
              <a:gd name="T52" fmla="*/ 49 w 260"/>
              <a:gd name="T53" fmla="*/ 226 h 259"/>
              <a:gd name="T54" fmla="*/ 80 w 260"/>
              <a:gd name="T55" fmla="*/ 226 h 259"/>
              <a:gd name="T56" fmla="*/ 80 w 260"/>
              <a:gd name="T57" fmla="*/ 147 h 259"/>
              <a:gd name="T58" fmla="*/ 54 w 260"/>
              <a:gd name="T59" fmla="*/ 173 h 259"/>
              <a:gd name="T60" fmla="*/ 49 w 260"/>
              <a:gd name="T61" fmla="*/ 169 h 259"/>
              <a:gd name="T62" fmla="*/ 194 w 260"/>
              <a:gd name="T63" fmla="*/ 116 h 259"/>
              <a:gd name="T64" fmla="*/ 194 w 260"/>
              <a:gd name="T65" fmla="*/ 226 h 259"/>
              <a:gd name="T66" fmla="*/ 227 w 260"/>
              <a:gd name="T67" fmla="*/ 226 h 259"/>
              <a:gd name="T68" fmla="*/ 227 w 260"/>
              <a:gd name="T69" fmla="*/ 100 h 259"/>
              <a:gd name="T70" fmla="*/ 210 w 260"/>
              <a:gd name="T71" fmla="*/ 90 h 259"/>
              <a:gd name="T72" fmla="*/ 194 w 260"/>
              <a:gd name="T73" fmla="*/ 116 h 259"/>
              <a:gd name="T74" fmla="*/ 177 w 260"/>
              <a:gd name="T75" fmla="*/ 226 h 259"/>
              <a:gd name="T76" fmla="*/ 177 w 260"/>
              <a:gd name="T77" fmla="*/ 121 h 259"/>
              <a:gd name="T78" fmla="*/ 146 w 260"/>
              <a:gd name="T79" fmla="*/ 114 h 259"/>
              <a:gd name="T80" fmla="*/ 146 w 260"/>
              <a:gd name="T81" fmla="*/ 226 h 259"/>
              <a:gd name="T82" fmla="*/ 177 w 260"/>
              <a:gd name="T83" fmla="*/ 226 h 259"/>
              <a:gd name="T84" fmla="*/ 177 w 260"/>
              <a:gd name="T85" fmla="*/ 226 h 259"/>
              <a:gd name="T86" fmla="*/ 177 w 260"/>
              <a:gd name="T87" fmla="*/ 226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0" h="259">
                <a:moveTo>
                  <a:pt x="260" y="242"/>
                </a:moveTo>
                <a:lnTo>
                  <a:pt x="260" y="259"/>
                </a:lnTo>
                <a:lnTo>
                  <a:pt x="0" y="259"/>
                </a:lnTo>
                <a:lnTo>
                  <a:pt x="0" y="0"/>
                </a:lnTo>
                <a:lnTo>
                  <a:pt x="16" y="0"/>
                </a:lnTo>
                <a:lnTo>
                  <a:pt x="16" y="242"/>
                </a:lnTo>
                <a:lnTo>
                  <a:pt x="260" y="242"/>
                </a:lnTo>
                <a:close/>
                <a:moveTo>
                  <a:pt x="116" y="90"/>
                </a:moveTo>
                <a:lnTo>
                  <a:pt x="182" y="107"/>
                </a:lnTo>
                <a:lnTo>
                  <a:pt x="205" y="66"/>
                </a:lnTo>
                <a:lnTo>
                  <a:pt x="224" y="81"/>
                </a:lnTo>
                <a:lnTo>
                  <a:pt x="227" y="14"/>
                </a:lnTo>
                <a:lnTo>
                  <a:pt x="170" y="47"/>
                </a:lnTo>
                <a:lnTo>
                  <a:pt x="191" y="59"/>
                </a:lnTo>
                <a:lnTo>
                  <a:pt x="175" y="88"/>
                </a:lnTo>
                <a:lnTo>
                  <a:pt x="111" y="71"/>
                </a:lnTo>
                <a:lnTo>
                  <a:pt x="42" y="140"/>
                </a:lnTo>
                <a:lnTo>
                  <a:pt x="54" y="152"/>
                </a:lnTo>
                <a:lnTo>
                  <a:pt x="116" y="90"/>
                </a:lnTo>
                <a:close/>
                <a:moveTo>
                  <a:pt x="97" y="226"/>
                </a:moveTo>
                <a:lnTo>
                  <a:pt x="130" y="226"/>
                </a:lnTo>
                <a:lnTo>
                  <a:pt x="130" y="109"/>
                </a:lnTo>
                <a:lnTo>
                  <a:pt x="120" y="107"/>
                </a:lnTo>
                <a:lnTo>
                  <a:pt x="97" y="131"/>
                </a:lnTo>
                <a:lnTo>
                  <a:pt x="97" y="226"/>
                </a:lnTo>
                <a:close/>
                <a:moveTo>
                  <a:pt x="49" y="169"/>
                </a:moveTo>
                <a:lnTo>
                  <a:pt x="49" y="226"/>
                </a:lnTo>
                <a:lnTo>
                  <a:pt x="80" y="226"/>
                </a:lnTo>
                <a:lnTo>
                  <a:pt x="80" y="147"/>
                </a:lnTo>
                <a:lnTo>
                  <a:pt x="54" y="173"/>
                </a:lnTo>
                <a:lnTo>
                  <a:pt x="49" y="169"/>
                </a:lnTo>
                <a:close/>
                <a:moveTo>
                  <a:pt x="194" y="116"/>
                </a:moveTo>
                <a:lnTo>
                  <a:pt x="194" y="226"/>
                </a:lnTo>
                <a:lnTo>
                  <a:pt x="227" y="226"/>
                </a:lnTo>
                <a:lnTo>
                  <a:pt x="227" y="100"/>
                </a:lnTo>
                <a:lnTo>
                  <a:pt x="210" y="90"/>
                </a:lnTo>
                <a:lnTo>
                  <a:pt x="194" y="116"/>
                </a:lnTo>
                <a:close/>
                <a:moveTo>
                  <a:pt x="177" y="226"/>
                </a:moveTo>
                <a:lnTo>
                  <a:pt x="177" y="121"/>
                </a:lnTo>
                <a:lnTo>
                  <a:pt x="146" y="114"/>
                </a:lnTo>
                <a:lnTo>
                  <a:pt x="146" y="226"/>
                </a:lnTo>
                <a:lnTo>
                  <a:pt x="177" y="226"/>
                </a:lnTo>
                <a:close/>
                <a:moveTo>
                  <a:pt x="177" y="226"/>
                </a:moveTo>
                <a:lnTo>
                  <a:pt x="177" y="22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344CD9F-4ECD-5F1C-868F-D55A4186271B}"/>
              </a:ext>
            </a:extLst>
          </p:cNvPr>
          <p:cNvGrpSpPr/>
          <p:nvPr/>
        </p:nvGrpSpPr>
        <p:grpSpPr>
          <a:xfrm>
            <a:off x="13985563" y="3340331"/>
            <a:ext cx="544512" cy="460375"/>
            <a:chOff x="1572131" y="3768482"/>
            <a:chExt cx="544512" cy="460375"/>
          </a:xfrm>
          <a:solidFill>
            <a:srgbClr val="F2F2F2"/>
          </a:solidFill>
        </p:grpSpPr>
        <p:sp>
          <p:nvSpPr>
            <p:cNvPr id="80" name="Freeform 1499">
              <a:extLst>
                <a:ext uri="{FF2B5EF4-FFF2-40B4-BE49-F238E27FC236}">
                  <a16:creationId xmlns:a16="http://schemas.microsoft.com/office/drawing/2014/main" id="{449F9242-96EF-B390-C109-1C8F12E9F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631" y="4165357"/>
              <a:ext cx="417512" cy="63500"/>
            </a:xfrm>
            <a:custGeom>
              <a:avLst/>
              <a:gdLst>
                <a:gd name="T0" fmla="*/ 250 w 263"/>
                <a:gd name="T1" fmla="*/ 27 h 40"/>
                <a:gd name="T2" fmla="*/ 184 w 263"/>
                <a:gd name="T3" fmla="*/ 27 h 40"/>
                <a:gd name="T4" fmla="*/ 184 w 263"/>
                <a:gd name="T5" fmla="*/ 14 h 40"/>
                <a:gd name="T6" fmla="*/ 184 w 263"/>
                <a:gd name="T7" fmla="*/ 14 h 40"/>
                <a:gd name="T8" fmla="*/ 184 w 263"/>
                <a:gd name="T9" fmla="*/ 7 h 40"/>
                <a:gd name="T10" fmla="*/ 181 w 263"/>
                <a:gd name="T11" fmla="*/ 4 h 40"/>
                <a:gd name="T12" fmla="*/ 178 w 263"/>
                <a:gd name="T13" fmla="*/ 0 h 40"/>
                <a:gd name="T14" fmla="*/ 171 w 263"/>
                <a:gd name="T15" fmla="*/ 0 h 40"/>
                <a:gd name="T16" fmla="*/ 92 w 263"/>
                <a:gd name="T17" fmla="*/ 0 h 40"/>
                <a:gd name="T18" fmla="*/ 92 w 263"/>
                <a:gd name="T19" fmla="*/ 0 h 40"/>
                <a:gd name="T20" fmla="*/ 85 w 263"/>
                <a:gd name="T21" fmla="*/ 4 h 40"/>
                <a:gd name="T22" fmla="*/ 82 w 263"/>
                <a:gd name="T23" fmla="*/ 7 h 40"/>
                <a:gd name="T24" fmla="*/ 79 w 263"/>
                <a:gd name="T25" fmla="*/ 14 h 40"/>
                <a:gd name="T26" fmla="*/ 79 w 263"/>
                <a:gd name="T27" fmla="*/ 27 h 40"/>
                <a:gd name="T28" fmla="*/ 13 w 263"/>
                <a:gd name="T29" fmla="*/ 27 h 40"/>
                <a:gd name="T30" fmla="*/ 13 w 263"/>
                <a:gd name="T31" fmla="*/ 27 h 40"/>
                <a:gd name="T32" fmla="*/ 6 w 263"/>
                <a:gd name="T33" fmla="*/ 27 h 40"/>
                <a:gd name="T34" fmla="*/ 3 w 263"/>
                <a:gd name="T35" fmla="*/ 30 h 40"/>
                <a:gd name="T36" fmla="*/ 0 w 263"/>
                <a:gd name="T37" fmla="*/ 40 h 40"/>
                <a:gd name="T38" fmla="*/ 263 w 263"/>
                <a:gd name="T39" fmla="*/ 40 h 40"/>
                <a:gd name="T40" fmla="*/ 263 w 263"/>
                <a:gd name="T41" fmla="*/ 40 h 40"/>
                <a:gd name="T42" fmla="*/ 263 w 263"/>
                <a:gd name="T43" fmla="*/ 33 h 40"/>
                <a:gd name="T44" fmla="*/ 260 w 263"/>
                <a:gd name="T45" fmla="*/ 30 h 40"/>
                <a:gd name="T46" fmla="*/ 257 w 263"/>
                <a:gd name="T47" fmla="*/ 27 h 40"/>
                <a:gd name="T48" fmla="*/ 250 w 263"/>
                <a:gd name="T49" fmla="*/ 27 h 40"/>
                <a:gd name="T50" fmla="*/ 250 w 263"/>
                <a:gd name="T51" fmla="*/ 2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3" h="40">
                  <a:moveTo>
                    <a:pt x="250" y="27"/>
                  </a:moveTo>
                  <a:lnTo>
                    <a:pt x="184" y="27"/>
                  </a:lnTo>
                  <a:lnTo>
                    <a:pt x="184" y="14"/>
                  </a:lnTo>
                  <a:lnTo>
                    <a:pt x="184" y="14"/>
                  </a:lnTo>
                  <a:lnTo>
                    <a:pt x="184" y="7"/>
                  </a:lnTo>
                  <a:lnTo>
                    <a:pt x="181" y="4"/>
                  </a:lnTo>
                  <a:lnTo>
                    <a:pt x="178" y="0"/>
                  </a:lnTo>
                  <a:lnTo>
                    <a:pt x="171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85" y="4"/>
                  </a:lnTo>
                  <a:lnTo>
                    <a:pt x="82" y="7"/>
                  </a:lnTo>
                  <a:lnTo>
                    <a:pt x="79" y="14"/>
                  </a:lnTo>
                  <a:lnTo>
                    <a:pt x="79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6" y="27"/>
                  </a:lnTo>
                  <a:lnTo>
                    <a:pt x="3" y="30"/>
                  </a:lnTo>
                  <a:lnTo>
                    <a:pt x="0" y="40"/>
                  </a:lnTo>
                  <a:lnTo>
                    <a:pt x="263" y="40"/>
                  </a:lnTo>
                  <a:lnTo>
                    <a:pt x="263" y="40"/>
                  </a:lnTo>
                  <a:lnTo>
                    <a:pt x="263" y="33"/>
                  </a:lnTo>
                  <a:lnTo>
                    <a:pt x="260" y="30"/>
                  </a:lnTo>
                  <a:lnTo>
                    <a:pt x="257" y="27"/>
                  </a:lnTo>
                  <a:lnTo>
                    <a:pt x="250" y="27"/>
                  </a:lnTo>
                  <a:lnTo>
                    <a:pt x="25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Freeform 1500">
              <a:extLst>
                <a:ext uri="{FF2B5EF4-FFF2-40B4-BE49-F238E27FC236}">
                  <a16:creationId xmlns:a16="http://schemas.microsoft.com/office/drawing/2014/main" id="{CF16114F-F685-10C5-D12D-8E50354F8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2131" y="3768482"/>
              <a:ext cx="544512" cy="376238"/>
            </a:xfrm>
            <a:custGeom>
              <a:avLst/>
              <a:gdLst>
                <a:gd name="T0" fmla="*/ 330 w 343"/>
                <a:gd name="T1" fmla="*/ 0 h 237"/>
                <a:gd name="T2" fmla="*/ 13 w 343"/>
                <a:gd name="T3" fmla="*/ 0 h 237"/>
                <a:gd name="T4" fmla="*/ 13 w 343"/>
                <a:gd name="T5" fmla="*/ 0 h 237"/>
                <a:gd name="T6" fmla="*/ 7 w 343"/>
                <a:gd name="T7" fmla="*/ 0 h 237"/>
                <a:gd name="T8" fmla="*/ 3 w 343"/>
                <a:gd name="T9" fmla="*/ 3 h 237"/>
                <a:gd name="T10" fmla="*/ 0 w 343"/>
                <a:gd name="T11" fmla="*/ 7 h 237"/>
                <a:gd name="T12" fmla="*/ 0 w 343"/>
                <a:gd name="T13" fmla="*/ 13 h 237"/>
                <a:gd name="T14" fmla="*/ 0 w 343"/>
                <a:gd name="T15" fmla="*/ 224 h 237"/>
                <a:gd name="T16" fmla="*/ 0 w 343"/>
                <a:gd name="T17" fmla="*/ 224 h 237"/>
                <a:gd name="T18" fmla="*/ 0 w 343"/>
                <a:gd name="T19" fmla="*/ 231 h 237"/>
                <a:gd name="T20" fmla="*/ 3 w 343"/>
                <a:gd name="T21" fmla="*/ 234 h 237"/>
                <a:gd name="T22" fmla="*/ 7 w 343"/>
                <a:gd name="T23" fmla="*/ 237 h 237"/>
                <a:gd name="T24" fmla="*/ 13 w 343"/>
                <a:gd name="T25" fmla="*/ 237 h 237"/>
                <a:gd name="T26" fmla="*/ 330 w 343"/>
                <a:gd name="T27" fmla="*/ 237 h 237"/>
                <a:gd name="T28" fmla="*/ 330 w 343"/>
                <a:gd name="T29" fmla="*/ 237 h 237"/>
                <a:gd name="T30" fmla="*/ 336 w 343"/>
                <a:gd name="T31" fmla="*/ 237 h 237"/>
                <a:gd name="T32" fmla="*/ 340 w 343"/>
                <a:gd name="T33" fmla="*/ 234 h 237"/>
                <a:gd name="T34" fmla="*/ 343 w 343"/>
                <a:gd name="T35" fmla="*/ 231 h 237"/>
                <a:gd name="T36" fmla="*/ 343 w 343"/>
                <a:gd name="T37" fmla="*/ 224 h 237"/>
                <a:gd name="T38" fmla="*/ 343 w 343"/>
                <a:gd name="T39" fmla="*/ 13 h 237"/>
                <a:gd name="T40" fmla="*/ 343 w 343"/>
                <a:gd name="T41" fmla="*/ 13 h 237"/>
                <a:gd name="T42" fmla="*/ 343 w 343"/>
                <a:gd name="T43" fmla="*/ 7 h 237"/>
                <a:gd name="T44" fmla="*/ 340 w 343"/>
                <a:gd name="T45" fmla="*/ 3 h 237"/>
                <a:gd name="T46" fmla="*/ 336 w 343"/>
                <a:gd name="T47" fmla="*/ 0 h 237"/>
                <a:gd name="T48" fmla="*/ 330 w 343"/>
                <a:gd name="T49" fmla="*/ 0 h 237"/>
                <a:gd name="T50" fmla="*/ 330 w 343"/>
                <a:gd name="T51" fmla="*/ 0 h 237"/>
                <a:gd name="T52" fmla="*/ 317 w 343"/>
                <a:gd name="T53" fmla="*/ 198 h 237"/>
                <a:gd name="T54" fmla="*/ 26 w 343"/>
                <a:gd name="T55" fmla="*/ 198 h 237"/>
                <a:gd name="T56" fmla="*/ 26 w 343"/>
                <a:gd name="T57" fmla="*/ 26 h 237"/>
                <a:gd name="T58" fmla="*/ 317 w 343"/>
                <a:gd name="T59" fmla="*/ 26 h 237"/>
                <a:gd name="T60" fmla="*/ 317 w 343"/>
                <a:gd name="T61" fmla="*/ 198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3" h="237">
                  <a:moveTo>
                    <a:pt x="330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31"/>
                  </a:lnTo>
                  <a:lnTo>
                    <a:pt x="3" y="234"/>
                  </a:lnTo>
                  <a:lnTo>
                    <a:pt x="7" y="237"/>
                  </a:lnTo>
                  <a:lnTo>
                    <a:pt x="13" y="237"/>
                  </a:lnTo>
                  <a:lnTo>
                    <a:pt x="330" y="237"/>
                  </a:lnTo>
                  <a:lnTo>
                    <a:pt x="330" y="237"/>
                  </a:lnTo>
                  <a:lnTo>
                    <a:pt x="336" y="237"/>
                  </a:lnTo>
                  <a:lnTo>
                    <a:pt x="340" y="234"/>
                  </a:lnTo>
                  <a:lnTo>
                    <a:pt x="343" y="231"/>
                  </a:lnTo>
                  <a:lnTo>
                    <a:pt x="343" y="224"/>
                  </a:lnTo>
                  <a:lnTo>
                    <a:pt x="343" y="13"/>
                  </a:lnTo>
                  <a:lnTo>
                    <a:pt x="343" y="13"/>
                  </a:lnTo>
                  <a:lnTo>
                    <a:pt x="343" y="7"/>
                  </a:lnTo>
                  <a:lnTo>
                    <a:pt x="340" y="3"/>
                  </a:lnTo>
                  <a:lnTo>
                    <a:pt x="336" y="0"/>
                  </a:lnTo>
                  <a:lnTo>
                    <a:pt x="330" y="0"/>
                  </a:lnTo>
                  <a:lnTo>
                    <a:pt x="330" y="0"/>
                  </a:lnTo>
                  <a:close/>
                  <a:moveTo>
                    <a:pt x="317" y="198"/>
                  </a:moveTo>
                  <a:lnTo>
                    <a:pt x="26" y="198"/>
                  </a:lnTo>
                  <a:lnTo>
                    <a:pt x="26" y="26"/>
                  </a:lnTo>
                  <a:lnTo>
                    <a:pt x="317" y="26"/>
                  </a:lnTo>
                  <a:lnTo>
                    <a:pt x="317" y="1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82" name="Freeform 103">
            <a:extLst>
              <a:ext uri="{FF2B5EF4-FFF2-40B4-BE49-F238E27FC236}">
                <a16:creationId xmlns:a16="http://schemas.microsoft.com/office/drawing/2014/main" id="{1BDA4F77-DDE9-77F0-F13B-4B862CAE3705}"/>
              </a:ext>
            </a:extLst>
          </p:cNvPr>
          <p:cNvSpPr/>
          <p:nvPr/>
        </p:nvSpPr>
        <p:spPr>
          <a:xfrm rot="5400000">
            <a:off x="6515563" y="8110331"/>
            <a:ext cx="749558" cy="749558"/>
          </a:xfrm>
          <a:custGeom>
            <a:avLst/>
            <a:gdLst>
              <a:gd name="connsiteX0" fmla="*/ 1200727 w 1838037"/>
              <a:gd name="connsiteY0" fmla="*/ 189346 h 1838037"/>
              <a:gd name="connsiteX1" fmla="*/ 1200727 w 1838037"/>
              <a:gd name="connsiteY1" fmla="*/ 0 h 1838037"/>
              <a:gd name="connsiteX2" fmla="*/ 1838037 w 1838037"/>
              <a:gd name="connsiteY2" fmla="*/ 0 h 1838037"/>
              <a:gd name="connsiteX3" fmla="*/ 1838037 w 1838037"/>
              <a:gd name="connsiteY3" fmla="*/ 637310 h 1838037"/>
              <a:gd name="connsiteX4" fmla="*/ 1648691 w 1838037"/>
              <a:gd name="connsiteY4" fmla="*/ 637310 h 1838037"/>
              <a:gd name="connsiteX5" fmla="*/ 1648691 w 1838037"/>
              <a:gd name="connsiteY5" fmla="*/ 189346 h 1838037"/>
              <a:gd name="connsiteX6" fmla="*/ 1200727 w 1838037"/>
              <a:gd name="connsiteY6" fmla="*/ 1838037 h 1838037"/>
              <a:gd name="connsiteX7" fmla="*/ 1200727 w 1838037"/>
              <a:gd name="connsiteY7" fmla="*/ 1648692 h 1838037"/>
              <a:gd name="connsiteX8" fmla="*/ 1648691 w 1838037"/>
              <a:gd name="connsiteY8" fmla="*/ 1648692 h 1838037"/>
              <a:gd name="connsiteX9" fmla="*/ 1648691 w 1838037"/>
              <a:gd name="connsiteY9" fmla="*/ 1200729 h 1838037"/>
              <a:gd name="connsiteX10" fmla="*/ 1838037 w 1838037"/>
              <a:gd name="connsiteY10" fmla="*/ 1200729 h 1838037"/>
              <a:gd name="connsiteX11" fmla="*/ 1838037 w 1838037"/>
              <a:gd name="connsiteY11" fmla="*/ 1838037 h 1838037"/>
              <a:gd name="connsiteX12" fmla="*/ 967509 w 1838037"/>
              <a:gd name="connsiteY12" fmla="*/ 870528 h 1838037"/>
              <a:gd name="connsiteX13" fmla="*/ 1193347 w 1838037"/>
              <a:gd name="connsiteY13" fmla="*/ 870528 h 1838037"/>
              <a:gd name="connsiteX14" fmla="*/ 1188015 w 1838037"/>
              <a:gd name="connsiteY14" fmla="*/ 835262 h 1838037"/>
              <a:gd name="connsiteX15" fmla="*/ 1028653 w 1838037"/>
              <a:gd name="connsiteY15" fmla="*/ 659493 h 1838037"/>
              <a:gd name="connsiteX16" fmla="*/ 967509 w 1838037"/>
              <a:gd name="connsiteY16" fmla="*/ 647149 h 1838037"/>
              <a:gd name="connsiteX17" fmla="*/ 967509 w 1838037"/>
              <a:gd name="connsiteY17" fmla="*/ 1190889 h 1838037"/>
              <a:gd name="connsiteX18" fmla="*/ 1028653 w 1838037"/>
              <a:gd name="connsiteY18" fmla="*/ 1178545 h 1838037"/>
              <a:gd name="connsiteX19" fmla="*/ 1188015 w 1838037"/>
              <a:gd name="connsiteY19" fmla="*/ 1002776 h 1838037"/>
              <a:gd name="connsiteX20" fmla="*/ 1193347 w 1838037"/>
              <a:gd name="connsiteY20" fmla="*/ 967510 h 1838037"/>
              <a:gd name="connsiteX21" fmla="*/ 967509 w 1838037"/>
              <a:gd name="connsiteY21" fmla="*/ 967510 h 1838037"/>
              <a:gd name="connsiteX22" fmla="*/ 644689 w 1838037"/>
              <a:gd name="connsiteY22" fmla="*/ 870528 h 1838037"/>
              <a:gd name="connsiteX23" fmla="*/ 870527 w 1838037"/>
              <a:gd name="connsiteY23" fmla="*/ 870528 h 1838037"/>
              <a:gd name="connsiteX24" fmla="*/ 870527 w 1838037"/>
              <a:gd name="connsiteY24" fmla="*/ 647149 h 1838037"/>
              <a:gd name="connsiteX25" fmla="*/ 809383 w 1838037"/>
              <a:gd name="connsiteY25" fmla="*/ 659493 h 1838037"/>
              <a:gd name="connsiteX26" fmla="*/ 650021 w 1838037"/>
              <a:gd name="connsiteY26" fmla="*/ 835262 h 1838037"/>
              <a:gd name="connsiteX27" fmla="*/ 644689 w 1838037"/>
              <a:gd name="connsiteY27" fmla="*/ 967510 h 1838037"/>
              <a:gd name="connsiteX28" fmla="*/ 650021 w 1838037"/>
              <a:gd name="connsiteY28" fmla="*/ 1002776 h 1838037"/>
              <a:gd name="connsiteX29" fmla="*/ 809383 w 1838037"/>
              <a:gd name="connsiteY29" fmla="*/ 1178545 h 1838037"/>
              <a:gd name="connsiteX30" fmla="*/ 870527 w 1838037"/>
              <a:gd name="connsiteY30" fmla="*/ 1190889 h 1838037"/>
              <a:gd name="connsiteX31" fmla="*/ 870527 w 1838037"/>
              <a:gd name="connsiteY31" fmla="*/ 967510 h 1838037"/>
              <a:gd name="connsiteX32" fmla="*/ 297476 w 1838037"/>
              <a:gd name="connsiteY32" fmla="*/ 967510 h 1838037"/>
              <a:gd name="connsiteX33" fmla="*/ 297476 w 1838037"/>
              <a:gd name="connsiteY33" fmla="*/ 870528 h 1838037"/>
              <a:gd name="connsiteX34" fmla="*/ 544894 w 1838037"/>
              <a:gd name="connsiteY34" fmla="*/ 870528 h 1838037"/>
              <a:gd name="connsiteX35" fmla="*/ 546526 w 1838037"/>
              <a:gd name="connsiteY35" fmla="*/ 852036 h 1838037"/>
              <a:gd name="connsiteX36" fmla="*/ 842756 w 1838037"/>
              <a:gd name="connsiteY36" fmla="*/ 548305 h 1838037"/>
              <a:gd name="connsiteX37" fmla="*/ 870527 w 1838037"/>
              <a:gd name="connsiteY37" fmla="*/ 545506 h 1838037"/>
              <a:gd name="connsiteX38" fmla="*/ 870527 w 1838037"/>
              <a:gd name="connsiteY38" fmla="*/ 297477 h 1838037"/>
              <a:gd name="connsiteX39" fmla="*/ 967509 w 1838037"/>
              <a:gd name="connsiteY39" fmla="*/ 297477 h 1838037"/>
              <a:gd name="connsiteX40" fmla="*/ 967509 w 1838037"/>
              <a:gd name="connsiteY40" fmla="*/ 545506 h 1838037"/>
              <a:gd name="connsiteX41" fmla="*/ 995280 w 1838037"/>
              <a:gd name="connsiteY41" fmla="*/ 548305 h 1838037"/>
              <a:gd name="connsiteX42" fmla="*/ 1291510 w 1838037"/>
              <a:gd name="connsiteY42" fmla="*/ 852036 h 1838037"/>
              <a:gd name="connsiteX43" fmla="*/ 1293142 w 1838037"/>
              <a:gd name="connsiteY43" fmla="*/ 870528 h 1838037"/>
              <a:gd name="connsiteX44" fmla="*/ 1540560 w 1838037"/>
              <a:gd name="connsiteY44" fmla="*/ 870528 h 1838037"/>
              <a:gd name="connsiteX45" fmla="*/ 1540560 w 1838037"/>
              <a:gd name="connsiteY45" fmla="*/ 967510 h 1838037"/>
              <a:gd name="connsiteX46" fmla="*/ 1293142 w 1838037"/>
              <a:gd name="connsiteY46" fmla="*/ 967510 h 1838037"/>
              <a:gd name="connsiteX47" fmla="*/ 1291510 w 1838037"/>
              <a:gd name="connsiteY47" fmla="*/ 986003 h 1838037"/>
              <a:gd name="connsiteX48" fmla="*/ 995280 w 1838037"/>
              <a:gd name="connsiteY48" fmla="*/ 1289733 h 1838037"/>
              <a:gd name="connsiteX49" fmla="*/ 967509 w 1838037"/>
              <a:gd name="connsiteY49" fmla="*/ 1292533 h 1838037"/>
              <a:gd name="connsiteX50" fmla="*/ 967509 w 1838037"/>
              <a:gd name="connsiteY50" fmla="*/ 1540561 h 1838037"/>
              <a:gd name="connsiteX51" fmla="*/ 870527 w 1838037"/>
              <a:gd name="connsiteY51" fmla="*/ 1540561 h 1838037"/>
              <a:gd name="connsiteX52" fmla="*/ 870527 w 1838037"/>
              <a:gd name="connsiteY52" fmla="*/ 1292533 h 1838037"/>
              <a:gd name="connsiteX53" fmla="*/ 842756 w 1838037"/>
              <a:gd name="connsiteY53" fmla="*/ 1289733 h 1838037"/>
              <a:gd name="connsiteX54" fmla="*/ 546526 w 1838037"/>
              <a:gd name="connsiteY54" fmla="*/ 986003 h 1838037"/>
              <a:gd name="connsiteX55" fmla="*/ 544894 w 1838037"/>
              <a:gd name="connsiteY55" fmla="*/ 967510 h 1838037"/>
              <a:gd name="connsiteX56" fmla="*/ 0 w 1838037"/>
              <a:gd name="connsiteY56" fmla="*/ 637310 h 1838037"/>
              <a:gd name="connsiteX57" fmla="*/ 0 w 1838037"/>
              <a:gd name="connsiteY57" fmla="*/ 0 h 1838037"/>
              <a:gd name="connsiteX58" fmla="*/ 637308 w 1838037"/>
              <a:gd name="connsiteY58" fmla="*/ 0 h 1838037"/>
              <a:gd name="connsiteX59" fmla="*/ 637308 w 1838037"/>
              <a:gd name="connsiteY59" fmla="*/ 189346 h 1838037"/>
              <a:gd name="connsiteX60" fmla="*/ 189345 w 1838037"/>
              <a:gd name="connsiteY60" fmla="*/ 189346 h 1838037"/>
              <a:gd name="connsiteX61" fmla="*/ 189345 w 1838037"/>
              <a:gd name="connsiteY61" fmla="*/ 637310 h 1838037"/>
              <a:gd name="connsiteX62" fmla="*/ 0 w 1838037"/>
              <a:gd name="connsiteY62" fmla="*/ 1838037 h 1838037"/>
              <a:gd name="connsiteX63" fmla="*/ 0 w 1838037"/>
              <a:gd name="connsiteY63" fmla="*/ 1200729 h 1838037"/>
              <a:gd name="connsiteX64" fmla="*/ 189345 w 1838037"/>
              <a:gd name="connsiteY64" fmla="*/ 1200729 h 1838037"/>
              <a:gd name="connsiteX65" fmla="*/ 189345 w 1838037"/>
              <a:gd name="connsiteY65" fmla="*/ 1648692 h 1838037"/>
              <a:gd name="connsiteX66" fmla="*/ 637308 w 1838037"/>
              <a:gd name="connsiteY66" fmla="*/ 1648692 h 1838037"/>
              <a:gd name="connsiteX67" fmla="*/ 637308 w 1838037"/>
              <a:gd name="connsiteY67" fmla="*/ 1838037 h 183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38037" h="1838037">
                <a:moveTo>
                  <a:pt x="1200727" y="189346"/>
                </a:moveTo>
                <a:lnTo>
                  <a:pt x="1200727" y="0"/>
                </a:lnTo>
                <a:lnTo>
                  <a:pt x="1838037" y="0"/>
                </a:lnTo>
                <a:lnTo>
                  <a:pt x="1838037" y="637310"/>
                </a:lnTo>
                <a:lnTo>
                  <a:pt x="1648691" y="637310"/>
                </a:lnTo>
                <a:lnTo>
                  <a:pt x="1648691" y="189346"/>
                </a:lnTo>
                <a:close/>
                <a:moveTo>
                  <a:pt x="1200727" y="1838037"/>
                </a:moveTo>
                <a:lnTo>
                  <a:pt x="1200727" y="1648692"/>
                </a:lnTo>
                <a:lnTo>
                  <a:pt x="1648691" y="1648692"/>
                </a:lnTo>
                <a:lnTo>
                  <a:pt x="1648691" y="1200729"/>
                </a:lnTo>
                <a:lnTo>
                  <a:pt x="1838037" y="1200729"/>
                </a:lnTo>
                <a:lnTo>
                  <a:pt x="1838037" y="1838037"/>
                </a:lnTo>
                <a:close/>
                <a:moveTo>
                  <a:pt x="967509" y="870528"/>
                </a:moveTo>
                <a:lnTo>
                  <a:pt x="1193347" y="870528"/>
                </a:lnTo>
                <a:lnTo>
                  <a:pt x="1188015" y="835262"/>
                </a:lnTo>
                <a:cubicBezTo>
                  <a:pt x="1163327" y="755886"/>
                  <a:pt x="1104472" y="691562"/>
                  <a:pt x="1028653" y="659493"/>
                </a:cubicBezTo>
                <a:lnTo>
                  <a:pt x="967509" y="647149"/>
                </a:lnTo>
                <a:close/>
                <a:moveTo>
                  <a:pt x="967509" y="1190889"/>
                </a:moveTo>
                <a:lnTo>
                  <a:pt x="1028653" y="1178545"/>
                </a:lnTo>
                <a:cubicBezTo>
                  <a:pt x="1104472" y="1146476"/>
                  <a:pt x="1163327" y="1082153"/>
                  <a:pt x="1188015" y="1002776"/>
                </a:cubicBezTo>
                <a:lnTo>
                  <a:pt x="1193347" y="967510"/>
                </a:lnTo>
                <a:lnTo>
                  <a:pt x="967509" y="967510"/>
                </a:lnTo>
                <a:close/>
                <a:moveTo>
                  <a:pt x="644689" y="870528"/>
                </a:moveTo>
                <a:lnTo>
                  <a:pt x="870527" y="870528"/>
                </a:lnTo>
                <a:lnTo>
                  <a:pt x="870527" y="647149"/>
                </a:lnTo>
                <a:lnTo>
                  <a:pt x="809383" y="659493"/>
                </a:lnTo>
                <a:cubicBezTo>
                  <a:pt x="733564" y="691562"/>
                  <a:pt x="674709" y="755886"/>
                  <a:pt x="650021" y="835262"/>
                </a:cubicBezTo>
                <a:close/>
                <a:moveTo>
                  <a:pt x="644689" y="967510"/>
                </a:moveTo>
                <a:lnTo>
                  <a:pt x="650021" y="1002776"/>
                </a:lnTo>
                <a:cubicBezTo>
                  <a:pt x="674709" y="1082153"/>
                  <a:pt x="733564" y="1146476"/>
                  <a:pt x="809383" y="1178545"/>
                </a:cubicBezTo>
                <a:lnTo>
                  <a:pt x="870527" y="1190889"/>
                </a:lnTo>
                <a:lnTo>
                  <a:pt x="870527" y="967510"/>
                </a:lnTo>
                <a:close/>
                <a:moveTo>
                  <a:pt x="297476" y="967510"/>
                </a:moveTo>
                <a:lnTo>
                  <a:pt x="297476" y="870528"/>
                </a:lnTo>
                <a:lnTo>
                  <a:pt x="544894" y="870528"/>
                </a:lnTo>
                <a:lnTo>
                  <a:pt x="546526" y="852036"/>
                </a:lnTo>
                <a:cubicBezTo>
                  <a:pt x="573711" y="699848"/>
                  <a:pt x="691879" y="579179"/>
                  <a:pt x="842756" y="548305"/>
                </a:cubicBezTo>
                <a:lnTo>
                  <a:pt x="870527" y="545506"/>
                </a:lnTo>
                <a:lnTo>
                  <a:pt x="870527" y="297477"/>
                </a:lnTo>
                <a:lnTo>
                  <a:pt x="967509" y="297477"/>
                </a:lnTo>
                <a:lnTo>
                  <a:pt x="967509" y="545506"/>
                </a:lnTo>
                <a:lnTo>
                  <a:pt x="995280" y="548305"/>
                </a:lnTo>
                <a:cubicBezTo>
                  <a:pt x="1146157" y="579179"/>
                  <a:pt x="1264325" y="699848"/>
                  <a:pt x="1291510" y="852036"/>
                </a:cubicBezTo>
                <a:lnTo>
                  <a:pt x="1293142" y="870528"/>
                </a:lnTo>
                <a:lnTo>
                  <a:pt x="1540560" y="870528"/>
                </a:lnTo>
                <a:lnTo>
                  <a:pt x="1540560" y="967510"/>
                </a:lnTo>
                <a:lnTo>
                  <a:pt x="1293142" y="967510"/>
                </a:lnTo>
                <a:lnTo>
                  <a:pt x="1291510" y="986003"/>
                </a:lnTo>
                <a:cubicBezTo>
                  <a:pt x="1264325" y="1138191"/>
                  <a:pt x="1146157" y="1258859"/>
                  <a:pt x="995280" y="1289733"/>
                </a:cubicBezTo>
                <a:lnTo>
                  <a:pt x="967509" y="1292533"/>
                </a:lnTo>
                <a:lnTo>
                  <a:pt x="967509" y="1540561"/>
                </a:lnTo>
                <a:lnTo>
                  <a:pt x="870527" y="1540561"/>
                </a:lnTo>
                <a:lnTo>
                  <a:pt x="870527" y="1292533"/>
                </a:lnTo>
                <a:lnTo>
                  <a:pt x="842756" y="1289733"/>
                </a:lnTo>
                <a:cubicBezTo>
                  <a:pt x="691879" y="1258859"/>
                  <a:pt x="573711" y="1138191"/>
                  <a:pt x="546526" y="986003"/>
                </a:cubicBezTo>
                <a:lnTo>
                  <a:pt x="544894" y="967510"/>
                </a:lnTo>
                <a:close/>
                <a:moveTo>
                  <a:pt x="0" y="637310"/>
                </a:moveTo>
                <a:lnTo>
                  <a:pt x="0" y="0"/>
                </a:lnTo>
                <a:lnTo>
                  <a:pt x="637308" y="0"/>
                </a:lnTo>
                <a:lnTo>
                  <a:pt x="637308" y="189346"/>
                </a:lnTo>
                <a:lnTo>
                  <a:pt x="189345" y="189346"/>
                </a:lnTo>
                <a:lnTo>
                  <a:pt x="189345" y="637310"/>
                </a:lnTo>
                <a:close/>
                <a:moveTo>
                  <a:pt x="0" y="1838037"/>
                </a:moveTo>
                <a:lnTo>
                  <a:pt x="0" y="1200729"/>
                </a:lnTo>
                <a:lnTo>
                  <a:pt x="189345" y="1200729"/>
                </a:lnTo>
                <a:lnTo>
                  <a:pt x="189345" y="1648692"/>
                </a:lnTo>
                <a:lnTo>
                  <a:pt x="637308" y="1648692"/>
                </a:lnTo>
                <a:lnTo>
                  <a:pt x="637308" y="18380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1" name="그래픽 90" descr="비즈니스 성장 단색으로 채워진">
            <a:extLst>
              <a:ext uri="{FF2B5EF4-FFF2-40B4-BE49-F238E27FC236}">
                <a16:creationId xmlns:a16="http://schemas.microsoft.com/office/drawing/2014/main" id="{FF01271B-1678-309E-9942-1D111E27DD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3895563" y="7300331"/>
            <a:ext cx="795000" cy="79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83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CCC59-EB2F-653C-5902-78089B98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31914D0-7350-2950-F42F-E07B513C0F07}"/>
              </a:ext>
            </a:extLst>
          </p:cNvPr>
          <p:cNvSpPr/>
          <p:nvPr/>
        </p:nvSpPr>
        <p:spPr>
          <a:xfrm>
            <a:off x="5229000" y="1074277"/>
            <a:ext cx="1214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5E62B-2E5F-6EAF-6FF5-BD581FA1B73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 엔지니어링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B31B308-0412-0B71-02E0-DE6F8F319BF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80F01EE8-0A51-7A81-2051-5902869DC841}"/>
              </a:ext>
            </a:extLst>
          </p:cNvPr>
          <p:cNvSpPr txBox="1"/>
          <p:nvPr/>
        </p:nvSpPr>
        <p:spPr>
          <a:xfrm>
            <a:off x="1206628" y="2579642"/>
            <a:ext cx="8567372" cy="5893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역할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한국 소비자 데이터 분석가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&amp;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마케팅 전문가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목표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주어진 입력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·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·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을 종합 분석해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구매행동 예측 결과를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으로 생성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분석 단계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프롬프트 지시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  <a:endParaRPr lang="en-US" altLang="ko-KR" sz="1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695325" lvl="3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핵심 분석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meta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와 가중치 최상위 속성을 기반으로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핵심 동기 정의</a:t>
            </a:r>
          </a:p>
          <a:p>
            <a:pPr marL="695325" lvl="3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–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연결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특징의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긍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/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부정 요인 평가</a:t>
            </a:r>
          </a:p>
          <a:p>
            <a:pPr marL="695325" lvl="3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상황 적용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경쟁 가격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/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맥락을 페르소나 관점에서 해석</a:t>
            </a:r>
          </a:p>
          <a:p>
            <a:pPr marL="695325" lvl="3" indent="-3429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종합 결론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확률과 월별 구매 빈도 최종 예측</a:t>
            </a: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제약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‘---’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이후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만 출력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형식 고정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추가 설명 금지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87B5602-C537-4CDE-47D8-3803610232D7}"/>
              </a:ext>
            </a:extLst>
          </p:cNvPr>
          <p:cNvSpPr txBox="1"/>
          <p:nvPr/>
        </p:nvSpPr>
        <p:spPr>
          <a:xfrm>
            <a:off x="1206628" y="1813500"/>
            <a:ext cx="6902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페르소나 생성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-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질문 프롬프트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(</a:t>
            </a: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싱글턴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)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559196-DA16-C554-4F12-E07D4E2BE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9000" y="2579642"/>
            <a:ext cx="7815112" cy="54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01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98CD6-DA08-966F-B981-8389793BB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652AD67C-C460-382B-D3BB-30440434F5B8}"/>
              </a:ext>
            </a:extLst>
          </p:cNvPr>
          <p:cNvSpPr/>
          <p:nvPr/>
        </p:nvSpPr>
        <p:spPr>
          <a:xfrm>
            <a:off x="5229000" y="1074277"/>
            <a:ext cx="1214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F4FE724-4FDC-4330-465B-048AFD82364A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 엔지니어링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F8CC42B0-297E-F482-2A2F-08C39AFEE261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1DD5C5AE-C16D-CA4E-EA90-529AA7E7766C}"/>
              </a:ext>
            </a:extLst>
          </p:cNvPr>
          <p:cNvSpPr txBox="1"/>
          <p:nvPr/>
        </p:nvSpPr>
        <p:spPr>
          <a:xfrm>
            <a:off x="1206628" y="2350463"/>
            <a:ext cx="6722370" cy="1040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정보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데이터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경쟁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환경로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구성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생성된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으로 월 평균 구매 수량 예측 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인구통계학적 계수 총합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0.3 +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성향 계수 총합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0.7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F0530FB6-42CF-ED81-9B0E-DD3C7519BA9C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생성된 프롬프트 예시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792395D-414C-899B-750F-5E4B9A42B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3" y="5143500"/>
            <a:ext cx="4791744" cy="333421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99A11B1-023E-D225-D318-713ED9AE8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000" y="1813500"/>
            <a:ext cx="3870000" cy="567641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BD4D557-03B1-FEA1-5087-33824357E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764" y="7578025"/>
            <a:ext cx="10755226" cy="8954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B78B8A2-0D02-9B97-DAC7-5FE37EE27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5576" y="8593117"/>
            <a:ext cx="4286848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63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F3882-CB4E-0168-296B-F75AC5FDF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21449DF-3B61-7B96-C1A1-CCF0E6042660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02C0A67-D1C0-30C1-2FE8-C2745ADF4EEA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 생성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D2DD5EF-52C5-229B-FFDB-9D6F1EC3A47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9C57BCD-71C2-0F71-76C1-65027DF1DE85}"/>
              </a:ext>
            </a:extLst>
          </p:cNvPr>
          <p:cNvSpPr txBox="1"/>
          <p:nvPr/>
        </p:nvSpPr>
        <p:spPr>
          <a:xfrm>
            <a:off x="1234766" y="2260260"/>
            <a:ext cx="7397372" cy="1452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900"/>
              </a:lnSpc>
              <a:buFont typeface="+mj-lt"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사용자가 페르소나 조건을 설정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42900" indent="-342900" algn="l">
              <a:lnSpc>
                <a:spcPts val="2900"/>
              </a:lnSpc>
              <a:buFont typeface="+mj-lt"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설정된 페르소나와 제일 유사한 페르소나를 찾고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일치율을 보여줌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42900" indent="-342900" algn="l">
              <a:lnSpc>
                <a:spcPts val="2900"/>
              </a:lnSpc>
              <a:buFont typeface="+mj-lt"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찾은 페르소나를 채팅창으로 연결</a:t>
            </a: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4D05D6-1A56-AF95-8FE1-5374BF236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000" y="4288500"/>
            <a:ext cx="7946506" cy="58645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AAE951-959F-65A0-48C2-31B525E6EF81}"/>
              </a:ext>
            </a:extLst>
          </p:cNvPr>
          <p:cNvSpPr txBox="1"/>
          <p:nvPr/>
        </p:nvSpPr>
        <p:spPr>
          <a:xfrm>
            <a:off x="1194162" y="1628414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페르소나 선택 과정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C8F3741F-1D5B-29C1-1A26-5D7BF31AD3A9}"/>
              </a:ext>
            </a:extLst>
          </p:cNvPr>
          <p:cNvSpPr txBox="1"/>
          <p:nvPr/>
        </p:nvSpPr>
        <p:spPr>
          <a:xfrm>
            <a:off x="8514000" y="2022117"/>
            <a:ext cx="8226990" cy="1824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-279400">
              <a:lnSpc>
                <a:spcPts val="2900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백엔드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세팅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5600" lvl="1" indent="-1778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랜덤을 선택 시 속성에서 랜덤으로 선택되도록 하며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default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값을 랜덤으로 설정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5600" lvl="1" indent="-177800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각 속성에 가중치를 두어 일치하는 페르소나가 없을 경우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낮은 속성부터 랜덤으로 설정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909AC56-46D3-B140-6666-85FB1539B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162" y="4108500"/>
            <a:ext cx="5183188" cy="586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03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4977-EE0E-8F40-03D1-ECCFECC3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6DDCBD-904F-7A2A-1B19-B8F669FA245D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4C8E767-B6B5-61A2-B970-6A076008F950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시뮬레이션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9818E51-5832-920B-DF19-37DB86DFD0D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E26EAD7-E444-C378-737F-6624051D9B92}"/>
              </a:ext>
            </a:extLst>
          </p:cNvPr>
          <p:cNvSpPr txBox="1"/>
          <p:nvPr/>
        </p:nvSpPr>
        <p:spPr>
          <a:xfrm>
            <a:off x="1314000" y="2623500"/>
            <a:ext cx="6722370" cy="178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예측 데이터 추출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생성된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persona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에게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제품의 수요를 질문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질문을 여러 번 반복해서 노이즈 제거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답변으로 받은 데이터들을 취합 후 패턴 분석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E040044-15CA-7502-D268-7E57248D2F8D}"/>
              </a:ext>
            </a:extLst>
          </p:cNvPr>
          <p:cNvSpPr txBox="1"/>
          <p:nvPr/>
        </p:nvSpPr>
        <p:spPr>
          <a:xfrm>
            <a:off x="1206628" y="1813500"/>
            <a:ext cx="5012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최종 예측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(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동원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x KAIST competition)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27D754-82D6-235C-4F5D-843EE0E0E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703" y="4846505"/>
            <a:ext cx="5510654" cy="27714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9DCC36F-017E-9EE5-BA2D-B9C36E9D0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103" y="7753500"/>
            <a:ext cx="5553790" cy="220208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645B79F-0276-0519-E9DA-62AEC6DEF2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342"/>
          <a:stretch>
            <a:fillRect/>
          </a:stretch>
        </p:blipFill>
        <p:spPr>
          <a:xfrm>
            <a:off x="13383357" y="2831687"/>
            <a:ext cx="2146056" cy="3056220"/>
          </a:xfrm>
          <a:prstGeom prst="rect">
            <a:avLst/>
          </a:prstGeom>
        </p:spPr>
      </p:pic>
      <p:pic>
        <p:nvPicPr>
          <p:cNvPr id="5" name="Picture 6" descr="ChatGPT for biomedical simulations">
            <a:extLst>
              <a:ext uri="{FF2B5EF4-FFF2-40B4-BE49-F238E27FC236}">
                <a16:creationId xmlns:a16="http://schemas.microsoft.com/office/drawing/2014/main" id="{3C70EE64-EC7D-EC49-EB73-3018FF005C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9" t="18002" r="49539"/>
          <a:stretch>
            <a:fillRect/>
          </a:stretch>
        </p:blipFill>
        <p:spPr bwMode="auto">
          <a:xfrm>
            <a:off x="9591721" y="2620170"/>
            <a:ext cx="1971979" cy="2919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113485-0DC6-2CF6-CB7A-1012896FDD4D}"/>
              </a:ext>
            </a:extLst>
          </p:cNvPr>
          <p:cNvSpPr txBox="1"/>
          <p:nvPr/>
        </p:nvSpPr>
        <p:spPr>
          <a:xfrm>
            <a:off x="10180004" y="2191765"/>
            <a:ext cx="795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+mn-ea"/>
              </a:rPr>
              <a:t>LLM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9B5ACA-C5BB-356D-7108-157A97D45A98}"/>
              </a:ext>
            </a:extLst>
          </p:cNvPr>
          <p:cNvSpPr txBox="1"/>
          <p:nvPr/>
        </p:nvSpPr>
        <p:spPr>
          <a:xfrm>
            <a:off x="13748499" y="219660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+mn-ea"/>
              </a:rPr>
              <a:t>페르소나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253307B6-5B02-BE79-122F-374A6FB5232A}"/>
              </a:ext>
            </a:extLst>
          </p:cNvPr>
          <p:cNvCxnSpPr/>
          <p:nvPr/>
        </p:nvCxnSpPr>
        <p:spPr>
          <a:xfrm>
            <a:off x="11889000" y="3812007"/>
            <a:ext cx="1080000" cy="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47B7AC2-C576-F32A-D4CB-75ADDB3CC8BE}"/>
              </a:ext>
            </a:extLst>
          </p:cNvPr>
          <p:cNvCxnSpPr>
            <a:cxnSpLocks/>
          </p:cNvCxnSpPr>
          <p:nvPr/>
        </p:nvCxnSpPr>
        <p:spPr>
          <a:xfrm flipH="1">
            <a:off x="11843999" y="4532007"/>
            <a:ext cx="1080000" cy="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4D8034B-CEB0-0CF7-0D82-A1D37EE3EE44}"/>
              </a:ext>
            </a:extLst>
          </p:cNvPr>
          <p:cNvSpPr txBox="1"/>
          <p:nvPr/>
        </p:nvSpPr>
        <p:spPr>
          <a:xfrm>
            <a:off x="12060834" y="338324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질문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3A10CB-9666-FB58-990B-CB9C9B62D6E8}"/>
              </a:ext>
            </a:extLst>
          </p:cNvPr>
          <p:cNvSpPr txBox="1"/>
          <p:nvPr/>
        </p:nvSpPr>
        <p:spPr>
          <a:xfrm>
            <a:off x="12060834" y="46736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응답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94ADAFA-6750-30F8-CAF0-6318AA031036}"/>
              </a:ext>
            </a:extLst>
          </p:cNvPr>
          <p:cNvCxnSpPr>
            <a:cxnSpLocks/>
          </p:cNvCxnSpPr>
          <p:nvPr/>
        </p:nvCxnSpPr>
        <p:spPr>
          <a:xfrm>
            <a:off x="12383999" y="5773500"/>
            <a:ext cx="0" cy="85500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977398E-B8EC-01A5-1795-7842EC47175E}"/>
              </a:ext>
            </a:extLst>
          </p:cNvPr>
          <p:cNvSpPr txBox="1"/>
          <p:nvPr/>
        </p:nvSpPr>
        <p:spPr>
          <a:xfrm>
            <a:off x="10719000" y="5877690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데이터프레임</a:t>
            </a:r>
            <a:endParaRPr lang="en-US" altLang="ko-KR" dirty="0"/>
          </a:p>
          <a:p>
            <a:pPr algn="r"/>
            <a:r>
              <a:rPr lang="ko-KR" altLang="en-US" dirty="0"/>
              <a:t>저장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045FA8E5-9358-A5B5-0B9A-3598E16FC363}"/>
              </a:ext>
            </a:extLst>
          </p:cNvPr>
          <p:cNvSpPr/>
          <p:nvPr/>
        </p:nvSpPr>
        <p:spPr>
          <a:xfrm>
            <a:off x="11649057" y="2985728"/>
            <a:ext cx="1484994" cy="2562772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EAAE29-D5C0-A019-873B-E3A7C62D1BFA}"/>
              </a:ext>
            </a:extLst>
          </p:cNvPr>
          <p:cNvSpPr txBox="1"/>
          <p:nvPr/>
        </p:nvSpPr>
        <p:spPr>
          <a:xfrm>
            <a:off x="12060834" y="26023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반복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3B31DD3E-10A4-8624-418F-56B216B4B7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2529" y="6906672"/>
            <a:ext cx="3772942" cy="320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39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FE3D-1E92-BCAF-F073-C72127BA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CBA53F6-E14C-E64D-5575-D97128C693C7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B4EDB50-7D70-A634-051D-87950CD941D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시뮬레이션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A41C8904-DC8F-3672-E694-21D29A36DD3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B9769F5-FAB3-644D-1032-79E95E730C8A}"/>
              </a:ext>
            </a:extLst>
          </p:cNvPr>
          <p:cNvSpPr txBox="1"/>
          <p:nvPr/>
        </p:nvSpPr>
        <p:spPr>
          <a:xfrm>
            <a:off x="1206628" y="2427394"/>
            <a:ext cx="10452024" cy="1450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00"/>
              </a:lnSpc>
            </a:pPr>
            <a:r>
              <a:rPr lang="en-US" altLang="ko-KR" sz="2000" b="1" dirty="0">
                <a:latin typeface="+mn-ea"/>
              </a:rPr>
              <a:t>&lt;</a:t>
            </a:r>
            <a:r>
              <a:rPr lang="ko-KR" altLang="en-US" sz="2000" b="1" dirty="0">
                <a:latin typeface="+mn-ea"/>
              </a:rPr>
              <a:t>수요 예측 데이터 가공</a:t>
            </a:r>
            <a:r>
              <a:rPr lang="en-US" altLang="ko-KR" sz="2000" b="1" dirty="0">
                <a:latin typeface="+mn-ea"/>
              </a:rPr>
              <a:t>&gt;</a:t>
            </a:r>
          </a:p>
          <a:p>
            <a:pPr marL="177800" lvl="1">
              <a:lnSpc>
                <a:spcPts val="2900"/>
              </a:lnSpc>
            </a:pPr>
            <a:r>
              <a:rPr lang="ko-KR" altLang="en-US" sz="2000" dirty="0">
                <a:latin typeface="+mn-ea"/>
              </a:rPr>
              <a:t>페르소나 </a:t>
            </a:r>
            <a:r>
              <a:rPr lang="en-US" altLang="ko-KR" sz="2000" dirty="0">
                <a:latin typeface="+mn-ea"/>
              </a:rPr>
              <a:t>Q&amp;A </a:t>
            </a:r>
            <a:r>
              <a:rPr lang="ko-KR" altLang="en-US" sz="2000" dirty="0">
                <a:latin typeface="+mn-ea"/>
              </a:rPr>
              <a:t>결과에서 나온 </a:t>
            </a:r>
            <a:r>
              <a:rPr lang="en-US" altLang="ko-KR" sz="2000" dirty="0">
                <a:latin typeface="+mn-ea"/>
              </a:rPr>
              <a:t>SKU</a:t>
            </a:r>
            <a:r>
              <a:rPr lang="ko-KR" altLang="en-US" sz="2000" dirty="0">
                <a:latin typeface="+mn-ea"/>
              </a:rPr>
              <a:t>별 “월 평균 베이스 수요”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에</a:t>
            </a:r>
            <a:r>
              <a:rPr lang="en-US" altLang="ko-KR" sz="2000" dirty="0">
                <a:latin typeface="+mn-ea"/>
              </a:rPr>
              <a:t> </a:t>
            </a:r>
            <a:br>
              <a:rPr lang="en-US" altLang="ko-KR" sz="2000" dirty="0">
                <a:latin typeface="+mn-ea"/>
              </a:rPr>
            </a:br>
            <a:r>
              <a:rPr lang="ko-KR" altLang="en-US" sz="2000" dirty="0">
                <a:latin typeface="+mn-ea"/>
              </a:rPr>
              <a:t>월별 계수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계절성</a:t>
            </a:r>
            <a:r>
              <a:rPr lang="en-US" altLang="ko-KR" sz="2000" dirty="0">
                <a:latin typeface="+mn-ea"/>
              </a:rPr>
              <a:t>) × </a:t>
            </a:r>
            <a:r>
              <a:rPr lang="ko-KR" altLang="en-US" sz="2000" dirty="0">
                <a:latin typeface="+mn-ea"/>
              </a:rPr>
              <a:t>광고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프로모션 계수 </a:t>
            </a:r>
            <a:r>
              <a:rPr lang="en-US" altLang="ko-KR" sz="2000" dirty="0">
                <a:latin typeface="+mn-ea"/>
              </a:rPr>
              <a:t>× </a:t>
            </a:r>
            <a:r>
              <a:rPr lang="ko-KR" altLang="en-US" sz="2000" dirty="0">
                <a:latin typeface="+mn-ea"/>
              </a:rPr>
              <a:t>명절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추석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설</a:t>
            </a:r>
            <a:r>
              <a:rPr lang="en-US" altLang="ko-KR" sz="2000" dirty="0">
                <a:latin typeface="+mn-ea"/>
              </a:rPr>
              <a:t>) × </a:t>
            </a:r>
            <a:r>
              <a:rPr lang="ko-KR" altLang="en-US" sz="2000" dirty="0">
                <a:latin typeface="+mn-ea"/>
              </a:rPr>
              <a:t>특수성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카테고리 이벤트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등을 적용해 </a:t>
            </a:r>
            <a:r>
              <a:rPr lang="en-US" altLang="ko-KR" sz="2000" dirty="0">
                <a:latin typeface="+mn-ea"/>
              </a:rPr>
              <a:t>12</a:t>
            </a:r>
            <a:r>
              <a:rPr lang="ko-KR" altLang="en-US" sz="2000" dirty="0">
                <a:latin typeface="+mn-ea"/>
              </a:rPr>
              <a:t>개월 시리즈를 생성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이후 제품별 출시일을 고려해서 최종판매량 예측</a:t>
            </a:r>
            <a:endParaRPr lang="en-US" altLang="ko-KR" sz="2000" dirty="0">
              <a:latin typeface="+mn-ea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8A9483C-08FC-2EAF-521C-1DE276046E81}"/>
              </a:ext>
            </a:extLst>
          </p:cNvPr>
          <p:cNvSpPr txBox="1"/>
          <p:nvPr/>
        </p:nvSpPr>
        <p:spPr>
          <a:xfrm>
            <a:off x="1206628" y="1813500"/>
            <a:ext cx="5012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최종 예측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(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동원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x KAIST competition)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0E6EF2-35C1-D740-A421-E7B31DDFE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22" y="5935538"/>
            <a:ext cx="3772942" cy="320656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BB683BC-CD40-8DA1-CF6C-DA9E6D31F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000" y="5935538"/>
            <a:ext cx="10452024" cy="320656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072D3AC-5D15-F052-4C38-DFF870749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735" y="4182658"/>
            <a:ext cx="1681505" cy="36217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4EF2EFF-5F83-515D-B7F8-876F34938A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735" y="4592529"/>
            <a:ext cx="15689798" cy="1001870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AE101607-0D81-6634-3A80-0333C0451A93}"/>
              </a:ext>
            </a:extLst>
          </p:cNvPr>
          <p:cNvSpPr/>
          <p:nvPr/>
        </p:nvSpPr>
        <p:spPr>
          <a:xfrm>
            <a:off x="5756203" y="6038781"/>
            <a:ext cx="821557" cy="3000078"/>
          </a:xfrm>
          <a:prstGeom prst="rightArrow">
            <a:avLst>
              <a:gd name="adj1" fmla="val 100000"/>
              <a:gd name="adj2" fmla="val 5000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40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2079-8559-AEA7-E5CE-760DD7C9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B924113-2A89-D6F7-0F48-D930A85E5F9C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22715F4-F03D-F490-483C-272896DC66C1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챗봇</a:t>
            </a: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 서비스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1B6C357A-51FE-9C34-82C4-1D6F480BBC8C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31CF982-AC86-0EB7-AD08-A5455408C0E3}"/>
              </a:ext>
            </a:extLst>
          </p:cNvPr>
          <p:cNvSpPr txBox="1"/>
          <p:nvPr/>
        </p:nvSpPr>
        <p:spPr>
          <a:xfrm>
            <a:off x="1190903" y="2350262"/>
            <a:ext cx="6587373" cy="7516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6700" indent="-266700">
              <a:lnSpc>
                <a:spcPts val="2900"/>
              </a:lnSpc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lang="ko-KR" altLang="en-US" sz="2000" b="1" dirty="0">
                <a:latin typeface="+mn-ea"/>
              </a:rPr>
              <a:t>목적</a:t>
            </a:r>
            <a:endParaRPr lang="en-US" altLang="ko-KR" sz="2000" b="1" dirty="0">
              <a:latin typeface="+mn-ea"/>
            </a:endParaRPr>
          </a:p>
          <a:p>
            <a:pPr marL="177800" lvl="1">
              <a:lnSpc>
                <a:spcPts val="2900"/>
              </a:lnSpc>
            </a:pPr>
            <a:r>
              <a:rPr lang="ko-KR" altLang="en-US" sz="2000" dirty="0">
                <a:latin typeface="+mn-ea"/>
              </a:rPr>
              <a:t>식품 맥락에서만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현실적인 가격</a:t>
            </a:r>
            <a:r>
              <a:rPr lang="en-US" altLang="ko-KR" sz="2000" b="1" dirty="0">
                <a:latin typeface="+mn-ea"/>
              </a:rPr>
              <a:t>·</a:t>
            </a:r>
            <a:r>
              <a:rPr lang="ko-KR" altLang="en-US" sz="2000" b="1" dirty="0">
                <a:latin typeface="+mn-ea"/>
              </a:rPr>
              <a:t>수량</a:t>
            </a:r>
            <a:r>
              <a:rPr lang="en-US" altLang="ko-KR" sz="2000" b="1" dirty="0">
                <a:latin typeface="+mn-ea"/>
              </a:rPr>
              <a:t>·</a:t>
            </a:r>
            <a:r>
              <a:rPr lang="ko-KR" altLang="en-US" sz="2000" b="1" dirty="0">
                <a:latin typeface="+mn-ea"/>
              </a:rPr>
              <a:t>톤</a:t>
            </a:r>
            <a:r>
              <a:rPr lang="ko-KR" altLang="en-US" sz="2000" dirty="0">
                <a:latin typeface="+mn-ea"/>
              </a:rPr>
              <a:t>으로 일관된 구매 조언 제공</a:t>
            </a:r>
            <a:endParaRPr lang="en-US" altLang="ko-KR" sz="2000" dirty="0">
              <a:latin typeface="+mn-ea"/>
            </a:endParaRPr>
          </a:p>
          <a:p>
            <a:pPr marL="266700" indent="-2667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파이프라인</a:t>
            </a:r>
            <a:r>
              <a:rPr lang="en-US" altLang="ko-KR" sz="2000" b="1" dirty="0">
                <a:latin typeface="+mn-ea"/>
              </a:rPr>
              <a:t>(5</a:t>
            </a:r>
            <a:r>
              <a:rPr lang="ko-KR" altLang="en-US" sz="2000" b="1" dirty="0">
                <a:latin typeface="+mn-ea"/>
              </a:rPr>
              <a:t>단계</a:t>
            </a:r>
            <a:r>
              <a:rPr lang="en-US" altLang="ko-KR" sz="2000" b="1" dirty="0">
                <a:latin typeface="+mn-ea"/>
              </a:rPr>
              <a:t>)</a:t>
            </a:r>
            <a:endParaRPr lang="ko-KR" altLang="en-US" sz="2000" dirty="0">
              <a:latin typeface="+mn-ea"/>
            </a:endParaRPr>
          </a:p>
          <a:p>
            <a:pPr marL="533400" lvl="1" indent="-355600">
              <a:lnSpc>
                <a:spcPts val="2900"/>
              </a:lnSpc>
              <a:buFont typeface="+mj-ea"/>
              <a:buAutoNum type="circleNumDbPlain"/>
            </a:pPr>
            <a:r>
              <a:rPr lang="ko-KR" altLang="en-US" sz="2000" b="1" dirty="0" err="1">
                <a:latin typeface="+mn-ea"/>
              </a:rPr>
              <a:t>스코프</a:t>
            </a:r>
            <a:r>
              <a:rPr lang="ko-KR" altLang="en-US" sz="2000" b="1" dirty="0">
                <a:latin typeface="+mn-ea"/>
              </a:rPr>
              <a:t> 게이트</a:t>
            </a:r>
            <a:br>
              <a:rPr lang="en-US" altLang="ko-KR" sz="2000" dirty="0">
                <a:latin typeface="+mn-ea"/>
              </a:rPr>
            </a:br>
            <a:r>
              <a:rPr lang="ko-KR" altLang="en-US" sz="2000" dirty="0">
                <a:latin typeface="+mn-ea"/>
              </a:rPr>
              <a:t>키워드</a:t>
            </a:r>
            <a:r>
              <a:rPr lang="en-US" altLang="ko-KR" sz="2000" dirty="0">
                <a:latin typeface="+mn-ea"/>
              </a:rPr>
              <a:t>+</a:t>
            </a:r>
            <a:r>
              <a:rPr lang="ko-KR" altLang="en-US" sz="2000" dirty="0">
                <a:latin typeface="+mn-ea"/>
              </a:rPr>
              <a:t>소형 </a:t>
            </a:r>
            <a:r>
              <a:rPr lang="en-US" altLang="ko-KR" sz="2000" dirty="0">
                <a:latin typeface="+mn-ea"/>
              </a:rPr>
              <a:t>LLM</a:t>
            </a:r>
            <a:r>
              <a:rPr lang="ko-KR" altLang="en-US" sz="2000" dirty="0">
                <a:latin typeface="+mn-ea"/>
              </a:rPr>
              <a:t>로 </a:t>
            </a:r>
            <a:r>
              <a:rPr lang="en-US" altLang="ko-KR" sz="2000" dirty="0">
                <a:latin typeface="+mn-ea"/>
              </a:rPr>
              <a:t>IN/OUT </a:t>
            </a:r>
            <a:r>
              <a:rPr lang="ko-KR" altLang="en-US" sz="2000" dirty="0">
                <a:latin typeface="+mn-ea"/>
              </a:rPr>
              <a:t>판별</a:t>
            </a:r>
          </a:p>
          <a:p>
            <a:pPr marL="533400" lvl="1" indent="-355600">
              <a:lnSpc>
                <a:spcPts val="2900"/>
              </a:lnSpc>
              <a:buFont typeface="+mj-ea"/>
              <a:buAutoNum type="circleNumDbPlain"/>
            </a:pPr>
            <a:r>
              <a:rPr lang="ko-KR" altLang="en-US" sz="2000" b="1" dirty="0">
                <a:latin typeface="+mn-ea"/>
              </a:rPr>
              <a:t>히스토리 정제</a:t>
            </a:r>
            <a:br>
              <a:rPr lang="en-US" altLang="ko-KR" sz="2000" dirty="0">
                <a:latin typeface="+mn-ea"/>
              </a:rPr>
            </a:br>
            <a:r>
              <a:rPr lang="ko-KR" altLang="en-US" sz="2000" dirty="0" err="1">
                <a:latin typeface="+mn-ea"/>
              </a:rPr>
              <a:t>거절문</a:t>
            </a:r>
            <a:r>
              <a:rPr lang="en-US" altLang="ko-KR" sz="2000" dirty="0">
                <a:latin typeface="+mn-ea"/>
              </a:rPr>
              <a:t>·</a:t>
            </a:r>
            <a:r>
              <a:rPr lang="ko-KR" altLang="en-US" sz="2000" dirty="0" err="1">
                <a:latin typeface="+mn-ea"/>
              </a:rPr>
              <a:t>비맥락</a:t>
            </a:r>
            <a:r>
              <a:rPr lang="ko-KR" altLang="en-US" sz="2000" dirty="0">
                <a:latin typeface="+mn-ea"/>
              </a:rPr>
              <a:t> 발화 제거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거절 연쇄 차단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533400" lvl="1" indent="-355600">
              <a:lnSpc>
                <a:spcPts val="2900"/>
              </a:lnSpc>
              <a:buFont typeface="+mj-ea"/>
              <a:buAutoNum type="circleNumDbPlain"/>
            </a:pPr>
            <a:r>
              <a:rPr lang="ko-KR" altLang="en-US" sz="2000" b="1" dirty="0">
                <a:latin typeface="+mn-ea"/>
              </a:rPr>
              <a:t>가격 가드</a:t>
            </a:r>
            <a:br>
              <a:rPr lang="en-US" altLang="ko-KR" sz="2000" dirty="0">
                <a:latin typeface="+mn-ea"/>
              </a:rPr>
            </a:br>
            <a:r>
              <a:rPr lang="ko-KR" altLang="en-US" sz="2000" dirty="0">
                <a:latin typeface="+mn-ea"/>
              </a:rPr>
              <a:t>카테고리 상한 초과 시 </a:t>
            </a:r>
            <a:r>
              <a:rPr lang="en-US" altLang="ko-KR" sz="2000" b="1" dirty="0">
                <a:latin typeface="+mn-ea"/>
              </a:rPr>
              <a:t>0</a:t>
            </a:r>
            <a:r>
              <a:rPr lang="ko-KR" altLang="en-US" sz="2000" b="1" dirty="0">
                <a:latin typeface="+mn-ea"/>
              </a:rPr>
              <a:t>개 </a:t>
            </a:r>
            <a:r>
              <a:rPr lang="en-US" altLang="ko-KR" sz="2000" b="1" dirty="0">
                <a:latin typeface="+mn-ea"/>
              </a:rPr>
              <a:t>+ </a:t>
            </a:r>
            <a:r>
              <a:rPr lang="ko-KR" altLang="en-US" sz="2000" b="1" dirty="0">
                <a:latin typeface="+mn-ea"/>
              </a:rPr>
              <a:t>가격전략</a:t>
            </a:r>
            <a:endParaRPr lang="ko-KR" altLang="en-US" sz="2000" dirty="0">
              <a:latin typeface="+mn-ea"/>
            </a:endParaRPr>
          </a:p>
          <a:p>
            <a:pPr marL="533400" lvl="1" indent="-355600">
              <a:lnSpc>
                <a:spcPts val="2900"/>
              </a:lnSpc>
              <a:buFont typeface="+mj-ea"/>
              <a:buAutoNum type="circleNumDbPlain"/>
            </a:pPr>
            <a:r>
              <a:rPr lang="ko-KR" altLang="en-US" sz="2000" b="1" dirty="0">
                <a:latin typeface="+mn-ea"/>
              </a:rPr>
              <a:t>수량 가드</a:t>
            </a:r>
            <a:br>
              <a:rPr lang="en-US" altLang="ko-KR" sz="2000" dirty="0">
                <a:latin typeface="+mn-ea"/>
              </a:rPr>
            </a:br>
            <a:r>
              <a:rPr lang="ko-KR" altLang="en-US" sz="2000" dirty="0">
                <a:latin typeface="+mn-ea"/>
              </a:rPr>
              <a:t>가구규모</a:t>
            </a:r>
            <a:r>
              <a:rPr lang="en-US" altLang="ko-KR" sz="2000" dirty="0">
                <a:latin typeface="+mn-ea"/>
              </a:rPr>
              <a:t>×</a:t>
            </a:r>
            <a:r>
              <a:rPr lang="ko-KR" altLang="en-US" sz="2000" dirty="0">
                <a:latin typeface="+mn-ea"/>
              </a:rPr>
              <a:t>카테고리 월 범위로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차 보정</a:t>
            </a:r>
          </a:p>
          <a:p>
            <a:pPr marL="533400" lvl="1" indent="-355600">
              <a:lnSpc>
                <a:spcPts val="2900"/>
              </a:lnSpc>
              <a:buFont typeface="+mj-ea"/>
              <a:buAutoNum type="circleNumDbPlain"/>
            </a:pPr>
            <a:r>
              <a:rPr lang="ko-KR" altLang="en-US" sz="2000" b="1" dirty="0">
                <a:latin typeface="+mn-ea"/>
              </a:rPr>
              <a:t>시스템 프롬프트</a:t>
            </a:r>
            <a:r>
              <a:rPr lang="en-US" altLang="ko-KR" sz="2000" b="1" dirty="0">
                <a:latin typeface="+mn-ea"/>
              </a:rPr>
              <a:t>+LLM</a:t>
            </a:r>
            <a:br>
              <a:rPr lang="en-US" altLang="ko-KR" sz="2000" dirty="0">
                <a:latin typeface="+mn-ea"/>
              </a:rPr>
            </a:br>
            <a:r>
              <a:rPr lang="ko-KR" altLang="en-US" sz="2000" dirty="0">
                <a:latin typeface="+mn-ea"/>
              </a:rPr>
              <a:t>페르소나 톤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저온도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스키마 준수</a:t>
            </a:r>
            <a:endParaRPr lang="ko-KR" altLang="en-US" sz="1400" dirty="0">
              <a:latin typeface="+mn-ea"/>
            </a:endParaRPr>
          </a:p>
          <a:p>
            <a:pPr marL="266700" indent="-2667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+mn-ea"/>
              </a:rPr>
              <a:t>효과 </a:t>
            </a:r>
            <a:endParaRPr lang="ko-KR" altLang="en-US" sz="2000" dirty="0">
              <a:latin typeface="+mn-ea"/>
            </a:endParaRPr>
          </a:p>
          <a:p>
            <a:pPr marL="177800" lvl="1">
              <a:lnSpc>
                <a:spcPts val="2900"/>
              </a:lnSpc>
            </a:pPr>
            <a:r>
              <a:rPr lang="ko-KR" altLang="en-US" sz="2000" dirty="0">
                <a:latin typeface="+mn-ea"/>
              </a:rPr>
              <a:t>정확도↑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비현실 응답 차단</a:t>
            </a:r>
            <a:r>
              <a:rPr lang="en-US" altLang="ko-KR" sz="2000" dirty="0">
                <a:latin typeface="+mn-ea"/>
              </a:rPr>
              <a:t>), </a:t>
            </a:r>
            <a:r>
              <a:rPr lang="ko-KR" altLang="en-US" sz="2000" dirty="0">
                <a:latin typeface="+mn-ea"/>
              </a:rPr>
              <a:t>일관성↑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고정 포맷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톤</a:t>
            </a:r>
            <a:r>
              <a:rPr lang="en-US" altLang="ko-KR" sz="2000" dirty="0">
                <a:latin typeface="+mn-ea"/>
              </a:rPr>
              <a:t>),   </a:t>
            </a:r>
            <a:r>
              <a:rPr lang="ko-KR" altLang="en-US" sz="2000" dirty="0">
                <a:latin typeface="+mn-ea"/>
              </a:rPr>
              <a:t>안정성↑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범위 안내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lvl="1">
              <a:lnSpc>
                <a:spcPts val="2900"/>
              </a:lnSpc>
            </a:pPr>
            <a:r>
              <a:rPr lang="en-US" altLang="ko-KR" sz="2000" dirty="0">
                <a:latin typeface="+mn-ea"/>
              </a:rPr>
              <a:t>(ex) </a:t>
            </a:r>
            <a:r>
              <a:rPr lang="ko-KR" altLang="en-US" sz="2000" dirty="0">
                <a:latin typeface="+mn-ea"/>
              </a:rPr>
              <a:t>“</a:t>
            </a:r>
            <a:r>
              <a:rPr lang="en-US" altLang="ko-KR" sz="2000" dirty="0">
                <a:latin typeface="+mn-ea"/>
              </a:rPr>
              <a:t>500,000</a:t>
            </a:r>
            <a:r>
              <a:rPr lang="ko-KR" altLang="en-US" sz="2000" dirty="0">
                <a:latin typeface="+mn-ea"/>
              </a:rPr>
              <a:t>원 우유</a:t>
            </a:r>
            <a:r>
              <a:rPr lang="en-US" altLang="ko-KR" sz="2000" dirty="0">
                <a:latin typeface="+mn-ea"/>
              </a:rPr>
              <a:t>?”</a:t>
            </a:r>
            <a:br>
              <a:rPr lang="en-US" altLang="ko-KR" sz="2000" dirty="0">
                <a:latin typeface="+mn-ea"/>
              </a:rPr>
            </a:br>
            <a:r>
              <a:rPr lang="en-US" altLang="ko-KR" sz="2000" dirty="0">
                <a:latin typeface="+mn-ea"/>
              </a:rPr>
              <a:t> ⇒ </a:t>
            </a:r>
            <a:r>
              <a:rPr lang="ko-KR" altLang="en-US" sz="2000" b="1" dirty="0">
                <a:latin typeface="+mn-ea"/>
              </a:rPr>
              <a:t>가격 가드 발동 → </a:t>
            </a:r>
            <a:r>
              <a:rPr lang="en-US" altLang="ko-KR" sz="2000" b="1" dirty="0">
                <a:latin typeface="+mn-ea"/>
              </a:rPr>
              <a:t>0</a:t>
            </a:r>
            <a:r>
              <a:rPr lang="ko-KR" altLang="en-US" sz="2000" b="1" dirty="0">
                <a:latin typeface="+mn-ea"/>
              </a:rPr>
              <a:t>개 </a:t>
            </a:r>
            <a:r>
              <a:rPr lang="en-US" altLang="ko-KR" sz="2000" b="1" dirty="0">
                <a:latin typeface="+mn-ea"/>
              </a:rPr>
              <a:t>+ </a:t>
            </a:r>
            <a:r>
              <a:rPr lang="ko-KR" altLang="en-US" sz="2000" b="1" dirty="0">
                <a:latin typeface="+mn-ea"/>
              </a:rPr>
              <a:t>대안 제시</a:t>
            </a:r>
            <a:endParaRPr lang="ko-KR" altLang="en-US" sz="2000" dirty="0">
              <a:latin typeface="+mn-ea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64301B1-6DB4-0B7F-3117-0E2ED305156A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챗봇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세부 설계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0C36A3-4047-EA38-AA07-7FC75D90B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328" y="2800143"/>
            <a:ext cx="5148000" cy="23103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344763-0DFF-E863-0FA3-664A9DA53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328" y="5513933"/>
            <a:ext cx="5148000" cy="2788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B1513F-EBFD-FB63-F181-C46F98035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4000" y="2350463"/>
            <a:ext cx="5113788" cy="441947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12E33E7-09C6-87F9-DF73-BB8269A43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5744" y="6769936"/>
            <a:ext cx="5113788" cy="20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74C2-5D3B-FFBA-8098-04BF34E5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AC374AFA-DEEE-A58F-E544-B1C1FA22E72A}"/>
              </a:ext>
            </a:extLst>
          </p:cNvPr>
          <p:cNvSpPr/>
          <p:nvPr/>
        </p:nvSpPr>
        <p:spPr>
          <a:xfrm>
            <a:off x="4104000" y="1074277"/>
            <a:ext cx="1326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BC62329-88C3-BDC0-EEE2-82D50670277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5297A0E-1B9B-5F00-B733-8C7B91DC1FF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7515A7F-CDE3-76A7-848D-A248D822B9F2}"/>
              </a:ext>
            </a:extLst>
          </p:cNvPr>
          <p:cNvSpPr txBox="1"/>
          <p:nvPr/>
        </p:nvSpPr>
        <p:spPr>
          <a:xfrm>
            <a:off x="1206628" y="2350463"/>
            <a:ext cx="7531184" cy="1037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판매량 예측에 사용한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모델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4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GPT-4o-mini, EXAONE 3.5 7.8B, GPT-3.5-turbo, Qwen3 8B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토큰 가격이나 정확도를 검증해서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GPT-4o-mini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모델 최종 사용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4820A69-870E-2667-A227-9A25DC18D490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모델 별 교차 검증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F433F0-1788-0204-9D71-5173010EB7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0" y="4907933"/>
            <a:ext cx="8039999" cy="4824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88B78D-A0E2-B462-AB96-7C12ACB29B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7813" y="4907933"/>
            <a:ext cx="8039999" cy="482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883D7F-85C3-3205-91D5-C485EEEFAED4}"/>
              </a:ext>
            </a:extLst>
          </p:cNvPr>
          <p:cNvSpPr txBox="1"/>
          <p:nvPr/>
        </p:nvSpPr>
        <p:spPr>
          <a:xfrm>
            <a:off x="3065277" y="4237335"/>
            <a:ext cx="3468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실제 모델 벤치마크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0B78-98B4-1763-77C6-92326A2DFB9F}"/>
              </a:ext>
            </a:extLst>
          </p:cNvPr>
          <p:cNvSpPr txBox="1"/>
          <p:nvPr/>
        </p:nvSpPr>
        <p:spPr>
          <a:xfrm>
            <a:off x="10822137" y="4223014"/>
            <a:ext cx="4683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페르소나 응답 </a:t>
            </a:r>
            <a:r>
              <a:rPr lang="en-US" altLang="ko-KR" sz="2000" b="1" dirty="0"/>
              <a:t>– </a:t>
            </a:r>
            <a:r>
              <a:rPr lang="ko-KR" altLang="en-US" sz="2000" b="1" dirty="0"/>
              <a:t>판매예측 결과 정확도</a:t>
            </a:r>
          </a:p>
        </p:txBody>
      </p:sp>
    </p:spTree>
    <p:extLst>
      <p:ext uri="{BB962C8B-B14F-4D97-AF65-F5344CB8AC3E}">
        <p14:creationId xmlns:p14="http://schemas.microsoft.com/office/powerpoint/2010/main" val="2466172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74C2-5D3B-FFBA-8098-04BF34E5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AC374AFA-DEEE-A58F-E544-B1C1FA22E72A}"/>
              </a:ext>
            </a:extLst>
          </p:cNvPr>
          <p:cNvSpPr/>
          <p:nvPr/>
        </p:nvSpPr>
        <p:spPr>
          <a:xfrm>
            <a:off x="4104000" y="1074277"/>
            <a:ext cx="1326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BC62329-88C3-BDC0-EEE2-82D50670277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5297A0E-1B9B-5F00-B733-8C7B91DC1FF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7515A7F-CDE3-76A7-848D-A248D822B9F2}"/>
              </a:ext>
            </a:extLst>
          </p:cNvPr>
          <p:cNvSpPr txBox="1"/>
          <p:nvPr/>
        </p:nvSpPr>
        <p:spPr>
          <a:xfrm>
            <a:off x="1215852" y="2350462"/>
            <a:ext cx="6677372" cy="325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평가 산식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SMAPE</a:t>
            </a:r>
            <a:r>
              <a:rPr lang="en-US" altLang="ko-KR" sz="16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en-US" altLang="ko-KR" sz="1600" dirty="0">
                <a:latin typeface="+mn-ea"/>
              </a:rPr>
              <a:t>Symmetric Mean Absolute Percentage Error)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4820A69-870E-2667-A227-9A25DC18D490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다콘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리더보드 점수 검증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977614F-5A9E-505E-3A76-4DF66B2BE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624" y="2185003"/>
            <a:ext cx="8215754" cy="33040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362EC00B-6967-A60C-F9F6-18750858EECF}"/>
              </a:ext>
            </a:extLst>
          </p:cNvPr>
          <p:cNvSpPr txBox="1"/>
          <p:nvPr/>
        </p:nvSpPr>
        <p:spPr>
          <a:xfrm>
            <a:off x="1206627" y="3924915"/>
            <a:ext cx="7757373" cy="13991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-274638">
              <a:lnSpc>
                <a:spcPts val="2833"/>
              </a:lnSpc>
            </a:pP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평가방식</a:t>
            </a:r>
            <a:r>
              <a:rPr lang="en-US" altLang="ko-KR" sz="2000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차 평가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리더보드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Private Score </a:t>
            </a:r>
            <a:r>
              <a:rPr lang="en-US" altLang="ko-KR" sz="1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en-US" altLang="ko-KR" sz="1400" dirty="0">
                <a:latin typeface="+mn-ea"/>
              </a:rPr>
              <a:t>24.07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~ 24.12 </a:t>
            </a:r>
            <a:r>
              <a:rPr lang="ko-KR" altLang="en-US" sz="1400" dirty="0">
                <a:latin typeface="+mn-ea"/>
              </a:rPr>
              <a:t>실제 판매량 기준 </a:t>
            </a:r>
            <a:r>
              <a:rPr lang="en-US" altLang="ko-KR" sz="1400" dirty="0">
                <a:latin typeface="+mn-ea"/>
              </a:rPr>
              <a:t>SMAPE)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352425" lvl="1" indent="-169863">
              <a:lnSpc>
                <a:spcPts val="2833"/>
              </a:lnSpc>
              <a:buFont typeface="Arial" panose="020B0604020202020204" pitchFamily="34" charset="0"/>
              <a:buChar char="•"/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차 평가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최종 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Private Score </a:t>
            </a:r>
            <a:r>
              <a:rPr lang="en-US" altLang="ko-KR" sz="14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en-US" altLang="ko-KR" sz="1400" dirty="0">
                <a:latin typeface="+mn-ea"/>
              </a:rPr>
              <a:t>24.07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~ 25.06 </a:t>
            </a:r>
            <a:r>
              <a:rPr lang="ko-KR" altLang="en-US" sz="1400" dirty="0">
                <a:latin typeface="+mn-ea"/>
              </a:rPr>
              <a:t>실제 판매량 기준 </a:t>
            </a:r>
            <a:r>
              <a:rPr lang="en-US" altLang="ko-KR" sz="1400" dirty="0">
                <a:latin typeface="+mn-ea"/>
              </a:rPr>
              <a:t>SMAPE)</a:t>
            </a:r>
            <a:endParaRPr lang="en-US" altLang="ko-KR" sz="14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B0A8D4-D190-3C6B-224F-9E180F020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000" y="2738593"/>
            <a:ext cx="3250302" cy="88732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D4C41E-E21C-C290-BD66-FDCB7F4F6A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9" b="12656"/>
          <a:stretch>
            <a:fillRect/>
          </a:stretch>
        </p:blipFill>
        <p:spPr>
          <a:xfrm>
            <a:off x="9057324" y="5931167"/>
            <a:ext cx="8215754" cy="36570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0DFFBCD-7F8A-887F-70C2-B07972C54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22" y="5931166"/>
            <a:ext cx="7563814" cy="36570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E5323A-A21F-F544-10AB-6F3E3E263ACD}"/>
              </a:ext>
            </a:extLst>
          </p:cNvPr>
          <p:cNvSpPr/>
          <p:nvPr/>
        </p:nvSpPr>
        <p:spPr>
          <a:xfrm>
            <a:off x="1014922" y="8023500"/>
            <a:ext cx="7563814" cy="6300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379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5A245-4F7D-EBC4-B2F9-0AA2EBCB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EA68121D-28D8-37A7-E001-D2F693DCC01B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60506DB-8D6F-F70F-D33B-A8C3BD3487F3}"/>
              </a:ext>
            </a:extLst>
          </p:cNvPr>
          <p:cNvSpPr txBox="1"/>
          <p:nvPr/>
        </p:nvSpPr>
        <p:spPr>
          <a:xfrm>
            <a:off x="9181522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BB217D3-AAD6-863B-BE79-A4F3AA69C402}"/>
              </a:ext>
            </a:extLst>
          </p:cNvPr>
          <p:cNvSpPr txBox="1"/>
          <p:nvPr/>
        </p:nvSpPr>
        <p:spPr>
          <a:xfrm>
            <a:off x="6759000" y="6742688"/>
            <a:ext cx="2598180" cy="684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 차트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>
              <a:lnSpc>
                <a:spcPts val="2757"/>
              </a:lnSpc>
              <a:spcBef>
                <a:spcPct val="0"/>
              </a:spcBef>
            </a:pP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43F5C19-A5D4-31ED-5BB1-C756F4518A2D}"/>
              </a:ext>
            </a:extLst>
          </p:cNvPr>
          <p:cNvSpPr/>
          <p:nvPr/>
        </p:nvSpPr>
        <p:spPr>
          <a:xfrm>
            <a:off x="863463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66D5EA4-CF28-583C-7AB8-3B21FB3976F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웹페이지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096DCB2-8357-63C2-1C12-9AB2056B03A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219BCA4-091B-AD04-0D58-133E97481908}"/>
              </a:ext>
            </a:extLst>
          </p:cNvPr>
          <p:cNvSpPr txBox="1"/>
          <p:nvPr/>
        </p:nvSpPr>
        <p:spPr>
          <a:xfrm>
            <a:off x="9181522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4FE6113-D799-65D0-36A8-0EDD454A6A09}"/>
              </a:ext>
            </a:extLst>
          </p:cNvPr>
          <p:cNvSpPr txBox="1"/>
          <p:nvPr/>
        </p:nvSpPr>
        <p:spPr>
          <a:xfrm>
            <a:off x="6759000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6583DB7-037B-2561-2C46-9E6DAF10AA04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7DF5566-66B1-79C8-F320-6AB918A18C96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B9CE96C5-D778-4823-1D37-213A216B04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F0A4C4A-C2EB-96E6-F334-389CF7234695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58081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335AC-AA20-4221-74CD-F2429D65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A07BAD3-1C39-508F-8B57-5173523FFE76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2E2A093-8C75-9F51-2ABC-104D17521500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 차트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C54F8C9-CA8C-14B9-8487-33D2EB2C82C8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3D828-5D61-A785-12E1-63F0171A128C}"/>
              </a:ext>
            </a:extLst>
          </p:cNvPr>
          <p:cNvSpPr txBox="1"/>
          <p:nvPr/>
        </p:nvSpPr>
        <p:spPr>
          <a:xfrm>
            <a:off x="1197103" y="2520778"/>
            <a:ext cx="4211898" cy="7101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ko-KR" altLang="en-US" b="1" dirty="0"/>
              <a:t>페르소나 탐색 단계</a:t>
            </a:r>
            <a:endParaRPr lang="en-US" altLang="ko-KR" b="1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사용자 접속 및 회원 체크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페르소나 조건 선택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페르소나 추천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</a:t>
            </a:r>
            <a:endParaRPr lang="en-US" altLang="ko-KR" sz="1600" dirty="0"/>
          </a:p>
          <a:p>
            <a:pPr marL="627063" lvl="2" indent="-274638">
              <a:lnSpc>
                <a:spcPts val="2500"/>
              </a:lnSpc>
              <a:buFont typeface="Arial" panose="020B0604020202020204" pitchFamily="34" charset="0"/>
              <a:buChar char="•"/>
              <a:tabLst>
                <a:tab pos="444500" algn="l"/>
              </a:tabLst>
            </a:pPr>
            <a:r>
              <a:rPr lang="ko-KR" altLang="en-US" sz="1600" dirty="0"/>
              <a:t>조건과 가장 일치하는 페르소나 리스트 및 </a:t>
            </a:r>
            <a:r>
              <a:rPr lang="ko-KR" altLang="en-US" sz="1600" dirty="0" err="1"/>
              <a:t>일치율</a:t>
            </a:r>
            <a:r>
              <a:rPr lang="ko-KR" altLang="en-US" sz="1600" dirty="0"/>
              <a:t> 리턴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일치율에 따라 페르소나 선택 및 </a:t>
            </a:r>
            <a:br>
              <a:rPr lang="en-US" altLang="ko-KR" sz="1600" dirty="0"/>
            </a:br>
            <a:r>
              <a:rPr lang="ko-KR" altLang="en-US" sz="1600" dirty="0"/>
              <a:t>상세 정보 출력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endParaRPr lang="en-US" altLang="ko-KR" sz="1600" dirty="0"/>
          </a:p>
          <a:p>
            <a:pPr marL="342900" indent="-342900">
              <a:lnSpc>
                <a:spcPts val="2500"/>
              </a:lnSpc>
              <a:buFont typeface="+mj-lt"/>
              <a:buAutoNum type="arabicPeriod"/>
            </a:pPr>
            <a:r>
              <a:rPr lang="ko-KR" altLang="en-US" b="1" dirty="0"/>
              <a:t>채팅 시작 및 진행</a:t>
            </a:r>
            <a:endParaRPr lang="en-US" altLang="ko-KR" b="1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선택된 페르소나와의 </a:t>
            </a:r>
            <a:r>
              <a:rPr lang="en-US" altLang="ko-KR" sz="1600" dirty="0" err="1"/>
              <a:t>ChatThread</a:t>
            </a:r>
            <a:r>
              <a:rPr lang="en-US" altLang="ko-KR" sz="1600" dirty="0"/>
              <a:t> </a:t>
            </a:r>
            <a:r>
              <a:rPr lang="ko-KR" altLang="en-US" sz="1600" dirty="0"/>
              <a:t>확인 </a:t>
            </a:r>
            <a:r>
              <a:rPr lang="en-US" altLang="ko-KR" sz="1600" dirty="0"/>
              <a:t>– </a:t>
            </a:r>
            <a:r>
              <a:rPr lang="ko-KR" altLang="en-US" sz="1600" dirty="0"/>
              <a:t>있으면  ③번부터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새 </a:t>
            </a:r>
            <a:r>
              <a:rPr lang="en-US" altLang="ko-KR" sz="1600" dirty="0" err="1"/>
              <a:t>ChatThread</a:t>
            </a:r>
            <a:r>
              <a:rPr lang="en-US" altLang="ko-KR" sz="1600" dirty="0"/>
              <a:t> </a:t>
            </a:r>
            <a:r>
              <a:rPr lang="ko-KR" altLang="en-US" sz="1600" dirty="0"/>
              <a:t>생성 및 자기소개 메시지</a:t>
            </a:r>
            <a:r>
              <a:rPr lang="en-US" altLang="ko-KR" sz="1600" dirty="0"/>
              <a:t>+</a:t>
            </a:r>
            <a:r>
              <a:rPr lang="ko-KR" altLang="en-US" sz="1600" dirty="0"/>
              <a:t>안내 메시지 출력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사용자 메시지 입력 </a:t>
            </a:r>
            <a:r>
              <a:rPr lang="en-US" altLang="ko-KR" sz="1600" dirty="0"/>
              <a:t>– </a:t>
            </a:r>
            <a:r>
              <a:rPr lang="ko-KR" altLang="en-US" sz="1600" dirty="0"/>
              <a:t>답변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en-US" altLang="ko-KR" sz="1600" dirty="0" err="1"/>
              <a:t>ChatMessage</a:t>
            </a:r>
            <a:r>
              <a:rPr lang="en-US" altLang="ko-KR" sz="1600" dirty="0"/>
              <a:t> </a:t>
            </a:r>
            <a:r>
              <a:rPr lang="ko-KR" altLang="en-US" sz="1600" dirty="0"/>
              <a:t>객체 생성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en-US" altLang="ko-KR" sz="1600" dirty="0"/>
              <a:t>DB</a:t>
            </a:r>
            <a:r>
              <a:rPr lang="ko-KR" altLang="en-US" sz="1600" dirty="0"/>
              <a:t>에 저장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채팅유지</a:t>
            </a:r>
            <a:r>
              <a:rPr lang="en-US" altLang="ko-KR" sz="1600" dirty="0"/>
              <a:t>(</a:t>
            </a:r>
            <a:r>
              <a:rPr lang="ko-KR" altLang="en-US" sz="1600" dirty="0"/>
              <a:t>현 </a:t>
            </a:r>
            <a:r>
              <a:rPr lang="ko-KR" altLang="en-US" sz="1600" dirty="0" err="1"/>
              <a:t>채팅방</a:t>
            </a:r>
            <a:r>
              <a:rPr lang="ko-KR" altLang="en-US" sz="1600" dirty="0"/>
              <a:t> 활성</a:t>
            </a:r>
            <a:r>
              <a:rPr lang="en-US" altLang="ko-KR" sz="1600" dirty="0"/>
              <a:t>)</a:t>
            </a:r>
            <a:r>
              <a:rPr lang="ko-KR" altLang="en-US" sz="1600" dirty="0"/>
              <a:t>가 아닌 이벤트 발생시 </a:t>
            </a:r>
            <a:r>
              <a:rPr lang="en-US" altLang="ko-KR" sz="1600" dirty="0" err="1"/>
              <a:t>ChatThread</a:t>
            </a:r>
            <a:r>
              <a:rPr lang="en-US" altLang="ko-KR" sz="1600" dirty="0"/>
              <a:t> </a:t>
            </a:r>
            <a:r>
              <a:rPr lang="ko-KR" altLang="en-US" sz="1600" dirty="0"/>
              <a:t>최종시간 저장</a:t>
            </a:r>
            <a:endParaRPr lang="en-US" altLang="ko-KR" sz="1600" dirty="0"/>
          </a:p>
          <a:p>
            <a:pPr marL="534988" lvl="1" indent="-352425">
              <a:lnSpc>
                <a:spcPts val="2500"/>
              </a:lnSpc>
              <a:buFont typeface="+mj-ea"/>
              <a:buAutoNum type="circleNumDbPlain"/>
              <a:tabLst>
                <a:tab pos="444500" algn="l"/>
              </a:tabLst>
            </a:pPr>
            <a:r>
              <a:rPr lang="ko-KR" altLang="en-US" sz="1600" dirty="0"/>
              <a:t>채팅전환</a:t>
            </a:r>
            <a:r>
              <a:rPr lang="en-US" altLang="ko-KR" sz="1600" dirty="0"/>
              <a:t>(</a:t>
            </a:r>
            <a:r>
              <a:rPr lang="ko-KR" altLang="en-US" sz="1600" dirty="0"/>
              <a:t>다른 채팅</a:t>
            </a:r>
            <a:endParaRPr lang="en-US" altLang="ko-KR" sz="1600" dirty="0"/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BAF5A29-9E48-AE26-5CD5-E26C1014C11F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“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새 채팅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”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플로우 차트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51575D4-DAA3-313E-D6B2-3EE6BBF8E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897" y="1295699"/>
            <a:ext cx="12514186" cy="866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88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433C-C452-3DE5-9BF0-318CFFA9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6AB09CE0-BA36-DE1D-20D4-3121751CD238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6B50101-FCA5-22E2-C4E8-92B05894BADB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B26F00AE-38EC-DE90-B439-0088BAD833D8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BDBFA29-D92E-CBE6-AA59-A31B0E7E8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2" y="1623282"/>
            <a:ext cx="9906373" cy="8531699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E0A324E-258A-DC5C-CDAB-23B22F629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715848"/>
              </p:ext>
            </p:extLst>
          </p:nvPr>
        </p:nvGraphicFramePr>
        <p:xfrm>
          <a:off x="11934000" y="1601525"/>
          <a:ext cx="5940000" cy="6707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로고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(home)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home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My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Chatbots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새채팅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시작페이지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선택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-&gt;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채팅시작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채팅검색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최근 채팅 검색 페이지 로드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85158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Recent Chats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최근 채팅 목록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해당 채팅 목록으로 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설정된 마이크로 세그먼트를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태그로 상단에 표출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색상은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RFM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분류를 따라가도록 설정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타이틀은 페르소나 번호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5348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Model dropdown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사용가능한 모델을 선택</a:t>
                      </a:r>
                      <a:endParaRPr lang="en-US" altLang="ko-KR" sz="1600" b="0" i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Default :GPT 3.5-Turbo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그외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추가 예정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78109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생성창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연령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성별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가족구성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고객가치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라이프스타일 선택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EDA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및 고객 클러스터링에 따라 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고객가치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 스타일 변경 예정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복수선택 가능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라이프스타일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07318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A26486C2-B2B5-E4B5-9270-92362F236670}"/>
              </a:ext>
            </a:extLst>
          </p:cNvPr>
          <p:cNvSpPr/>
          <p:nvPr/>
        </p:nvSpPr>
        <p:spPr>
          <a:xfrm>
            <a:off x="1314000" y="1768500"/>
            <a:ext cx="1980000" cy="630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AD9F6C-98B8-9AA5-F938-D6D0AC7879A2}"/>
              </a:ext>
            </a:extLst>
          </p:cNvPr>
          <p:cNvSpPr/>
          <p:nvPr/>
        </p:nvSpPr>
        <p:spPr>
          <a:xfrm>
            <a:off x="1314000" y="2494080"/>
            <a:ext cx="1980000" cy="142548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D6B102-9E16-F864-3E02-48DF1C2E5E19}"/>
              </a:ext>
            </a:extLst>
          </p:cNvPr>
          <p:cNvSpPr/>
          <p:nvPr/>
        </p:nvSpPr>
        <p:spPr>
          <a:xfrm>
            <a:off x="1314000" y="4028143"/>
            <a:ext cx="1980000" cy="584035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7509A5-F4CC-CCC2-65CB-6BE086C2FFF9}"/>
              </a:ext>
            </a:extLst>
          </p:cNvPr>
          <p:cNvSpPr/>
          <p:nvPr/>
        </p:nvSpPr>
        <p:spPr>
          <a:xfrm>
            <a:off x="3410898" y="1768500"/>
            <a:ext cx="1413102" cy="630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04C054-04EC-2511-FAEE-BF4F1E4B9B69}"/>
              </a:ext>
            </a:extLst>
          </p:cNvPr>
          <p:cNvSpPr/>
          <p:nvPr/>
        </p:nvSpPr>
        <p:spPr>
          <a:xfrm>
            <a:off x="3424668" y="2494080"/>
            <a:ext cx="7384331" cy="737442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941130-0E59-2E0D-2C24-53946C176943}"/>
              </a:ext>
            </a:extLst>
          </p:cNvPr>
          <p:cNvGrpSpPr/>
          <p:nvPr/>
        </p:nvGrpSpPr>
        <p:grpSpPr>
          <a:xfrm>
            <a:off x="1183227" y="1584875"/>
            <a:ext cx="313166" cy="313166"/>
            <a:chOff x="7412417" y="1139116"/>
            <a:chExt cx="313166" cy="313166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E83162BC-18AD-6D98-6169-783698E6773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1B8014-8CB0-6E94-3187-BF903DD8DEE7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BC1807-0863-DB54-A82F-9744E957BD92}"/>
              </a:ext>
            </a:extLst>
          </p:cNvPr>
          <p:cNvGrpSpPr/>
          <p:nvPr/>
        </p:nvGrpSpPr>
        <p:grpSpPr>
          <a:xfrm>
            <a:off x="1157417" y="2412917"/>
            <a:ext cx="313166" cy="313166"/>
            <a:chOff x="7412417" y="1139116"/>
            <a:chExt cx="313166" cy="313166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47C0731-FEE6-8A02-83C2-438EED27233C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705F14-293A-2B70-B031-35FD98CA95F9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2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49B038A-D78F-6E10-6182-83101CF67E18}"/>
              </a:ext>
            </a:extLst>
          </p:cNvPr>
          <p:cNvGrpSpPr/>
          <p:nvPr/>
        </p:nvGrpSpPr>
        <p:grpSpPr>
          <a:xfrm>
            <a:off x="1175580" y="3957970"/>
            <a:ext cx="313166" cy="313166"/>
            <a:chOff x="7412417" y="1139116"/>
            <a:chExt cx="313166" cy="3131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C6102FA-D356-517D-50E2-322B7857B912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04D603-7C35-9387-6A94-8D5A41D2E20F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3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5104475-5D35-BEDA-3B60-17F2DF737F24}"/>
              </a:ext>
            </a:extLst>
          </p:cNvPr>
          <p:cNvGrpSpPr/>
          <p:nvPr/>
        </p:nvGrpSpPr>
        <p:grpSpPr>
          <a:xfrm>
            <a:off x="3333685" y="1584875"/>
            <a:ext cx="313166" cy="313166"/>
            <a:chOff x="7412417" y="1139116"/>
            <a:chExt cx="313166" cy="313166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CE0EC942-FB88-6FE3-0766-0DE9E8D35E99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46DC9A-006B-E6FC-C970-DAC5B2162F60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4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5B346DE-1125-8673-B002-C436D36410CB}"/>
              </a:ext>
            </a:extLst>
          </p:cNvPr>
          <p:cNvGrpSpPr/>
          <p:nvPr/>
        </p:nvGrpSpPr>
        <p:grpSpPr>
          <a:xfrm>
            <a:off x="3333685" y="2412917"/>
            <a:ext cx="313166" cy="313166"/>
            <a:chOff x="7412417" y="1139116"/>
            <a:chExt cx="313166" cy="313166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99A6AA8-6456-6B78-652E-6E6ED3F1880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793F94-C7E8-343E-3CB8-07ED6E1C3511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5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4808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69D6B-1CC8-39A9-3F42-CF5457796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D59AABE0-E75A-FBF9-9ADE-229BCE724E3A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6B659F6-DE20-0C14-7C20-771E69BE934E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E9DEFC0-1A5B-6561-E26F-6E440F362643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FE48425-432C-D47C-3C03-AE0D0336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2" y="1601525"/>
            <a:ext cx="9898201" cy="855345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0A0DF1F-C599-6F8C-E825-13DB39E13A2F}"/>
              </a:ext>
            </a:extLst>
          </p:cNvPr>
          <p:cNvSpPr/>
          <p:nvPr/>
        </p:nvSpPr>
        <p:spPr>
          <a:xfrm>
            <a:off x="6146202" y="4918500"/>
            <a:ext cx="1962798" cy="2295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7ED8A5-3B19-5221-AD15-B2399DD6F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37917"/>
              </p:ext>
            </p:extLst>
          </p:nvPr>
        </p:nvGraphicFramePr>
        <p:xfrm>
          <a:off x="11934000" y="1601525"/>
          <a:ext cx="5940000" cy="2814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탐색 팝업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팝업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고객이 설정한 페르소나와 가장 일치율이 높은 페르소나를 선정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일치율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번호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프로필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재설정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생성 페이지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이전설정 유지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채팅시작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채팅창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C3D85481-B6C5-24DE-9BD3-2EAC72A6B53D}"/>
              </a:ext>
            </a:extLst>
          </p:cNvPr>
          <p:cNvGrpSpPr/>
          <p:nvPr/>
        </p:nvGrpSpPr>
        <p:grpSpPr>
          <a:xfrm>
            <a:off x="5989619" y="4761917"/>
            <a:ext cx="313166" cy="313166"/>
            <a:chOff x="7412417" y="1139116"/>
            <a:chExt cx="313166" cy="31316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FA038C45-1B2B-AD5C-E30A-E298932444BA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8D4AE4-C69F-F49F-1E7D-CE9064397378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4902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85E0-98A8-DB29-7564-28256397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28F4802-4303-CFEE-4D8F-1259E327A944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4C9E037-8CF3-AEA8-C94E-392B72B27C8E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836C56D-0B49-4395-F866-519BEB5F2A81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A306E75-19F2-18F2-A022-7E8513C50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69" y="1623281"/>
            <a:ext cx="9916995" cy="853169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C2CB98C-C77F-9543-417E-0B223E1140C9}"/>
              </a:ext>
            </a:extLst>
          </p:cNvPr>
          <p:cNvSpPr/>
          <p:nvPr/>
        </p:nvSpPr>
        <p:spPr>
          <a:xfrm>
            <a:off x="1314000" y="4028143"/>
            <a:ext cx="1980000" cy="584035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60A09A-6793-E8BF-ED4D-52015A4A4DAC}"/>
              </a:ext>
            </a:extLst>
          </p:cNvPr>
          <p:cNvSpPr/>
          <p:nvPr/>
        </p:nvSpPr>
        <p:spPr>
          <a:xfrm>
            <a:off x="4554537" y="3028499"/>
            <a:ext cx="5309463" cy="493737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CECC3D0-42E8-539D-4DB1-AB4A6D240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718435"/>
              </p:ext>
            </p:extLst>
          </p:nvPr>
        </p:nvGraphicFramePr>
        <p:xfrm>
          <a:off x="11934000" y="1601525"/>
          <a:ext cx="5940000" cy="7965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Recent Chats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번 이상 채팅이 확인되면 최근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챗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목록 생성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시간 내림차순 정렬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가장 최근 채팅이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최상단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 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좌측 위치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로고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번호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프로필 출력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질문 채팅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입력시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우측 위치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백그라운드 컬러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줄 한글 약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자 내외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초과시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내려쓰기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[GPT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답변시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좌측부터 출력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줄 한글 약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45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자 내외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초과시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내려쓰기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85158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입력창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[Place Holder]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어떤 비즈니스 시뮬레이션을 원하시나요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?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신제품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기존제품에 대한 구매의향을 물어보세요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또는 어떤 프로모션을 했을 때 이 고객이 구매할 의향이 생길지 물어 볼 수 있습니다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.’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입력버튼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 Enter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키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입력버튼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채팅창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5348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안내문구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Chill Tuna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비즈니스 시뮬레이터는 실수를 할 수 있습니다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참고용으로 사용하세요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78109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288E3A2-4D0C-C865-6ABF-376D2578737D}"/>
              </a:ext>
            </a:extLst>
          </p:cNvPr>
          <p:cNvSpPr/>
          <p:nvPr/>
        </p:nvSpPr>
        <p:spPr>
          <a:xfrm>
            <a:off x="4554537" y="8158500"/>
            <a:ext cx="5309463" cy="105422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BB14A9-EC19-2430-9696-FFF91749FF32}"/>
              </a:ext>
            </a:extLst>
          </p:cNvPr>
          <p:cNvSpPr/>
          <p:nvPr/>
        </p:nvSpPr>
        <p:spPr>
          <a:xfrm>
            <a:off x="4554537" y="9248763"/>
            <a:ext cx="5309463" cy="51296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4682A56-8821-9B80-8005-215DF6776E15}"/>
              </a:ext>
            </a:extLst>
          </p:cNvPr>
          <p:cNvGrpSpPr/>
          <p:nvPr/>
        </p:nvGrpSpPr>
        <p:grpSpPr>
          <a:xfrm>
            <a:off x="1157417" y="3871560"/>
            <a:ext cx="313166" cy="313166"/>
            <a:chOff x="7412417" y="1139116"/>
            <a:chExt cx="313166" cy="31316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82A2DD0B-E35B-E99C-A99D-70ABE650AEED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210A57-7C6E-BABA-0DE6-78BF058E0F8A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EAD1575-7EC2-C3A9-2D1B-01B4A444DC2B}"/>
              </a:ext>
            </a:extLst>
          </p:cNvPr>
          <p:cNvGrpSpPr/>
          <p:nvPr/>
        </p:nvGrpSpPr>
        <p:grpSpPr>
          <a:xfrm>
            <a:off x="4397954" y="2835877"/>
            <a:ext cx="313166" cy="313166"/>
            <a:chOff x="7412417" y="1139116"/>
            <a:chExt cx="313166" cy="31316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FA10AC9-E697-5F63-0C83-503D75C57CA5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173A0C-5625-8707-C4CC-190721F32354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2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CBDEF6E-7872-2C36-AD17-9F6E57D546EE}"/>
              </a:ext>
            </a:extLst>
          </p:cNvPr>
          <p:cNvGrpSpPr/>
          <p:nvPr/>
        </p:nvGrpSpPr>
        <p:grpSpPr>
          <a:xfrm>
            <a:off x="4397954" y="8001917"/>
            <a:ext cx="313166" cy="313166"/>
            <a:chOff x="7412417" y="1139116"/>
            <a:chExt cx="313166" cy="31316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17834B6-E376-76E9-7FBF-5B74E41BD74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9AB0EE-882A-6E25-B09F-52D076394B1C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3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03204B1-0EB9-FE93-AA9C-5FD606798A66}"/>
              </a:ext>
            </a:extLst>
          </p:cNvPr>
          <p:cNvGrpSpPr/>
          <p:nvPr/>
        </p:nvGrpSpPr>
        <p:grpSpPr>
          <a:xfrm>
            <a:off x="4397954" y="9257639"/>
            <a:ext cx="313166" cy="313166"/>
            <a:chOff x="7412417" y="1139116"/>
            <a:chExt cx="313166" cy="313166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B874487-44D7-2FB9-78F8-1CCEF441A483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A68ED3-ECFC-63F7-6EA7-82BD78B76569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4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44744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817B4-4989-D583-3D91-FACE1890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0B46399-1FEC-3ED2-CF90-5863345915DF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8F81CD7-F47B-179E-89F4-8D8632936E9A}"/>
              </a:ext>
            </a:extLst>
          </p:cNvPr>
          <p:cNvSpPr txBox="1"/>
          <p:nvPr/>
        </p:nvSpPr>
        <p:spPr>
          <a:xfrm>
            <a:off x="8339348" y="6742688"/>
            <a:ext cx="2598180" cy="3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EB31060-7462-281D-D512-30B4AFF7DECC}"/>
              </a:ext>
            </a:extLst>
          </p:cNvPr>
          <p:cNvSpPr txBox="1"/>
          <p:nvPr/>
        </p:nvSpPr>
        <p:spPr>
          <a:xfrm>
            <a:off x="5916826" y="6742688"/>
            <a:ext cx="2598180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388CB4-EDB5-8BAA-6B0C-38A5E5E5285D}"/>
              </a:ext>
            </a:extLst>
          </p:cNvPr>
          <p:cNvSpPr txBox="1"/>
          <p:nvPr/>
        </p:nvSpPr>
        <p:spPr>
          <a:xfrm>
            <a:off x="10937528" y="6742688"/>
            <a:ext cx="2369187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46625C41-D13C-1228-D2A7-3D356231543E}"/>
              </a:ext>
            </a:extLst>
          </p:cNvPr>
          <p:cNvSpPr/>
          <p:nvPr/>
        </p:nvSpPr>
        <p:spPr>
          <a:xfrm>
            <a:off x="779246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06F4706-C720-C4A4-7F70-FB4D5C581084}"/>
              </a:ext>
            </a:extLst>
          </p:cNvPr>
          <p:cNvSpPr/>
          <p:nvPr/>
        </p:nvSpPr>
        <p:spPr>
          <a:xfrm>
            <a:off x="1038729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8F1737D-CF6C-E891-A255-3C55ACD8234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및 평가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61568E-E722-3150-42FB-999937B2BA8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DB2FF93-5408-A521-AF2F-0FD6F425D978}"/>
              </a:ext>
            </a:extLst>
          </p:cNvPr>
          <p:cNvSpPr txBox="1"/>
          <p:nvPr/>
        </p:nvSpPr>
        <p:spPr>
          <a:xfrm>
            <a:off x="8339348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DF21A84-C5DF-8F73-7098-F23CA7CDD462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301708F-BECC-BACF-98EB-B798E5DC0D79}"/>
              </a:ext>
            </a:extLst>
          </p:cNvPr>
          <p:cNvSpPr txBox="1"/>
          <p:nvPr/>
        </p:nvSpPr>
        <p:spPr>
          <a:xfrm>
            <a:off x="10937528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2148576-46C7-1453-9B18-4A880A1A389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4663100-FBED-0D21-2147-18D9C481C197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AD7E7AD6-3805-B475-EDB6-1D764AF923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49E793D-3FCD-9525-A9FF-0FDC8B9B4884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6827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0F0DB-A062-A971-7838-85E8B519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7B7687CE-66F1-DD00-7AF8-E48704B3C7CF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9BA52C0-A9CE-13E5-0926-FB0FD2308CDD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A4D55884-E872-4E73-E0A7-B3A30583B1B0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B42F22-C2F4-1A19-C8C9-B10BFABA9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000" y="2735124"/>
            <a:ext cx="7818444" cy="67562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4C25BF7-AA13-AF0B-4266-FCC26E23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735124"/>
            <a:ext cx="7818445" cy="6733506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06327D5B-551F-C754-92F6-A3B19186026A}"/>
              </a:ext>
            </a:extLst>
          </p:cNvPr>
          <p:cNvSpPr/>
          <p:nvPr/>
        </p:nvSpPr>
        <p:spPr>
          <a:xfrm>
            <a:off x="8899188" y="3165749"/>
            <a:ext cx="821557" cy="5895000"/>
          </a:xfrm>
          <a:prstGeom prst="rightArrow">
            <a:avLst>
              <a:gd name="adj1" fmla="val 100000"/>
              <a:gd name="adj2" fmla="val 5000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8D417EA-D2D6-F2A7-5697-ED6455C22FDA}"/>
              </a:ext>
            </a:extLst>
          </p:cNvPr>
          <p:cNvSpPr txBox="1"/>
          <p:nvPr/>
        </p:nvSpPr>
        <p:spPr>
          <a:xfrm>
            <a:off x="1197103" y="180746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  <a:hlinkClick r:id="rId4"/>
              </a:rPr>
              <a:t>Chill Tuna Web Chatbot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886966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C3A5-9464-0313-DB7D-1B73A789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C33812BD-F18D-2ACE-1DA6-9B87B37B171D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43C60A7-0C63-6B34-E6A7-043DA5FFD2CC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 효과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B8F2A50-96E5-A985-65F8-9C8EDD625D72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A57891CC-38AB-34A1-ED56-08123DE9E4AC}"/>
              </a:ext>
            </a:extLst>
          </p:cNvPr>
          <p:cNvSpPr txBox="1"/>
          <p:nvPr/>
        </p:nvSpPr>
        <p:spPr>
          <a:xfrm>
            <a:off x="1206628" y="3047692"/>
            <a:ext cx="6722370" cy="7087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조사 분야의 기존 방식인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컨조인트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연구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포커스 그룹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독점 데이터셋 등에서 소요되는 비용과 시간을 절약 가능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DDF6C27-7FBD-F242-C812-F84EA4E41F86}"/>
              </a:ext>
            </a:extLst>
          </p:cNvPr>
          <p:cNvSpPr txBox="1"/>
          <p:nvPr/>
        </p:nvSpPr>
        <p:spPr>
          <a:xfrm>
            <a:off x="1206627" y="5281316"/>
            <a:ext cx="6947373" cy="1080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인간 연구와 일관된 응답을 생성함으로써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시장조사를 보완하며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개발주기를 단축하고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신제품의 시장 출시 전 위험을 줄이는데 기여 가능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415510D-951F-6B9B-8DD7-F08EC35AA2CC}"/>
              </a:ext>
            </a:extLst>
          </p:cNvPr>
          <p:cNvSpPr txBox="1"/>
          <p:nvPr/>
        </p:nvSpPr>
        <p:spPr>
          <a:xfrm>
            <a:off x="1206628" y="2549765"/>
            <a:ext cx="5507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빠르고 저렴한 선행적 시장조사 가능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205EB0-F96E-36B0-F191-910AD1661712}"/>
              </a:ext>
            </a:extLst>
          </p:cNvPr>
          <p:cNvSpPr txBox="1"/>
          <p:nvPr/>
        </p:nvSpPr>
        <p:spPr>
          <a:xfrm>
            <a:off x="1206628" y="4783389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정교하게 설계된 페르소나를 통한 시장 예측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5F8268DE-5356-B12C-96A8-B6713CC7962B}"/>
              </a:ext>
            </a:extLst>
          </p:cNvPr>
          <p:cNvSpPr txBox="1"/>
          <p:nvPr/>
        </p:nvSpPr>
        <p:spPr>
          <a:xfrm>
            <a:off x="10346395" y="7582445"/>
            <a:ext cx="6030734" cy="576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“</a:t>
            </a:r>
            <a:r>
              <a:rPr lang="ko-KR" altLang="en-US" sz="2800" b="1" dirty="0"/>
              <a:t>시장 조사의 새로운 패러다임 제시</a:t>
            </a: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”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799A7D5-6B3B-F704-FEAD-B5E10F2CAEC5}"/>
              </a:ext>
            </a:extLst>
          </p:cNvPr>
          <p:cNvSpPr/>
          <p:nvPr/>
        </p:nvSpPr>
        <p:spPr>
          <a:xfrm flipV="1">
            <a:off x="10132910" y="7596081"/>
            <a:ext cx="0" cy="57605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BD4C9D0A-AC70-7066-4BFB-243DA41000AA}"/>
              </a:ext>
            </a:extLst>
          </p:cNvPr>
          <p:cNvSpPr txBox="1"/>
          <p:nvPr/>
        </p:nvSpPr>
        <p:spPr>
          <a:xfrm>
            <a:off x="1206628" y="7503357"/>
            <a:ext cx="6722370" cy="1080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구축된 </a:t>
            </a:r>
            <a:r>
              <a:rPr lang="ko-KR" altLang="en-US" sz="20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</a:t>
            </a:r>
            <a:r>
              <a:rPr lang="ko-KR" altLang="en-US" sz="2000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를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이용해 효율적으로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마케팅 방향을 시뮬레이션하고 빠르게 적용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b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</a:b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피드백을 통해 보완하여 체계적인 마케팅 전략을 구축 가능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FB3E6F3F-F70D-5381-412D-CB90B0D7E5EC}"/>
              </a:ext>
            </a:extLst>
          </p:cNvPr>
          <p:cNvSpPr txBox="1"/>
          <p:nvPr/>
        </p:nvSpPr>
        <p:spPr>
          <a:xfrm>
            <a:off x="1206628" y="700543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체계적인 마케팅 전략 구축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11" name="Picture 2" descr="In Role-Playing, LLMs act according to assigned personas (i.e., roles) under a defined environment. For example, given role names with descriptions, LLMs role-play in a social simulation game. For Personalization, LLMs consider user personas to generate tailored responses to the same question. Dashed rectangles are prompts and solid rectangles are LLMs' responses.">
            <a:extLst>
              <a:ext uri="{FF2B5EF4-FFF2-40B4-BE49-F238E27FC236}">
                <a16:creationId xmlns:a16="http://schemas.microsoft.com/office/drawing/2014/main" id="{910CD9A6-CEE2-61B3-3B36-2F67672662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816" b="56844" l="340" r="98812">
                        <a14:foregroundMark x1="2037" y1="4190" x2="23430" y2="43715"/>
                        <a14:foregroundMark x1="23430" y1="43715" x2="38710" y2="48603"/>
                        <a14:foregroundMark x1="38710" y1="48603" x2="68421" y2="48883"/>
                        <a14:foregroundMark x1="68421" y1="48883" x2="83531" y2="48603"/>
                        <a14:foregroundMark x1="83531" y1="48603" x2="91851" y2="45531"/>
                        <a14:foregroundMark x1="91851" y1="45531" x2="95756" y2="38408"/>
                        <a14:foregroundMark x1="95756" y1="38408" x2="97793" y2="14944"/>
                        <a14:foregroundMark x1="97793" y1="14944" x2="86587" y2="4469"/>
                        <a14:foregroundMark x1="86587" y1="4469" x2="9338" y2="2235"/>
                        <a14:foregroundMark x1="9338" y1="2235" x2="1019" y2="6006"/>
                        <a14:foregroundMark x1="1358" y1="2374" x2="11885" y2="1397"/>
                        <a14:foregroundMark x1="11885" y1="1397" x2="56537" y2="3911"/>
                        <a14:foregroundMark x1="56537" y1="3911" x2="41766" y2="1536"/>
                        <a14:foregroundMark x1="41766" y1="1536" x2="54499" y2="4469"/>
                        <a14:foregroundMark x1="54499" y1="4469" x2="82003" y2="1257"/>
                        <a14:foregroundMark x1="82003" y1="1257" x2="92699" y2="1816"/>
                        <a14:foregroundMark x1="92699" y1="1816" x2="97453" y2="11453"/>
                        <a14:foregroundMark x1="97453" y1="11453" x2="96435" y2="47207"/>
                        <a14:foregroundMark x1="96435" y1="47207" x2="83362" y2="51257"/>
                        <a14:foregroundMark x1="83362" y1="51257" x2="7301" y2="49581"/>
                        <a14:foregroundMark x1="7301" y1="49581" x2="340" y2="42039"/>
                        <a14:foregroundMark x1="340" y1="42039" x2="1528" y2="2793"/>
                        <a14:foregroundMark x1="92699" y1="3631" x2="97793" y2="22207"/>
                        <a14:foregroundMark x1="97793" y1="22207" x2="96095" y2="49302"/>
                        <a14:foregroundMark x1="96095" y1="49302" x2="96095" y2="49302"/>
                        <a14:foregroundMark x1="96604" y1="1816" x2="98812" y2="50419"/>
                        <a14:foregroundMark x1="98812" y1="50419" x2="98642" y2="50559"/>
                        <a14:foregroundMark x1="42105" y1="46648" x2="63497" y2="46648"/>
                        <a14:foregroundMark x1="41426" y1="52374" x2="57895" y2="52933"/>
                        <a14:foregroundMark x1="49576" y1="54609" x2="52632" y2="56844"/>
                        <a14:foregroundMark x1="86757" y1="51536" x2="97623" y2="51397"/>
                        <a14:foregroundMark x1="97623" y1="51397" x2="97623" y2="51397"/>
                        <a14:foregroundMark x1="5093" y1="49581" x2="849" y2="49581"/>
                        <a14:foregroundMark x1="52462" y1="2654" x2="71477" y2="3212"/>
                        <a14:foregroundMark x1="67742" y1="1816" x2="50424" y2="26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0273"/>
          <a:stretch>
            <a:fillRect/>
          </a:stretch>
        </p:blipFill>
        <p:spPr bwMode="auto">
          <a:xfrm>
            <a:off x="9996426" y="2549765"/>
            <a:ext cx="5927550" cy="430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7510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53D41-4012-5E3C-F0C0-FE825EE9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73B9FC1-CD86-BCE5-545B-A4A4363DB4C0}"/>
              </a:ext>
            </a:extLst>
          </p:cNvPr>
          <p:cNvSpPr/>
          <p:nvPr/>
        </p:nvSpPr>
        <p:spPr>
          <a:xfrm>
            <a:off x="3474000" y="1074277"/>
            <a:ext cx="1389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2AECBDA-AA2F-F25D-7022-D5A27DA99080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</a:t>
            </a:r>
            <a:r>
              <a:rPr lang="en-US" altLang="ko-KR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 </a:t>
            </a: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피드백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A77ECC6-6EC0-A9C3-AC80-DE314BBBE114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1D467E62-5FBC-73C8-E5EF-DD0944A7B490}"/>
              </a:ext>
            </a:extLst>
          </p:cNvPr>
          <p:cNvSpPr txBox="1"/>
          <p:nvPr/>
        </p:nvSpPr>
        <p:spPr>
          <a:xfrm>
            <a:off x="1206628" y="3047692"/>
            <a:ext cx="6722370" cy="18249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은 통계적으로 다음에 나올 단어들을 맞추는 모델로서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실제적인 분석과 사고를 하는 것에 한계가 존재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역할을 부여하고 추가적인 정보를 제공한다고 해도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실제적 수요에 접근하기 위해서는 다양한 외생변수를 통한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계산이 필요</a:t>
            </a:r>
            <a:endParaRPr lang="en-US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31B1A16F-1B68-2913-2559-892C8BCA21DC}"/>
              </a:ext>
            </a:extLst>
          </p:cNvPr>
          <p:cNvSpPr txBox="1"/>
          <p:nvPr/>
        </p:nvSpPr>
        <p:spPr>
          <a:xfrm>
            <a:off x="1206628" y="2549765"/>
            <a:ext cx="5507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LLM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자체의 한계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ACB2524A-81FA-4E32-F2B6-EE6F4BD014F7}"/>
              </a:ext>
            </a:extLst>
          </p:cNvPr>
          <p:cNvSpPr txBox="1"/>
          <p:nvPr/>
        </p:nvSpPr>
        <p:spPr>
          <a:xfrm>
            <a:off x="1206628" y="5414386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데이터의 제한적 사용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13D50228-C739-0F5A-0106-93E01EAB0AEC}"/>
              </a:ext>
            </a:extLst>
          </p:cNvPr>
          <p:cNvSpPr txBox="1"/>
          <p:nvPr/>
        </p:nvSpPr>
        <p:spPr>
          <a:xfrm>
            <a:off x="1206628" y="5923320"/>
            <a:ext cx="6722370" cy="1078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실제 구매 고객의 데이터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판매 데이터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장바구니 데이터 등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ts val="2900"/>
              </a:lnSpc>
            </a:pP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사용 가능 데이터의 한계로 고객 세그먼트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유사 상품에 대한 </a:t>
            </a:r>
            <a:r>
              <a:rPr lang="ko-KR" altLang="en-US" sz="2000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컨조인트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분석</a:t>
            </a:r>
            <a:r>
              <a:rPr lang="en-US" altLang="ko-KR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2000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등에 한계점 존재</a:t>
            </a:r>
            <a:endParaRPr lang="en-US" altLang="ko-KR" sz="2000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pic>
        <p:nvPicPr>
          <p:cNvPr id="12" name="Picture 2" descr="대규모 언어 모델 (LLM) 관련 최신 동향 및 발전">
            <a:extLst>
              <a:ext uri="{FF2B5EF4-FFF2-40B4-BE49-F238E27FC236}">
                <a16:creationId xmlns:a16="http://schemas.microsoft.com/office/drawing/2014/main" id="{3C137046-214B-8AF1-6F0A-8FDFAAFB7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000" y="2549765"/>
            <a:ext cx="5040000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2841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0FEF-2535-2B14-9934-E03D6C4C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E878F59-B7F6-5BCF-F972-FA6313AFA9DE}"/>
              </a:ext>
            </a:extLst>
          </p:cNvPr>
          <p:cNvSpPr txBox="1"/>
          <p:nvPr/>
        </p:nvSpPr>
        <p:spPr>
          <a:xfrm>
            <a:off x="1197703" y="7727814"/>
            <a:ext cx="3933923" cy="178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박진성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주용곤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박동현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최장호</a:t>
            </a:r>
            <a:endParaRPr lang="en-US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5AEE1E1-D197-9348-F81E-D6D695D32DD0}"/>
              </a:ext>
            </a:extLst>
          </p:cNvPr>
          <p:cNvSpPr/>
          <p:nvPr/>
        </p:nvSpPr>
        <p:spPr>
          <a:xfrm>
            <a:off x="4933452" y="6782489"/>
            <a:ext cx="9046359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32C35B0-C6A7-34E7-9122-4FAFCE65A664}"/>
              </a:ext>
            </a:extLst>
          </p:cNvPr>
          <p:cNvSpPr txBox="1"/>
          <p:nvPr/>
        </p:nvSpPr>
        <p:spPr>
          <a:xfrm>
            <a:off x="1197103" y="6502039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팀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Chill Tuna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98CAADA-FEEB-76E4-F8B3-5EAF0FB3A017}"/>
              </a:ext>
            </a:extLst>
          </p:cNvPr>
          <p:cNvSpPr txBox="1"/>
          <p:nvPr/>
        </p:nvSpPr>
        <p:spPr>
          <a:xfrm>
            <a:off x="1041586" y="3858737"/>
            <a:ext cx="6913999" cy="126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sz="9214" b="1" spc="-617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감사합니다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53C149-8E9B-DE8F-6C3D-049C5F66D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97" t="2012" r="20097"/>
          <a:stretch>
            <a:fillRect/>
          </a:stretch>
        </p:blipFill>
        <p:spPr>
          <a:xfrm>
            <a:off x="14470498" y="-1"/>
            <a:ext cx="3817502" cy="10286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0CB22D-7560-D511-480E-00B3225BACC2}"/>
              </a:ext>
            </a:extLst>
          </p:cNvPr>
          <p:cNvSpPr txBox="1"/>
          <p:nvPr/>
        </p:nvSpPr>
        <p:spPr>
          <a:xfrm>
            <a:off x="10314000" y="6979652"/>
            <a:ext cx="3810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챗봇</a:t>
            </a:r>
            <a:r>
              <a:rPr lang="ko-KR" altLang="en-US" dirty="0"/>
              <a:t> 배포 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http://54.180.210.6:8000/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75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</TotalTime>
  <Words>3731</Words>
  <Application>Microsoft Office PowerPoint</Application>
  <PresentationFormat>사용자 지정</PresentationFormat>
  <Paragraphs>755</Paragraphs>
  <Slides>40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맑은 고딕</vt:lpstr>
      <vt:lpstr>맑은 고딕</vt:lpstr>
      <vt:lpstr>Calibri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깔끔한 비지니스 사업 제안 발표 프레젠테이션</dc:title>
  <dc:creator>Admin</dc:creator>
  <cp:lastModifiedBy>user</cp:lastModifiedBy>
  <cp:revision>87</cp:revision>
  <dcterms:created xsi:type="dcterms:W3CDTF">2006-08-16T00:00:00Z</dcterms:created>
  <dcterms:modified xsi:type="dcterms:W3CDTF">2025-08-30T17:34:04Z</dcterms:modified>
  <dc:identifier>DAGvFTuB4-w</dc:identifier>
</cp:coreProperties>
</file>