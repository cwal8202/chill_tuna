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314" r:id="rId12"/>
    <p:sldId id="315" r:id="rId13"/>
    <p:sldId id="317" r:id="rId14"/>
    <p:sldId id="318" r:id="rId15"/>
    <p:sldId id="316" r:id="rId16"/>
    <p:sldId id="319" r:id="rId17"/>
    <p:sldId id="320" r:id="rId18"/>
    <p:sldId id="321" r:id="rId19"/>
    <p:sldId id="329" r:id="rId20"/>
    <p:sldId id="322" r:id="rId21"/>
    <p:sldId id="292" r:id="rId22"/>
    <p:sldId id="328" r:id="rId23"/>
    <p:sldId id="323" r:id="rId24"/>
    <p:sldId id="325" r:id="rId25"/>
    <p:sldId id="326" r:id="rId26"/>
    <p:sldId id="327" r:id="rId27"/>
    <p:sldId id="299" r:id="rId28"/>
    <p:sldId id="330" r:id="rId29"/>
    <p:sldId id="300" r:id="rId30"/>
    <p:sldId id="303" r:id="rId31"/>
    <p:sldId id="304" r:id="rId32"/>
    <p:sldId id="306" r:id="rId33"/>
    <p:sldId id="307" r:id="rId34"/>
    <p:sldId id="310" r:id="rId35"/>
    <p:sldId id="312" r:id="rId36"/>
  </p:sldIdLst>
  <p:sldSz cx="18288000" cy="10287000"/>
  <p:notesSz cx="6858000" cy="9144000"/>
  <p:embeddedFontLs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FF5"/>
    <a:srgbClr val="F2F2F2"/>
    <a:srgbClr val="FFFF99"/>
    <a:srgbClr val="FFFF66"/>
    <a:srgbClr val="FF9900"/>
    <a:srgbClr val="FFCC00"/>
    <a:srgbClr val="FFCC99"/>
    <a:srgbClr val="1A3F6B"/>
    <a:srgbClr val="131933"/>
    <a:srgbClr val="325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8" autoAdjust="0"/>
    <p:restoredTop sz="96279" autoAdjust="0"/>
  </p:normalViewPr>
  <p:slideViewPr>
    <p:cSldViewPr>
      <p:cViewPr varScale="1">
        <p:scale>
          <a:sx n="73" d="100"/>
          <a:sy n="73" d="100"/>
        </p:scale>
        <p:origin x="732" y="54"/>
      </p:cViewPr>
      <p:guideLst>
        <p:guide orient="horz" pos="2220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49858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415926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498583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en-US" altLang="ko-KR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b="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75180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76162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F555EC4D-9B8D-F2E5-E58E-6B4F13EEAB4C}"/>
              </a:ext>
            </a:extLst>
          </p:cNvPr>
          <p:cNvSpPr txBox="1"/>
          <p:nvPr/>
        </p:nvSpPr>
        <p:spPr>
          <a:xfrm>
            <a:off x="1278900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24CE49B5-4373-9AB4-C99A-0F8075A23651}"/>
              </a:ext>
            </a:extLst>
          </p:cNvPr>
          <p:cNvSpPr txBox="1"/>
          <p:nvPr/>
        </p:nvSpPr>
        <p:spPr>
          <a:xfrm>
            <a:off x="1278900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3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6928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6826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47559" y="6742688"/>
            <a:ext cx="2369187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1004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49732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8783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692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7559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6741" y="6742688"/>
            <a:ext cx="2741300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36741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41008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958995" y="6742688"/>
            <a:ext cx="2741300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958995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913536" y="7042085"/>
            <a:ext cx="4599425" cy="165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</a:t>
            </a:r>
            <a:r>
              <a:rPr lang="ko-KR" altLang="en-US" spc="-95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시뮬레이레이터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개발 </a:t>
            </a:r>
            <a:endParaRPr lang="en-US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079001" y="8296926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257916" y="743367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595" y="7626413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9001" y="767305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57916" y="680979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81595" y="7002542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2079000" y="253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7009144" y="2938500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90" r="-512"/>
          <a:stretch>
            <a:fillRect/>
          </a:stretch>
        </p:blipFill>
        <p:spPr>
          <a:xfrm>
            <a:off x="12240509" y="1810955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3106"/>
              </p:ext>
            </p:extLst>
          </p:nvPr>
        </p:nvGraphicFramePr>
        <p:xfrm>
          <a:off x="1345552" y="2281500"/>
          <a:ext cx="15596897" cy="57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박진성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팀장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lvl="0" algn="ctr" latinLnBrk="1"/>
                      <a:r>
                        <a:rPr lang="en-US" altLang="ko-KR" dirty="0"/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페르소나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네이버 검색 트랜드 조사 및 검색 계수 도출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웹페이지 기획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주용곤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및 제품 특징 정보 캡슐화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 규모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판매량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경쟁사 제품 정보 및 비교 리서치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모델 교차 검증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최장호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2781B1-33C1-22E3-4733-2D30DCBA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9" y="1858500"/>
            <a:ext cx="17803715" cy="6795000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15815-176F-1B62-ADC5-DE645E8F2303}"/>
              </a:ext>
            </a:extLst>
          </p:cNvPr>
          <p:cNvSpPr/>
          <p:nvPr/>
        </p:nvSpPr>
        <p:spPr>
          <a:xfrm>
            <a:off x="234000" y="2623500"/>
            <a:ext cx="17819123" cy="720000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277F66-E8FD-6A3F-9929-E6CBD652A7D5}"/>
              </a:ext>
            </a:extLst>
          </p:cNvPr>
          <p:cNvSpPr/>
          <p:nvPr/>
        </p:nvSpPr>
        <p:spPr>
          <a:xfrm>
            <a:off x="279000" y="3343499"/>
            <a:ext cx="17819123" cy="990001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2F4D4-ACB1-7326-DA47-F5910F68CB6B}"/>
              </a:ext>
            </a:extLst>
          </p:cNvPr>
          <p:cNvSpPr/>
          <p:nvPr/>
        </p:nvSpPr>
        <p:spPr>
          <a:xfrm>
            <a:off x="234000" y="4333500"/>
            <a:ext cx="17819123" cy="99000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451F81-A8E6-A279-6B7B-1C1CFDB11698}"/>
              </a:ext>
            </a:extLst>
          </p:cNvPr>
          <p:cNvSpPr/>
          <p:nvPr/>
        </p:nvSpPr>
        <p:spPr>
          <a:xfrm>
            <a:off x="234000" y="5323500"/>
            <a:ext cx="17819123" cy="1665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7FBC98-D054-35C0-ECB6-9D8617BE3060}"/>
              </a:ext>
            </a:extLst>
          </p:cNvPr>
          <p:cNvSpPr/>
          <p:nvPr/>
        </p:nvSpPr>
        <p:spPr>
          <a:xfrm>
            <a:off x="234000" y="6988500"/>
            <a:ext cx="17819123" cy="1338593"/>
          </a:xfrm>
          <a:prstGeom prst="rect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0C2C94-1F17-302C-DDF7-D15314DE3FBC}"/>
              </a:ext>
            </a:extLst>
          </p:cNvPr>
          <p:cNvSpPr/>
          <p:nvPr/>
        </p:nvSpPr>
        <p:spPr>
          <a:xfrm>
            <a:off x="234000" y="8310992"/>
            <a:ext cx="17819123" cy="387508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28407"/>
              </p:ext>
            </p:extLst>
          </p:nvPr>
        </p:nvGraphicFramePr>
        <p:xfrm>
          <a:off x="1345552" y="2263500"/>
          <a:ext cx="14953448" cy="71128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asgiref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==3.9.1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==2.2.7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python-decouple==3.8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sqlparse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==0.5.3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typing_extensions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==4.14.1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tzdata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==2025.2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Django(Django==5.2.4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30B8023-500C-5358-A29D-325B9E9F83D3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83623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15381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83623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679363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399694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679363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6722370" cy="2117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리서치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경쟁사 제품의 가격 및 제품 정보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데이터랩을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통한 제품 검색 트랜드 정보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54620"/>
              </p:ext>
            </p:extLst>
          </p:nvPr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96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025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024467"/>
            <a:ext cx="8161172" cy="2854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카테고리 분류를 위한 키워드 사전 작성 및 </a:t>
            </a:r>
            <a:r>
              <a:rPr lang="ko-KR" altLang="en-US" dirty="0" err="1"/>
              <a:t>태깅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dirty="0"/>
              <a:t>설문조사 결과에 대한 스코어 집계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5985000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11427"/>
            <a:ext cx="6722370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487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11427"/>
            <a:ext cx="6722370" cy="2441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</a:pPr>
            <a:r>
              <a:rPr 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** 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69848"/>
              </p:ext>
            </p:extLst>
          </p:nvPr>
        </p:nvGraphicFramePr>
        <p:xfrm>
          <a:off x="9311612" y="523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4192372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84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905A34-BFA2-7352-5715-3C6A9D1878D2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305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5A242C6-1518-8662-5C42-3313C6B1F49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66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4001" y="1074278"/>
            <a:ext cx="134469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4" y="795628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1" y="547028"/>
            <a:ext cx="5796992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35"/>
              </a:lnSpc>
              <a:spcBef>
                <a:spcPct val="0"/>
              </a:spcBef>
            </a:pPr>
            <a:r>
              <a:rPr 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5D3ED4-47E3-A5E2-ED64-617B14444FD4}"/>
              </a:ext>
            </a:extLst>
          </p:cNvPr>
          <p:cNvSpPr/>
          <p:nvPr/>
        </p:nvSpPr>
        <p:spPr>
          <a:xfrm>
            <a:off x="1216657" y="1754043"/>
            <a:ext cx="4462343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4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월매출계수</a:t>
            </a:r>
            <a:r>
              <a:rPr lang="en-US" sz="24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(2020-2023)</a:t>
            </a:r>
            <a:endParaRPr lang="en-US" sz="2400" dirty="0">
              <a:latin typeface="+mn-e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14D07-2EC5-D178-D6F2-8E646394E83B}"/>
              </a:ext>
            </a:extLst>
          </p:cNvPr>
          <p:cNvSpPr/>
          <p:nvPr/>
        </p:nvSpPr>
        <p:spPr>
          <a:xfrm>
            <a:off x="1108084" y="2346282"/>
            <a:ext cx="13184744" cy="5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/>
            <a:r>
              <a:rPr lang="en-US" dirty="0">
                <a:solidFill>
                  <a:srgbClr val="272525"/>
                </a:solidFill>
                <a:latin typeface="+mn-ea"/>
                <a:cs typeface="Inter" pitchFamily="34" charset="-120"/>
              </a:rPr>
              <a:t> 2020년부터 2023년까지 주요 식품 품목의 월별 매출 계수를 도출하여 제품별 매출 추세와 계절성 </a:t>
            </a:r>
            <a:r>
              <a:rPr lang="en-US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패턴을</a:t>
            </a:r>
            <a:r>
              <a:rPr lang="en-US" dirty="0">
                <a:solidFill>
                  <a:srgbClr val="272525"/>
                </a:solidFill>
                <a:latin typeface="+mn-ea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파악</a:t>
            </a:r>
            <a:endParaRPr lang="en-US" dirty="0">
              <a:latin typeface="+mn-e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1CA7C1D-6850-739F-BAC7-49AC225F1ED9}"/>
              </a:ext>
            </a:extLst>
          </p:cNvPr>
          <p:cNvSpPr/>
          <p:nvPr/>
        </p:nvSpPr>
        <p:spPr>
          <a:xfrm>
            <a:off x="1195926" y="4513500"/>
            <a:ext cx="2685098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99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&lt;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제품별</a:t>
            </a:r>
            <a:r>
              <a:rPr lang="en-US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분석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&gt;</a:t>
            </a:r>
            <a:endParaRPr lang="en-US" sz="2000" dirty="0">
              <a:latin typeface="+mn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B3097F8-AE42-F313-47D0-2B719F4B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4952484"/>
            <a:ext cx="5034869" cy="30036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0B54F3C-26DD-1DF7-837D-40A30304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91" y="4960585"/>
            <a:ext cx="5034869" cy="30036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F24A58-E910-F16E-3CFC-D1462AAF1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133" y="4982569"/>
            <a:ext cx="4875311" cy="290842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EAADD087-1CF7-9A4A-56F5-6C6D85BAFC22}"/>
              </a:ext>
            </a:extLst>
          </p:cNvPr>
          <p:cNvSpPr txBox="1"/>
          <p:nvPr/>
        </p:nvSpPr>
        <p:spPr>
          <a:xfrm>
            <a:off x="1206628" y="2825821"/>
            <a:ext cx="8342372" cy="139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 산출 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742950" lvl="1" indent="-2857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마켓링크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POS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(2020-2023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전국 유통 채널 매출 포함</a:t>
            </a:r>
          </a:p>
          <a:p>
            <a:pPr marL="742950" lvl="1" indent="-2857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계수 산출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=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해당 월 매출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÷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연평균 매출</a:t>
            </a:r>
          </a:p>
          <a:p>
            <a:pPr marL="742950" lvl="1" indent="-2857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계수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2020-2023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평균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단일 연도 특이점 상쇄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57217-D06E-6901-AA60-E9C6D9E38199}"/>
              </a:ext>
            </a:extLst>
          </p:cNvPr>
          <p:cNvSpPr txBox="1"/>
          <p:nvPr/>
        </p:nvSpPr>
        <p:spPr>
          <a:xfrm>
            <a:off x="935181" y="7964196"/>
            <a:ext cx="5283819" cy="1757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err="1">
                <a:latin typeface="+mn-ea"/>
              </a:rPr>
              <a:t>참치캔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동원</a:t>
            </a:r>
            <a:r>
              <a:rPr lang="en-US" altLang="ko-KR" b="1" dirty="0">
                <a:latin typeface="+mn-ea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-16% </a:t>
            </a:r>
            <a:r>
              <a:rPr lang="ko-KR" altLang="en-US" sz="1600" dirty="0">
                <a:latin typeface="+mn-ea"/>
              </a:rPr>
              <a:t>소폭 감소</a:t>
            </a:r>
            <a:r>
              <a:rPr lang="en-US" altLang="ko-KR" sz="1600" dirty="0">
                <a:latin typeface="+mn-ea"/>
              </a:rPr>
              <a:t>, 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  2022</a:t>
            </a:r>
            <a:r>
              <a:rPr lang="ko-KR" altLang="en-US" sz="1600" dirty="0">
                <a:latin typeface="+mn-ea"/>
              </a:rPr>
              <a:t>년 하반기부터 회복 기미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중간 수준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1.58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07B17-9A14-66F7-0E6F-3F5D0052BFFD}"/>
              </a:ext>
            </a:extLst>
          </p:cNvPr>
          <p:cNvSpPr txBox="1"/>
          <p:nvPr/>
        </p:nvSpPr>
        <p:spPr>
          <a:xfrm>
            <a:off x="6828133" y="7964196"/>
            <a:ext cx="5073825" cy="189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b="1" dirty="0" err="1">
                <a:latin typeface="+mn-ea"/>
              </a:rPr>
              <a:t>참치액</a:t>
            </a:r>
            <a:endParaRPr lang="en-US" altLang="ko-KR" b="1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+8% </a:t>
            </a:r>
            <a:r>
              <a:rPr lang="ko-KR" altLang="en-US" sz="1600" dirty="0">
                <a:latin typeface="+mn-ea"/>
              </a:rPr>
              <a:t>상승 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→ </a:t>
            </a:r>
            <a:r>
              <a:rPr lang="ko-KR" altLang="en-US" sz="1600" dirty="0">
                <a:latin typeface="+mn-ea"/>
              </a:rPr>
              <a:t>가정식 증가 영향</a:t>
            </a:r>
            <a:endParaRPr lang="en-US" altLang="ko-KR" sz="16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매우 강함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1.51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월별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높음 </a:t>
            </a:r>
            <a:r>
              <a:rPr lang="en-US" altLang="ko-KR" sz="1600" dirty="0">
                <a:latin typeface="+mn-ea"/>
              </a:rPr>
              <a:t>- 6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9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12</a:t>
            </a:r>
            <a:r>
              <a:rPr lang="ko-KR" altLang="en-US" sz="1600" dirty="0">
                <a:latin typeface="+mn-ea"/>
              </a:rPr>
              <a:t>월 </a:t>
            </a:r>
            <a:r>
              <a:rPr lang="en-US" altLang="ko-KR" sz="1600" dirty="0">
                <a:latin typeface="+mn-ea"/>
              </a:rPr>
              <a:t>/ </a:t>
            </a:r>
            <a:r>
              <a:rPr lang="ko-KR" altLang="en-US" sz="1600" dirty="0">
                <a:latin typeface="+mn-ea"/>
              </a:rPr>
              <a:t>낮음 </a:t>
            </a:r>
            <a:r>
              <a:rPr lang="en-US" altLang="ko-KR" sz="1600" dirty="0">
                <a:latin typeface="+mn-ea"/>
              </a:rPr>
              <a:t>- 2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10-11</a:t>
            </a:r>
            <a:r>
              <a:rPr lang="ko-KR" altLang="en-US" sz="1600" dirty="0">
                <a:latin typeface="+mn-ea"/>
              </a:rPr>
              <a:t>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7DF23-9121-C065-B335-3E354EC1E7AC}"/>
              </a:ext>
            </a:extLst>
          </p:cNvPr>
          <p:cNvSpPr txBox="1"/>
          <p:nvPr/>
        </p:nvSpPr>
        <p:spPr>
          <a:xfrm>
            <a:off x="12511091" y="7964196"/>
            <a:ext cx="5073825" cy="189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b="1" dirty="0" err="1">
                <a:latin typeface="+mn-ea"/>
              </a:rPr>
              <a:t>캔햄</a:t>
            </a:r>
            <a:endParaRPr lang="en-US" altLang="ko-KR" b="1" dirty="0">
              <a:latin typeface="+mn-ea"/>
            </a:endParaRPr>
          </a:p>
          <a:p>
            <a:pPr marL="342900" indent="-342900">
              <a:buAutoNum type="arabicPeriod" startAt="3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-25% </a:t>
            </a:r>
            <a:r>
              <a:rPr lang="ko-KR" altLang="en-US" sz="1600" dirty="0">
                <a:latin typeface="+mn-ea"/>
              </a:rPr>
              <a:t>감소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→ </a:t>
            </a:r>
            <a:r>
              <a:rPr lang="ko-KR" altLang="en-US" sz="1600" dirty="0">
                <a:latin typeface="+mn-ea"/>
              </a:rPr>
              <a:t>식생활 변화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경쟁 심화</a:t>
            </a:r>
            <a:endParaRPr lang="en-US" altLang="ko-KR" sz="16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가장 강함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1.81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월별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높음 </a:t>
            </a:r>
            <a:r>
              <a:rPr lang="en-US" altLang="ko-KR" sz="1600" dirty="0">
                <a:latin typeface="+mn-ea"/>
              </a:rPr>
              <a:t>- 6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8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12</a:t>
            </a:r>
            <a:r>
              <a:rPr lang="ko-KR" altLang="en-US" sz="1600" dirty="0">
                <a:latin typeface="+mn-ea"/>
              </a:rPr>
              <a:t>월 </a:t>
            </a:r>
            <a:r>
              <a:rPr lang="en-US" altLang="ko-KR" sz="1600" dirty="0">
                <a:latin typeface="+mn-ea"/>
              </a:rPr>
              <a:t>/ </a:t>
            </a:r>
            <a:r>
              <a:rPr lang="ko-KR" altLang="en-US" sz="1600" dirty="0">
                <a:latin typeface="+mn-ea"/>
              </a:rPr>
              <a:t>낮음 </a:t>
            </a:r>
            <a:r>
              <a:rPr lang="en-US" altLang="ko-KR" sz="1600" dirty="0">
                <a:latin typeface="+mn-ea"/>
              </a:rPr>
              <a:t>- 2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10-11</a:t>
            </a:r>
            <a:r>
              <a:rPr lang="ko-KR" altLang="en-US" sz="1600" dirty="0">
                <a:latin typeface="+mn-ea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81011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8342372" cy="319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상관관계 분석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API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를 이용한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검색량과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식품산업통계 매출 상관 관계를 분석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전체적인 상관관계는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0.2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수준으로 높지 않으나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프로모션 방식에 따라 매출과 선행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후행적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상관 관계가 있는 것으로 추정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8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맛참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급등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(TV PPL,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추석 선물세트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바이럴 광고 추정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하이그릭요거트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리챔오믈레햄의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출시 이후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발생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소잘라떼는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긴 제품명으로 직접적인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측정이 어려움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네이버 검색 트랜드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A2E903-510A-90F4-87EA-687CD16C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00" y="6088500"/>
            <a:ext cx="8704275" cy="358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57D792-CDFA-67A2-B7C2-04E1618C8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000" y="2353500"/>
            <a:ext cx="8135254" cy="6840000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8434F436-EB7D-39B6-54A4-5D3BCFFD06A0}"/>
              </a:ext>
            </a:extLst>
          </p:cNvPr>
          <p:cNvSpPr/>
          <p:nvPr/>
        </p:nvSpPr>
        <p:spPr>
          <a:xfrm>
            <a:off x="2889000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321A03C-A0F1-032E-8FD9-94C4923E8AF1}"/>
              </a:ext>
            </a:extLst>
          </p:cNvPr>
          <p:cNvSpPr/>
          <p:nvPr/>
        </p:nvSpPr>
        <p:spPr>
          <a:xfrm>
            <a:off x="3699000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A284531-3FC8-F607-F27D-BF8B5D1ED559}"/>
              </a:ext>
            </a:extLst>
          </p:cNvPr>
          <p:cNvSpPr/>
          <p:nvPr/>
        </p:nvSpPr>
        <p:spPr>
          <a:xfrm>
            <a:off x="5409000" y="6538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F40B31-F84F-B79F-C59F-5C4A2CBC1BD2}"/>
              </a:ext>
            </a:extLst>
          </p:cNvPr>
          <p:cNvSpPr/>
          <p:nvPr/>
        </p:nvSpPr>
        <p:spPr>
          <a:xfrm>
            <a:off x="6309000" y="640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6FCB92-74C5-31F5-7B95-C719EE73991C}"/>
              </a:ext>
            </a:extLst>
          </p:cNvPr>
          <p:cNvSpPr/>
          <p:nvPr/>
        </p:nvSpPr>
        <p:spPr>
          <a:xfrm>
            <a:off x="8019000" y="6448500"/>
            <a:ext cx="1035000" cy="1305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13063332" y="1802192"/>
            <a:ext cx="4387232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4933452" y="1801842"/>
            <a:ext cx="8737111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1025564" y="1802192"/>
            <a:ext cx="4500000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5345563" y="2845331"/>
            <a:ext cx="7425000" cy="7155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9EB413-C136-136B-1E34-914FF8E3CC74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759377" y="2036687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7879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14134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1025563" y="2845331"/>
            <a:ext cx="3735000" cy="378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1025563" y="6985331"/>
            <a:ext cx="3735000" cy="3015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1406987" y="307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675488" y="3398498"/>
            <a:ext cx="463046" cy="36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페르소나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고객 데이터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4240331"/>
            <a:ext cx="3105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연령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성별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가구형태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</a:t>
            </a:r>
            <a:b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</a:b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결혼여부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월소득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맞벌이여부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2375563" y="6355331"/>
            <a:ext cx="900000" cy="9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2465563" y="6445331"/>
            <a:ext cx="720000" cy="72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1406987" y="7321755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963" y="7456755"/>
            <a:ext cx="705600" cy="7056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7501755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판매 제</a:t>
            </a:r>
            <a:r>
              <a:rPr lang="ko-KR" altLang="en-US" sz="2000" b="1" dirty="0">
                <a:latin typeface="+mj-ea"/>
                <a:ea typeface="+mj-ea"/>
              </a:rPr>
              <a:t>품 데이터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8489976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제품명 및 제품 특징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13400563" y="2845331"/>
            <a:ext cx="3735000" cy="342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13400563" y="6625331"/>
            <a:ext cx="3735000" cy="3375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13781987" y="3070331"/>
            <a:ext cx="968576" cy="9685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다콘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리더보드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4285331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예측 데이터와 실제 데이터를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SMAPE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방식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으로 평가하여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13781987" y="721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739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LLM </a:t>
            </a:r>
            <a:r>
              <a:rPr kumimoji="0" lang="ko-KR" altLang="en-US" sz="2000" b="1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모델별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교차 검증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8425331"/>
            <a:ext cx="3105000" cy="11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GPT-5, Claude, </a:t>
            </a:r>
            <a:r>
              <a:rPr kumimoji="0" lang="en-US" altLang="ko-KR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eXaone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등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동일 프롬프트에 대한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모델별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점수 검증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000" y="-526500"/>
            <a:ext cx="381000" cy="381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6110563" y="3115331"/>
            <a:ext cx="2223001" cy="2313813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6110563" y="5275331"/>
            <a:ext cx="2223001" cy="2313813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6110563" y="7345331"/>
            <a:ext cx="2223001" cy="2313813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31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latin typeface="+mj-ea"/>
                <a:ea typeface="+mj-ea"/>
              </a:rPr>
              <a:t>LLM</a:t>
            </a:r>
            <a:r>
              <a:rPr lang="ko-KR" altLang="en-US" sz="2000" b="1" dirty="0">
                <a:latin typeface="+mj-ea"/>
                <a:ea typeface="+mj-ea"/>
              </a:rPr>
              <a:t> 질의 및 답변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899976"/>
            <a:ext cx="3330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556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외생 변수 계산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6149976"/>
            <a:ext cx="346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7689308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구매량</a:t>
            </a:r>
            <a:r>
              <a:rPr lang="ko-KR" altLang="en-US" sz="2000" b="1" dirty="0">
                <a:latin typeface="+mj-ea"/>
                <a:ea typeface="+mj-ea"/>
              </a:rPr>
              <a:t> 예측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8274308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6470563" y="6130331"/>
            <a:ext cx="765000" cy="63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13985563" y="3340331"/>
            <a:ext cx="544512" cy="460375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6515563" y="8110331"/>
            <a:ext cx="749558" cy="749558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3895563" y="7300331"/>
            <a:ext cx="795000" cy="7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5743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3882-CB4E-0168-296B-F75AC5FD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21449DF-3B61-7B96-C1A1-CCF0E6042660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02C0A67-D1C0-30C1-2FE8-C2745ADF4EE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생성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D2DD5EF-52C5-229B-FFDB-9D6F1EC3A47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C57BCD-71C2-0F71-76C1-65027DF1DE85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99DD8F8-D955-39DF-909E-74A0D180F4C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7903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3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35AC-AA20-4221-74CD-F2429D65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A07BAD3-1C39-508F-8B57-5173523FFE76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2E2A093-8C75-9F51-2ABC-104D17521500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C54F8C9-CA8C-14B9-8487-33D2EB2C82C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1430188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15848"/>
              </p:ext>
            </p:extLst>
          </p:nvPr>
        </p:nvGraphicFramePr>
        <p:xfrm>
          <a:off x="11934000" y="1601525"/>
          <a:ext cx="5940000" cy="67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(home)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home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My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Chatbots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새채팅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선택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채팅검색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목록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해당 채팅 목록으로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설정된 마이크로 세그먼트를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색상은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RFM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타이틀은 페르소나 번호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Model dropdown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6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그외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생성창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가족구성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 선택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및 고객 클러스터링에 따라 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 스타일 변경 예정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복수선택 가능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41130-0E59-2E0D-2C24-53946C176943}"/>
              </a:ext>
            </a:extLst>
          </p:cNvPr>
          <p:cNvGrpSpPr/>
          <p:nvPr/>
        </p:nvGrpSpPr>
        <p:grpSpPr>
          <a:xfrm>
            <a:off x="1183227" y="1584875"/>
            <a:ext cx="313166" cy="313166"/>
            <a:chOff x="7412417" y="1139116"/>
            <a:chExt cx="313166" cy="31316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83162BC-18AD-6D98-6169-783698E6773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B8014-8CB0-6E94-3187-BF903DD8DEE7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BC1807-0863-DB54-A82F-9744E957BD92}"/>
              </a:ext>
            </a:extLst>
          </p:cNvPr>
          <p:cNvGrpSpPr/>
          <p:nvPr/>
        </p:nvGrpSpPr>
        <p:grpSpPr>
          <a:xfrm>
            <a:off x="1157417" y="2412917"/>
            <a:ext cx="313166" cy="313166"/>
            <a:chOff x="7412417" y="1139116"/>
            <a:chExt cx="313166" cy="3131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47C0731-FEE6-8A02-83C2-438EED27233C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705F14-293A-2B70-B031-35FD98CA95F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9B038A-D78F-6E10-6182-83101CF67E18}"/>
              </a:ext>
            </a:extLst>
          </p:cNvPr>
          <p:cNvGrpSpPr/>
          <p:nvPr/>
        </p:nvGrpSpPr>
        <p:grpSpPr>
          <a:xfrm>
            <a:off x="1175580" y="3957970"/>
            <a:ext cx="313166" cy="313166"/>
            <a:chOff x="7412417" y="1139116"/>
            <a:chExt cx="313166" cy="3131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C6102FA-D356-517D-50E2-322B7857B912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04D603-7C35-9387-6A94-8D5A41D2E20F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104475-5D35-BEDA-3B60-17F2DF737F24}"/>
              </a:ext>
            </a:extLst>
          </p:cNvPr>
          <p:cNvGrpSpPr/>
          <p:nvPr/>
        </p:nvGrpSpPr>
        <p:grpSpPr>
          <a:xfrm>
            <a:off x="3333685" y="1584875"/>
            <a:ext cx="313166" cy="313166"/>
            <a:chOff x="7412417" y="1139116"/>
            <a:chExt cx="313166" cy="31316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E0EC942-FB88-6FE3-0766-0DE9E8D35E99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46DC9A-006B-E6FC-C970-DAC5B2162F60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5B346DE-1125-8673-B002-C436D36410CB}"/>
              </a:ext>
            </a:extLst>
          </p:cNvPr>
          <p:cNvGrpSpPr/>
          <p:nvPr/>
        </p:nvGrpSpPr>
        <p:grpSpPr>
          <a:xfrm>
            <a:off x="3333685" y="2412917"/>
            <a:ext cx="313166" cy="313166"/>
            <a:chOff x="7412417" y="1139116"/>
            <a:chExt cx="313166" cy="31316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99A6AA8-6456-6B78-652E-6E6ED3F1880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793F94-C7E8-343E-3CB8-07ED6E1C3511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5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917"/>
              </p:ext>
            </p:extLst>
          </p:nvPr>
        </p:nvGraphicFramePr>
        <p:xfrm>
          <a:off x="11934000" y="1601525"/>
          <a:ext cx="5940000" cy="28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팝업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고객이 설정한 페르소나와 가장 일치율이 높은 페르소나를 선정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일치율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재설정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생성 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이전설정 유지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3D85481-B6C5-24DE-9BD3-2EAC72A6B53D}"/>
              </a:ext>
            </a:extLst>
          </p:cNvPr>
          <p:cNvGrpSpPr/>
          <p:nvPr/>
        </p:nvGrpSpPr>
        <p:grpSpPr>
          <a:xfrm>
            <a:off x="5989619" y="4761917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038C45-1B2B-AD5C-E30A-E298932444BA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D4AE4-C69F-F49F-1E7D-CE9064397378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499"/>
            <a:ext cx="5309463" cy="493737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18435"/>
              </p:ext>
            </p:extLst>
          </p:nvPr>
        </p:nvGraphicFramePr>
        <p:xfrm>
          <a:off x="11934000" y="1601525"/>
          <a:ext cx="5940000" cy="7965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번 이상 채팅이 확인되면 최근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챗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목록 생성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시간 내림차순 정렬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가장 최근 채팅이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질문 채팅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우측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백그라운드 컬러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[GPT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답변시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좌측부터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어떤 비즈니스 시뮬레이션을 원하시나요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?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기존제품에 대한 구매의향을 물어보세요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어떤 프로모션을 했을 때 이 고객이 구매할 의향이 생길지 물어 볼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Enter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Chill Tuna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비즈니스 시뮬레이터는 실수를 할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참고용으로 사용하세요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682A56-8821-9B80-8005-215DF6776E15}"/>
              </a:ext>
            </a:extLst>
          </p:cNvPr>
          <p:cNvGrpSpPr/>
          <p:nvPr/>
        </p:nvGrpSpPr>
        <p:grpSpPr>
          <a:xfrm>
            <a:off x="1157417" y="3871560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2A2DD0B-E35B-E99C-A99D-70ABE650AEED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10A57-7C6E-BABA-0DE6-78BF058E0F8A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AD1575-7EC2-C3A9-2D1B-01B4A444DC2B}"/>
              </a:ext>
            </a:extLst>
          </p:cNvPr>
          <p:cNvGrpSpPr/>
          <p:nvPr/>
        </p:nvGrpSpPr>
        <p:grpSpPr>
          <a:xfrm>
            <a:off x="4397954" y="2835877"/>
            <a:ext cx="313166" cy="313166"/>
            <a:chOff x="7412417" y="1139116"/>
            <a:chExt cx="313166" cy="3131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FA10AC9-E697-5F63-0C83-503D75C57CA5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73A0C-5625-8707-C4CC-190721F32354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BDEF6E-7872-2C36-AD17-9F6E57D546EE}"/>
              </a:ext>
            </a:extLst>
          </p:cNvPr>
          <p:cNvGrpSpPr/>
          <p:nvPr/>
        </p:nvGrpSpPr>
        <p:grpSpPr>
          <a:xfrm>
            <a:off x="4397954" y="8001917"/>
            <a:ext cx="313166" cy="313166"/>
            <a:chOff x="7412417" y="1139116"/>
            <a:chExt cx="313166" cy="31316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17834B6-E376-76E9-7FBF-5B74E41BD74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AB0EE-882A-6E25-B09F-52D076394B1C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3204B1-0EB9-FE93-AA9C-5FD606798A66}"/>
              </a:ext>
            </a:extLst>
          </p:cNvPr>
          <p:cNvGrpSpPr/>
          <p:nvPr/>
        </p:nvGrpSpPr>
        <p:grpSpPr>
          <a:xfrm>
            <a:off x="4397954" y="9257639"/>
            <a:ext cx="313166" cy="313166"/>
            <a:chOff x="7412417" y="1139116"/>
            <a:chExt cx="313166" cy="3131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B874487-44D7-2FB9-78F8-1CCEF441A483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68ED3-ECFC-63F7-6EA7-82BD78B7656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191999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191999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235061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1686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8" y="5281316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시장조사를 보완하며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73500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</a:t>
            </a:r>
            <a:r>
              <a:rPr lang="ko-KR" altLang="en-US" sz="2800" b="1" dirty="0" err="1"/>
              <a:t>새로운패러다임</a:t>
            </a:r>
            <a:r>
              <a:rPr lang="ko-KR" altLang="en-US" sz="2800" b="1" dirty="0"/>
              <a:t>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5F4D51F-BD46-500D-28FD-841BC0CB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891" y="1819764"/>
            <a:ext cx="7692799" cy="5065027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향후 효율적 마케팅 방향을 시뮬레이션하고 빠르게 적용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3802</Words>
  <Application>Microsoft Office PowerPoint</Application>
  <PresentationFormat>사용자 지정</PresentationFormat>
  <Paragraphs>830</Paragraphs>
  <Slides>35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맑은 고딕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59</cp:revision>
  <dcterms:created xsi:type="dcterms:W3CDTF">2006-08-16T00:00:00Z</dcterms:created>
  <dcterms:modified xsi:type="dcterms:W3CDTF">2025-08-27T07:57:53Z</dcterms:modified>
  <dc:identifier>DAGvFTuB4-w</dc:identifier>
</cp:coreProperties>
</file>