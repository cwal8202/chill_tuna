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7"/>
  </p:notesMasterIdLst>
  <p:sldIdLst>
    <p:sldId id="256" r:id="rId2"/>
    <p:sldId id="257" r:id="rId3"/>
    <p:sldId id="269" r:id="rId4"/>
    <p:sldId id="258" r:id="rId5"/>
    <p:sldId id="270" r:id="rId6"/>
    <p:sldId id="259" r:id="rId7"/>
    <p:sldId id="271" r:id="rId8"/>
    <p:sldId id="274" r:id="rId9"/>
    <p:sldId id="272" r:id="rId10"/>
    <p:sldId id="278" r:id="rId11"/>
    <p:sldId id="314" r:id="rId12"/>
    <p:sldId id="315" r:id="rId13"/>
    <p:sldId id="317" r:id="rId14"/>
    <p:sldId id="318" r:id="rId15"/>
    <p:sldId id="316" r:id="rId16"/>
    <p:sldId id="319" r:id="rId17"/>
    <p:sldId id="320" r:id="rId18"/>
    <p:sldId id="321" r:id="rId19"/>
    <p:sldId id="329" r:id="rId20"/>
    <p:sldId id="322" r:id="rId21"/>
    <p:sldId id="292" r:id="rId22"/>
    <p:sldId id="328" r:id="rId23"/>
    <p:sldId id="323" r:id="rId24"/>
    <p:sldId id="325" r:id="rId25"/>
    <p:sldId id="326" r:id="rId26"/>
    <p:sldId id="327" r:id="rId27"/>
    <p:sldId id="299" r:id="rId28"/>
    <p:sldId id="330" r:id="rId29"/>
    <p:sldId id="300" r:id="rId30"/>
    <p:sldId id="303" r:id="rId31"/>
    <p:sldId id="304" r:id="rId32"/>
    <p:sldId id="306" r:id="rId33"/>
    <p:sldId id="307" r:id="rId34"/>
    <p:sldId id="310" r:id="rId35"/>
    <p:sldId id="312" r:id="rId36"/>
  </p:sldIdLst>
  <p:sldSz cx="18288000" cy="10287000"/>
  <p:notesSz cx="6858000" cy="9144000"/>
  <p:embeddedFontLst>
    <p:embeddedFont>
      <p:font typeface="맑은 고딕" panose="020B0503020000020004" pitchFamily="50" charset="-127"/>
      <p:regular r:id="rId38"/>
      <p:bold r:id="rId3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20" userDrawn="1">
          <p15:clr>
            <a:srgbClr val="A4A3A4"/>
          </p15:clr>
        </p15:guide>
        <p15:guide id="2" pos="286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EFF5"/>
    <a:srgbClr val="F2F2F2"/>
    <a:srgbClr val="FFFF99"/>
    <a:srgbClr val="FFFF66"/>
    <a:srgbClr val="FF9900"/>
    <a:srgbClr val="FFCC00"/>
    <a:srgbClr val="FFCC99"/>
    <a:srgbClr val="1A3F6B"/>
    <a:srgbClr val="131933"/>
    <a:srgbClr val="3258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D27102A9-8310-4765-A935-A1911B00CA55}" styleName="밝은 스타일 1 - 강조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848" autoAdjust="0"/>
    <p:restoredTop sz="96279" autoAdjust="0"/>
  </p:normalViewPr>
  <p:slideViewPr>
    <p:cSldViewPr>
      <p:cViewPr varScale="1">
        <p:scale>
          <a:sx n="73" d="100"/>
          <a:sy n="73" d="100"/>
        </p:scale>
        <p:origin x="732" y="54"/>
      </p:cViewPr>
      <p:guideLst>
        <p:guide orient="horz" pos="2220"/>
        <p:guide pos="286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45000" cy="450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2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BA5B7F-7B8A-42A5-9B6B-2D2B2E035833}" type="datetimeFigureOut">
              <a:rPr lang="ko-KR" altLang="en-US" smtClean="0"/>
              <a:t>2025-08-27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F3FE74F-0990-4438-8AB4-17B5663E8FF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06508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E74F-0990-4438-8AB4-17B5663E8FF9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91258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E74F-0990-4438-8AB4-17B5663E8FF9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98539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4.svg"/><Relationship Id="rId7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hyperlink" Target="https://arxiv.org/pdf/2404.18231" TargetMode="External"/><Relationship Id="rId4" Type="http://schemas.openxmlformats.org/officeDocument/2006/relationships/hyperlink" Target="https://www.hbs.edu/ris/Publication%20Files/23-062_ed720ebc-ec4d-4bc3-a6ba-bad8cfbd9d51.pdf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8.jpe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svg"/><Relationship Id="rId3" Type="http://schemas.openxmlformats.org/officeDocument/2006/relationships/image" Target="../media/image24.svg"/><Relationship Id="rId7" Type="http://schemas.openxmlformats.org/officeDocument/2006/relationships/image" Target="../media/image28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sv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5337688" y="2510"/>
            <a:ext cx="2950312" cy="10281980"/>
          </a:xfrm>
          <a:custGeom>
            <a:avLst/>
            <a:gdLst/>
            <a:ahLst/>
            <a:cxnLst/>
            <a:rect l="l" t="t" r="r" b="b"/>
            <a:pathLst>
              <a:path w="2950312" h="10281980">
                <a:moveTo>
                  <a:pt x="0" y="0"/>
                </a:moveTo>
                <a:lnTo>
                  <a:pt x="2950312" y="0"/>
                </a:lnTo>
                <a:lnTo>
                  <a:pt x="2950312" y="10281980"/>
                </a:lnTo>
                <a:lnTo>
                  <a:pt x="0" y="1028198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77118" r="-203723"/>
            </a:stretch>
          </a:blipFill>
          <a:ln cap="sq">
            <a:noFill/>
            <a:prstDash val="solid"/>
            <a:miter/>
          </a:ln>
        </p:spPr>
      </p:sp>
      <p:sp>
        <p:nvSpPr>
          <p:cNvPr id="3" name="AutoShape 3"/>
          <p:cNvSpPr/>
          <p:nvPr/>
        </p:nvSpPr>
        <p:spPr>
          <a:xfrm>
            <a:off x="4554538" y="1067479"/>
            <a:ext cx="10783150" cy="0"/>
          </a:xfrm>
          <a:prstGeom prst="line">
            <a:avLst/>
          </a:prstGeom>
          <a:ln w="952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AutoShape 4"/>
          <p:cNvSpPr/>
          <p:nvPr/>
        </p:nvSpPr>
        <p:spPr>
          <a:xfrm>
            <a:off x="1014811" y="8498583"/>
            <a:ext cx="9554206" cy="0"/>
          </a:xfrm>
          <a:prstGeom prst="line">
            <a:avLst/>
          </a:prstGeom>
          <a:ln w="9525" cap="flat">
            <a:solidFill>
              <a:srgbClr val="6B6A69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5" name="AutoShape 5"/>
          <p:cNvSpPr/>
          <p:nvPr/>
        </p:nvSpPr>
        <p:spPr>
          <a:xfrm>
            <a:off x="1014811" y="9415926"/>
            <a:ext cx="9554206" cy="0"/>
          </a:xfrm>
          <a:prstGeom prst="line">
            <a:avLst/>
          </a:prstGeom>
          <a:ln w="9525" cap="flat">
            <a:solidFill>
              <a:srgbClr val="6B6A69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6" name="AutoShape 6"/>
          <p:cNvSpPr/>
          <p:nvPr/>
        </p:nvSpPr>
        <p:spPr>
          <a:xfrm>
            <a:off x="4422167" y="8498583"/>
            <a:ext cx="0" cy="924037"/>
          </a:xfrm>
          <a:prstGeom prst="line">
            <a:avLst/>
          </a:prstGeom>
          <a:ln w="9525" cap="flat">
            <a:solidFill>
              <a:srgbClr val="6B6A69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7" name="TextBox 7"/>
          <p:cNvSpPr txBox="1"/>
          <p:nvPr/>
        </p:nvSpPr>
        <p:spPr>
          <a:xfrm>
            <a:off x="1014811" y="588854"/>
            <a:ext cx="4349189" cy="956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35"/>
              </a:lnSpc>
            </a:pPr>
            <a:r>
              <a:rPr lang="ko-KR" altLang="en-US" sz="2811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동원</a:t>
            </a:r>
            <a:r>
              <a:rPr lang="en-US" altLang="ko-KR" sz="2811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x</a:t>
            </a:r>
            <a:r>
              <a:rPr lang="ko-KR" altLang="en-US" sz="2811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카이스트</a:t>
            </a:r>
            <a:br>
              <a:rPr lang="en-US" altLang="ko-KR" sz="2811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</a:br>
            <a:r>
              <a:rPr lang="en-US" altLang="ko-KR" sz="2811" b="1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AI </a:t>
            </a:r>
            <a:r>
              <a:rPr lang="ko-KR" altLang="en-US" sz="2811" b="1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챌린지 프로젝트</a:t>
            </a:r>
            <a:endParaRPr lang="en-US" sz="2811" b="1" dirty="0">
              <a:solidFill>
                <a:srgbClr val="000000"/>
              </a:solidFill>
              <a:latin typeface="+mn-ea"/>
              <a:cs typeface="Telegraf"/>
              <a:sym typeface="Telegraf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019175" y="3838225"/>
            <a:ext cx="11325225" cy="25135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779"/>
              </a:lnSpc>
            </a:pPr>
            <a:r>
              <a:rPr lang="en-US" sz="9314" b="1" spc="-624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RPLA</a:t>
            </a:r>
            <a:r>
              <a:rPr lang="ko-KR" altLang="en-US" sz="9314" b="1" spc="-624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를 활용한 비즈니스 시뮬레이터</a:t>
            </a:r>
            <a:endParaRPr lang="en-US" sz="9314" b="1" spc="-624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037723" y="6847926"/>
            <a:ext cx="10027786" cy="409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10"/>
              </a:lnSpc>
            </a:pPr>
            <a:r>
              <a:rPr lang="ko-KR" altLang="en-US" sz="2792" b="1" spc="-201" dirty="0" err="1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파인튜닝된</a:t>
            </a:r>
            <a:r>
              <a:rPr lang="ko-KR" altLang="en-US" sz="2792" b="1" spc="-201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 페르소나를 이용한 신제품 판매 예측 시뮬레이션</a:t>
            </a:r>
            <a:endParaRPr lang="en-US" sz="2792" b="1" spc="-201" dirty="0">
              <a:solidFill>
                <a:srgbClr val="000000"/>
              </a:solidFill>
              <a:latin typeface="+mn-ea"/>
              <a:cs typeface="Source Han Sans KR Medium"/>
              <a:sym typeface="Source Han Sans KR Medium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5029200" y="8751807"/>
            <a:ext cx="5006687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2838"/>
              </a:lnSpc>
            </a:pPr>
            <a:r>
              <a:rPr lang="ko-KR" altLang="en-US" sz="2400" b="1" spc="253" dirty="0">
                <a:solidFill>
                  <a:srgbClr val="000001"/>
                </a:solidFill>
                <a:latin typeface="+mn-ea"/>
                <a:cs typeface="Source Han Sans KR Bold"/>
                <a:sym typeface="Source Han Sans KR Bold"/>
              </a:rPr>
              <a:t>박진성</a:t>
            </a:r>
            <a:r>
              <a:rPr lang="en-US" altLang="ko-KR" sz="2400" b="1" spc="253" dirty="0">
                <a:solidFill>
                  <a:srgbClr val="000001"/>
                </a:solidFill>
                <a:latin typeface="+mn-ea"/>
                <a:cs typeface="Source Han Sans KR Bold"/>
                <a:sym typeface="Source Han Sans KR Bold"/>
              </a:rPr>
              <a:t>, </a:t>
            </a:r>
            <a:r>
              <a:rPr lang="ko-KR" altLang="en-US" sz="2400" b="1" spc="253" dirty="0" err="1">
                <a:solidFill>
                  <a:srgbClr val="000001"/>
                </a:solidFill>
                <a:latin typeface="+mn-ea"/>
                <a:cs typeface="Source Han Sans KR Bold"/>
                <a:sym typeface="Source Han Sans KR Bold"/>
              </a:rPr>
              <a:t>주용곤</a:t>
            </a:r>
            <a:r>
              <a:rPr lang="en-US" altLang="ko-KR" sz="2400" b="1" spc="253" dirty="0">
                <a:solidFill>
                  <a:srgbClr val="000001"/>
                </a:solidFill>
                <a:latin typeface="+mn-ea"/>
                <a:cs typeface="Source Han Sans KR Bold"/>
                <a:sym typeface="Source Han Sans KR Bold"/>
              </a:rPr>
              <a:t>, </a:t>
            </a:r>
            <a:r>
              <a:rPr lang="ko-KR" altLang="en-US" sz="2400" b="1" spc="253" dirty="0">
                <a:solidFill>
                  <a:srgbClr val="000001"/>
                </a:solidFill>
                <a:latin typeface="+mn-ea"/>
                <a:cs typeface="Source Han Sans KR Bold"/>
                <a:sym typeface="Source Han Sans KR Bold"/>
              </a:rPr>
              <a:t>박동현</a:t>
            </a:r>
            <a:r>
              <a:rPr lang="en-US" altLang="ko-KR" sz="2400" b="1" spc="253" dirty="0">
                <a:solidFill>
                  <a:srgbClr val="000001"/>
                </a:solidFill>
                <a:latin typeface="+mn-ea"/>
                <a:cs typeface="Source Han Sans KR Bold"/>
                <a:sym typeface="Source Han Sans KR Bold"/>
              </a:rPr>
              <a:t>, </a:t>
            </a:r>
            <a:r>
              <a:rPr lang="ko-KR" altLang="en-US" sz="2400" b="1" spc="253" dirty="0" err="1">
                <a:solidFill>
                  <a:srgbClr val="000001"/>
                </a:solidFill>
                <a:latin typeface="+mn-ea"/>
                <a:cs typeface="Source Han Sans KR Bold"/>
                <a:sym typeface="Source Han Sans KR Bold"/>
              </a:rPr>
              <a:t>최장호</a:t>
            </a:r>
            <a:endParaRPr lang="en-US" sz="2400" b="1" spc="253" dirty="0">
              <a:solidFill>
                <a:srgbClr val="000001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178089" y="8761620"/>
            <a:ext cx="3698711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754"/>
              </a:lnSpc>
            </a:pPr>
            <a:r>
              <a:rPr lang="ko-KR" altLang="en-US" sz="2400" b="1" spc="-33" dirty="0">
                <a:solidFill>
                  <a:srgbClr val="000001"/>
                </a:solidFill>
                <a:latin typeface="+mn-ea"/>
                <a:cs typeface="Source Han Sans KR Bold"/>
                <a:sym typeface="Source Han Sans KR Bold"/>
              </a:rPr>
              <a:t>팀 </a:t>
            </a:r>
            <a:r>
              <a:rPr lang="en-US" altLang="ko-KR" sz="2400" b="1" spc="-33" dirty="0">
                <a:solidFill>
                  <a:srgbClr val="000001"/>
                </a:solidFill>
                <a:latin typeface="+mn-ea"/>
                <a:cs typeface="Source Han Sans KR Bold"/>
                <a:sym typeface="Source Han Sans KR Bold"/>
              </a:rPr>
              <a:t>Chill Tuna</a:t>
            </a:r>
            <a:endParaRPr lang="en-US" sz="2400" b="1" spc="-33" dirty="0">
              <a:solidFill>
                <a:srgbClr val="000001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12" name="TextBox 9">
            <a:extLst>
              <a:ext uri="{FF2B5EF4-FFF2-40B4-BE49-F238E27FC236}">
                <a16:creationId xmlns:a16="http://schemas.microsoft.com/office/drawing/2014/main" id="{AA0823AB-8BFD-7BE4-425D-170A335EDBA2}"/>
              </a:ext>
            </a:extLst>
          </p:cNvPr>
          <p:cNvSpPr txBox="1"/>
          <p:nvPr/>
        </p:nvSpPr>
        <p:spPr>
          <a:xfrm>
            <a:off x="1054984" y="3162300"/>
            <a:ext cx="10027786" cy="409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10"/>
              </a:lnSpc>
            </a:pPr>
            <a:r>
              <a:rPr lang="en-US" sz="2792" b="1" spc="-201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Role-Playing Language Agents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3126317" y="2956544"/>
            <a:ext cx="0" cy="1214936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>
            <a:off x="3126317" y="5402861"/>
            <a:ext cx="0" cy="1214936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TextBox 4"/>
          <p:cNvSpPr txBox="1"/>
          <p:nvPr/>
        </p:nvSpPr>
        <p:spPr>
          <a:xfrm>
            <a:off x="6691152" y="3509865"/>
            <a:ext cx="2950956" cy="3629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132"/>
              </a:lnSpc>
              <a:spcBef>
                <a:spcPct val="0"/>
              </a:spcBef>
            </a:pPr>
            <a:r>
              <a:rPr lang="ko-KR" altLang="en-US" sz="2237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개발목표</a:t>
            </a:r>
            <a:endParaRPr lang="en-US" sz="2237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3983765" y="3509865"/>
            <a:ext cx="2950956" cy="3629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132"/>
              </a:lnSpc>
              <a:spcBef>
                <a:spcPct val="0"/>
              </a:spcBef>
            </a:pPr>
            <a:r>
              <a:rPr lang="ko-KR" altLang="en-US" sz="2237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추진배경</a:t>
            </a:r>
            <a:endParaRPr lang="en-US" sz="2237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197103" y="3408380"/>
            <a:ext cx="1429735" cy="760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132"/>
              </a:lnSpc>
              <a:spcBef>
                <a:spcPct val="0"/>
              </a:spcBef>
            </a:pPr>
            <a:r>
              <a:rPr lang="ko-KR" altLang="en-US" sz="2237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프로젝트</a:t>
            </a:r>
            <a:endParaRPr lang="en-US" altLang="ko-KR" sz="2237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  <a:p>
            <a:pPr marL="0" lvl="0" indent="0" algn="l">
              <a:lnSpc>
                <a:spcPts val="3132"/>
              </a:lnSpc>
              <a:spcBef>
                <a:spcPct val="0"/>
              </a:spcBef>
            </a:pPr>
            <a:r>
              <a:rPr lang="ko-KR" altLang="en-US" sz="2237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개요</a:t>
            </a:r>
            <a:endParaRPr lang="en-US" sz="2237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197103" y="5808211"/>
            <a:ext cx="1429735" cy="760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132"/>
              </a:lnSpc>
              <a:spcBef>
                <a:spcPct val="0"/>
              </a:spcBef>
            </a:pPr>
            <a:r>
              <a:rPr lang="ko-KR" altLang="en-US" sz="2237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데이터 분석</a:t>
            </a:r>
            <a:endParaRPr lang="en-US" sz="2237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9517297" y="3509865"/>
            <a:ext cx="2690871" cy="3706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132"/>
              </a:lnSpc>
              <a:spcBef>
                <a:spcPct val="0"/>
              </a:spcBef>
            </a:pPr>
            <a:r>
              <a:rPr lang="ko-KR" altLang="en-US" sz="2237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업무분장</a:t>
            </a:r>
            <a:endParaRPr lang="en-US" sz="2237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6691152" y="2950280"/>
            <a:ext cx="993725" cy="396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7"/>
              </a:lnSpc>
              <a:spcBef>
                <a:spcPct val="0"/>
              </a:spcBef>
            </a:pPr>
            <a:r>
              <a:rPr lang="en-US" sz="2398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1-2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983765" y="2950280"/>
            <a:ext cx="993725" cy="396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7"/>
              </a:lnSpc>
              <a:spcBef>
                <a:spcPct val="0"/>
              </a:spcBef>
            </a:pPr>
            <a:r>
              <a:rPr lang="en-US" sz="2398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1-1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97103" y="2950280"/>
            <a:ext cx="1081367" cy="396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7"/>
              </a:lnSpc>
              <a:spcBef>
                <a:spcPct val="0"/>
              </a:spcBef>
            </a:pPr>
            <a:r>
              <a:rPr lang="en-US" sz="2398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Part 1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97103" y="5313758"/>
            <a:ext cx="1081367" cy="396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7"/>
              </a:lnSpc>
              <a:spcBef>
                <a:spcPct val="0"/>
              </a:spcBef>
            </a:pPr>
            <a:r>
              <a:rPr lang="en-US" sz="2398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Part 2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036594" y="5402861"/>
            <a:ext cx="1424056" cy="396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7"/>
              </a:lnSpc>
              <a:spcBef>
                <a:spcPct val="0"/>
              </a:spcBef>
            </a:pPr>
            <a:r>
              <a:rPr lang="en-US" sz="2398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2-1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517297" y="2950280"/>
            <a:ext cx="992079" cy="396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7"/>
              </a:lnSpc>
              <a:spcBef>
                <a:spcPct val="0"/>
              </a:spcBef>
            </a:pPr>
            <a:r>
              <a:rPr lang="en-US" sz="2398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1-3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765388" y="5402861"/>
            <a:ext cx="992079" cy="396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7"/>
              </a:lnSpc>
              <a:spcBef>
                <a:spcPct val="0"/>
              </a:spcBef>
            </a:pPr>
            <a:r>
              <a:rPr lang="en-US" sz="2398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2-2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170758" y="3509865"/>
            <a:ext cx="2006411" cy="3706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3132"/>
              </a:lnSpc>
              <a:spcBef>
                <a:spcPct val="0"/>
              </a:spcBef>
            </a:pPr>
            <a:r>
              <a:rPr lang="ko-KR" altLang="en-US" sz="2237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일정</a:t>
            </a:r>
            <a:endParaRPr lang="en-US" sz="2237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4036594" y="5899587"/>
            <a:ext cx="2950956" cy="3706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132"/>
              </a:lnSpc>
              <a:spcBef>
                <a:spcPct val="0"/>
              </a:spcBef>
            </a:pPr>
            <a:r>
              <a:rPr lang="ko-KR" altLang="en-US" sz="2237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데이터 수집</a:t>
            </a:r>
            <a:endParaRPr lang="en-US" sz="2237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6765388" y="5880734"/>
            <a:ext cx="2804658" cy="3606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132"/>
              </a:lnSpc>
              <a:spcBef>
                <a:spcPct val="0"/>
              </a:spcBef>
            </a:pPr>
            <a:r>
              <a:rPr lang="ko-KR" altLang="en-US" sz="2237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고객 세그먼트 분석</a:t>
            </a:r>
            <a:endParaRPr lang="en-US" altLang="ko-KR" sz="2237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9565410" y="5880734"/>
            <a:ext cx="2918446" cy="3706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>
              <a:lnSpc>
                <a:spcPts val="3132"/>
              </a:lnSpc>
              <a:spcBef>
                <a:spcPct val="0"/>
              </a:spcBef>
            </a:pPr>
            <a:r>
              <a:rPr lang="ko-KR" altLang="en-US" sz="2237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판매 제품 분석</a:t>
            </a:r>
            <a:endParaRPr lang="en-US" sz="2237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1197103" y="787028"/>
            <a:ext cx="3736349" cy="457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35"/>
              </a:lnSpc>
            </a:pPr>
            <a:r>
              <a:rPr lang="en-US" sz="2811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Content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2170758" y="2950280"/>
            <a:ext cx="1163648" cy="396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7"/>
              </a:lnSpc>
              <a:spcBef>
                <a:spcPct val="0"/>
              </a:spcBef>
            </a:pPr>
            <a:r>
              <a:rPr lang="en-US" sz="2398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1-4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565410" y="5402861"/>
            <a:ext cx="974922" cy="396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7"/>
              </a:lnSpc>
              <a:spcBef>
                <a:spcPct val="0"/>
              </a:spcBef>
            </a:pPr>
            <a:r>
              <a:rPr lang="en-US" sz="2398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2-3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07683" y="1527188"/>
            <a:ext cx="6913999" cy="7672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03"/>
              </a:lnSpc>
            </a:pPr>
            <a:r>
              <a:rPr lang="en-US" sz="5622" b="1" spc="-376" dirty="0" err="1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목차</a:t>
            </a:r>
            <a:endParaRPr lang="en-US" sz="5622" b="1" spc="-376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24" name="AutoShape 24"/>
          <p:cNvSpPr/>
          <p:nvPr/>
        </p:nvSpPr>
        <p:spPr>
          <a:xfrm>
            <a:off x="1197103" y="4719103"/>
            <a:ext cx="14840564" cy="0"/>
          </a:xfrm>
          <a:prstGeom prst="line">
            <a:avLst/>
          </a:prstGeom>
          <a:ln w="9525" cap="rnd">
            <a:solidFill>
              <a:srgbClr val="DFDFD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5" name="TextBox 16">
            <a:extLst>
              <a:ext uri="{FF2B5EF4-FFF2-40B4-BE49-F238E27FC236}">
                <a16:creationId xmlns:a16="http://schemas.microsoft.com/office/drawing/2014/main" id="{111D637D-ADF8-BB14-FE40-9BE5C6A9A9DF}"/>
              </a:ext>
            </a:extLst>
          </p:cNvPr>
          <p:cNvSpPr txBox="1"/>
          <p:nvPr/>
        </p:nvSpPr>
        <p:spPr>
          <a:xfrm>
            <a:off x="14861629" y="3509865"/>
            <a:ext cx="2006411" cy="3706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3132"/>
              </a:lnSpc>
              <a:spcBef>
                <a:spcPct val="0"/>
              </a:spcBef>
            </a:pPr>
            <a:r>
              <a:rPr lang="ko-KR" altLang="en-US" sz="2237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개발 환경</a:t>
            </a:r>
            <a:endParaRPr lang="en-US" sz="2237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26" name="TextBox 21">
            <a:extLst>
              <a:ext uri="{FF2B5EF4-FFF2-40B4-BE49-F238E27FC236}">
                <a16:creationId xmlns:a16="http://schemas.microsoft.com/office/drawing/2014/main" id="{AF8CC8F2-495D-568F-E28F-F90B65DEB68D}"/>
              </a:ext>
            </a:extLst>
          </p:cNvPr>
          <p:cNvSpPr txBox="1"/>
          <p:nvPr/>
        </p:nvSpPr>
        <p:spPr>
          <a:xfrm>
            <a:off x="14861629" y="2950280"/>
            <a:ext cx="1163648" cy="396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7"/>
              </a:lnSpc>
              <a:spcBef>
                <a:spcPct val="0"/>
              </a:spcBef>
            </a:pPr>
            <a:r>
              <a:rPr lang="en-US" sz="2398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1-5</a:t>
            </a:r>
          </a:p>
        </p:txBody>
      </p:sp>
      <p:sp>
        <p:nvSpPr>
          <p:cNvPr id="27" name="AutoShape 3">
            <a:extLst>
              <a:ext uri="{FF2B5EF4-FFF2-40B4-BE49-F238E27FC236}">
                <a16:creationId xmlns:a16="http://schemas.microsoft.com/office/drawing/2014/main" id="{FBE7BEF0-ABEB-91A8-4DE9-A84302469628}"/>
              </a:ext>
            </a:extLst>
          </p:cNvPr>
          <p:cNvSpPr/>
          <p:nvPr/>
        </p:nvSpPr>
        <p:spPr>
          <a:xfrm>
            <a:off x="3126317" y="7805948"/>
            <a:ext cx="0" cy="1214936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8" name="TextBox 7">
            <a:extLst>
              <a:ext uri="{FF2B5EF4-FFF2-40B4-BE49-F238E27FC236}">
                <a16:creationId xmlns:a16="http://schemas.microsoft.com/office/drawing/2014/main" id="{C8752153-9B06-84ED-1C40-1B5EC1775F89}"/>
              </a:ext>
            </a:extLst>
          </p:cNvPr>
          <p:cNvSpPr txBox="1"/>
          <p:nvPr/>
        </p:nvSpPr>
        <p:spPr>
          <a:xfrm>
            <a:off x="1197103" y="8211298"/>
            <a:ext cx="1429735" cy="760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132"/>
              </a:lnSpc>
              <a:spcBef>
                <a:spcPct val="0"/>
              </a:spcBef>
            </a:pPr>
            <a:r>
              <a:rPr lang="en-US" sz="2237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RPLAs</a:t>
            </a:r>
          </a:p>
          <a:p>
            <a:pPr marL="0" lvl="0" indent="0" algn="l">
              <a:lnSpc>
                <a:spcPts val="3132"/>
              </a:lnSpc>
              <a:spcBef>
                <a:spcPct val="0"/>
              </a:spcBef>
            </a:pPr>
            <a:r>
              <a:rPr lang="ko-KR" altLang="en-US" sz="2237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시뮬레이션</a:t>
            </a:r>
            <a:endParaRPr lang="en-US" sz="2237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29" name="TextBox 12">
            <a:extLst>
              <a:ext uri="{FF2B5EF4-FFF2-40B4-BE49-F238E27FC236}">
                <a16:creationId xmlns:a16="http://schemas.microsoft.com/office/drawing/2014/main" id="{E7BB47E0-7241-0AEF-9424-0E8A579A765F}"/>
              </a:ext>
            </a:extLst>
          </p:cNvPr>
          <p:cNvSpPr txBox="1"/>
          <p:nvPr/>
        </p:nvSpPr>
        <p:spPr>
          <a:xfrm>
            <a:off x="1197103" y="7716845"/>
            <a:ext cx="1081367" cy="396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7"/>
              </a:lnSpc>
              <a:spcBef>
                <a:spcPct val="0"/>
              </a:spcBef>
            </a:pPr>
            <a:r>
              <a:rPr lang="en-US" sz="2398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Part </a:t>
            </a:r>
            <a:r>
              <a:rPr lang="en-US" altLang="ko-KR" sz="2398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3</a:t>
            </a:r>
            <a:endParaRPr lang="en-US" sz="2398" dirty="0">
              <a:solidFill>
                <a:srgbClr val="000000"/>
              </a:solidFill>
              <a:latin typeface="+mn-ea"/>
              <a:cs typeface="Telegraf"/>
              <a:sym typeface="Telegraf"/>
            </a:endParaRPr>
          </a:p>
        </p:txBody>
      </p:sp>
      <p:sp>
        <p:nvSpPr>
          <p:cNvPr id="36" name="AutoShape 24">
            <a:extLst>
              <a:ext uri="{FF2B5EF4-FFF2-40B4-BE49-F238E27FC236}">
                <a16:creationId xmlns:a16="http://schemas.microsoft.com/office/drawing/2014/main" id="{5AB74ECC-504F-3AE0-AC25-9C3BF3D504FE}"/>
              </a:ext>
            </a:extLst>
          </p:cNvPr>
          <p:cNvSpPr/>
          <p:nvPr/>
        </p:nvSpPr>
        <p:spPr>
          <a:xfrm>
            <a:off x="1197103" y="7122190"/>
            <a:ext cx="14840564" cy="0"/>
          </a:xfrm>
          <a:prstGeom prst="line">
            <a:avLst/>
          </a:prstGeom>
          <a:ln w="9525" cap="rnd">
            <a:solidFill>
              <a:srgbClr val="DFDFD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7" name="TextBox 4">
            <a:extLst>
              <a:ext uri="{FF2B5EF4-FFF2-40B4-BE49-F238E27FC236}">
                <a16:creationId xmlns:a16="http://schemas.microsoft.com/office/drawing/2014/main" id="{E38EFC03-A41C-49CC-2546-5D8B2DFF0819}"/>
              </a:ext>
            </a:extLst>
          </p:cNvPr>
          <p:cNvSpPr txBox="1"/>
          <p:nvPr/>
        </p:nvSpPr>
        <p:spPr>
          <a:xfrm>
            <a:off x="6765062" y="8276430"/>
            <a:ext cx="1931732" cy="76097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3132"/>
              </a:lnSpc>
              <a:spcBef>
                <a:spcPct val="0"/>
              </a:spcBef>
            </a:pPr>
            <a:r>
              <a:rPr lang="ko-KR" altLang="en-US" sz="2237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프롬프트</a:t>
            </a:r>
            <a:endParaRPr lang="en-US" altLang="ko-KR" sz="2237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  <a:p>
            <a:pPr marL="0" lvl="0" indent="0" algn="l">
              <a:lnSpc>
                <a:spcPts val="3132"/>
              </a:lnSpc>
              <a:spcBef>
                <a:spcPct val="0"/>
              </a:spcBef>
            </a:pPr>
            <a:r>
              <a:rPr lang="ko-KR" altLang="en-US" sz="2237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엔지니어링</a:t>
            </a:r>
            <a:endParaRPr lang="en-US" sz="2237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38" name="TextBox 5">
            <a:extLst>
              <a:ext uri="{FF2B5EF4-FFF2-40B4-BE49-F238E27FC236}">
                <a16:creationId xmlns:a16="http://schemas.microsoft.com/office/drawing/2014/main" id="{6CA1A748-9C4E-938E-F9F9-0342F76F3983}"/>
              </a:ext>
            </a:extLst>
          </p:cNvPr>
          <p:cNvSpPr txBox="1"/>
          <p:nvPr/>
        </p:nvSpPr>
        <p:spPr>
          <a:xfrm>
            <a:off x="4057675" y="8276430"/>
            <a:ext cx="1722104" cy="76097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3132"/>
              </a:lnSpc>
              <a:spcBef>
                <a:spcPct val="0"/>
              </a:spcBef>
            </a:pPr>
            <a:r>
              <a:rPr lang="ko-KR" altLang="en-US" sz="2237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시뮬레이션</a:t>
            </a:r>
            <a:endParaRPr lang="en-US" altLang="ko-KR" sz="2237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  <a:p>
            <a:pPr marL="0" lvl="0" indent="0" algn="l">
              <a:lnSpc>
                <a:spcPts val="3132"/>
              </a:lnSpc>
              <a:spcBef>
                <a:spcPct val="0"/>
              </a:spcBef>
            </a:pPr>
            <a:r>
              <a:rPr lang="ko-KR" altLang="en-US" sz="2237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계획</a:t>
            </a:r>
            <a:endParaRPr lang="en-US" sz="2237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39" name="TextBox 8">
            <a:extLst>
              <a:ext uri="{FF2B5EF4-FFF2-40B4-BE49-F238E27FC236}">
                <a16:creationId xmlns:a16="http://schemas.microsoft.com/office/drawing/2014/main" id="{A807EF01-B4F5-E63C-345E-8E5B4D2A0A81}"/>
              </a:ext>
            </a:extLst>
          </p:cNvPr>
          <p:cNvSpPr txBox="1"/>
          <p:nvPr/>
        </p:nvSpPr>
        <p:spPr>
          <a:xfrm>
            <a:off x="9591207" y="8276430"/>
            <a:ext cx="2690871" cy="7609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132"/>
              </a:lnSpc>
              <a:spcBef>
                <a:spcPct val="0"/>
              </a:spcBef>
            </a:pPr>
            <a:r>
              <a:rPr lang="ko-KR" altLang="en-US" sz="2237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페르소나</a:t>
            </a:r>
            <a:endParaRPr lang="en-US" altLang="ko-KR" sz="2237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  <a:p>
            <a:pPr marL="0" lvl="0" indent="0" algn="l">
              <a:lnSpc>
                <a:spcPts val="3132"/>
              </a:lnSpc>
              <a:spcBef>
                <a:spcPct val="0"/>
              </a:spcBef>
            </a:pPr>
            <a:r>
              <a:rPr lang="ko-KR" altLang="en-US" sz="2237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생성</a:t>
            </a:r>
            <a:endParaRPr lang="en-US" sz="2237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40" name="TextBox 9">
            <a:extLst>
              <a:ext uri="{FF2B5EF4-FFF2-40B4-BE49-F238E27FC236}">
                <a16:creationId xmlns:a16="http://schemas.microsoft.com/office/drawing/2014/main" id="{15C75304-A0AD-2C12-5CEF-1EF945C99180}"/>
              </a:ext>
            </a:extLst>
          </p:cNvPr>
          <p:cNvSpPr txBox="1"/>
          <p:nvPr/>
        </p:nvSpPr>
        <p:spPr>
          <a:xfrm>
            <a:off x="6765062" y="7716845"/>
            <a:ext cx="993725" cy="396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7"/>
              </a:lnSpc>
              <a:spcBef>
                <a:spcPct val="0"/>
              </a:spcBef>
            </a:pPr>
            <a:r>
              <a:rPr lang="en-US" altLang="ko-KR" sz="2398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3</a:t>
            </a:r>
            <a:r>
              <a:rPr lang="en-US" sz="2398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-2</a:t>
            </a:r>
          </a:p>
        </p:txBody>
      </p:sp>
      <p:sp>
        <p:nvSpPr>
          <p:cNvPr id="41" name="TextBox 10">
            <a:extLst>
              <a:ext uri="{FF2B5EF4-FFF2-40B4-BE49-F238E27FC236}">
                <a16:creationId xmlns:a16="http://schemas.microsoft.com/office/drawing/2014/main" id="{B47F37B6-9F1D-C2BF-2AE6-DBDA1D337A98}"/>
              </a:ext>
            </a:extLst>
          </p:cNvPr>
          <p:cNvSpPr txBox="1"/>
          <p:nvPr/>
        </p:nvSpPr>
        <p:spPr>
          <a:xfrm>
            <a:off x="4057675" y="7716845"/>
            <a:ext cx="993725" cy="396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7"/>
              </a:lnSpc>
              <a:spcBef>
                <a:spcPct val="0"/>
              </a:spcBef>
            </a:pPr>
            <a:r>
              <a:rPr lang="en-US" altLang="ko-KR" sz="2398" dirty="0">
                <a:latin typeface="+mn-ea"/>
                <a:cs typeface="Telegraf"/>
                <a:sym typeface="Telegraf"/>
              </a:rPr>
              <a:t>3</a:t>
            </a:r>
            <a:r>
              <a:rPr lang="en-US" sz="2398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-1</a:t>
            </a:r>
          </a:p>
        </p:txBody>
      </p:sp>
      <p:sp>
        <p:nvSpPr>
          <p:cNvPr id="42" name="TextBox 14">
            <a:extLst>
              <a:ext uri="{FF2B5EF4-FFF2-40B4-BE49-F238E27FC236}">
                <a16:creationId xmlns:a16="http://schemas.microsoft.com/office/drawing/2014/main" id="{2766E59C-3AEA-599A-AFA8-01905DF6A6B1}"/>
              </a:ext>
            </a:extLst>
          </p:cNvPr>
          <p:cNvSpPr txBox="1"/>
          <p:nvPr/>
        </p:nvSpPr>
        <p:spPr>
          <a:xfrm>
            <a:off x="9591207" y="7716845"/>
            <a:ext cx="992079" cy="396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7"/>
              </a:lnSpc>
              <a:spcBef>
                <a:spcPct val="0"/>
              </a:spcBef>
            </a:pPr>
            <a:r>
              <a:rPr lang="en-US" altLang="ko-KR" sz="2398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3</a:t>
            </a:r>
            <a:r>
              <a:rPr lang="en-US" sz="2398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-3</a:t>
            </a:r>
          </a:p>
        </p:txBody>
      </p:sp>
      <p:sp>
        <p:nvSpPr>
          <p:cNvPr id="43" name="TextBox 16">
            <a:extLst>
              <a:ext uri="{FF2B5EF4-FFF2-40B4-BE49-F238E27FC236}">
                <a16:creationId xmlns:a16="http://schemas.microsoft.com/office/drawing/2014/main" id="{170C03CB-A8D7-37DD-4B36-83E406D5AB9B}"/>
              </a:ext>
            </a:extLst>
          </p:cNvPr>
          <p:cNvSpPr txBox="1"/>
          <p:nvPr/>
        </p:nvSpPr>
        <p:spPr>
          <a:xfrm>
            <a:off x="12244668" y="8276430"/>
            <a:ext cx="2006411" cy="76097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3132"/>
              </a:lnSpc>
              <a:spcBef>
                <a:spcPct val="0"/>
              </a:spcBef>
            </a:pPr>
            <a:r>
              <a:rPr lang="ko-KR" altLang="en-US" sz="2237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예측 </a:t>
            </a:r>
            <a:endParaRPr lang="en-US" altLang="ko-KR" sz="2237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  <a:p>
            <a:pPr marL="0" lvl="0" indent="0" algn="l">
              <a:lnSpc>
                <a:spcPts val="3132"/>
              </a:lnSpc>
              <a:spcBef>
                <a:spcPct val="0"/>
              </a:spcBef>
            </a:pPr>
            <a:r>
              <a:rPr lang="ko-KR" altLang="en-US" sz="2237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시뮬레이션</a:t>
            </a:r>
            <a:endParaRPr lang="en-US" sz="2237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44" name="TextBox 21">
            <a:extLst>
              <a:ext uri="{FF2B5EF4-FFF2-40B4-BE49-F238E27FC236}">
                <a16:creationId xmlns:a16="http://schemas.microsoft.com/office/drawing/2014/main" id="{E6B87391-72F4-E286-2408-19CD1330294C}"/>
              </a:ext>
            </a:extLst>
          </p:cNvPr>
          <p:cNvSpPr txBox="1"/>
          <p:nvPr/>
        </p:nvSpPr>
        <p:spPr>
          <a:xfrm>
            <a:off x="12244668" y="7716845"/>
            <a:ext cx="1163648" cy="396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7"/>
              </a:lnSpc>
              <a:spcBef>
                <a:spcPct val="0"/>
              </a:spcBef>
            </a:pPr>
            <a:r>
              <a:rPr lang="en-US" altLang="ko-KR" sz="2398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3</a:t>
            </a:r>
            <a:r>
              <a:rPr lang="en-US" sz="2398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-4</a:t>
            </a:r>
          </a:p>
        </p:txBody>
      </p:sp>
      <p:sp>
        <p:nvSpPr>
          <p:cNvPr id="45" name="TextBox 16">
            <a:extLst>
              <a:ext uri="{FF2B5EF4-FFF2-40B4-BE49-F238E27FC236}">
                <a16:creationId xmlns:a16="http://schemas.microsoft.com/office/drawing/2014/main" id="{07088547-203C-C81C-47C8-3F6C194DB6BA}"/>
              </a:ext>
            </a:extLst>
          </p:cNvPr>
          <p:cNvSpPr txBox="1"/>
          <p:nvPr/>
        </p:nvSpPr>
        <p:spPr>
          <a:xfrm>
            <a:off x="14935539" y="8276430"/>
            <a:ext cx="2006411" cy="3706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3132"/>
              </a:lnSpc>
              <a:spcBef>
                <a:spcPct val="0"/>
              </a:spcBef>
            </a:pPr>
            <a:r>
              <a:rPr lang="ko-KR" altLang="en-US" sz="2237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평가 및 검증</a:t>
            </a:r>
            <a:endParaRPr lang="en-US" sz="2237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46" name="TextBox 21">
            <a:extLst>
              <a:ext uri="{FF2B5EF4-FFF2-40B4-BE49-F238E27FC236}">
                <a16:creationId xmlns:a16="http://schemas.microsoft.com/office/drawing/2014/main" id="{3D782EB4-B956-6561-5257-CE967B003B90}"/>
              </a:ext>
            </a:extLst>
          </p:cNvPr>
          <p:cNvSpPr txBox="1"/>
          <p:nvPr/>
        </p:nvSpPr>
        <p:spPr>
          <a:xfrm>
            <a:off x="14935539" y="7716845"/>
            <a:ext cx="1163648" cy="396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7"/>
              </a:lnSpc>
              <a:spcBef>
                <a:spcPct val="0"/>
              </a:spcBef>
            </a:pPr>
            <a:r>
              <a:rPr lang="en-US" altLang="ko-KR" sz="2398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3</a:t>
            </a:r>
            <a:r>
              <a:rPr lang="en-US" sz="2398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-5</a:t>
            </a:r>
          </a:p>
        </p:txBody>
      </p:sp>
      <p:sp>
        <p:nvSpPr>
          <p:cNvPr id="30" name="TextBox 19">
            <a:extLst>
              <a:ext uri="{FF2B5EF4-FFF2-40B4-BE49-F238E27FC236}">
                <a16:creationId xmlns:a16="http://schemas.microsoft.com/office/drawing/2014/main" id="{F555EC4D-9B8D-F2E5-E58E-6B4F13EEAB4C}"/>
              </a:ext>
            </a:extLst>
          </p:cNvPr>
          <p:cNvSpPr txBox="1"/>
          <p:nvPr/>
        </p:nvSpPr>
        <p:spPr>
          <a:xfrm>
            <a:off x="12789000" y="5880734"/>
            <a:ext cx="2918446" cy="3706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132"/>
              </a:lnSpc>
              <a:spcBef>
                <a:spcPct val="0"/>
              </a:spcBef>
            </a:pPr>
            <a:r>
              <a:rPr lang="ko-KR" altLang="en-US" sz="2237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외생 변수 가공</a:t>
            </a:r>
            <a:endParaRPr lang="en-US" sz="2237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31" name="TextBox 22">
            <a:extLst>
              <a:ext uri="{FF2B5EF4-FFF2-40B4-BE49-F238E27FC236}">
                <a16:creationId xmlns:a16="http://schemas.microsoft.com/office/drawing/2014/main" id="{24CE49B5-4373-9AB4-C99A-0F8075A23651}"/>
              </a:ext>
            </a:extLst>
          </p:cNvPr>
          <p:cNvSpPr txBox="1"/>
          <p:nvPr/>
        </p:nvSpPr>
        <p:spPr>
          <a:xfrm>
            <a:off x="12789000" y="5402861"/>
            <a:ext cx="974922" cy="396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7"/>
              </a:lnSpc>
              <a:spcBef>
                <a:spcPct val="0"/>
              </a:spcBef>
            </a:pPr>
            <a:r>
              <a:rPr lang="en-US" sz="2398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2-4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013547-2A40-9511-2F2D-36DBB8C85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EE5BA034-D040-161C-30F3-64E770DF1BF7}"/>
              </a:ext>
            </a:extLst>
          </p:cNvPr>
          <p:cNvSpPr/>
          <p:nvPr/>
        </p:nvSpPr>
        <p:spPr>
          <a:xfrm>
            <a:off x="3126317" y="2956544"/>
            <a:ext cx="0" cy="1214936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BDBB0E09-A747-EAA4-28A3-AA7EB50772F4}"/>
              </a:ext>
            </a:extLst>
          </p:cNvPr>
          <p:cNvSpPr/>
          <p:nvPr/>
        </p:nvSpPr>
        <p:spPr>
          <a:xfrm>
            <a:off x="3126317" y="5402861"/>
            <a:ext cx="0" cy="1214936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6C7C47F-73BE-AA3F-D9F6-99D8F1C7A8CE}"/>
              </a:ext>
            </a:extLst>
          </p:cNvPr>
          <p:cNvSpPr txBox="1"/>
          <p:nvPr/>
        </p:nvSpPr>
        <p:spPr>
          <a:xfrm>
            <a:off x="6691152" y="3509865"/>
            <a:ext cx="2950956" cy="3629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132"/>
              </a:lnSpc>
              <a:spcBef>
                <a:spcPct val="0"/>
              </a:spcBef>
            </a:pPr>
            <a:r>
              <a:rPr lang="ko-KR" altLang="en-US" sz="2237" b="1" spc="-80" dirty="0" err="1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플로우차트</a:t>
            </a:r>
            <a:endParaRPr lang="en-US" sz="2237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FDB137CC-7ACF-8FA2-EFC3-FE5B0AEEBA77}"/>
              </a:ext>
            </a:extLst>
          </p:cNvPr>
          <p:cNvSpPr txBox="1"/>
          <p:nvPr/>
        </p:nvSpPr>
        <p:spPr>
          <a:xfrm>
            <a:off x="3983765" y="3509865"/>
            <a:ext cx="1740234" cy="3629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3132"/>
              </a:lnSpc>
              <a:spcBef>
                <a:spcPct val="0"/>
              </a:spcBef>
            </a:pPr>
            <a:r>
              <a:rPr lang="ko-KR" altLang="en-US" sz="2237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화면기획서</a:t>
            </a:r>
            <a:endParaRPr lang="en-US" sz="2237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1444B028-E0BE-B880-BBFE-5B1C8AB64AC5}"/>
              </a:ext>
            </a:extLst>
          </p:cNvPr>
          <p:cNvSpPr txBox="1"/>
          <p:nvPr/>
        </p:nvSpPr>
        <p:spPr>
          <a:xfrm>
            <a:off x="1197103" y="3408380"/>
            <a:ext cx="1429735" cy="7609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132"/>
              </a:lnSpc>
              <a:spcBef>
                <a:spcPct val="0"/>
              </a:spcBef>
            </a:pPr>
            <a:r>
              <a:rPr lang="ko-KR" altLang="en-US" sz="2237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웹페이지</a:t>
            </a:r>
            <a:endParaRPr lang="en-US" altLang="ko-KR" sz="2237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  <a:p>
            <a:pPr marL="0" lvl="0" indent="0" algn="l">
              <a:lnSpc>
                <a:spcPts val="3132"/>
              </a:lnSpc>
              <a:spcBef>
                <a:spcPct val="0"/>
              </a:spcBef>
            </a:pPr>
            <a:r>
              <a:rPr lang="ko-KR" altLang="en-US" sz="2237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개발</a:t>
            </a:r>
            <a:endParaRPr lang="en-US" sz="2237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86CF5F5B-8113-6D22-6143-D1BECC5DE82B}"/>
              </a:ext>
            </a:extLst>
          </p:cNvPr>
          <p:cNvSpPr txBox="1"/>
          <p:nvPr/>
        </p:nvSpPr>
        <p:spPr>
          <a:xfrm>
            <a:off x="1197103" y="5808211"/>
            <a:ext cx="1429735" cy="7609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132"/>
              </a:lnSpc>
              <a:spcBef>
                <a:spcPct val="0"/>
              </a:spcBef>
            </a:pPr>
            <a:r>
              <a:rPr lang="ko-KR" altLang="en-US" sz="2237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결과 및</a:t>
            </a:r>
            <a:endParaRPr lang="en-US" altLang="ko-KR" sz="2237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  <a:p>
            <a:pPr marL="0" lvl="0" indent="0" algn="l">
              <a:lnSpc>
                <a:spcPts val="3132"/>
              </a:lnSpc>
              <a:spcBef>
                <a:spcPct val="0"/>
              </a:spcBef>
            </a:pPr>
            <a:r>
              <a:rPr lang="ko-KR" altLang="en-US" sz="2237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평가</a:t>
            </a:r>
            <a:endParaRPr lang="en-US" sz="2237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18E85676-C4F6-DF6D-19C8-1A1DB814A209}"/>
              </a:ext>
            </a:extLst>
          </p:cNvPr>
          <p:cNvSpPr txBox="1"/>
          <p:nvPr/>
        </p:nvSpPr>
        <p:spPr>
          <a:xfrm>
            <a:off x="6691152" y="2950280"/>
            <a:ext cx="993725" cy="396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7"/>
              </a:lnSpc>
              <a:spcBef>
                <a:spcPct val="0"/>
              </a:spcBef>
            </a:pPr>
            <a:r>
              <a:rPr lang="en-US" altLang="ko-KR" sz="2398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4</a:t>
            </a:r>
            <a:r>
              <a:rPr lang="en-US" sz="2398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-2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806407D-7326-AF3E-7F34-D341FF5EF10F}"/>
              </a:ext>
            </a:extLst>
          </p:cNvPr>
          <p:cNvSpPr txBox="1"/>
          <p:nvPr/>
        </p:nvSpPr>
        <p:spPr>
          <a:xfrm>
            <a:off x="3983765" y="2950280"/>
            <a:ext cx="993725" cy="396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7"/>
              </a:lnSpc>
              <a:spcBef>
                <a:spcPct val="0"/>
              </a:spcBef>
            </a:pPr>
            <a:r>
              <a:rPr lang="en-US" altLang="ko-KR" sz="2398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4</a:t>
            </a:r>
            <a:r>
              <a:rPr lang="en-US" sz="2398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-1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D7CFED1F-BC1E-3ABF-8323-C392CA4C1C33}"/>
              </a:ext>
            </a:extLst>
          </p:cNvPr>
          <p:cNvSpPr txBox="1"/>
          <p:nvPr/>
        </p:nvSpPr>
        <p:spPr>
          <a:xfrm>
            <a:off x="1197103" y="2950280"/>
            <a:ext cx="1081367" cy="396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7"/>
              </a:lnSpc>
              <a:spcBef>
                <a:spcPct val="0"/>
              </a:spcBef>
            </a:pPr>
            <a:r>
              <a:rPr lang="en-US" sz="2398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Part </a:t>
            </a:r>
            <a:r>
              <a:rPr lang="en-US" altLang="ko-KR" sz="2398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4</a:t>
            </a:r>
            <a:endParaRPr lang="en-US" sz="2398" dirty="0">
              <a:solidFill>
                <a:srgbClr val="000000"/>
              </a:solidFill>
              <a:latin typeface="+mn-ea"/>
              <a:cs typeface="Telegraf"/>
              <a:sym typeface="Telegraf"/>
            </a:endParaRP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12CEE7D-C368-36A7-069C-2D9AA19B62B3}"/>
              </a:ext>
            </a:extLst>
          </p:cNvPr>
          <p:cNvSpPr txBox="1"/>
          <p:nvPr/>
        </p:nvSpPr>
        <p:spPr>
          <a:xfrm>
            <a:off x="1197103" y="5313758"/>
            <a:ext cx="1081367" cy="396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7"/>
              </a:lnSpc>
              <a:spcBef>
                <a:spcPct val="0"/>
              </a:spcBef>
            </a:pPr>
            <a:r>
              <a:rPr lang="en-US" sz="2398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Part </a:t>
            </a:r>
            <a:r>
              <a:rPr lang="en-US" altLang="ko-KR" sz="2398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5</a:t>
            </a:r>
            <a:endParaRPr lang="en-US" sz="2398" dirty="0">
              <a:solidFill>
                <a:srgbClr val="000000"/>
              </a:solidFill>
              <a:latin typeface="+mn-ea"/>
              <a:cs typeface="Telegraf"/>
              <a:sym typeface="Telegraf"/>
            </a:endParaRP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F2381D79-6317-33B3-3096-126E06AFA12E}"/>
              </a:ext>
            </a:extLst>
          </p:cNvPr>
          <p:cNvSpPr txBox="1"/>
          <p:nvPr/>
        </p:nvSpPr>
        <p:spPr>
          <a:xfrm>
            <a:off x="4036594" y="5402861"/>
            <a:ext cx="1424056" cy="396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7"/>
              </a:lnSpc>
              <a:spcBef>
                <a:spcPct val="0"/>
              </a:spcBef>
            </a:pPr>
            <a:r>
              <a:rPr lang="en-US" altLang="ko-KR" sz="2398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5</a:t>
            </a:r>
            <a:r>
              <a:rPr lang="en-US" sz="2398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-1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B2D6BFD3-D1F0-3C04-35E3-BA5649ADD5D0}"/>
              </a:ext>
            </a:extLst>
          </p:cNvPr>
          <p:cNvSpPr txBox="1"/>
          <p:nvPr/>
        </p:nvSpPr>
        <p:spPr>
          <a:xfrm>
            <a:off x="6765388" y="5402861"/>
            <a:ext cx="992079" cy="396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7"/>
              </a:lnSpc>
              <a:spcBef>
                <a:spcPct val="0"/>
              </a:spcBef>
            </a:pPr>
            <a:r>
              <a:rPr lang="en-US" altLang="ko-KR" sz="2398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5</a:t>
            </a:r>
            <a:r>
              <a:rPr lang="en-US" sz="2398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-2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4F8680-F08A-8B41-C2A4-BB5BFCF6C66E}"/>
              </a:ext>
            </a:extLst>
          </p:cNvPr>
          <p:cNvSpPr txBox="1"/>
          <p:nvPr/>
        </p:nvSpPr>
        <p:spPr>
          <a:xfrm>
            <a:off x="4036594" y="5899587"/>
            <a:ext cx="2092403" cy="3706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3132"/>
              </a:lnSpc>
              <a:spcBef>
                <a:spcPct val="0"/>
              </a:spcBef>
            </a:pPr>
            <a:r>
              <a:rPr lang="ko-KR" altLang="en-US" sz="2237" b="1" spc="-8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화면 시연</a:t>
            </a:r>
            <a:endParaRPr lang="en-US" sz="2237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B0FA740-92B6-CA92-0E2D-F8F69DF9F1CE}"/>
              </a:ext>
            </a:extLst>
          </p:cNvPr>
          <p:cNvSpPr txBox="1"/>
          <p:nvPr/>
        </p:nvSpPr>
        <p:spPr>
          <a:xfrm>
            <a:off x="6765388" y="5880734"/>
            <a:ext cx="2804658" cy="3706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132"/>
              </a:lnSpc>
              <a:spcBef>
                <a:spcPct val="0"/>
              </a:spcBef>
            </a:pPr>
            <a:r>
              <a:rPr lang="ko-KR" altLang="en-US" sz="2237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기대효과</a:t>
            </a:r>
            <a:endParaRPr lang="en-US" sz="2237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1BDCA8A3-4191-D582-3BAC-EB05B2EAAC2A}"/>
              </a:ext>
            </a:extLst>
          </p:cNvPr>
          <p:cNvSpPr txBox="1"/>
          <p:nvPr/>
        </p:nvSpPr>
        <p:spPr>
          <a:xfrm>
            <a:off x="9565410" y="5880734"/>
            <a:ext cx="2918446" cy="3706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132"/>
              </a:lnSpc>
              <a:spcBef>
                <a:spcPct val="0"/>
              </a:spcBef>
            </a:pPr>
            <a:r>
              <a:rPr lang="ko-KR" altLang="en-US" sz="2237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자체 피드백</a:t>
            </a:r>
            <a:endParaRPr lang="en-US" sz="2237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E997DA83-1951-8A5C-AFA0-40B80E24BA9A}"/>
              </a:ext>
            </a:extLst>
          </p:cNvPr>
          <p:cNvSpPr txBox="1"/>
          <p:nvPr/>
        </p:nvSpPr>
        <p:spPr>
          <a:xfrm>
            <a:off x="1197103" y="787028"/>
            <a:ext cx="3736349" cy="457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35"/>
              </a:lnSpc>
            </a:pPr>
            <a:r>
              <a:rPr lang="en-US" sz="2811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Content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207A1F50-57C9-9996-3B3A-6BFAEE9549BF}"/>
              </a:ext>
            </a:extLst>
          </p:cNvPr>
          <p:cNvSpPr txBox="1"/>
          <p:nvPr/>
        </p:nvSpPr>
        <p:spPr>
          <a:xfrm>
            <a:off x="9565410" y="5402861"/>
            <a:ext cx="974922" cy="396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7"/>
              </a:lnSpc>
              <a:spcBef>
                <a:spcPct val="0"/>
              </a:spcBef>
            </a:pPr>
            <a:r>
              <a:rPr lang="en-US" altLang="ko-KR" sz="2398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5</a:t>
            </a:r>
            <a:r>
              <a:rPr lang="en-US" sz="2398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-3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8A062BF6-7719-B597-C6E7-B42819F8C69B}"/>
              </a:ext>
            </a:extLst>
          </p:cNvPr>
          <p:cNvSpPr txBox="1"/>
          <p:nvPr/>
        </p:nvSpPr>
        <p:spPr>
          <a:xfrm>
            <a:off x="1107683" y="1527188"/>
            <a:ext cx="6913999" cy="7672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03"/>
              </a:lnSpc>
            </a:pPr>
            <a:r>
              <a:rPr lang="en-US" sz="5622" b="1" spc="-376" dirty="0" err="1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목차</a:t>
            </a:r>
            <a:endParaRPr lang="en-US" sz="5622" b="1" spc="-376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24" name="AutoShape 24">
            <a:extLst>
              <a:ext uri="{FF2B5EF4-FFF2-40B4-BE49-F238E27FC236}">
                <a16:creationId xmlns:a16="http://schemas.microsoft.com/office/drawing/2014/main" id="{47E1CCA2-4CBC-BFB8-F687-76F7E639D124}"/>
              </a:ext>
            </a:extLst>
          </p:cNvPr>
          <p:cNvSpPr/>
          <p:nvPr/>
        </p:nvSpPr>
        <p:spPr>
          <a:xfrm>
            <a:off x="1197103" y="4719103"/>
            <a:ext cx="14840564" cy="0"/>
          </a:xfrm>
          <a:prstGeom prst="line">
            <a:avLst/>
          </a:prstGeom>
          <a:ln w="9525" cap="rnd">
            <a:solidFill>
              <a:srgbClr val="DFDFDF"/>
            </a:solidFill>
            <a:prstDash val="solid"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9303927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16716877" y="8776205"/>
            <a:ext cx="1242680" cy="4251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542"/>
              </a:lnSpc>
            </a:pPr>
            <a:r>
              <a:rPr lang="en-US" sz="2530" b="1" spc="-43">
                <a:solidFill>
                  <a:srgbClr val="FFFFFF"/>
                </a:solidFill>
                <a:latin typeface="+mn-ea"/>
                <a:cs typeface="Source Han Sans KR Bold"/>
                <a:sym typeface="Source Han Sans KR Bold"/>
              </a:rPr>
              <a:t>Logo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956928" y="6742688"/>
            <a:ext cx="2598180" cy="3299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757"/>
              </a:lnSpc>
              <a:spcBef>
                <a:spcPct val="0"/>
              </a:spcBef>
            </a:pPr>
            <a:r>
              <a:rPr lang="ko-KR" altLang="en-US" sz="2000" b="1" spc="-7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개발목표</a:t>
            </a:r>
            <a:endParaRPr lang="en-US" sz="2000" b="1" spc="-7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5916826" y="6742688"/>
            <a:ext cx="2598180" cy="3299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757"/>
              </a:lnSpc>
              <a:spcBef>
                <a:spcPct val="0"/>
              </a:spcBef>
            </a:pPr>
            <a:r>
              <a:rPr lang="ko-KR" altLang="en-US" sz="2000" b="1" spc="-7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추진배경</a:t>
            </a:r>
            <a:endParaRPr lang="en-US" sz="2000" b="1" spc="-7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0047559" y="6742688"/>
            <a:ext cx="2369187" cy="3367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757"/>
              </a:lnSpc>
              <a:spcBef>
                <a:spcPct val="0"/>
              </a:spcBef>
            </a:pPr>
            <a:r>
              <a:rPr lang="ko-KR" altLang="en-US" sz="2000" b="1" spc="-7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업무분장</a:t>
            </a:r>
            <a:endParaRPr lang="en-US" sz="2000" b="1" spc="-7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7410041" y="6320010"/>
            <a:ext cx="0" cy="759414"/>
          </a:xfrm>
          <a:prstGeom prst="line">
            <a:avLst/>
          </a:prstGeom>
          <a:ln w="9525" cap="flat">
            <a:solidFill>
              <a:srgbClr val="DFDFD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9" name="AutoShape 9"/>
          <p:cNvSpPr/>
          <p:nvPr/>
        </p:nvSpPr>
        <p:spPr>
          <a:xfrm>
            <a:off x="9497326" y="6320010"/>
            <a:ext cx="0" cy="759414"/>
          </a:xfrm>
          <a:prstGeom prst="line">
            <a:avLst/>
          </a:prstGeom>
          <a:ln w="9525" cap="flat">
            <a:solidFill>
              <a:srgbClr val="DFDFD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0" name="AutoShape 10"/>
          <p:cNvSpPr/>
          <p:nvPr/>
        </p:nvSpPr>
        <p:spPr>
          <a:xfrm>
            <a:off x="11587833" y="6320010"/>
            <a:ext cx="0" cy="759414"/>
          </a:xfrm>
          <a:prstGeom prst="line">
            <a:avLst/>
          </a:prstGeom>
          <a:ln w="9525" cap="flat">
            <a:solidFill>
              <a:srgbClr val="DFDFD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1" name="TextBox 11"/>
          <p:cNvSpPr txBox="1"/>
          <p:nvPr/>
        </p:nvSpPr>
        <p:spPr>
          <a:xfrm>
            <a:off x="1183714" y="6035503"/>
            <a:ext cx="4502923" cy="12439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74"/>
              </a:lnSpc>
            </a:pPr>
            <a:r>
              <a:rPr lang="ko-KR" altLang="en-US" sz="8800" b="1" spc="-61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개요</a:t>
            </a:r>
            <a:endParaRPr lang="en-US" sz="8800" b="1" spc="-617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299068" y="5101802"/>
            <a:ext cx="1267504" cy="457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935"/>
              </a:lnSpc>
              <a:spcBef>
                <a:spcPct val="0"/>
              </a:spcBef>
            </a:pPr>
            <a:r>
              <a:rPr lang="en-US" sz="2811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Part 1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956928" y="6253335"/>
            <a:ext cx="874928" cy="3501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956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1-2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916826" y="6253335"/>
            <a:ext cx="874928" cy="3501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956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1-1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047559" y="6253335"/>
            <a:ext cx="873479" cy="3501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956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1-3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136741" y="6742688"/>
            <a:ext cx="2741300" cy="3367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757"/>
              </a:lnSpc>
              <a:spcBef>
                <a:spcPct val="0"/>
              </a:spcBef>
            </a:pPr>
            <a:r>
              <a:rPr lang="ko-KR" altLang="en-US" sz="2000" b="1" spc="-7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일정</a:t>
            </a:r>
            <a:endParaRPr lang="en-US" sz="2000" b="1" spc="-7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12136741" y="6253335"/>
            <a:ext cx="1024538" cy="3501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956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1-4</a:t>
            </a:r>
          </a:p>
        </p:txBody>
      </p:sp>
      <p:sp>
        <p:nvSpPr>
          <p:cNvPr id="24" name="AutoShape 10">
            <a:extLst>
              <a:ext uri="{FF2B5EF4-FFF2-40B4-BE49-F238E27FC236}">
                <a16:creationId xmlns:a16="http://schemas.microsoft.com/office/drawing/2014/main" id="{9E2FDB18-BD8B-AD40-380C-E5B878EA1A56}"/>
              </a:ext>
            </a:extLst>
          </p:cNvPr>
          <p:cNvSpPr/>
          <p:nvPr/>
        </p:nvSpPr>
        <p:spPr>
          <a:xfrm>
            <a:off x="13410087" y="6320010"/>
            <a:ext cx="0" cy="759414"/>
          </a:xfrm>
          <a:prstGeom prst="line">
            <a:avLst/>
          </a:prstGeom>
          <a:ln w="9525" cap="flat">
            <a:solidFill>
              <a:srgbClr val="DFDFD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5" name="TextBox 16">
            <a:extLst>
              <a:ext uri="{FF2B5EF4-FFF2-40B4-BE49-F238E27FC236}">
                <a16:creationId xmlns:a16="http://schemas.microsoft.com/office/drawing/2014/main" id="{9A3CF3D2-3F1F-C3A4-5D57-40102211123A}"/>
              </a:ext>
            </a:extLst>
          </p:cNvPr>
          <p:cNvSpPr txBox="1"/>
          <p:nvPr/>
        </p:nvSpPr>
        <p:spPr>
          <a:xfrm>
            <a:off x="13958995" y="6742688"/>
            <a:ext cx="2741300" cy="685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757"/>
              </a:lnSpc>
              <a:spcBef>
                <a:spcPct val="0"/>
              </a:spcBef>
            </a:pPr>
            <a:r>
              <a:rPr lang="ko-KR" altLang="en-US" sz="2000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개발 환경</a:t>
            </a:r>
            <a:endParaRPr lang="en-US" altLang="ko-KR" sz="2000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  <a:p>
            <a:pPr marL="0" lvl="0" indent="0" algn="l">
              <a:lnSpc>
                <a:spcPts val="2757"/>
              </a:lnSpc>
              <a:spcBef>
                <a:spcPct val="0"/>
              </a:spcBef>
            </a:pPr>
            <a:endParaRPr lang="en-US" sz="2000" b="1" spc="-7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26" name="TextBox 17">
            <a:extLst>
              <a:ext uri="{FF2B5EF4-FFF2-40B4-BE49-F238E27FC236}">
                <a16:creationId xmlns:a16="http://schemas.microsoft.com/office/drawing/2014/main" id="{ABFF10AE-E2B0-D5D4-B575-7D805B1D3754}"/>
              </a:ext>
            </a:extLst>
          </p:cNvPr>
          <p:cNvSpPr txBox="1"/>
          <p:nvPr/>
        </p:nvSpPr>
        <p:spPr>
          <a:xfrm>
            <a:off x="13958995" y="6253335"/>
            <a:ext cx="1024538" cy="3501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956"/>
              </a:lnSpc>
              <a:spcBef>
                <a:spcPct val="0"/>
              </a:spcBef>
            </a:pPr>
            <a:r>
              <a:rPr lang="en-US" sz="2000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1-</a:t>
            </a:r>
            <a:r>
              <a:rPr lang="en-US" altLang="ko-KR" sz="2000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5</a:t>
            </a:r>
            <a:endParaRPr lang="en-US" sz="2000" dirty="0">
              <a:solidFill>
                <a:srgbClr val="000000"/>
              </a:solidFill>
              <a:latin typeface="+mn-ea"/>
              <a:cs typeface="Telegraf"/>
              <a:sym typeface="Telegraf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219F06C9-A144-DAF8-34DA-67E5A8CA34F8}"/>
              </a:ext>
            </a:extLst>
          </p:cNvPr>
          <p:cNvSpPr/>
          <p:nvPr/>
        </p:nvSpPr>
        <p:spPr>
          <a:xfrm>
            <a:off x="14454000" y="-11033"/>
            <a:ext cx="3834000" cy="4368922"/>
          </a:xfrm>
          <a:prstGeom prst="rect">
            <a:avLst/>
          </a:prstGeom>
          <a:solidFill>
            <a:srgbClr val="1319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9B2FAAE9-A1C1-9C16-C1FD-591178C740F0}"/>
              </a:ext>
            </a:extLst>
          </p:cNvPr>
          <p:cNvGrpSpPr/>
          <p:nvPr/>
        </p:nvGrpSpPr>
        <p:grpSpPr>
          <a:xfrm>
            <a:off x="0" y="-11033"/>
            <a:ext cx="14544000" cy="4368922"/>
            <a:chOff x="0" y="-11033"/>
            <a:chExt cx="14544000" cy="4368922"/>
          </a:xfrm>
        </p:grpSpPr>
        <p:pic>
          <p:nvPicPr>
            <p:cNvPr id="3074" name="Picture 2">
              <a:extLst>
                <a:ext uri="{FF2B5EF4-FFF2-40B4-BE49-F238E27FC236}">
                  <a16:creationId xmlns:a16="http://schemas.microsoft.com/office/drawing/2014/main" id="{9A5426DD-1916-EB66-4D58-F5E6568BFE3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3992" b="15424"/>
            <a:stretch>
              <a:fillRect/>
            </a:stretch>
          </p:blipFill>
          <p:spPr bwMode="auto">
            <a:xfrm>
              <a:off x="3744000" y="-4281"/>
              <a:ext cx="10800000" cy="43621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9BB1CEEF-9630-DD45-D365-F26945D94E06}"/>
                </a:ext>
              </a:extLst>
            </p:cNvPr>
            <p:cNvSpPr/>
            <p:nvPr/>
          </p:nvSpPr>
          <p:spPr>
            <a:xfrm>
              <a:off x="0" y="-11033"/>
              <a:ext cx="3834000" cy="4368922"/>
            </a:xfrm>
            <a:prstGeom prst="rect">
              <a:avLst/>
            </a:prstGeom>
            <a:gradFill flip="none" rotWithShape="1">
              <a:gsLst>
                <a:gs pos="56084">
                  <a:srgbClr val="1A3F6B"/>
                </a:gs>
                <a:gs pos="31746">
                  <a:srgbClr val="194470"/>
                </a:gs>
                <a:gs pos="0">
                  <a:srgbClr val="325880"/>
                </a:gs>
                <a:gs pos="74000">
                  <a:srgbClr val="153B60"/>
                </a:gs>
                <a:gs pos="83000">
                  <a:srgbClr val="193356"/>
                </a:gs>
                <a:gs pos="100000">
                  <a:srgbClr val="132A49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600F85-BA12-74A1-FE41-8CBE509234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18">
            <a:extLst>
              <a:ext uri="{FF2B5EF4-FFF2-40B4-BE49-F238E27FC236}">
                <a16:creationId xmlns:a16="http://schemas.microsoft.com/office/drawing/2014/main" id="{D5C54937-B391-A11E-DFD7-34DE8554C4B3}"/>
              </a:ext>
            </a:extLst>
          </p:cNvPr>
          <p:cNvGrpSpPr/>
          <p:nvPr/>
        </p:nvGrpSpPr>
        <p:grpSpPr>
          <a:xfrm>
            <a:off x="3065276" y="4235732"/>
            <a:ext cx="12333723" cy="1047776"/>
            <a:chOff x="0" y="0"/>
            <a:chExt cx="1162540" cy="945277"/>
          </a:xfrm>
        </p:grpSpPr>
        <p:sp>
          <p:nvSpPr>
            <p:cNvPr id="37" name="Freeform 19">
              <a:extLst>
                <a:ext uri="{FF2B5EF4-FFF2-40B4-BE49-F238E27FC236}">
                  <a16:creationId xmlns:a16="http://schemas.microsoft.com/office/drawing/2014/main" id="{65B15FA0-D054-65C9-B616-95597FE8146B}"/>
                </a:ext>
              </a:extLst>
            </p:cNvPr>
            <p:cNvSpPr/>
            <p:nvPr/>
          </p:nvSpPr>
          <p:spPr>
            <a:xfrm>
              <a:off x="0" y="0"/>
              <a:ext cx="1162540" cy="945277"/>
            </a:xfrm>
            <a:custGeom>
              <a:avLst/>
              <a:gdLst/>
              <a:ahLst/>
              <a:cxnLst/>
              <a:rect l="l" t="t" r="r" b="b"/>
              <a:pathLst>
                <a:path w="1162540" h="945277">
                  <a:moveTo>
                    <a:pt x="0" y="0"/>
                  </a:moveTo>
                  <a:lnTo>
                    <a:pt x="1162540" y="0"/>
                  </a:lnTo>
                  <a:lnTo>
                    <a:pt x="1162540" y="945277"/>
                  </a:lnTo>
                  <a:lnTo>
                    <a:pt x="0" y="945277"/>
                  </a:lnTo>
                  <a:close/>
                </a:path>
              </a:pathLst>
            </a:custGeom>
            <a:solidFill>
              <a:srgbClr val="F4F4F4"/>
            </a:solidFill>
          </p:spPr>
        </p:sp>
        <p:sp>
          <p:nvSpPr>
            <p:cNvPr id="38" name="TextBox 20">
              <a:extLst>
                <a:ext uri="{FF2B5EF4-FFF2-40B4-BE49-F238E27FC236}">
                  <a16:creationId xmlns:a16="http://schemas.microsoft.com/office/drawing/2014/main" id="{CBFCF64C-9361-A5AC-D320-5971C3F47187}"/>
                </a:ext>
              </a:extLst>
            </p:cNvPr>
            <p:cNvSpPr txBox="1"/>
            <p:nvPr/>
          </p:nvSpPr>
          <p:spPr>
            <a:xfrm>
              <a:off x="0" y="-47625"/>
              <a:ext cx="1162540" cy="992902"/>
            </a:xfrm>
            <a:prstGeom prst="rect">
              <a:avLst/>
            </a:prstGeom>
          </p:spPr>
          <p:txBody>
            <a:bodyPr lIns="71403" tIns="71403" rIns="71403" bIns="71403" rtlCol="0" anchor="ctr"/>
            <a:lstStyle/>
            <a:p>
              <a:pPr algn="ctr">
                <a:lnSpc>
                  <a:spcPts val="3671"/>
                </a:lnSpc>
              </a:pPr>
              <a:endParaRPr>
                <a:latin typeface="+mn-ea"/>
              </a:endParaRPr>
            </a:p>
          </p:txBody>
        </p:sp>
      </p:grpSp>
      <p:grpSp>
        <p:nvGrpSpPr>
          <p:cNvPr id="18" name="Group 18">
            <a:extLst>
              <a:ext uri="{FF2B5EF4-FFF2-40B4-BE49-F238E27FC236}">
                <a16:creationId xmlns:a16="http://schemas.microsoft.com/office/drawing/2014/main" id="{801F5E6A-9B7C-EAE6-BED7-F0C2EDF97FB0}"/>
              </a:ext>
            </a:extLst>
          </p:cNvPr>
          <p:cNvGrpSpPr/>
          <p:nvPr/>
        </p:nvGrpSpPr>
        <p:grpSpPr>
          <a:xfrm>
            <a:off x="11167983" y="5906142"/>
            <a:ext cx="5806018" cy="3078090"/>
            <a:chOff x="0" y="0"/>
            <a:chExt cx="1162540" cy="945277"/>
          </a:xfrm>
        </p:grpSpPr>
        <p:sp>
          <p:nvSpPr>
            <p:cNvPr id="19" name="Freeform 19">
              <a:extLst>
                <a:ext uri="{FF2B5EF4-FFF2-40B4-BE49-F238E27FC236}">
                  <a16:creationId xmlns:a16="http://schemas.microsoft.com/office/drawing/2014/main" id="{6C1B6A5D-83FC-6AE0-7ADA-49BBBBB018D6}"/>
                </a:ext>
              </a:extLst>
            </p:cNvPr>
            <p:cNvSpPr/>
            <p:nvPr/>
          </p:nvSpPr>
          <p:spPr>
            <a:xfrm>
              <a:off x="0" y="0"/>
              <a:ext cx="1162540" cy="945277"/>
            </a:xfrm>
            <a:custGeom>
              <a:avLst/>
              <a:gdLst/>
              <a:ahLst/>
              <a:cxnLst/>
              <a:rect l="l" t="t" r="r" b="b"/>
              <a:pathLst>
                <a:path w="1162540" h="945277">
                  <a:moveTo>
                    <a:pt x="0" y="0"/>
                  </a:moveTo>
                  <a:lnTo>
                    <a:pt x="1162540" y="0"/>
                  </a:lnTo>
                  <a:lnTo>
                    <a:pt x="1162540" y="945277"/>
                  </a:lnTo>
                  <a:lnTo>
                    <a:pt x="0" y="945277"/>
                  </a:lnTo>
                  <a:close/>
                </a:path>
              </a:pathLst>
            </a:custGeom>
            <a:solidFill>
              <a:srgbClr val="F4F4F4"/>
            </a:solidFill>
          </p:spPr>
        </p:sp>
        <p:sp>
          <p:nvSpPr>
            <p:cNvPr id="20" name="TextBox 20">
              <a:extLst>
                <a:ext uri="{FF2B5EF4-FFF2-40B4-BE49-F238E27FC236}">
                  <a16:creationId xmlns:a16="http://schemas.microsoft.com/office/drawing/2014/main" id="{F9D40C5D-D4FA-2F72-7C05-9EF66883D12B}"/>
                </a:ext>
              </a:extLst>
            </p:cNvPr>
            <p:cNvSpPr txBox="1"/>
            <p:nvPr/>
          </p:nvSpPr>
          <p:spPr>
            <a:xfrm>
              <a:off x="0" y="-47625"/>
              <a:ext cx="1162540" cy="992902"/>
            </a:xfrm>
            <a:prstGeom prst="rect">
              <a:avLst/>
            </a:prstGeom>
          </p:spPr>
          <p:txBody>
            <a:bodyPr lIns="71403" tIns="71403" rIns="71403" bIns="71403" rtlCol="0" anchor="ctr"/>
            <a:lstStyle/>
            <a:p>
              <a:pPr algn="ctr">
                <a:lnSpc>
                  <a:spcPts val="3671"/>
                </a:lnSpc>
              </a:pPr>
              <a:endParaRPr>
                <a:latin typeface="+mn-ea"/>
              </a:endParaRPr>
            </a:p>
          </p:txBody>
        </p:sp>
      </p:grpSp>
      <p:sp>
        <p:nvSpPr>
          <p:cNvPr id="23" name="AutoShape 23">
            <a:extLst>
              <a:ext uri="{FF2B5EF4-FFF2-40B4-BE49-F238E27FC236}">
                <a16:creationId xmlns:a16="http://schemas.microsoft.com/office/drawing/2014/main" id="{B67F5783-40C0-DB79-7644-0ED6EF57D18A}"/>
              </a:ext>
            </a:extLst>
          </p:cNvPr>
          <p:cNvSpPr/>
          <p:nvPr/>
        </p:nvSpPr>
        <p:spPr>
          <a:xfrm>
            <a:off x="3159000" y="1067583"/>
            <a:ext cx="14211990" cy="0"/>
          </a:xfrm>
          <a:prstGeom prst="line">
            <a:avLst/>
          </a:prstGeom>
          <a:ln w="952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4EB61A32-D495-0901-C928-4CA4FEBC6BAE}"/>
              </a:ext>
            </a:extLst>
          </p:cNvPr>
          <p:cNvSpPr txBox="1"/>
          <p:nvPr/>
        </p:nvSpPr>
        <p:spPr>
          <a:xfrm>
            <a:off x="11913536" y="7042085"/>
            <a:ext cx="4599425" cy="16564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50000"/>
              </a:lnSpc>
              <a:spcBef>
                <a:spcPct val="0"/>
              </a:spcBef>
            </a:pPr>
            <a:r>
              <a:rPr lang="ko-KR" altLang="en-US" sz="2000" dirty="0"/>
              <a:t>고객의 소비활동을 기반으로 </a:t>
            </a:r>
            <a:r>
              <a:rPr lang="ko-KR" altLang="en-US" spc="-95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마이크로 세그먼트를 분류하여 페르소나를 생성</a:t>
            </a:r>
            <a:r>
              <a:rPr lang="en-US" altLang="ko-KR" spc="-95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</a:p>
          <a:p>
            <a:pPr>
              <a:lnSpc>
                <a:spcPct val="150000"/>
              </a:lnSpc>
              <a:spcBef>
                <a:spcPct val="0"/>
              </a:spcBef>
            </a:pPr>
            <a:r>
              <a:rPr lang="ko-KR" altLang="en-US" spc="-95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특정 제품에 대한 지불의사 추정을 통해 </a:t>
            </a:r>
            <a:endParaRPr lang="en-US" altLang="ko-KR" spc="-95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>
              <a:lnSpc>
                <a:spcPct val="150000"/>
              </a:lnSpc>
              <a:spcBef>
                <a:spcPct val="0"/>
              </a:spcBef>
            </a:pPr>
            <a:r>
              <a:rPr lang="ko-KR" altLang="en-US" spc="-95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시장 예측 </a:t>
            </a:r>
            <a:r>
              <a:rPr lang="ko-KR" altLang="en-US" spc="-95" dirty="0" err="1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시뮬레이레이터</a:t>
            </a:r>
            <a:r>
              <a:rPr lang="ko-KR" altLang="en-US" spc="-95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개발 </a:t>
            </a:r>
            <a:endParaRPr lang="en-US" spc="-95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EE662B2F-A86C-7127-3827-3DAD942A5C77}"/>
              </a:ext>
            </a:extLst>
          </p:cNvPr>
          <p:cNvSpPr txBox="1"/>
          <p:nvPr/>
        </p:nvSpPr>
        <p:spPr>
          <a:xfrm>
            <a:off x="1197103" y="795626"/>
            <a:ext cx="3736349" cy="513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329"/>
              </a:lnSpc>
            </a:pPr>
            <a:r>
              <a:rPr lang="ko-KR" altLang="en-US" sz="3092" b="1" spc="-19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추진 배경</a:t>
            </a:r>
            <a:endParaRPr lang="en-US" altLang="ko-KR" sz="3092" b="1" spc="-197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DD898888-7A0D-16B1-59F8-09B4470439AC}"/>
              </a:ext>
            </a:extLst>
          </p:cNvPr>
          <p:cNvSpPr txBox="1"/>
          <p:nvPr/>
        </p:nvSpPr>
        <p:spPr>
          <a:xfrm>
            <a:off x="3537490" y="4590908"/>
            <a:ext cx="11213020" cy="4103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210"/>
              </a:lnSpc>
            </a:pPr>
            <a:r>
              <a:rPr lang="en-US" sz="2792" b="1" spc="-201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“ </a:t>
            </a:r>
            <a:r>
              <a:rPr lang="en-US" altLang="ko-KR" sz="2792" b="1" spc="-201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LLM</a:t>
            </a:r>
            <a:r>
              <a:rPr lang="ko-KR" altLang="en-US" sz="2792" b="1" spc="-201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을 활용한 </a:t>
            </a:r>
            <a:r>
              <a:rPr lang="en-US" altLang="ko-KR" sz="2792" b="1" spc="-201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Role-Playing Language Agents (RPLA)</a:t>
            </a:r>
            <a:r>
              <a:rPr lang="ko-KR" altLang="en-US" sz="2792" b="1" spc="-201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의 잠재성 대두</a:t>
            </a:r>
            <a:r>
              <a:rPr lang="en-US" sz="2792" b="1" spc="-201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”</a:t>
            </a:r>
          </a:p>
        </p:txBody>
      </p:sp>
      <p:sp>
        <p:nvSpPr>
          <p:cNvPr id="31" name="Freeform 31">
            <a:extLst>
              <a:ext uri="{FF2B5EF4-FFF2-40B4-BE49-F238E27FC236}">
                <a16:creationId xmlns:a16="http://schemas.microsoft.com/office/drawing/2014/main" id="{54037AB0-B2E6-ACD9-78A3-72D98B498862}"/>
              </a:ext>
            </a:extLst>
          </p:cNvPr>
          <p:cNvSpPr/>
          <p:nvPr/>
        </p:nvSpPr>
        <p:spPr>
          <a:xfrm rot="-5400000">
            <a:off x="9042497" y="5447637"/>
            <a:ext cx="203006" cy="336940"/>
          </a:xfrm>
          <a:custGeom>
            <a:avLst/>
            <a:gdLst/>
            <a:ahLst/>
            <a:cxnLst/>
            <a:rect l="l" t="t" r="r" b="b"/>
            <a:pathLst>
              <a:path w="203006" h="336940">
                <a:moveTo>
                  <a:pt x="0" y="0"/>
                </a:moveTo>
                <a:lnTo>
                  <a:pt x="203006" y="0"/>
                </a:lnTo>
                <a:lnTo>
                  <a:pt x="203006" y="336941"/>
                </a:lnTo>
                <a:lnTo>
                  <a:pt x="0" y="33694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E57298BD-772B-5AC6-A57C-18627397E8E2}"/>
              </a:ext>
            </a:extLst>
          </p:cNvPr>
          <p:cNvSpPr txBox="1"/>
          <p:nvPr/>
        </p:nvSpPr>
        <p:spPr>
          <a:xfrm>
            <a:off x="11691511" y="6269471"/>
            <a:ext cx="4758961" cy="3676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148"/>
              </a:lnSpc>
            </a:pPr>
            <a:r>
              <a:rPr lang="ko-KR" altLang="en-US" sz="2400" b="1" spc="-201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소비자 페르소나를 활용한 시장 예측</a:t>
            </a:r>
            <a:endParaRPr lang="en-US" sz="2000" b="1" spc="-184" dirty="0">
              <a:solidFill>
                <a:srgbClr val="000000"/>
              </a:solidFill>
              <a:latin typeface="+mn-ea"/>
              <a:cs typeface="Source Han Sans KR Medium"/>
              <a:sym typeface="Source Han Sans KR Medium"/>
            </a:endParaRP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E4B9C0EC-A329-0070-7B32-03B5550AFDA7}"/>
              </a:ext>
            </a:extLst>
          </p:cNvPr>
          <p:cNvSpPr txBox="1"/>
          <p:nvPr/>
        </p:nvSpPr>
        <p:spPr>
          <a:xfrm>
            <a:off x="8739000" y="9414482"/>
            <a:ext cx="8948339" cy="8590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2295"/>
              </a:lnSpc>
            </a:pPr>
            <a:r>
              <a:rPr lang="ko-KR" altLang="en-US" sz="1639" spc="-27" dirty="0">
                <a:solidFill>
                  <a:srgbClr val="000001"/>
                </a:solidFill>
                <a:latin typeface="+mn-ea"/>
                <a:cs typeface="Telegraf Medium"/>
                <a:sym typeface="Telegraf Medium"/>
              </a:rPr>
              <a:t>출처 </a:t>
            </a:r>
            <a:r>
              <a:rPr lang="en-US" altLang="ko-KR" sz="1639" spc="-27" dirty="0">
                <a:solidFill>
                  <a:srgbClr val="000001"/>
                </a:solidFill>
                <a:latin typeface="+mn-ea"/>
                <a:cs typeface="Telegraf Medium"/>
                <a:sym typeface="Telegraf Medium"/>
              </a:rPr>
              <a:t>1</a:t>
            </a:r>
            <a:r>
              <a:rPr lang="ko-KR" altLang="en-US" sz="1639" spc="-27" dirty="0">
                <a:solidFill>
                  <a:srgbClr val="000001"/>
                </a:solidFill>
                <a:latin typeface="+mn-ea"/>
                <a:cs typeface="Telegraf Medium"/>
                <a:sym typeface="Telegraf Medium"/>
              </a:rPr>
              <a:t> </a:t>
            </a:r>
            <a:r>
              <a:rPr lang="en-US" altLang="ko-KR" sz="1639" spc="-27" dirty="0">
                <a:solidFill>
                  <a:srgbClr val="000001"/>
                </a:solidFill>
                <a:latin typeface="+mn-ea"/>
                <a:cs typeface="Telegraf Medium"/>
                <a:sym typeface="Telegraf Medium"/>
              </a:rPr>
              <a:t>:  HBR - </a:t>
            </a:r>
            <a:r>
              <a:rPr lang="en-US" altLang="ko-KR" dirty="0"/>
              <a:t>Using LLMs for Market Research [</a:t>
            </a:r>
            <a:r>
              <a:rPr lang="ko-KR" altLang="en-US" dirty="0">
                <a:hlinkClick r:id="rId4"/>
              </a:rPr>
              <a:t>링크</a:t>
            </a:r>
            <a:r>
              <a:rPr lang="en-US" altLang="ko-KR" dirty="0"/>
              <a:t>]</a:t>
            </a:r>
          </a:p>
          <a:p>
            <a:pPr algn="r">
              <a:lnSpc>
                <a:spcPts val="2295"/>
              </a:lnSpc>
            </a:pPr>
            <a:r>
              <a:rPr lang="ko-KR" altLang="en-US" dirty="0"/>
              <a:t>출처 </a:t>
            </a:r>
            <a:r>
              <a:rPr lang="en-US" altLang="ko-KR" dirty="0"/>
              <a:t>2 : From Persona to Personalization: A Survey on Role-Playing Language Agents[</a:t>
            </a:r>
            <a:r>
              <a:rPr lang="ko-KR" altLang="en-US" dirty="0">
                <a:hlinkClick r:id="rId5"/>
              </a:rPr>
              <a:t>링크</a:t>
            </a:r>
            <a:r>
              <a:rPr lang="en-US" altLang="ko-KR" dirty="0"/>
              <a:t>]</a:t>
            </a:r>
          </a:p>
          <a:p>
            <a:pPr algn="r">
              <a:lnSpc>
                <a:spcPts val="2295"/>
              </a:lnSpc>
            </a:pPr>
            <a:endParaRPr lang="en-US" sz="1639" spc="-27" dirty="0">
              <a:solidFill>
                <a:srgbClr val="000001"/>
              </a:solidFill>
              <a:latin typeface="+mn-ea"/>
              <a:cs typeface="Telegraf Medium"/>
              <a:sym typeface="Telegraf Medium"/>
            </a:endParaRPr>
          </a:p>
        </p:txBody>
      </p:sp>
      <p:sp>
        <p:nvSpPr>
          <p:cNvPr id="34" name="TextBox 12">
            <a:extLst>
              <a:ext uri="{FF2B5EF4-FFF2-40B4-BE49-F238E27FC236}">
                <a16:creationId xmlns:a16="http://schemas.microsoft.com/office/drawing/2014/main" id="{51E20B05-055B-AA33-9BDD-192F0F41C440}"/>
              </a:ext>
            </a:extLst>
          </p:cNvPr>
          <p:cNvSpPr txBox="1"/>
          <p:nvPr/>
        </p:nvSpPr>
        <p:spPr>
          <a:xfrm>
            <a:off x="11574000" y="547028"/>
            <a:ext cx="5796991" cy="4678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3935"/>
              </a:lnSpc>
              <a:spcBef>
                <a:spcPct val="0"/>
              </a:spcBef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Part 1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– </a:t>
            </a:r>
            <a:r>
              <a:rPr lang="ko-KR" alt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프로젝트 개요</a:t>
            </a:r>
            <a:endParaRPr lang="en-US" sz="2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  <a:cs typeface="Telegraf"/>
              <a:sym typeface="Telegraf"/>
            </a:endParaRPr>
          </a:p>
        </p:txBody>
      </p:sp>
      <p:pic>
        <p:nvPicPr>
          <p:cNvPr id="1026" name="Picture 2" descr="In Role-Playing, LLMs act according to assigned personas (i.e., roles) under a defined environment. For example, given role names with descriptions, LLMs role-play in a social simulation game. For Personalization, LLMs consider user personas to generate tailored responses to the same question. Dashed rectangles are prompts and solid rectangles are LLMs' responses.">
            <a:extLst>
              <a:ext uri="{FF2B5EF4-FFF2-40B4-BE49-F238E27FC236}">
                <a16:creationId xmlns:a16="http://schemas.microsoft.com/office/drawing/2014/main" id="{EDE43190-BD70-CFFF-DABD-1A6E9A5E4E7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816" b="56844" l="340" r="98812">
                        <a14:foregroundMark x1="2037" y1="4190" x2="23430" y2="43715"/>
                        <a14:foregroundMark x1="23430" y1="43715" x2="38710" y2="48603"/>
                        <a14:foregroundMark x1="38710" y1="48603" x2="68421" y2="48883"/>
                        <a14:foregroundMark x1="68421" y1="48883" x2="83531" y2="48603"/>
                        <a14:foregroundMark x1="83531" y1="48603" x2="91851" y2="45531"/>
                        <a14:foregroundMark x1="91851" y1="45531" x2="95756" y2="38408"/>
                        <a14:foregroundMark x1="95756" y1="38408" x2="97793" y2="14944"/>
                        <a14:foregroundMark x1="97793" y1="14944" x2="86587" y2="4469"/>
                        <a14:foregroundMark x1="86587" y1="4469" x2="9338" y2="2235"/>
                        <a14:foregroundMark x1="9338" y1="2235" x2="1019" y2="6006"/>
                        <a14:foregroundMark x1="1358" y1="2374" x2="11885" y2="1397"/>
                        <a14:foregroundMark x1="11885" y1="1397" x2="56537" y2="3911"/>
                        <a14:foregroundMark x1="56537" y1="3911" x2="41766" y2="1536"/>
                        <a14:foregroundMark x1="41766" y1="1536" x2="54499" y2="4469"/>
                        <a14:foregroundMark x1="54499" y1="4469" x2="82003" y2="1257"/>
                        <a14:foregroundMark x1="82003" y1="1257" x2="92699" y2="1816"/>
                        <a14:foregroundMark x1="92699" y1="1816" x2="97453" y2="11453"/>
                        <a14:foregroundMark x1="97453" y1="11453" x2="96435" y2="47207"/>
                        <a14:foregroundMark x1="96435" y1="47207" x2="83362" y2="51257"/>
                        <a14:foregroundMark x1="83362" y1="51257" x2="7301" y2="49581"/>
                        <a14:foregroundMark x1="7301" y1="49581" x2="340" y2="42039"/>
                        <a14:foregroundMark x1="340" y1="42039" x2="1528" y2="2793"/>
                        <a14:foregroundMark x1="92699" y1="3631" x2="97793" y2="22207"/>
                        <a14:foregroundMark x1="97793" y1="22207" x2="96095" y2="49302"/>
                        <a14:foregroundMark x1="96095" y1="49302" x2="96095" y2="49302"/>
                        <a14:foregroundMark x1="96604" y1="1816" x2="98812" y2="50419"/>
                        <a14:foregroundMark x1="98812" y1="50419" x2="98642" y2="50559"/>
                        <a14:foregroundMark x1="42105" y1="46648" x2="63497" y2="46648"/>
                        <a14:foregroundMark x1="41426" y1="52374" x2="57895" y2="52933"/>
                        <a14:foregroundMark x1="49576" y1="54609" x2="52632" y2="56844"/>
                        <a14:foregroundMark x1="86757" y1="51536" x2="97623" y2="51397"/>
                        <a14:foregroundMark x1="97623" y1="51397" x2="97623" y2="51397"/>
                        <a14:foregroundMark x1="5093" y1="49581" x2="849" y2="49581"/>
                        <a14:foregroundMark x1="52462" y1="2654" x2="71477" y2="3212"/>
                        <a14:foregroundMark x1="67742" y1="1816" x2="50424" y2="265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40273"/>
          <a:stretch>
            <a:fillRect/>
          </a:stretch>
        </p:blipFill>
        <p:spPr bwMode="auto">
          <a:xfrm>
            <a:off x="3791404" y="5906142"/>
            <a:ext cx="5200538" cy="37758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Freeform 31">
            <a:extLst>
              <a:ext uri="{FF2B5EF4-FFF2-40B4-BE49-F238E27FC236}">
                <a16:creationId xmlns:a16="http://schemas.microsoft.com/office/drawing/2014/main" id="{B7979676-289F-61E1-C2E0-02BA628C5555}"/>
              </a:ext>
            </a:extLst>
          </p:cNvPr>
          <p:cNvSpPr/>
          <p:nvPr/>
        </p:nvSpPr>
        <p:spPr>
          <a:xfrm rot="10800000">
            <a:off x="10067813" y="7386230"/>
            <a:ext cx="203006" cy="336940"/>
          </a:xfrm>
          <a:custGeom>
            <a:avLst/>
            <a:gdLst/>
            <a:ahLst/>
            <a:cxnLst/>
            <a:rect l="l" t="t" r="r" b="b"/>
            <a:pathLst>
              <a:path w="203006" h="336940">
                <a:moveTo>
                  <a:pt x="0" y="0"/>
                </a:moveTo>
                <a:lnTo>
                  <a:pt x="203006" y="0"/>
                </a:lnTo>
                <a:lnTo>
                  <a:pt x="203006" y="336941"/>
                </a:lnTo>
                <a:lnTo>
                  <a:pt x="0" y="33694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9289796-56CF-DEC1-EA2C-FF0153610E8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52097" y="1450500"/>
            <a:ext cx="10783805" cy="2133898"/>
          </a:xfrm>
          <a:prstGeom prst="rect">
            <a:avLst/>
          </a:prstGeom>
        </p:spPr>
      </p:pic>
      <p:sp>
        <p:nvSpPr>
          <p:cNvPr id="4" name="Freeform 31">
            <a:extLst>
              <a:ext uri="{FF2B5EF4-FFF2-40B4-BE49-F238E27FC236}">
                <a16:creationId xmlns:a16="http://schemas.microsoft.com/office/drawing/2014/main" id="{1B654AA2-7E72-B5D0-7EC4-6FF5FD6C4C7E}"/>
              </a:ext>
            </a:extLst>
          </p:cNvPr>
          <p:cNvSpPr/>
          <p:nvPr/>
        </p:nvSpPr>
        <p:spPr>
          <a:xfrm rot="-5400000">
            <a:off x="9042497" y="3748527"/>
            <a:ext cx="203006" cy="336940"/>
          </a:xfrm>
          <a:custGeom>
            <a:avLst/>
            <a:gdLst/>
            <a:ahLst/>
            <a:cxnLst/>
            <a:rect l="l" t="t" r="r" b="b"/>
            <a:pathLst>
              <a:path w="203006" h="336940">
                <a:moveTo>
                  <a:pt x="0" y="0"/>
                </a:moveTo>
                <a:lnTo>
                  <a:pt x="203006" y="0"/>
                </a:lnTo>
                <a:lnTo>
                  <a:pt x="203006" y="336941"/>
                </a:lnTo>
                <a:lnTo>
                  <a:pt x="0" y="33694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</p:spTree>
    <p:extLst>
      <p:ext uri="{BB962C8B-B14F-4D97-AF65-F5344CB8AC3E}">
        <p14:creationId xmlns:p14="http://schemas.microsoft.com/office/powerpoint/2010/main" val="752248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3065278" y="1074277"/>
            <a:ext cx="14305713" cy="0"/>
          </a:xfrm>
          <a:prstGeom prst="line">
            <a:avLst/>
          </a:prstGeom>
          <a:ln w="952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TextBox 3"/>
          <p:cNvSpPr txBox="1"/>
          <p:nvPr/>
        </p:nvSpPr>
        <p:spPr>
          <a:xfrm>
            <a:off x="2079001" y="8296926"/>
            <a:ext cx="3348263" cy="821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95"/>
              </a:lnSpc>
            </a:pPr>
            <a:r>
              <a:rPr lang="ko-KR" altLang="en-US" sz="1568" spc="-89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가공식품 소비자태도 조사 데이터와 제품 데이터를 기반으로 분류된 마이크로 세그먼트 페르소나를 구축</a:t>
            </a:r>
            <a:endParaRPr lang="en-US" sz="1568" spc="-89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12257916" y="7433670"/>
            <a:ext cx="3348263" cy="821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95"/>
              </a:lnSpc>
            </a:pPr>
            <a:r>
              <a:rPr lang="ko-KR" altLang="en-US" sz="1568" spc="-89" dirty="0" err="1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튜닝된</a:t>
            </a:r>
            <a:r>
              <a:rPr lang="ko-KR" altLang="en-US" sz="1568" spc="-89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페르소나를 </a:t>
            </a:r>
            <a:r>
              <a:rPr lang="en-US" altLang="ko-KR" sz="1568" spc="-89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DB</a:t>
            </a:r>
            <a:r>
              <a:rPr lang="ko-KR" altLang="en-US" sz="1568" spc="-89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에 저장 후 </a:t>
            </a:r>
            <a:r>
              <a:rPr lang="ko-KR" altLang="en-US" sz="1568" spc="-89" dirty="0" err="1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챗봇으로</a:t>
            </a:r>
            <a:r>
              <a:rPr lang="ko-KR" altLang="en-US" sz="1568" spc="-89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만들어 비즈니스 시뮬레이터로 활용</a:t>
            </a:r>
            <a:endParaRPr lang="en-US" sz="1568" spc="-89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7281595" y="7626413"/>
            <a:ext cx="3348263" cy="821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95"/>
              </a:lnSpc>
            </a:pPr>
            <a:r>
              <a:rPr lang="ko-KR" altLang="en-US" sz="1568" spc="-89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신제품에 대한 개별 페르소나들의 </a:t>
            </a:r>
            <a:endParaRPr lang="en-US" altLang="ko-KR" sz="1568" spc="-89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algn="l">
              <a:lnSpc>
                <a:spcPts val="2195"/>
              </a:lnSpc>
            </a:pPr>
            <a:r>
              <a:rPr lang="ko-KR" altLang="en-US" sz="1568" spc="-89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월별 예측 구매액과 계수들을 계산하여 예측 데이터 작성</a:t>
            </a:r>
            <a:endParaRPr lang="en-US" sz="1568" spc="-89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197103" y="795626"/>
            <a:ext cx="3736349" cy="513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29"/>
              </a:lnSpc>
            </a:pPr>
            <a:r>
              <a:rPr lang="ko-KR" altLang="en-US" sz="3092" b="1" spc="-19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개발 목표</a:t>
            </a:r>
            <a:endParaRPr lang="en-US" sz="3092" b="1" spc="-197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2079001" y="7673055"/>
            <a:ext cx="3591943" cy="4057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3"/>
              </a:lnSpc>
            </a:pPr>
            <a:r>
              <a:rPr lang="ko-KR" altLang="en-US" sz="2402" b="1" spc="-103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페르소나 구축</a:t>
            </a:r>
            <a:endParaRPr lang="en-US" sz="2402" b="1" spc="-103" dirty="0">
              <a:solidFill>
                <a:srgbClr val="000000"/>
              </a:solidFill>
              <a:latin typeface="+mn-ea"/>
              <a:cs typeface="Source Han Sans KR Medium"/>
              <a:sym typeface="Source Han Sans KR Medium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2257916" y="6809799"/>
            <a:ext cx="3591943" cy="4057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3"/>
              </a:lnSpc>
            </a:pPr>
            <a:r>
              <a:rPr lang="ko-KR" altLang="en-US" sz="2402" b="1" spc="-103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비즈니스 시뮬레이터 </a:t>
            </a:r>
            <a:r>
              <a:rPr lang="ko-KR" altLang="en-US" sz="2402" b="1" spc="-103" dirty="0" err="1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챗봇</a:t>
            </a:r>
            <a:endParaRPr lang="en-US" sz="2402" b="1" spc="-103" dirty="0">
              <a:solidFill>
                <a:srgbClr val="000000"/>
              </a:solidFill>
              <a:latin typeface="+mn-ea"/>
              <a:cs typeface="Source Han Sans KR Medium"/>
              <a:sym typeface="Source Han Sans KR Medium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7281595" y="7002542"/>
            <a:ext cx="3591943" cy="4057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3"/>
              </a:lnSpc>
            </a:pPr>
            <a:r>
              <a:rPr lang="ko-KR" altLang="en-US" sz="2402" b="1" spc="-103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시장 예측 시뮬레이션</a:t>
            </a:r>
            <a:endParaRPr lang="en-US" sz="2402" b="1" spc="-103" dirty="0">
              <a:solidFill>
                <a:srgbClr val="000000"/>
              </a:solidFill>
              <a:latin typeface="+mn-ea"/>
              <a:cs typeface="Source Han Sans KR Medium"/>
              <a:sym typeface="Source Han Sans KR Medium"/>
            </a:endParaRPr>
          </a:p>
        </p:txBody>
      </p:sp>
      <p:sp>
        <p:nvSpPr>
          <p:cNvPr id="17" name="TextBox 12">
            <a:extLst>
              <a:ext uri="{FF2B5EF4-FFF2-40B4-BE49-F238E27FC236}">
                <a16:creationId xmlns:a16="http://schemas.microsoft.com/office/drawing/2014/main" id="{89ECD1FC-724D-7761-DD32-59D7BFF1391A}"/>
              </a:ext>
            </a:extLst>
          </p:cNvPr>
          <p:cNvSpPr txBox="1"/>
          <p:nvPr/>
        </p:nvSpPr>
        <p:spPr>
          <a:xfrm>
            <a:off x="11574000" y="547028"/>
            <a:ext cx="5796991" cy="4678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3935"/>
              </a:lnSpc>
              <a:spcBef>
                <a:spcPct val="0"/>
              </a:spcBef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Part 1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– </a:t>
            </a:r>
            <a:r>
              <a:rPr lang="ko-KR" alt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프로젝트 개요</a:t>
            </a:r>
            <a:endParaRPr lang="en-US" sz="2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  <a:cs typeface="Telegraf"/>
              <a:sym typeface="Telegraf"/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E6595BCF-BB31-A7DE-8B1B-CD8DF0F78D7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3342"/>
          <a:stretch>
            <a:fillRect/>
          </a:stretch>
        </p:blipFill>
        <p:spPr>
          <a:xfrm>
            <a:off x="2079000" y="2533500"/>
            <a:ext cx="3357435" cy="4781355"/>
          </a:xfrm>
          <a:prstGeom prst="rect">
            <a:avLst/>
          </a:prstGeom>
        </p:spPr>
      </p:pic>
      <p:pic>
        <p:nvPicPr>
          <p:cNvPr id="2054" name="Picture 6" descr="ChatGPT for biomedical simulations">
            <a:extLst>
              <a:ext uri="{FF2B5EF4-FFF2-40B4-BE49-F238E27FC236}">
                <a16:creationId xmlns:a16="http://schemas.microsoft.com/office/drawing/2014/main" id="{38C5E622-3972-E0BD-B485-06E5C8F24C6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839" r="28473"/>
          <a:stretch>
            <a:fillRect/>
          </a:stretch>
        </p:blipFill>
        <p:spPr bwMode="auto">
          <a:xfrm>
            <a:off x="7009144" y="2938500"/>
            <a:ext cx="3893164" cy="35609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E058BB7D-49F9-AA09-AA96-78381974355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9590" r="-512"/>
          <a:stretch>
            <a:fillRect/>
          </a:stretch>
        </p:blipFill>
        <p:spPr>
          <a:xfrm>
            <a:off x="12240509" y="1810955"/>
            <a:ext cx="3365669" cy="485627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D968B7-5C28-E2CA-39BA-B803D9D87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AutoShape 17">
            <a:extLst>
              <a:ext uri="{FF2B5EF4-FFF2-40B4-BE49-F238E27FC236}">
                <a16:creationId xmlns:a16="http://schemas.microsoft.com/office/drawing/2014/main" id="{8B8208B4-3989-432E-416B-F805952F2695}"/>
              </a:ext>
            </a:extLst>
          </p:cNvPr>
          <p:cNvSpPr/>
          <p:nvPr/>
        </p:nvSpPr>
        <p:spPr>
          <a:xfrm>
            <a:off x="3537491" y="1074277"/>
            <a:ext cx="13833500" cy="0"/>
          </a:xfrm>
          <a:prstGeom prst="line">
            <a:avLst/>
          </a:prstGeom>
          <a:ln w="952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A5C126BC-B930-5323-C4A2-76BFB60E7B24}"/>
              </a:ext>
            </a:extLst>
          </p:cNvPr>
          <p:cNvSpPr txBox="1"/>
          <p:nvPr/>
        </p:nvSpPr>
        <p:spPr>
          <a:xfrm>
            <a:off x="1197103" y="795626"/>
            <a:ext cx="3736349" cy="513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29"/>
              </a:lnSpc>
            </a:pPr>
            <a:r>
              <a:rPr lang="ko-KR" altLang="en-US" sz="3092" b="1" spc="-19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업무 분장</a:t>
            </a:r>
            <a:endParaRPr lang="en-US" sz="3092" b="1" spc="-197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39" name="TextBox 12">
            <a:extLst>
              <a:ext uri="{FF2B5EF4-FFF2-40B4-BE49-F238E27FC236}">
                <a16:creationId xmlns:a16="http://schemas.microsoft.com/office/drawing/2014/main" id="{5D39B779-FEA2-7B8D-C1F2-F6D268D589C0}"/>
              </a:ext>
            </a:extLst>
          </p:cNvPr>
          <p:cNvSpPr txBox="1"/>
          <p:nvPr/>
        </p:nvSpPr>
        <p:spPr>
          <a:xfrm>
            <a:off x="11574000" y="547028"/>
            <a:ext cx="5796991" cy="4678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3935"/>
              </a:lnSpc>
              <a:spcBef>
                <a:spcPct val="0"/>
              </a:spcBef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Part 1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– </a:t>
            </a:r>
            <a:r>
              <a:rPr lang="ko-KR" alt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프로젝트 개요</a:t>
            </a:r>
            <a:endParaRPr lang="en-US" sz="2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  <a:cs typeface="Telegraf"/>
              <a:sym typeface="Telegraf"/>
            </a:endParaRPr>
          </a:p>
        </p:txBody>
      </p:sp>
      <p:graphicFrame>
        <p:nvGraphicFramePr>
          <p:cNvPr id="40" name="표 39">
            <a:extLst>
              <a:ext uri="{FF2B5EF4-FFF2-40B4-BE49-F238E27FC236}">
                <a16:creationId xmlns:a16="http://schemas.microsoft.com/office/drawing/2014/main" id="{04343B49-B554-C706-37C9-896F56702E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103106"/>
              </p:ext>
            </p:extLst>
          </p:nvPr>
        </p:nvGraphicFramePr>
        <p:xfrm>
          <a:off x="1345552" y="2281500"/>
          <a:ext cx="15596897" cy="57240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934129">
                  <a:extLst>
                    <a:ext uri="{9D8B030D-6E8A-4147-A177-3AD203B41FA5}">
                      <a16:colId xmlns:a16="http://schemas.microsoft.com/office/drawing/2014/main" val="3370476028"/>
                    </a:ext>
                  </a:extLst>
                </a:gridCol>
                <a:gridCol w="1611884">
                  <a:extLst>
                    <a:ext uri="{9D8B030D-6E8A-4147-A177-3AD203B41FA5}">
                      <a16:colId xmlns:a16="http://schemas.microsoft.com/office/drawing/2014/main" val="4168032153"/>
                    </a:ext>
                  </a:extLst>
                </a:gridCol>
                <a:gridCol w="12050884">
                  <a:extLst>
                    <a:ext uri="{9D8B030D-6E8A-4147-A177-3AD203B41FA5}">
                      <a16:colId xmlns:a16="http://schemas.microsoft.com/office/drawing/2014/main" val="3299223831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pPr lvl="0" algn="ctr" latinLnBrk="1"/>
                      <a:r>
                        <a:rPr lang="ko-KR" altLang="en-US" dirty="0"/>
                        <a:t>성명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 latinLnBrk="1"/>
                      <a:r>
                        <a:rPr lang="ko-KR" altLang="en-US" dirty="0"/>
                        <a:t>역할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1" algn="l" latinLnBrk="1"/>
                      <a:r>
                        <a:rPr lang="ko-KR" altLang="en-US" dirty="0"/>
                        <a:t>상세내용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5037667"/>
                  </a:ext>
                </a:extLst>
              </a:tr>
              <a:tr h="1251000">
                <a:tc>
                  <a:txBody>
                    <a:bodyPr/>
                    <a:lstStyle/>
                    <a:p>
                      <a:pPr lvl="0" algn="ctr" latinLnBrk="1"/>
                      <a:r>
                        <a:rPr lang="ko-KR" altLang="en-US" dirty="0"/>
                        <a:t>박진성</a:t>
                      </a:r>
                      <a:endParaRPr lang="en-US" altLang="ko-KR" dirty="0"/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lvl="0" algn="ctr" latinLnBrk="1"/>
                      <a:r>
                        <a:rPr lang="ko-KR" altLang="en-US" dirty="0"/>
                        <a:t>팀장</a:t>
                      </a:r>
                      <a:r>
                        <a:rPr lang="en-US" altLang="ko-KR" dirty="0"/>
                        <a:t>/</a:t>
                      </a:r>
                    </a:p>
                    <a:p>
                      <a:pPr lvl="0" algn="ctr" latinLnBrk="1"/>
                      <a:r>
                        <a:rPr lang="en-US" altLang="ko-KR" dirty="0"/>
                        <a:t>PM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lvl="1" algn="l" latinLnBrk="1"/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기획안 작성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화면기획서 작성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샘플 페르소나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시뮬레이션 프로토타입 개발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EDA(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인구통계학적 세그먼트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소비패턴 클러스터링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),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네이버 검색 트랜드 조사 및 검색 계수 도출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페르소나 생성 프롬프트 엔지니어링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LLM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시뮬레이션 코드 작성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예측결과 평가 및 튜닝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웹페이지 기획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웹 </a:t>
                      </a:r>
                      <a:r>
                        <a:rPr lang="ko-KR" altLang="en-US" sz="1800" b="0" i="0" u="none" strike="noStrike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백엔드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개발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발표자료 제작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167294385"/>
                  </a:ext>
                </a:extLst>
              </a:tr>
              <a:tr h="1251000">
                <a:tc>
                  <a:txBody>
                    <a:bodyPr/>
                    <a:lstStyle/>
                    <a:p>
                      <a:pPr lvl="0" algn="ctr" latinLnBrk="1"/>
                      <a:r>
                        <a:rPr lang="ko-KR" altLang="en-US" dirty="0" err="1"/>
                        <a:t>주용곤</a:t>
                      </a:r>
                      <a:endParaRPr lang="ko-KR" altLang="en-US" dirty="0"/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lvl="0" algn="ctr" latinLnBrk="1"/>
                      <a:r>
                        <a:rPr lang="ko-KR" altLang="en-US" dirty="0"/>
                        <a:t>팀원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lvl="1" algn="l" latinLnBrk="1"/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판매 제품 </a:t>
                      </a:r>
                      <a:r>
                        <a:rPr lang="ko-KR" altLang="en-US" sz="1800" b="0" i="0" u="none" strike="noStrike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컨조인트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분석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제품 및 제품 특징 정보 캡슐화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 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제품 프롬프트 엔지니어링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LLM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시뮬레이션 코드 튜닝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예측결과 평가 및 튜닝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웹 </a:t>
                      </a:r>
                      <a:r>
                        <a:rPr lang="ko-KR" altLang="en-US" sz="1800" b="0" i="0" u="none" strike="noStrike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백엔드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개발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425030413"/>
                  </a:ext>
                </a:extLst>
              </a:tr>
              <a:tr h="1251000">
                <a:tc>
                  <a:txBody>
                    <a:bodyPr/>
                    <a:lstStyle/>
                    <a:p>
                      <a:pPr lvl="0" algn="ctr" latinLnBrk="1"/>
                      <a:r>
                        <a:rPr lang="ko-KR" altLang="en-US" dirty="0"/>
                        <a:t>박동현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lvl="0" algn="ctr" latinLnBrk="1"/>
                      <a:r>
                        <a:rPr lang="ko-KR" altLang="en-US" dirty="0"/>
                        <a:t>팀원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lvl="1" algn="l" latinLnBrk="1"/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판매 제품 </a:t>
                      </a:r>
                      <a:r>
                        <a:rPr lang="ko-KR" altLang="en-US" sz="1800" b="0" i="0" u="none" strike="noStrike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컨조인트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분석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시장 규모 추정 데이터 수집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 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제품 판매량 추정 데이터 수집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경쟁사 제품 정보 및 비교 리서치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LLM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시뮬레이션 코드 튜닝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LLM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모델 교차 검증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예측결과 평가 및 튜닝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웹 </a:t>
                      </a:r>
                      <a:r>
                        <a:rPr lang="ko-KR" altLang="en-US" sz="1800" b="0" i="0" u="none" strike="noStrike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백엔드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개발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17555147"/>
                  </a:ext>
                </a:extLst>
              </a:tr>
              <a:tr h="1251000">
                <a:tc>
                  <a:txBody>
                    <a:bodyPr/>
                    <a:lstStyle/>
                    <a:p>
                      <a:pPr lvl="0" algn="ctr" latinLnBrk="1"/>
                      <a:r>
                        <a:rPr lang="ko-KR" altLang="en-US" dirty="0" err="1"/>
                        <a:t>최장호</a:t>
                      </a:r>
                      <a:endParaRPr lang="ko-KR" altLang="en-US" dirty="0"/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lvl="0" algn="ctr" latinLnBrk="1"/>
                      <a:r>
                        <a:rPr lang="ko-KR" altLang="en-US" dirty="0"/>
                        <a:t>팀원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lvl="1" algn="l" latinLnBrk="1"/>
                      <a:r>
                        <a:rPr lang="ko-KR" altLang="en-US" sz="1800" b="0" i="0" u="none" strike="noStrike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동원몰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800" b="0" i="0" u="none" strike="noStrike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웹크롤링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개발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및 데이터 수집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소비자 추정 데이터 수집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페르소나 생성 프롬프트 엔지니어링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LLM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시뮬레이션 코드 작성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예측결과 평가 및 튜닝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웹 프론트 개발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웹 </a:t>
                      </a:r>
                      <a:r>
                        <a:rPr lang="ko-KR" altLang="en-US" sz="1800" b="0" i="0" u="none" strike="noStrike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백엔드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개발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6884819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455824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915E39-0B67-80C2-8E62-F93CBCC1C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192781B1-33C1-22E3-4733-2D30DCBA38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999" y="1858500"/>
            <a:ext cx="17803715" cy="6795000"/>
          </a:xfrm>
          <a:prstGeom prst="rect">
            <a:avLst/>
          </a:prstGeom>
        </p:spPr>
      </p:pic>
      <p:sp>
        <p:nvSpPr>
          <p:cNvPr id="17" name="AutoShape 17">
            <a:extLst>
              <a:ext uri="{FF2B5EF4-FFF2-40B4-BE49-F238E27FC236}">
                <a16:creationId xmlns:a16="http://schemas.microsoft.com/office/drawing/2014/main" id="{5F018E37-FB43-961C-F7DB-AB5D93B51035}"/>
              </a:ext>
            </a:extLst>
          </p:cNvPr>
          <p:cNvSpPr/>
          <p:nvPr/>
        </p:nvSpPr>
        <p:spPr>
          <a:xfrm>
            <a:off x="4373999" y="1074277"/>
            <a:ext cx="12996991" cy="0"/>
          </a:xfrm>
          <a:prstGeom prst="line">
            <a:avLst/>
          </a:prstGeom>
          <a:ln w="952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2D8FB865-6132-1DA9-6753-07E40E0BA0F9}"/>
              </a:ext>
            </a:extLst>
          </p:cNvPr>
          <p:cNvSpPr txBox="1"/>
          <p:nvPr/>
        </p:nvSpPr>
        <p:spPr>
          <a:xfrm>
            <a:off x="1197103" y="795626"/>
            <a:ext cx="3736349" cy="513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29"/>
              </a:lnSpc>
            </a:pPr>
            <a:r>
              <a:rPr lang="ko-KR" altLang="en-US" sz="3092" b="1" spc="-19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일정</a:t>
            </a:r>
            <a:r>
              <a:rPr lang="en-US" altLang="ko-KR" sz="3092" b="1" spc="-19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(Gantt Chart)</a:t>
            </a:r>
            <a:r>
              <a:rPr lang="ko-KR" altLang="en-US" sz="3092" b="1" spc="-19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 </a:t>
            </a:r>
            <a:endParaRPr lang="en-US" sz="3092" b="1" spc="-197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39" name="TextBox 12">
            <a:extLst>
              <a:ext uri="{FF2B5EF4-FFF2-40B4-BE49-F238E27FC236}">
                <a16:creationId xmlns:a16="http://schemas.microsoft.com/office/drawing/2014/main" id="{59F5C4C3-2611-864E-32C7-9E0CF8695D2A}"/>
              </a:ext>
            </a:extLst>
          </p:cNvPr>
          <p:cNvSpPr txBox="1"/>
          <p:nvPr/>
        </p:nvSpPr>
        <p:spPr>
          <a:xfrm>
            <a:off x="11574000" y="547028"/>
            <a:ext cx="5796991" cy="4678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3935"/>
              </a:lnSpc>
              <a:spcBef>
                <a:spcPct val="0"/>
              </a:spcBef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Part 1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– </a:t>
            </a:r>
            <a:r>
              <a:rPr lang="ko-KR" alt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프로젝트 개요</a:t>
            </a:r>
            <a:endParaRPr lang="en-US" sz="2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  <a:cs typeface="Telegraf"/>
              <a:sym typeface="Telegraf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AC15815-176F-1B62-ADC5-DE645E8F2303}"/>
              </a:ext>
            </a:extLst>
          </p:cNvPr>
          <p:cNvSpPr/>
          <p:nvPr/>
        </p:nvSpPr>
        <p:spPr>
          <a:xfrm>
            <a:off x="234000" y="2623500"/>
            <a:ext cx="17819123" cy="720000"/>
          </a:xfrm>
          <a:prstGeom prst="rect">
            <a:avLst/>
          </a:prstGeom>
          <a:solidFill>
            <a:schemeClr val="accent4">
              <a:lumMod val="40000"/>
              <a:lumOff val="60000"/>
              <a:alpha val="1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7277F66-E8FD-6A3F-9929-E6CBD652A7D5}"/>
              </a:ext>
            </a:extLst>
          </p:cNvPr>
          <p:cNvSpPr/>
          <p:nvPr/>
        </p:nvSpPr>
        <p:spPr>
          <a:xfrm>
            <a:off x="279000" y="3343499"/>
            <a:ext cx="17819123" cy="990001"/>
          </a:xfrm>
          <a:prstGeom prst="rect">
            <a:avLst/>
          </a:prstGeom>
          <a:solidFill>
            <a:srgbClr val="FFFF00">
              <a:alpha val="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DC2F4D4-ACB1-7326-DA47-F5910F68CB6B}"/>
              </a:ext>
            </a:extLst>
          </p:cNvPr>
          <p:cNvSpPr/>
          <p:nvPr/>
        </p:nvSpPr>
        <p:spPr>
          <a:xfrm>
            <a:off x="234000" y="4333500"/>
            <a:ext cx="17819123" cy="990000"/>
          </a:xfrm>
          <a:prstGeom prst="rect">
            <a:avLst/>
          </a:prstGeom>
          <a:solidFill>
            <a:schemeClr val="accent6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68451F81-A8E6-A279-6B7B-1C1CFDB11698}"/>
              </a:ext>
            </a:extLst>
          </p:cNvPr>
          <p:cNvSpPr/>
          <p:nvPr/>
        </p:nvSpPr>
        <p:spPr>
          <a:xfrm>
            <a:off x="234000" y="5323500"/>
            <a:ext cx="17819123" cy="1665000"/>
          </a:xfrm>
          <a:prstGeom prst="rect">
            <a:avLst/>
          </a:prstGeom>
          <a:solidFill>
            <a:schemeClr val="accent2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E7FBC98-D054-35C0-ECB6-9D8617BE3060}"/>
              </a:ext>
            </a:extLst>
          </p:cNvPr>
          <p:cNvSpPr/>
          <p:nvPr/>
        </p:nvSpPr>
        <p:spPr>
          <a:xfrm>
            <a:off x="234000" y="6988500"/>
            <a:ext cx="17819123" cy="1338593"/>
          </a:xfrm>
          <a:prstGeom prst="rect">
            <a:avLst/>
          </a:prstGeom>
          <a:solidFill>
            <a:schemeClr val="accent3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80C2C94-1F17-302C-DDF7-D15314DE3FBC}"/>
              </a:ext>
            </a:extLst>
          </p:cNvPr>
          <p:cNvSpPr/>
          <p:nvPr/>
        </p:nvSpPr>
        <p:spPr>
          <a:xfrm>
            <a:off x="234000" y="8310992"/>
            <a:ext cx="17819123" cy="387508"/>
          </a:xfrm>
          <a:prstGeom prst="rect">
            <a:avLst/>
          </a:prstGeom>
          <a:solidFill>
            <a:schemeClr val="accent4">
              <a:lumMod val="40000"/>
              <a:lumOff val="60000"/>
              <a:alpha val="1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53783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D02CDE-6F52-AD59-5C06-5A987BECA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AutoShape 17">
            <a:extLst>
              <a:ext uri="{FF2B5EF4-FFF2-40B4-BE49-F238E27FC236}">
                <a16:creationId xmlns:a16="http://schemas.microsoft.com/office/drawing/2014/main" id="{0441740E-6CE4-C6D7-409E-5CA9F5A73687}"/>
              </a:ext>
            </a:extLst>
          </p:cNvPr>
          <p:cNvSpPr/>
          <p:nvPr/>
        </p:nvSpPr>
        <p:spPr>
          <a:xfrm>
            <a:off x="3537491" y="1074277"/>
            <a:ext cx="13833500" cy="0"/>
          </a:xfrm>
          <a:prstGeom prst="line">
            <a:avLst/>
          </a:prstGeom>
          <a:ln w="952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C34858D8-4B28-87F8-78B8-2506111BBC33}"/>
              </a:ext>
            </a:extLst>
          </p:cNvPr>
          <p:cNvSpPr txBox="1"/>
          <p:nvPr/>
        </p:nvSpPr>
        <p:spPr>
          <a:xfrm>
            <a:off x="1197103" y="795626"/>
            <a:ext cx="3736349" cy="513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29"/>
              </a:lnSpc>
            </a:pPr>
            <a:r>
              <a:rPr lang="ko-KR" altLang="en-US" sz="3092" b="1" spc="-19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개발 환경</a:t>
            </a:r>
            <a:endParaRPr lang="en-US" sz="3092" b="1" spc="-197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39" name="TextBox 12">
            <a:extLst>
              <a:ext uri="{FF2B5EF4-FFF2-40B4-BE49-F238E27FC236}">
                <a16:creationId xmlns:a16="http://schemas.microsoft.com/office/drawing/2014/main" id="{9140EEED-9866-93D7-1625-30B54E76553A}"/>
              </a:ext>
            </a:extLst>
          </p:cNvPr>
          <p:cNvSpPr txBox="1"/>
          <p:nvPr/>
        </p:nvSpPr>
        <p:spPr>
          <a:xfrm>
            <a:off x="11574000" y="547028"/>
            <a:ext cx="5796991" cy="4678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3935"/>
              </a:lnSpc>
              <a:spcBef>
                <a:spcPct val="0"/>
              </a:spcBef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Part 1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– </a:t>
            </a:r>
            <a:r>
              <a:rPr lang="ko-KR" alt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프로젝트 개요</a:t>
            </a:r>
            <a:endParaRPr lang="en-US" sz="2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  <a:cs typeface="Telegraf"/>
              <a:sym typeface="Telegraf"/>
            </a:endParaRPr>
          </a:p>
        </p:txBody>
      </p:sp>
      <p:graphicFrame>
        <p:nvGraphicFramePr>
          <p:cNvPr id="40" name="표 39">
            <a:extLst>
              <a:ext uri="{FF2B5EF4-FFF2-40B4-BE49-F238E27FC236}">
                <a16:creationId xmlns:a16="http://schemas.microsoft.com/office/drawing/2014/main" id="{6B480CE0-2A09-D2DE-B48F-86CBC04523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6028407"/>
              </p:ext>
            </p:extLst>
          </p:nvPr>
        </p:nvGraphicFramePr>
        <p:xfrm>
          <a:off x="1345552" y="2263500"/>
          <a:ext cx="14953448" cy="7112832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68064">
                  <a:extLst>
                    <a:ext uri="{9D8B030D-6E8A-4147-A177-3AD203B41FA5}">
                      <a16:colId xmlns:a16="http://schemas.microsoft.com/office/drawing/2014/main" val="3370476028"/>
                    </a:ext>
                  </a:extLst>
                </a:gridCol>
                <a:gridCol w="12885384">
                  <a:extLst>
                    <a:ext uri="{9D8B030D-6E8A-4147-A177-3AD203B41FA5}">
                      <a16:colId xmlns:a16="http://schemas.microsoft.com/office/drawing/2014/main" val="3299223831"/>
                    </a:ext>
                  </a:extLst>
                </a:gridCol>
              </a:tblGrid>
              <a:tr h="720001">
                <a:tc>
                  <a:txBody>
                    <a:bodyPr/>
                    <a:lstStyle/>
                    <a:p>
                      <a:pPr lvl="0" algn="ctr" latinLnBrk="1"/>
                      <a:r>
                        <a:rPr lang="ko-KR" altLang="en-US" dirty="0"/>
                        <a:t>구분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1" algn="l" latinLnBrk="1"/>
                      <a:r>
                        <a:rPr lang="ko-KR" altLang="en-US" dirty="0"/>
                        <a:t>상세내역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5037667"/>
                  </a:ext>
                </a:extLst>
              </a:tr>
              <a:tr h="548181">
                <a:tc>
                  <a:txBody>
                    <a:bodyPr/>
                    <a:lstStyle/>
                    <a:p>
                      <a:pPr lvl="0" algn="ctr" latinLnBrk="1"/>
                      <a:r>
                        <a:rPr lang="en-US" altLang="ko-KR" sz="1800" dirty="0">
                          <a:latin typeface="+mn-ea"/>
                          <a:ea typeface="+mn-ea"/>
                        </a:rPr>
                        <a:t>OS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lvl="1" algn="l" latinLnBrk="1"/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Windows 10 / 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167294385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lvl="0" algn="ctr" latinLnBrk="1"/>
                      <a:r>
                        <a:rPr lang="en-US" altLang="ko-KR" sz="1800" kern="0" spc="-16" dirty="0">
                          <a:solidFill>
                            <a:srgbClr val="000000">
                              <a:alpha val="99000"/>
                            </a:srgbClr>
                          </a:solidFill>
                          <a:latin typeface="+mn-ea"/>
                          <a:ea typeface="+mn-ea"/>
                          <a:cs typeface="Manrope" pitchFamily="34" charset="-120"/>
                        </a:rPr>
                        <a:t>Language</a:t>
                      </a:r>
                      <a:endParaRPr lang="ko-KR" altLang="en-US" sz="1800" dirty="0">
                        <a:latin typeface="+mn-ea"/>
                        <a:ea typeface="+mn-ea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lvl="1" algn="l" latinLnBrk="1"/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Python 3.10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425030413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lvl="0" algn="ctr" latinLnBrk="1"/>
                      <a:r>
                        <a:rPr lang="en-US" altLang="ko-KR" sz="1800" dirty="0">
                          <a:latin typeface="+mn-ea"/>
                          <a:ea typeface="+mn-ea"/>
                        </a:rPr>
                        <a:t>IDE</a:t>
                      </a:r>
                      <a:endParaRPr lang="ko-KR" altLang="en-US" sz="1800" dirty="0">
                        <a:latin typeface="+mn-ea"/>
                        <a:ea typeface="+mn-ea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lvl="1" algn="l" latinLnBrk="1"/>
                      <a:r>
                        <a:rPr lang="en-US" altLang="ko-KR" sz="1800" b="0" i="0" u="none" strike="noStrike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Anacomda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800" b="0" i="0" u="none" strike="noStrike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jupyter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notebook(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데이터 정제 및 병합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그룹화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, ML&amp;DL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분석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), VS Code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17555147"/>
                  </a:ext>
                </a:extLst>
              </a:tr>
              <a:tr h="2331819">
                <a:tc>
                  <a:txBody>
                    <a:bodyPr/>
                    <a:lstStyle/>
                    <a:p>
                      <a:pPr lvl="0" algn="ctr" latinLnBrk="1"/>
                      <a:r>
                        <a:rPr lang="en-US" altLang="ko-KR" sz="1800" dirty="0">
                          <a:latin typeface="+mn-ea"/>
                          <a:ea typeface="+mn-ea"/>
                        </a:rPr>
                        <a:t>Open</a:t>
                      </a:r>
                    </a:p>
                    <a:p>
                      <a:pPr lvl="0" algn="ctr" latinLnBrk="1"/>
                      <a:r>
                        <a:rPr lang="en-US" altLang="ko-KR" sz="1800" dirty="0">
                          <a:latin typeface="+mn-ea"/>
                          <a:ea typeface="+mn-ea"/>
                        </a:rPr>
                        <a:t>Source</a:t>
                      </a:r>
                      <a:endParaRPr lang="ko-KR" altLang="en-US" sz="1800" dirty="0">
                        <a:latin typeface="+mn-ea"/>
                        <a:ea typeface="+mn-ea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lvl="1" algn="l" latinLnBrk="1"/>
                      <a:r>
                        <a:rPr lang="en-US" altLang="ko-KR" sz="1800" dirty="0">
                          <a:latin typeface="+mn-ea"/>
                          <a:ea typeface="+mn-ea"/>
                        </a:rPr>
                        <a:t>beautifulsoup4==4.12.2,</a:t>
                      </a:r>
                    </a:p>
                    <a:p>
                      <a:pPr lvl="1" algn="l" latinLnBrk="1"/>
                      <a:r>
                        <a:rPr lang="en-US" altLang="ko-KR" sz="1800" dirty="0">
                          <a:latin typeface="+mn-ea"/>
                          <a:ea typeface="+mn-ea"/>
                        </a:rPr>
                        <a:t>requests==2.31.0</a:t>
                      </a:r>
                    </a:p>
                    <a:p>
                      <a:pPr lvl="1" algn="l" latinLnBrk="1"/>
                      <a:r>
                        <a:rPr lang="en-US" altLang="ko-KR" sz="1800" dirty="0">
                          <a:latin typeface="+mn-ea"/>
                          <a:ea typeface="+mn-ea"/>
                        </a:rPr>
                        <a:t>pandas==2.0.3</a:t>
                      </a:r>
                    </a:p>
                    <a:p>
                      <a:pPr lvl="1" algn="l" latinLnBrk="1"/>
                      <a:r>
                        <a:rPr lang="en-US" altLang="ko-KR" sz="1800" dirty="0" err="1">
                          <a:latin typeface="+mn-ea"/>
                          <a:ea typeface="+mn-ea"/>
                        </a:rPr>
                        <a:t>numpy</a:t>
                      </a:r>
                      <a:r>
                        <a:rPr lang="en-US" altLang="ko-KR" sz="1800" dirty="0">
                          <a:latin typeface="+mn-ea"/>
                          <a:ea typeface="+mn-ea"/>
                        </a:rPr>
                        <a:t>==1.24.4</a:t>
                      </a:r>
                    </a:p>
                    <a:p>
                      <a:pPr lvl="1" algn="l" latinLnBrk="1"/>
                      <a:r>
                        <a:rPr lang="en-US" altLang="ko-KR" sz="1800" dirty="0">
                          <a:latin typeface="+mn-ea"/>
                          <a:ea typeface="+mn-ea"/>
                        </a:rPr>
                        <a:t>matplotlib==3.7.2</a:t>
                      </a:r>
                    </a:p>
                    <a:p>
                      <a:pPr lvl="1" algn="l" latinLnBrk="1"/>
                      <a:r>
                        <a:rPr lang="en-US" altLang="ko-KR" sz="1800" dirty="0">
                          <a:latin typeface="+mn-ea"/>
                          <a:ea typeface="+mn-ea"/>
                        </a:rPr>
                        <a:t>seaborn==0.12.2</a:t>
                      </a:r>
                    </a:p>
                    <a:p>
                      <a:pPr lvl="1" algn="l" latinLnBrk="1"/>
                      <a:r>
                        <a:rPr lang="en-US" altLang="ko-KR" sz="1800" dirty="0" err="1">
                          <a:latin typeface="+mn-ea"/>
                          <a:ea typeface="+mn-ea"/>
                        </a:rPr>
                        <a:t>openai</a:t>
                      </a:r>
                      <a:r>
                        <a:rPr lang="en-US" altLang="ko-KR" sz="1800" dirty="0">
                          <a:latin typeface="+mn-ea"/>
                          <a:ea typeface="+mn-ea"/>
                        </a:rPr>
                        <a:t>&gt;=1.0.0,&lt;2.0.0</a:t>
                      </a:r>
                    </a:p>
                    <a:p>
                      <a:pPr lvl="1" algn="l" latinLnBrk="1"/>
                      <a:r>
                        <a:rPr lang="en-US" altLang="ko-KR" sz="1800" dirty="0" err="1">
                          <a:latin typeface="+mn-ea"/>
                          <a:ea typeface="+mn-ea"/>
                        </a:rPr>
                        <a:t>langchain</a:t>
                      </a:r>
                      <a:r>
                        <a:rPr lang="en-US" altLang="ko-KR" sz="1800" dirty="0">
                          <a:latin typeface="+mn-ea"/>
                          <a:ea typeface="+mn-ea"/>
                        </a:rPr>
                        <a:t>&gt;=0.1.0,&lt;0.2.0</a:t>
                      </a:r>
                    </a:p>
                    <a:p>
                      <a:pPr lvl="1" algn="l" latinLnBrk="1"/>
                      <a:r>
                        <a:rPr lang="en-US" altLang="ko-KR" sz="1800" dirty="0" err="1">
                          <a:latin typeface="+mn-ea"/>
                          <a:ea typeface="+mn-ea"/>
                        </a:rPr>
                        <a:t>langchain-openai</a:t>
                      </a:r>
                      <a:r>
                        <a:rPr lang="en-US" altLang="ko-KR" sz="1800" dirty="0">
                          <a:latin typeface="+mn-ea"/>
                          <a:ea typeface="+mn-ea"/>
                        </a:rPr>
                        <a:t>&gt;=0.1.0</a:t>
                      </a:r>
                    </a:p>
                    <a:p>
                      <a:pPr lvl="1" algn="l" latinLnBrk="1"/>
                      <a:r>
                        <a:rPr lang="en-US" altLang="ko-KR" sz="1800" dirty="0" err="1">
                          <a:latin typeface="+mn-ea"/>
                          <a:ea typeface="+mn-ea"/>
                        </a:rPr>
                        <a:t>asgiref</a:t>
                      </a:r>
                      <a:r>
                        <a:rPr lang="en-US" altLang="ko-KR" sz="1800" dirty="0">
                          <a:latin typeface="+mn-ea"/>
                          <a:ea typeface="+mn-ea"/>
                        </a:rPr>
                        <a:t>==3.9.1</a:t>
                      </a:r>
                    </a:p>
                    <a:p>
                      <a:pPr lvl="1" algn="l" latinLnBrk="1"/>
                      <a:r>
                        <a:rPr lang="en-US" altLang="ko-KR" sz="1800" dirty="0" err="1">
                          <a:latin typeface="+mn-ea"/>
                          <a:ea typeface="+mn-ea"/>
                        </a:rPr>
                        <a:t>mysqlclient</a:t>
                      </a:r>
                      <a:r>
                        <a:rPr lang="en-US" altLang="ko-KR" sz="1800" dirty="0">
                          <a:latin typeface="+mn-ea"/>
                          <a:ea typeface="+mn-ea"/>
                        </a:rPr>
                        <a:t>==2.2.7</a:t>
                      </a:r>
                    </a:p>
                    <a:p>
                      <a:pPr lvl="1" algn="l" latinLnBrk="1"/>
                      <a:r>
                        <a:rPr lang="en-US" altLang="ko-KR" sz="1800" dirty="0">
                          <a:latin typeface="+mn-ea"/>
                          <a:ea typeface="+mn-ea"/>
                        </a:rPr>
                        <a:t>python-decouple==3.8</a:t>
                      </a:r>
                    </a:p>
                    <a:p>
                      <a:pPr lvl="1" algn="l" latinLnBrk="1"/>
                      <a:r>
                        <a:rPr lang="en-US" altLang="ko-KR" sz="1800" dirty="0" err="1">
                          <a:latin typeface="+mn-ea"/>
                          <a:ea typeface="+mn-ea"/>
                        </a:rPr>
                        <a:t>sqlparse</a:t>
                      </a:r>
                      <a:r>
                        <a:rPr lang="en-US" altLang="ko-KR" sz="1800" dirty="0">
                          <a:latin typeface="+mn-ea"/>
                          <a:ea typeface="+mn-ea"/>
                        </a:rPr>
                        <a:t>==0.5.3</a:t>
                      </a:r>
                    </a:p>
                    <a:p>
                      <a:pPr lvl="1" algn="l" latinLnBrk="1"/>
                      <a:r>
                        <a:rPr lang="en-US" altLang="ko-KR" sz="1800" dirty="0" err="1">
                          <a:latin typeface="+mn-ea"/>
                          <a:ea typeface="+mn-ea"/>
                        </a:rPr>
                        <a:t>typing_extensions</a:t>
                      </a:r>
                      <a:r>
                        <a:rPr lang="en-US" altLang="ko-KR" sz="1800" dirty="0">
                          <a:latin typeface="+mn-ea"/>
                          <a:ea typeface="+mn-ea"/>
                        </a:rPr>
                        <a:t>==4.14.1</a:t>
                      </a:r>
                    </a:p>
                    <a:p>
                      <a:pPr lvl="1" algn="l" latinLnBrk="1"/>
                      <a:r>
                        <a:rPr lang="en-US" altLang="ko-KR" sz="1800" dirty="0" err="1">
                          <a:latin typeface="+mn-ea"/>
                          <a:ea typeface="+mn-ea"/>
                        </a:rPr>
                        <a:t>tzdata</a:t>
                      </a:r>
                      <a:r>
                        <a:rPr lang="en-US" altLang="ko-KR" sz="1800" dirty="0">
                          <a:latin typeface="+mn-ea"/>
                          <a:ea typeface="+mn-ea"/>
                        </a:rPr>
                        <a:t>==2025.2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688481929"/>
                  </a:ext>
                </a:extLst>
              </a:tr>
              <a:tr h="648410">
                <a:tc>
                  <a:txBody>
                    <a:bodyPr/>
                    <a:lstStyle/>
                    <a:p>
                      <a:pPr lvl="0" algn="ctr" latinLnBrk="1"/>
                      <a:r>
                        <a:rPr lang="en-US" altLang="ko-KR" sz="1800" dirty="0" err="1">
                          <a:latin typeface="+mn-ea"/>
                          <a:ea typeface="+mn-ea"/>
                        </a:rPr>
                        <a:t>FrameWork</a:t>
                      </a:r>
                      <a:endParaRPr lang="ko-KR" altLang="en-US" sz="1800" dirty="0">
                        <a:latin typeface="+mn-ea"/>
                        <a:ea typeface="+mn-ea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lvl="1" algn="l" latinLnBrk="1"/>
                      <a:r>
                        <a:rPr lang="en-US" altLang="ko-KR" sz="1800" dirty="0">
                          <a:latin typeface="+mn-ea"/>
                          <a:ea typeface="+mn-ea"/>
                        </a:rPr>
                        <a:t>Django(Django==5.2.4 </a:t>
                      </a:r>
                      <a:r>
                        <a:rPr lang="en-US" altLang="ko-KR" sz="1800" dirty="0" err="1">
                          <a:latin typeface="+mn-ea"/>
                          <a:ea typeface="+mn-ea"/>
                        </a:rPr>
                        <a:t>djangorestframework</a:t>
                      </a:r>
                      <a:r>
                        <a:rPr lang="en-US" altLang="ko-KR" sz="1800" dirty="0">
                          <a:latin typeface="+mn-ea"/>
                          <a:ea typeface="+mn-ea"/>
                        </a:rPr>
                        <a:t>==3.14.0, channels==4.0.0 )</a:t>
                      </a:r>
                      <a:endParaRPr lang="ko-KR" altLang="en-US" sz="18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8453777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320570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29E142-40C8-82BF-15CC-C16166084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>
            <a:extLst>
              <a:ext uri="{FF2B5EF4-FFF2-40B4-BE49-F238E27FC236}">
                <a16:creationId xmlns:a16="http://schemas.microsoft.com/office/drawing/2014/main" id="{430B8023-500C-5358-A29D-325B9E9F83D3}"/>
              </a:ext>
            </a:extLst>
          </p:cNvPr>
          <p:cNvSpPr txBox="1"/>
          <p:nvPr/>
        </p:nvSpPr>
        <p:spPr>
          <a:xfrm>
            <a:off x="16716877" y="8776205"/>
            <a:ext cx="1242680" cy="4251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542"/>
              </a:lnSpc>
            </a:pPr>
            <a:r>
              <a:rPr lang="en-US" sz="2530" b="1" spc="-43">
                <a:solidFill>
                  <a:srgbClr val="FFFFFF"/>
                </a:solidFill>
                <a:latin typeface="+mn-ea"/>
                <a:cs typeface="Source Han Sans KR Bold"/>
                <a:sym typeface="Source Han Sans KR Bold"/>
              </a:rPr>
              <a:t>Logo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AB15072C-BFAC-66C3-C821-999B31D05528}"/>
              </a:ext>
            </a:extLst>
          </p:cNvPr>
          <p:cNvSpPr txBox="1"/>
          <p:nvPr/>
        </p:nvSpPr>
        <p:spPr>
          <a:xfrm>
            <a:off x="8555637" y="6742688"/>
            <a:ext cx="2598180" cy="32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757"/>
              </a:lnSpc>
              <a:spcBef>
                <a:spcPct val="0"/>
              </a:spcBef>
            </a:pPr>
            <a:r>
              <a:rPr lang="ko-KR" altLang="en-US" sz="2000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고객 세그먼트 분석</a:t>
            </a:r>
            <a:endParaRPr lang="en-US" altLang="ko-KR" sz="2000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FD714E31-CDE4-0D35-B07F-558F5B61132A}"/>
              </a:ext>
            </a:extLst>
          </p:cNvPr>
          <p:cNvSpPr txBox="1"/>
          <p:nvPr/>
        </p:nvSpPr>
        <p:spPr>
          <a:xfrm>
            <a:off x="5916826" y="6742688"/>
            <a:ext cx="2598180" cy="32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757"/>
              </a:lnSpc>
              <a:spcBef>
                <a:spcPct val="0"/>
              </a:spcBef>
            </a:pPr>
            <a:r>
              <a:rPr lang="ko-KR" altLang="en-US" sz="2000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데이터 수집</a:t>
            </a:r>
            <a:endParaRPr lang="en-US" altLang="ko-KR" sz="2000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8" name="AutoShape 8">
            <a:extLst>
              <a:ext uri="{FF2B5EF4-FFF2-40B4-BE49-F238E27FC236}">
                <a16:creationId xmlns:a16="http://schemas.microsoft.com/office/drawing/2014/main" id="{995AF394-1B24-DFBE-B654-61BF6E8DE9AA}"/>
              </a:ext>
            </a:extLst>
          </p:cNvPr>
          <p:cNvSpPr/>
          <p:nvPr/>
        </p:nvSpPr>
        <p:spPr>
          <a:xfrm>
            <a:off x="7873221" y="6320010"/>
            <a:ext cx="0" cy="759414"/>
          </a:xfrm>
          <a:prstGeom prst="line">
            <a:avLst/>
          </a:prstGeom>
          <a:ln w="9525" cap="flat">
            <a:solidFill>
              <a:srgbClr val="DFDFD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66AD0C18-AECA-FB0B-DE4E-312C18DCB02A}"/>
              </a:ext>
            </a:extLst>
          </p:cNvPr>
          <p:cNvSpPr txBox="1"/>
          <p:nvPr/>
        </p:nvSpPr>
        <p:spPr>
          <a:xfrm>
            <a:off x="1183714" y="6035503"/>
            <a:ext cx="4502923" cy="24878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74"/>
              </a:lnSpc>
            </a:pPr>
            <a:r>
              <a:rPr lang="ko-KR" altLang="en-US" sz="8800" b="1" spc="-61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데이터</a:t>
            </a:r>
            <a:endParaRPr lang="en-US" altLang="ko-KR" sz="8800" b="1" spc="-617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  <a:p>
            <a:pPr algn="l">
              <a:lnSpc>
                <a:spcPts val="9674"/>
              </a:lnSpc>
            </a:pPr>
            <a:r>
              <a:rPr lang="ko-KR" altLang="en-US" sz="8800" b="1" spc="-61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분석</a:t>
            </a:r>
            <a:endParaRPr lang="en-US" sz="8800" b="1" spc="-617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D1E9433-69A9-0C84-4156-6BDFF19E2D29}"/>
              </a:ext>
            </a:extLst>
          </p:cNvPr>
          <p:cNvSpPr txBox="1"/>
          <p:nvPr/>
        </p:nvSpPr>
        <p:spPr>
          <a:xfrm>
            <a:off x="1299068" y="5101802"/>
            <a:ext cx="1267504" cy="4564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935"/>
              </a:lnSpc>
              <a:spcBef>
                <a:spcPct val="0"/>
              </a:spcBef>
            </a:pPr>
            <a:r>
              <a:rPr lang="en-US" sz="2811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Part </a:t>
            </a:r>
            <a:r>
              <a:rPr lang="en-US" altLang="ko-KR" sz="2811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2</a:t>
            </a:r>
            <a:endParaRPr lang="en-US" sz="2811" dirty="0">
              <a:solidFill>
                <a:srgbClr val="000000"/>
              </a:solidFill>
              <a:latin typeface="+mn-ea"/>
              <a:cs typeface="Telegraf"/>
              <a:sym typeface="Telegraf"/>
            </a:endParaRP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30AC43-8A4F-A2BD-1084-7DEEE27CD323}"/>
              </a:ext>
            </a:extLst>
          </p:cNvPr>
          <p:cNvSpPr txBox="1"/>
          <p:nvPr/>
        </p:nvSpPr>
        <p:spPr>
          <a:xfrm>
            <a:off x="8555637" y="6253335"/>
            <a:ext cx="874928" cy="3501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956"/>
              </a:lnSpc>
              <a:spcBef>
                <a:spcPct val="0"/>
              </a:spcBef>
            </a:pPr>
            <a:r>
              <a:rPr lang="en-US" altLang="ko-KR" sz="2000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2</a:t>
            </a:r>
            <a:r>
              <a:rPr lang="en-US" sz="2000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-2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7D14ED9A-BA97-1D94-208F-156E9D41FD16}"/>
              </a:ext>
            </a:extLst>
          </p:cNvPr>
          <p:cNvSpPr txBox="1"/>
          <p:nvPr/>
        </p:nvSpPr>
        <p:spPr>
          <a:xfrm>
            <a:off x="5916826" y="6253335"/>
            <a:ext cx="874928" cy="3501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956"/>
              </a:lnSpc>
              <a:spcBef>
                <a:spcPct val="0"/>
              </a:spcBef>
            </a:pPr>
            <a:r>
              <a:rPr lang="en-US" altLang="ko-KR" sz="2000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2</a:t>
            </a:r>
            <a:r>
              <a:rPr lang="en-US" sz="2000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-1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474A58E5-28A1-E4C2-76C5-59ECCC95EDA6}"/>
              </a:ext>
            </a:extLst>
          </p:cNvPr>
          <p:cNvSpPr/>
          <p:nvPr/>
        </p:nvSpPr>
        <p:spPr>
          <a:xfrm>
            <a:off x="14454000" y="-11033"/>
            <a:ext cx="3834000" cy="4368922"/>
          </a:xfrm>
          <a:prstGeom prst="rect">
            <a:avLst/>
          </a:prstGeom>
          <a:solidFill>
            <a:srgbClr val="1319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E694B6B6-7A1C-CC6D-24BC-0034E6E2EE49}"/>
              </a:ext>
            </a:extLst>
          </p:cNvPr>
          <p:cNvGrpSpPr/>
          <p:nvPr/>
        </p:nvGrpSpPr>
        <p:grpSpPr>
          <a:xfrm>
            <a:off x="0" y="-11033"/>
            <a:ext cx="14544000" cy="4368922"/>
            <a:chOff x="0" y="-11033"/>
            <a:chExt cx="14544000" cy="4368922"/>
          </a:xfrm>
        </p:grpSpPr>
        <p:pic>
          <p:nvPicPr>
            <p:cNvPr id="3074" name="Picture 2">
              <a:extLst>
                <a:ext uri="{FF2B5EF4-FFF2-40B4-BE49-F238E27FC236}">
                  <a16:creationId xmlns:a16="http://schemas.microsoft.com/office/drawing/2014/main" id="{E7C338BE-DC9C-7091-942F-809ADDE200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3992" b="15424"/>
            <a:stretch>
              <a:fillRect/>
            </a:stretch>
          </p:blipFill>
          <p:spPr bwMode="auto">
            <a:xfrm>
              <a:off x="3744000" y="-4281"/>
              <a:ext cx="10800000" cy="43621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19D49CBE-C1C0-BBC1-0010-165ED17BF857}"/>
                </a:ext>
              </a:extLst>
            </p:cNvPr>
            <p:cNvSpPr/>
            <p:nvPr/>
          </p:nvSpPr>
          <p:spPr>
            <a:xfrm>
              <a:off x="0" y="-11033"/>
              <a:ext cx="3834000" cy="4368922"/>
            </a:xfrm>
            <a:prstGeom prst="rect">
              <a:avLst/>
            </a:prstGeom>
            <a:gradFill flip="none" rotWithShape="1">
              <a:gsLst>
                <a:gs pos="56084">
                  <a:srgbClr val="1A3F6B"/>
                </a:gs>
                <a:gs pos="31746">
                  <a:srgbClr val="194470"/>
                </a:gs>
                <a:gs pos="0">
                  <a:srgbClr val="325880"/>
                </a:gs>
                <a:gs pos="74000">
                  <a:srgbClr val="153B60"/>
                </a:gs>
                <a:gs pos="83000">
                  <a:srgbClr val="193356"/>
                </a:gs>
                <a:gs pos="100000">
                  <a:srgbClr val="132A49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" name="TextBox 5">
            <a:extLst>
              <a:ext uri="{FF2B5EF4-FFF2-40B4-BE49-F238E27FC236}">
                <a16:creationId xmlns:a16="http://schemas.microsoft.com/office/drawing/2014/main" id="{999453B8-1FC1-F725-9FB1-72597AE043B7}"/>
              </a:ext>
            </a:extLst>
          </p:cNvPr>
          <p:cNvSpPr txBox="1"/>
          <p:nvPr/>
        </p:nvSpPr>
        <p:spPr>
          <a:xfrm>
            <a:off x="11836232" y="6742688"/>
            <a:ext cx="2598180" cy="32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757"/>
              </a:lnSpc>
              <a:spcBef>
                <a:spcPct val="0"/>
              </a:spcBef>
            </a:pPr>
            <a:r>
              <a:rPr lang="ko-KR" altLang="en-US" sz="2000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판매 제품 분석</a:t>
            </a:r>
            <a:endParaRPr lang="en-US" altLang="ko-KR" sz="2000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3" name="AutoShape 8">
            <a:extLst>
              <a:ext uri="{FF2B5EF4-FFF2-40B4-BE49-F238E27FC236}">
                <a16:creationId xmlns:a16="http://schemas.microsoft.com/office/drawing/2014/main" id="{A5C604EE-E7B8-1029-0DD2-2535DDBFDC97}"/>
              </a:ext>
            </a:extLst>
          </p:cNvPr>
          <p:cNvSpPr/>
          <p:nvPr/>
        </p:nvSpPr>
        <p:spPr>
          <a:xfrm>
            <a:off x="11153816" y="6320010"/>
            <a:ext cx="0" cy="759414"/>
          </a:xfrm>
          <a:prstGeom prst="line">
            <a:avLst/>
          </a:prstGeom>
          <a:ln w="9525" cap="flat">
            <a:solidFill>
              <a:srgbClr val="DFDFD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0" name="TextBox 13">
            <a:extLst>
              <a:ext uri="{FF2B5EF4-FFF2-40B4-BE49-F238E27FC236}">
                <a16:creationId xmlns:a16="http://schemas.microsoft.com/office/drawing/2014/main" id="{CD5D6859-5777-6DAB-E95F-F738895F3F10}"/>
              </a:ext>
            </a:extLst>
          </p:cNvPr>
          <p:cNvSpPr txBox="1"/>
          <p:nvPr/>
        </p:nvSpPr>
        <p:spPr>
          <a:xfrm>
            <a:off x="11836232" y="6253335"/>
            <a:ext cx="874928" cy="3501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956"/>
              </a:lnSpc>
              <a:spcBef>
                <a:spcPct val="0"/>
              </a:spcBef>
            </a:pPr>
            <a:r>
              <a:rPr lang="en-US" altLang="ko-KR" sz="2000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2</a:t>
            </a:r>
            <a:r>
              <a:rPr lang="en-US" sz="2000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-3</a:t>
            </a:r>
          </a:p>
        </p:txBody>
      </p:sp>
      <p:sp>
        <p:nvSpPr>
          <p:cNvPr id="16" name="TextBox 5">
            <a:extLst>
              <a:ext uri="{FF2B5EF4-FFF2-40B4-BE49-F238E27FC236}">
                <a16:creationId xmlns:a16="http://schemas.microsoft.com/office/drawing/2014/main" id="{36F1B8C7-2DD6-CA3A-49C6-89CE30CC469A}"/>
              </a:ext>
            </a:extLst>
          </p:cNvPr>
          <p:cNvSpPr txBox="1"/>
          <p:nvPr/>
        </p:nvSpPr>
        <p:spPr>
          <a:xfrm>
            <a:off x="14679363" y="6742688"/>
            <a:ext cx="2598180" cy="32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757"/>
              </a:lnSpc>
              <a:spcBef>
                <a:spcPct val="0"/>
              </a:spcBef>
            </a:pPr>
            <a:r>
              <a:rPr lang="ko-KR" altLang="en-US" sz="2000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외생 변수 가공</a:t>
            </a:r>
            <a:endParaRPr lang="en-US" altLang="ko-KR" sz="2000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17" name="AutoShape 8">
            <a:extLst>
              <a:ext uri="{FF2B5EF4-FFF2-40B4-BE49-F238E27FC236}">
                <a16:creationId xmlns:a16="http://schemas.microsoft.com/office/drawing/2014/main" id="{B6DB3CA9-385E-9EFE-CC99-078D100435D6}"/>
              </a:ext>
            </a:extLst>
          </p:cNvPr>
          <p:cNvSpPr/>
          <p:nvPr/>
        </p:nvSpPr>
        <p:spPr>
          <a:xfrm>
            <a:off x="13996947" y="6320010"/>
            <a:ext cx="0" cy="759414"/>
          </a:xfrm>
          <a:prstGeom prst="line">
            <a:avLst/>
          </a:prstGeom>
          <a:ln w="9525" cap="flat">
            <a:solidFill>
              <a:srgbClr val="DFDFD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8" name="TextBox 13">
            <a:extLst>
              <a:ext uri="{FF2B5EF4-FFF2-40B4-BE49-F238E27FC236}">
                <a16:creationId xmlns:a16="http://schemas.microsoft.com/office/drawing/2014/main" id="{8D37F8BC-5BC0-59BD-C15E-B60EB34EE35E}"/>
              </a:ext>
            </a:extLst>
          </p:cNvPr>
          <p:cNvSpPr txBox="1"/>
          <p:nvPr/>
        </p:nvSpPr>
        <p:spPr>
          <a:xfrm>
            <a:off x="14679363" y="6253335"/>
            <a:ext cx="874928" cy="3501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956"/>
              </a:lnSpc>
              <a:spcBef>
                <a:spcPct val="0"/>
              </a:spcBef>
            </a:pPr>
            <a:r>
              <a:rPr lang="en-US" altLang="ko-KR" sz="2000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2</a:t>
            </a:r>
            <a:r>
              <a:rPr lang="en-US" sz="2000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-</a:t>
            </a:r>
            <a:r>
              <a:rPr lang="en-US" altLang="ko-KR" sz="2000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4</a:t>
            </a:r>
            <a:endParaRPr lang="en-US" sz="2000" dirty="0">
              <a:solidFill>
                <a:srgbClr val="000000"/>
              </a:solidFill>
              <a:latin typeface="+mn-ea"/>
              <a:cs typeface="Telegraf"/>
              <a:sym typeface="Telegraf"/>
            </a:endParaRPr>
          </a:p>
        </p:txBody>
      </p:sp>
    </p:spTree>
    <p:extLst>
      <p:ext uri="{BB962C8B-B14F-4D97-AF65-F5344CB8AC3E}">
        <p14:creationId xmlns:p14="http://schemas.microsoft.com/office/powerpoint/2010/main" val="9474245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3FD75-BDDA-7099-3136-26409925FC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AutoShape 17">
            <a:extLst>
              <a:ext uri="{FF2B5EF4-FFF2-40B4-BE49-F238E27FC236}">
                <a16:creationId xmlns:a16="http://schemas.microsoft.com/office/drawing/2014/main" id="{BC80ACAB-4260-1AB6-556B-C4155B61E3BC}"/>
              </a:ext>
            </a:extLst>
          </p:cNvPr>
          <p:cNvSpPr/>
          <p:nvPr/>
        </p:nvSpPr>
        <p:spPr>
          <a:xfrm>
            <a:off x="3789001" y="1074277"/>
            <a:ext cx="13581990" cy="0"/>
          </a:xfrm>
          <a:prstGeom prst="line">
            <a:avLst/>
          </a:prstGeom>
          <a:ln w="952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3A735144-CBCB-AA02-6E8F-C2F192C53BD2}"/>
              </a:ext>
            </a:extLst>
          </p:cNvPr>
          <p:cNvSpPr txBox="1"/>
          <p:nvPr/>
        </p:nvSpPr>
        <p:spPr>
          <a:xfrm>
            <a:off x="1197103" y="795626"/>
            <a:ext cx="3736349" cy="513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29"/>
              </a:lnSpc>
            </a:pPr>
            <a:r>
              <a:rPr lang="ko-KR" altLang="en-US" sz="3092" b="1" spc="-19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데이터 수집</a:t>
            </a:r>
            <a:endParaRPr lang="en-US" sz="3092" b="1" spc="-197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39" name="TextBox 12">
            <a:extLst>
              <a:ext uri="{FF2B5EF4-FFF2-40B4-BE49-F238E27FC236}">
                <a16:creationId xmlns:a16="http://schemas.microsoft.com/office/drawing/2014/main" id="{22339ED9-6D43-07EB-76E0-433AE134281E}"/>
              </a:ext>
            </a:extLst>
          </p:cNvPr>
          <p:cNvSpPr txBox="1"/>
          <p:nvPr/>
        </p:nvSpPr>
        <p:spPr>
          <a:xfrm>
            <a:off x="11574000" y="547028"/>
            <a:ext cx="5796991" cy="4678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3935"/>
              </a:lnSpc>
              <a:spcBef>
                <a:spcPct val="0"/>
              </a:spcBef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Part 2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– </a:t>
            </a:r>
            <a:r>
              <a:rPr lang="ko-KR" alt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데이터 분석</a:t>
            </a:r>
            <a:endParaRPr lang="en-US" sz="2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  <a:cs typeface="Telegraf"/>
              <a:sym typeface="Telegraf"/>
            </a:endParaRPr>
          </a:p>
        </p:txBody>
      </p:sp>
      <p:sp>
        <p:nvSpPr>
          <p:cNvPr id="4" name="TextBox 2">
            <a:extLst>
              <a:ext uri="{FF2B5EF4-FFF2-40B4-BE49-F238E27FC236}">
                <a16:creationId xmlns:a16="http://schemas.microsoft.com/office/drawing/2014/main" id="{B83B8738-F22F-4684-F4CD-8B8AB4266083}"/>
              </a:ext>
            </a:extLst>
          </p:cNvPr>
          <p:cNvSpPr txBox="1"/>
          <p:nvPr/>
        </p:nvSpPr>
        <p:spPr>
          <a:xfrm>
            <a:off x="1206628" y="2376645"/>
            <a:ext cx="6722370" cy="67723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85750" indent="-285750" algn="l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시장 예측 대상인 신제품 데이터</a:t>
            </a: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285750" indent="-285750" algn="l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제품명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제품특징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카테고리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1~3 </a:t>
            </a:r>
            <a:r>
              <a:rPr lang="ko-KR" altLang="en-US" spc="-28" dirty="0" err="1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뎁스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</a:t>
            </a:r>
            <a:endParaRPr lang="en-US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</p:txBody>
      </p:sp>
      <p:sp>
        <p:nvSpPr>
          <p:cNvPr id="5" name="TextBox 3">
            <a:extLst>
              <a:ext uri="{FF2B5EF4-FFF2-40B4-BE49-F238E27FC236}">
                <a16:creationId xmlns:a16="http://schemas.microsoft.com/office/drawing/2014/main" id="{6227B6A0-339E-E2C8-7DC1-304F127E9718}"/>
              </a:ext>
            </a:extLst>
          </p:cNvPr>
          <p:cNvSpPr txBox="1"/>
          <p:nvPr/>
        </p:nvSpPr>
        <p:spPr>
          <a:xfrm>
            <a:off x="1206628" y="4540090"/>
            <a:ext cx="6722370" cy="10363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85750" indent="-285750" algn="l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통계청의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2024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년 가공식품 소비자 태도조사 설문 결과 자료</a:t>
            </a: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285750" indent="-285750" algn="l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연령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성별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가구형태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pc="-28" dirty="0" err="1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월소득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등의 인구통계학적 데이터</a:t>
            </a: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285750" indent="-285750" algn="l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가공식품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건강식품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HMR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등에 대한 개인별 선호도 등이 포함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</a:t>
            </a:r>
            <a:endParaRPr lang="en-US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8A92A396-FD8F-4105-B9DE-45A32D300509}"/>
              </a:ext>
            </a:extLst>
          </p:cNvPr>
          <p:cNvSpPr txBox="1"/>
          <p:nvPr/>
        </p:nvSpPr>
        <p:spPr>
          <a:xfrm>
            <a:off x="1206628" y="1828232"/>
            <a:ext cx="4516269" cy="371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8"/>
              </a:lnSpc>
              <a:spcBef>
                <a:spcPct val="0"/>
              </a:spcBef>
            </a:pPr>
            <a:r>
              <a:rPr lang="ko-KR" altLang="en-US" sz="2400" b="1" spc="-123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제품 데이터 </a:t>
            </a:r>
            <a:r>
              <a:rPr lang="en-US" altLang="ko-KR" sz="2400" b="1" spc="-123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- </a:t>
            </a:r>
            <a:r>
              <a:rPr lang="ko-KR" altLang="en-US" sz="2400" b="1" spc="-123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대회 제공 </a:t>
            </a:r>
            <a:endParaRPr lang="en-US" sz="2400" b="1" spc="-123" dirty="0">
              <a:solidFill>
                <a:srgbClr val="000000"/>
              </a:solidFill>
              <a:latin typeface="+mn-ea"/>
              <a:cs typeface="Source Han Sans KR Medium"/>
              <a:sym typeface="Source Han Sans KR Medium"/>
            </a:endParaRPr>
          </a:p>
        </p:txBody>
      </p:sp>
      <p:sp>
        <p:nvSpPr>
          <p:cNvPr id="7" name="TextBox 5">
            <a:extLst>
              <a:ext uri="{FF2B5EF4-FFF2-40B4-BE49-F238E27FC236}">
                <a16:creationId xmlns:a16="http://schemas.microsoft.com/office/drawing/2014/main" id="{A13961F5-8F14-1305-7DBE-6AFF4CAA616A}"/>
              </a:ext>
            </a:extLst>
          </p:cNvPr>
          <p:cNvSpPr txBox="1"/>
          <p:nvPr/>
        </p:nvSpPr>
        <p:spPr>
          <a:xfrm>
            <a:off x="1206628" y="3908031"/>
            <a:ext cx="6407372" cy="3715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148"/>
              </a:lnSpc>
              <a:spcBef>
                <a:spcPct val="0"/>
              </a:spcBef>
            </a:pPr>
            <a:r>
              <a:rPr lang="ko-KR" altLang="en-US" sz="2400" b="1" spc="-123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소비자 설문 데이터</a:t>
            </a:r>
            <a:endParaRPr lang="en-US" sz="2400" b="1" spc="-123" dirty="0">
              <a:solidFill>
                <a:srgbClr val="000000"/>
              </a:solidFill>
              <a:latin typeface="+mn-ea"/>
              <a:cs typeface="Source Han Sans KR Medium"/>
              <a:sym typeface="Source Han Sans KR Medium"/>
            </a:endParaRPr>
          </a:p>
        </p:txBody>
      </p:sp>
      <p:sp>
        <p:nvSpPr>
          <p:cNvPr id="8" name="TextBox 11">
            <a:extLst>
              <a:ext uri="{FF2B5EF4-FFF2-40B4-BE49-F238E27FC236}">
                <a16:creationId xmlns:a16="http://schemas.microsoft.com/office/drawing/2014/main" id="{D133B08E-8FA0-873E-8BF4-C011E30EF183}"/>
              </a:ext>
            </a:extLst>
          </p:cNvPr>
          <p:cNvSpPr txBox="1"/>
          <p:nvPr/>
        </p:nvSpPr>
        <p:spPr>
          <a:xfrm>
            <a:off x="1206628" y="6851967"/>
            <a:ext cx="6722370" cy="21172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85750" indent="-285750">
              <a:lnSpc>
                <a:spcPts val="2833"/>
              </a:lnSpc>
              <a:buFontTx/>
              <a:buChar char="-"/>
            </a:pPr>
            <a:r>
              <a:rPr lang="ko-KR" altLang="en-US" spc="-28" dirty="0" err="1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동원몰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및 타 마켓 </a:t>
            </a:r>
            <a:r>
              <a:rPr lang="ko-KR" altLang="en-US" spc="-28" dirty="0" err="1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크롤링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: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가격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pc="-28" dirty="0" err="1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후기수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제품 구성 등 </a:t>
            </a: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285750" indent="-285750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식품산업통계정보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: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제조사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브랜드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세분시장 별 월별 매출</a:t>
            </a: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285750" indent="-285750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리서치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: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경쟁사 제품의 가격 및 제품 정보</a:t>
            </a: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285750" indent="-285750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검색 트랜드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: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네이버 </a:t>
            </a:r>
            <a:r>
              <a:rPr lang="ko-KR" altLang="en-US" spc="-28" dirty="0" err="1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데이터랩을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통한 제품 검색 트랜드 정보</a:t>
            </a: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285750" indent="-285750">
              <a:lnSpc>
                <a:spcPts val="2833"/>
              </a:lnSpc>
              <a:buFontTx/>
              <a:buChar char="-"/>
            </a:pP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285750" indent="-285750">
              <a:lnSpc>
                <a:spcPts val="2833"/>
              </a:lnSpc>
              <a:buFontTx/>
              <a:buChar char="-"/>
            </a:pPr>
            <a:endParaRPr lang="en-US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776DCD29-C9E9-4708-B6B5-82E19B04A261}"/>
              </a:ext>
            </a:extLst>
          </p:cNvPr>
          <p:cNvSpPr txBox="1"/>
          <p:nvPr/>
        </p:nvSpPr>
        <p:spPr>
          <a:xfrm>
            <a:off x="1206628" y="6283897"/>
            <a:ext cx="5417372" cy="3676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148"/>
              </a:lnSpc>
              <a:spcBef>
                <a:spcPct val="0"/>
              </a:spcBef>
            </a:pPr>
            <a:r>
              <a:rPr lang="ko-KR" altLang="en-US" sz="2400" b="1" spc="-123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시장 규모 및 제품 판매 추정 데이터</a:t>
            </a:r>
            <a:endParaRPr lang="en-US" sz="2400" b="1" spc="-123" dirty="0">
              <a:solidFill>
                <a:srgbClr val="000000"/>
              </a:solidFill>
              <a:latin typeface="+mn-ea"/>
              <a:cs typeface="Source Han Sans KR Medium"/>
              <a:sym typeface="Source Han Sans KR Medium"/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CC0F9097-F5DB-D873-537B-1A912560C5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0854620"/>
              </p:ext>
            </p:extLst>
          </p:nvPr>
        </p:nvGraphicFramePr>
        <p:xfrm>
          <a:off x="8575496" y="1853916"/>
          <a:ext cx="8793695" cy="2992878"/>
        </p:xfrm>
        <a:graphic>
          <a:graphicData uri="http://schemas.openxmlformats.org/drawingml/2006/table">
            <a:tbl>
              <a:tblPr>
                <a:tableStyleId>{3B4B98B0-60AC-42C2-AFA5-B58CD77FA1E5}</a:tableStyleId>
              </a:tblPr>
              <a:tblGrid>
                <a:gridCol w="1918504">
                  <a:extLst>
                    <a:ext uri="{9D8B030D-6E8A-4147-A177-3AD203B41FA5}">
                      <a16:colId xmlns:a16="http://schemas.microsoft.com/office/drawing/2014/main" val="873741868"/>
                    </a:ext>
                  </a:extLst>
                </a:gridCol>
                <a:gridCol w="4479893">
                  <a:extLst>
                    <a:ext uri="{9D8B030D-6E8A-4147-A177-3AD203B41FA5}">
                      <a16:colId xmlns:a16="http://schemas.microsoft.com/office/drawing/2014/main" val="2115629589"/>
                    </a:ext>
                  </a:extLst>
                </a:gridCol>
                <a:gridCol w="746480">
                  <a:extLst>
                    <a:ext uri="{9D8B030D-6E8A-4147-A177-3AD203B41FA5}">
                      <a16:colId xmlns:a16="http://schemas.microsoft.com/office/drawing/2014/main" val="2606838674"/>
                    </a:ext>
                  </a:extLst>
                </a:gridCol>
                <a:gridCol w="746480">
                  <a:extLst>
                    <a:ext uri="{9D8B030D-6E8A-4147-A177-3AD203B41FA5}">
                      <a16:colId xmlns:a16="http://schemas.microsoft.com/office/drawing/2014/main" val="2896155942"/>
                    </a:ext>
                  </a:extLst>
                </a:gridCol>
                <a:gridCol w="902338">
                  <a:extLst>
                    <a:ext uri="{9D8B030D-6E8A-4147-A177-3AD203B41FA5}">
                      <a16:colId xmlns:a16="http://schemas.microsoft.com/office/drawing/2014/main" val="3034170607"/>
                    </a:ext>
                  </a:extLst>
                </a:gridCol>
              </a:tblGrid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700" b="1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product_name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700" b="1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product_feature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7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category_level_1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7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category_level_2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7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category_level_3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3823846"/>
                  </a:ext>
                </a:extLst>
              </a:tr>
              <a:tr h="29488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덴마크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하이그릭요거트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400g</a:t>
                      </a:r>
                      <a:endParaRPr lang="en-US" altLang="ko-KR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이중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유청분리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공법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꾸덕한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질감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고소함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호상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(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떠먹는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)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발효유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고단백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아연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칼슘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6-7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월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TV/</a:t>
                      </a:r>
                      <a:r>
                        <a:rPr lang="en-US" altLang="ko-KR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Youtube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/SNS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광고 진행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6-8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월 수도권 중심 아파트 엘리베이터 광고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광고모델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: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일반인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우유류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발효유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호상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-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중대용량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69687532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동원맛참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고소참기름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135g</a:t>
                      </a:r>
                      <a:endParaRPr lang="en-US" altLang="ko-KR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광고모델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: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안유진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참기름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단백질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셀레늄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고소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참치캔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라이트스탠다드참치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4236223829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동원맛참 고소참기름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90g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광고모델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: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안유진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참기름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단백질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셀레늄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고소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참치캔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라이트스탠다드참치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3786069640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동원맛참 매콤참기름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135g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광고모델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: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안유진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참기름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단백질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셀레늄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매콤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참치캔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라이트스탠다드참치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1057904755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동원맛참 매콤참기름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90g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광고모델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: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안유진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참기름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단백질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셀레늄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매콤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참치캔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라이트스탠다드참치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1164325224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동원참치액 순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500g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훈연참치추출물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80%,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참기엑기스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참치명가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직접 잡은 참치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가쓰오엑기스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표고버섯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무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감초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마늘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조미소스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액상조미료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3320823384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동원참치액 순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900g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훈연참치추출물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80%,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참기엑기스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참치명가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직접 잡은 참치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가쓰오엑기스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표고버섯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무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감초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마늘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조미소스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액상조미료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3653438810"/>
                  </a:ext>
                </a:extLst>
              </a:tr>
              <a:tr h="23739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동원참치액 진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500g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훈연참치추출물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80%,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참기엑기스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참치명가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직접 잡은 참치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가쓰오엑기스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표고버섯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무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감초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마늘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조미소스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액상조미료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2059535145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동원참치액 진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900g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훈연참치추출물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80%,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참기엑기스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참치명가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직접 잡은 참치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가쓰오엑기스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표고버섯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무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감초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마늘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조미소스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액상조미료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267507559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리챔 오믈레햄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200g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오믈렛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(Omelet)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과 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(Ham)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의 합성어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저나트륨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내열성 케첩 소스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축산캔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고급축산캔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가미축산캔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2203704635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리챔 오믈레햄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340g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오믈렛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(Omelet)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과 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(Ham)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의 합성어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저나트륨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내열성 케첩 소스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축산캔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고급축산캔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가미축산캔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1726226023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소화가 잘되는 우유로 만든 바닐라라떼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250mL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락토프리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저온효소 처리 기술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유당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ZERO,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저당 트렌드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신선한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등급 원유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SNS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바이럴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2-6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월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광고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X</a:t>
                      </a:r>
                      <a:endParaRPr lang="en-US" altLang="ko-KR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우유류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커피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커피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-</a:t>
                      </a:r>
                      <a:r>
                        <a:rPr 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CUP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4043807920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소화가 잘되는 우유로 만든 카페라떼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250mL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락토프리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저온효소 처리 기술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유당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ZERO,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저당 트렌드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신선한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1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등급 원유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SNS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바이럴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2-6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월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광고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X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우유류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커피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커피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-</a:t>
                      </a:r>
                      <a:r>
                        <a:rPr 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CUP</a:t>
                      </a:r>
                      <a:endParaRPr 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26820827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프리미엄 동원참치액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500g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훈연참치추출물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85%,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참기엑기스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참치명가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직접 잡은 참치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가쓰오엑기스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표고버섯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무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감초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마늘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조미소스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액상조미료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419616684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프리미엄 동원참치액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900g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훈연참치추출물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85%,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참기엑기스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참치명가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직접 잡은 참치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가쓰오엑기스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표고버섯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무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감초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마늘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조미소스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액상조미료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1573357387"/>
                  </a:ext>
                </a:extLst>
              </a:tr>
            </a:tbl>
          </a:graphicData>
        </a:graphic>
      </p:graphicFrame>
      <p:pic>
        <p:nvPicPr>
          <p:cNvPr id="19" name="그림 18">
            <a:extLst>
              <a:ext uri="{FF2B5EF4-FFF2-40B4-BE49-F238E27FC236}">
                <a16:creationId xmlns:a16="http://schemas.microsoft.com/office/drawing/2014/main" id="{A68A7558-261F-2727-A8DF-04E64CD1DB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7596" y="5440206"/>
            <a:ext cx="8739805" cy="3873454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868541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8FCB0-B513-807A-E17D-E397093A35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AutoShape 17">
            <a:extLst>
              <a:ext uri="{FF2B5EF4-FFF2-40B4-BE49-F238E27FC236}">
                <a16:creationId xmlns:a16="http://schemas.microsoft.com/office/drawing/2014/main" id="{26C2A911-6211-B6D2-E036-81098AAE657E}"/>
              </a:ext>
            </a:extLst>
          </p:cNvPr>
          <p:cNvSpPr/>
          <p:nvPr/>
        </p:nvSpPr>
        <p:spPr>
          <a:xfrm>
            <a:off x="4418999" y="1074277"/>
            <a:ext cx="12951991" cy="0"/>
          </a:xfrm>
          <a:prstGeom prst="line">
            <a:avLst/>
          </a:prstGeom>
          <a:ln w="952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F071944E-63EB-26CB-4DA4-3927C8C7DFF1}"/>
              </a:ext>
            </a:extLst>
          </p:cNvPr>
          <p:cNvSpPr txBox="1"/>
          <p:nvPr/>
        </p:nvSpPr>
        <p:spPr>
          <a:xfrm>
            <a:off x="1197103" y="795626"/>
            <a:ext cx="3736349" cy="513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29"/>
              </a:lnSpc>
            </a:pPr>
            <a:r>
              <a:rPr lang="ko-KR" altLang="en-US" sz="3092" b="1" spc="-19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고객 데이터 분석</a:t>
            </a:r>
            <a:endParaRPr lang="en-US" sz="3092" b="1" spc="-197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39" name="TextBox 12">
            <a:extLst>
              <a:ext uri="{FF2B5EF4-FFF2-40B4-BE49-F238E27FC236}">
                <a16:creationId xmlns:a16="http://schemas.microsoft.com/office/drawing/2014/main" id="{7C6ACC54-93E0-0D55-8A7E-F0D6F06F3B48}"/>
              </a:ext>
            </a:extLst>
          </p:cNvPr>
          <p:cNvSpPr txBox="1"/>
          <p:nvPr/>
        </p:nvSpPr>
        <p:spPr>
          <a:xfrm>
            <a:off x="11574000" y="547028"/>
            <a:ext cx="5796991" cy="4678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3935"/>
              </a:lnSpc>
              <a:spcBef>
                <a:spcPct val="0"/>
              </a:spcBef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Part 2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– </a:t>
            </a:r>
            <a:r>
              <a:rPr lang="ko-KR" alt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데이터 분석</a:t>
            </a:r>
            <a:endParaRPr lang="en-US" sz="2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  <a:cs typeface="Telegraf"/>
              <a:sym typeface="Telegraf"/>
            </a:endParaRPr>
          </a:p>
        </p:txBody>
      </p:sp>
      <p:sp>
        <p:nvSpPr>
          <p:cNvPr id="2" name="TextBox 2">
            <a:extLst>
              <a:ext uri="{FF2B5EF4-FFF2-40B4-BE49-F238E27FC236}">
                <a16:creationId xmlns:a16="http://schemas.microsoft.com/office/drawing/2014/main" id="{B5D2D118-A9D7-F5D9-98F3-55F7C76F95AB}"/>
              </a:ext>
            </a:extLst>
          </p:cNvPr>
          <p:cNvSpPr txBox="1"/>
          <p:nvPr/>
        </p:nvSpPr>
        <p:spPr>
          <a:xfrm>
            <a:off x="1206628" y="2416308"/>
            <a:ext cx="8702372" cy="202574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&lt;</a:t>
            </a:r>
            <a:r>
              <a:rPr lang="ko-KR" altLang="en-US" b="1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가공 목표</a:t>
            </a:r>
            <a:r>
              <a:rPr lang="en-US" altLang="ko-KR" b="1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&gt;</a:t>
            </a:r>
          </a:p>
          <a:p>
            <a:pPr marL="742950" lvl="1" indent="-285750">
              <a:lnSpc>
                <a:spcPct val="150000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통계청의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2024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년 가공식품 소비자 태도조사 설문 결과를 토대로 가공</a:t>
            </a: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742950" lvl="1" indent="-285750">
              <a:lnSpc>
                <a:spcPct val="150000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입체감 있는 소비자 페르소나를 생성하기 위한 인구통계학적 특성을 포함</a:t>
            </a: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742950" lvl="1" indent="-285750">
              <a:lnSpc>
                <a:spcPct val="150000"/>
              </a:lnSpc>
              <a:buFontTx/>
              <a:buChar char="-"/>
            </a:pP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K-means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군집분석 및 실루엣 계수를 활용한 세그먼트 도출</a:t>
            </a: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742950" lvl="1" indent="-285750">
              <a:lnSpc>
                <a:spcPct val="150000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페르소나 생성을 위한 기반 정보 제공을 위한 </a:t>
            </a:r>
            <a:r>
              <a:rPr lang="en-US" altLang="ko-KR" spc="-28" dirty="0" err="1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json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파일로 가공</a:t>
            </a:r>
            <a:endParaRPr lang="en-US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</p:txBody>
      </p:sp>
      <p:sp>
        <p:nvSpPr>
          <p:cNvPr id="3" name="TextBox 4">
            <a:extLst>
              <a:ext uri="{FF2B5EF4-FFF2-40B4-BE49-F238E27FC236}">
                <a16:creationId xmlns:a16="http://schemas.microsoft.com/office/drawing/2014/main" id="{A85DC4AA-50CF-908B-27A1-4B95EAD3ABEB}"/>
              </a:ext>
            </a:extLst>
          </p:cNvPr>
          <p:cNvSpPr txBox="1"/>
          <p:nvPr/>
        </p:nvSpPr>
        <p:spPr>
          <a:xfrm>
            <a:off x="1206628" y="1813500"/>
            <a:ext cx="4516269" cy="3676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148"/>
              </a:lnSpc>
              <a:spcBef>
                <a:spcPct val="0"/>
              </a:spcBef>
            </a:pPr>
            <a:r>
              <a:rPr lang="ko-KR" altLang="en-US" sz="2400" b="1" spc="-123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고객 데이터 분석 및 가공 계획</a:t>
            </a:r>
            <a:endParaRPr lang="en-US" sz="2400" b="1" spc="-123" dirty="0">
              <a:solidFill>
                <a:srgbClr val="000000"/>
              </a:solidFill>
              <a:latin typeface="+mn-ea"/>
              <a:cs typeface="Source Han Sans KR Medium"/>
              <a:sym typeface="Source Han Sans KR Medium"/>
            </a:endParaRPr>
          </a:p>
        </p:txBody>
      </p:sp>
      <p:sp>
        <p:nvSpPr>
          <p:cNvPr id="4" name="TextBox 2">
            <a:extLst>
              <a:ext uri="{FF2B5EF4-FFF2-40B4-BE49-F238E27FC236}">
                <a16:creationId xmlns:a16="http://schemas.microsoft.com/office/drawing/2014/main" id="{6F25EBB2-9734-5C74-8CE1-1BC1C906A32D}"/>
              </a:ext>
            </a:extLst>
          </p:cNvPr>
          <p:cNvSpPr txBox="1"/>
          <p:nvPr/>
        </p:nvSpPr>
        <p:spPr>
          <a:xfrm>
            <a:off x="1207828" y="5024467"/>
            <a:ext cx="8161172" cy="28549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&lt;</a:t>
            </a:r>
            <a:r>
              <a:rPr lang="ko-KR" altLang="en-US" b="1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작업 과정</a:t>
            </a:r>
            <a:r>
              <a:rPr lang="en-US" altLang="ko-KR" b="1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&gt;</a:t>
            </a:r>
          </a:p>
          <a:p>
            <a:pPr marL="800100" lvl="1" indent="-342900">
              <a:lnSpc>
                <a:spcPct val="150000"/>
              </a:lnSpc>
              <a:buAutoNum type="arabicPeriod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질문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+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답변 세트를 기반으로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7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가지 성향 카테고리를 정의 </a:t>
            </a: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800100" lvl="1" indent="-342900">
              <a:lnSpc>
                <a:spcPct val="150000"/>
              </a:lnSpc>
              <a:buAutoNum type="arabicPeriod"/>
            </a:pPr>
            <a:r>
              <a:rPr lang="ko-KR" altLang="en-US" dirty="0"/>
              <a:t>카테고리 분류를 위한 키워드 사전 작성 및 </a:t>
            </a:r>
            <a:r>
              <a:rPr lang="ko-KR" altLang="en-US" dirty="0" err="1"/>
              <a:t>태깅</a:t>
            </a:r>
            <a:r>
              <a:rPr lang="ko-KR" altLang="en-US" dirty="0"/>
              <a:t> </a:t>
            </a:r>
            <a:r>
              <a:rPr lang="en-US" altLang="ko-KR" dirty="0"/>
              <a:t>(</a:t>
            </a:r>
            <a:r>
              <a:rPr lang="ko-KR" altLang="en-US" dirty="0"/>
              <a:t>코딩</a:t>
            </a:r>
            <a:r>
              <a:rPr lang="en-US" altLang="ko-KR" dirty="0"/>
              <a:t>)</a:t>
            </a: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800100" lvl="1" indent="-342900">
              <a:lnSpc>
                <a:spcPct val="150000"/>
              </a:lnSpc>
              <a:buAutoNum type="arabicPeriod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필요한 질문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+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답변 필터링 및 카테고리 세부 조정 및 스코어 작성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(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엑셀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)</a:t>
            </a:r>
          </a:p>
          <a:p>
            <a:pPr marL="800100" lvl="1" indent="-342900">
              <a:lnSpc>
                <a:spcPct val="150000"/>
              </a:lnSpc>
              <a:buFontTx/>
              <a:buAutoNum type="arabicPeriod"/>
            </a:pPr>
            <a:r>
              <a:rPr lang="ko-KR" altLang="en-US" dirty="0"/>
              <a:t>설문조사 결과에 대한 스코어 집계</a:t>
            </a:r>
            <a:r>
              <a:rPr lang="en-US" altLang="ko-KR" dirty="0"/>
              <a:t>(</a:t>
            </a:r>
            <a:r>
              <a:rPr lang="ko-KR" altLang="en-US" dirty="0"/>
              <a:t>코딩</a:t>
            </a:r>
            <a:r>
              <a:rPr lang="en-US" altLang="ko-KR" dirty="0"/>
              <a:t>)</a:t>
            </a:r>
            <a:endParaRPr lang="en-US" altLang="ko-KR" spc="-28" dirty="0">
              <a:solidFill>
                <a:srgbClr val="000000"/>
              </a:solidFill>
              <a:latin typeface="+mn-ea"/>
              <a:sym typeface="Source Han Sans KR"/>
            </a:endParaRPr>
          </a:p>
          <a:p>
            <a:pPr marL="800100" lvl="1" indent="-342900">
              <a:lnSpc>
                <a:spcPct val="150000"/>
              </a:lnSpc>
              <a:buFontTx/>
              <a:buAutoNum type="arabicPeriod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sym typeface="Source Han Sans KR"/>
              </a:rPr>
              <a:t>실루엣 계수를 이용한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sym typeface="Source Han Sans KR"/>
              </a:rPr>
              <a:t>K-means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sym typeface="Source Han Sans KR"/>
              </a:rPr>
              <a:t>최적 </a:t>
            </a:r>
            <a:r>
              <a:rPr lang="ko-KR" altLang="en-US" spc="-28" dirty="0" err="1">
                <a:solidFill>
                  <a:srgbClr val="000000"/>
                </a:solidFill>
                <a:latin typeface="+mn-ea"/>
                <a:sym typeface="Source Han Sans KR"/>
              </a:rPr>
              <a:t>군집수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sym typeface="Source Han Sans KR"/>
              </a:rPr>
              <a:t> 도출 및 군집 분석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sym typeface="Source Han Sans KR"/>
              </a:rPr>
              <a:t>(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sym typeface="Source Han Sans KR"/>
              </a:rPr>
              <a:t>코딩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sym typeface="Source Han Sans KR"/>
              </a:rPr>
              <a:t>)</a:t>
            </a:r>
          </a:p>
          <a:p>
            <a:pPr marL="800100" lvl="1" indent="-342900">
              <a:lnSpc>
                <a:spcPct val="150000"/>
              </a:lnSpc>
              <a:buFontTx/>
              <a:buAutoNum type="arabicPeriod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sym typeface="Source Han Sans KR"/>
              </a:rPr>
              <a:t>인구통계학적 비율을 고려한 </a:t>
            </a:r>
            <a:r>
              <a:rPr lang="ko-KR" altLang="en-US" spc="-28" dirty="0" err="1">
                <a:solidFill>
                  <a:srgbClr val="000000"/>
                </a:solidFill>
                <a:latin typeface="+mn-ea"/>
                <a:sym typeface="Source Han Sans KR"/>
              </a:rPr>
              <a:t>층화랜덤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sym typeface="Source Han Sans KR"/>
              </a:rPr>
              <a:t> 추출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sym typeface="Source Han Sans KR"/>
              </a:rPr>
              <a:t>(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sym typeface="Source Han Sans KR"/>
              </a:rPr>
              <a:t>코딩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sym typeface="Source Han Sans KR"/>
              </a:rPr>
              <a:t>)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F960F6C-219D-51DA-29BD-FDD8929480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9000" y="1359129"/>
            <a:ext cx="5994730" cy="8475306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7417543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99C22-1A14-D9B6-1375-4767B7422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AutoShape 17">
            <a:extLst>
              <a:ext uri="{FF2B5EF4-FFF2-40B4-BE49-F238E27FC236}">
                <a16:creationId xmlns:a16="http://schemas.microsoft.com/office/drawing/2014/main" id="{DC5F8769-E066-2F4A-30EB-8B4DFA085D92}"/>
              </a:ext>
            </a:extLst>
          </p:cNvPr>
          <p:cNvSpPr/>
          <p:nvPr/>
        </p:nvSpPr>
        <p:spPr>
          <a:xfrm>
            <a:off x="4418999" y="1074277"/>
            <a:ext cx="12951991" cy="0"/>
          </a:xfrm>
          <a:prstGeom prst="line">
            <a:avLst/>
          </a:prstGeom>
          <a:ln w="952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40616F90-37E0-343A-4C16-02CE92119954}"/>
              </a:ext>
            </a:extLst>
          </p:cNvPr>
          <p:cNvSpPr txBox="1"/>
          <p:nvPr/>
        </p:nvSpPr>
        <p:spPr>
          <a:xfrm>
            <a:off x="1197103" y="795626"/>
            <a:ext cx="3736349" cy="513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29"/>
              </a:lnSpc>
            </a:pPr>
            <a:r>
              <a:rPr lang="ko-KR" altLang="en-US" sz="3092" b="1" spc="-19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고객 데이터 분석</a:t>
            </a:r>
            <a:endParaRPr lang="en-US" sz="3092" b="1" spc="-197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39" name="TextBox 12">
            <a:extLst>
              <a:ext uri="{FF2B5EF4-FFF2-40B4-BE49-F238E27FC236}">
                <a16:creationId xmlns:a16="http://schemas.microsoft.com/office/drawing/2014/main" id="{654FEDB3-BE96-93B7-DEAE-DAF539984336}"/>
              </a:ext>
            </a:extLst>
          </p:cNvPr>
          <p:cNvSpPr txBox="1"/>
          <p:nvPr/>
        </p:nvSpPr>
        <p:spPr>
          <a:xfrm>
            <a:off x="11574000" y="547028"/>
            <a:ext cx="5796991" cy="4678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3935"/>
              </a:lnSpc>
              <a:spcBef>
                <a:spcPct val="0"/>
              </a:spcBef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Part 2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– </a:t>
            </a:r>
            <a:r>
              <a:rPr lang="ko-KR" alt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데이터 분석</a:t>
            </a:r>
            <a:endParaRPr lang="en-US" sz="2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  <a:cs typeface="Telegraf"/>
              <a:sym typeface="Telegraf"/>
            </a:endParaRPr>
          </a:p>
        </p:txBody>
      </p:sp>
      <p:sp>
        <p:nvSpPr>
          <p:cNvPr id="3" name="TextBox 4">
            <a:extLst>
              <a:ext uri="{FF2B5EF4-FFF2-40B4-BE49-F238E27FC236}">
                <a16:creationId xmlns:a16="http://schemas.microsoft.com/office/drawing/2014/main" id="{6B79A35B-E9C0-0766-7E24-1CF60CBD8D4B}"/>
              </a:ext>
            </a:extLst>
          </p:cNvPr>
          <p:cNvSpPr txBox="1"/>
          <p:nvPr/>
        </p:nvSpPr>
        <p:spPr>
          <a:xfrm>
            <a:off x="1206628" y="1813500"/>
            <a:ext cx="4516269" cy="367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8"/>
              </a:lnSpc>
              <a:spcBef>
                <a:spcPct val="0"/>
              </a:spcBef>
            </a:pPr>
            <a:r>
              <a:rPr lang="ko-KR" altLang="en-US" sz="2400" b="1" spc="-123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질문지 카테고리 </a:t>
            </a:r>
            <a:r>
              <a:rPr lang="ko-KR" altLang="en-US" sz="2400" b="1" spc="-123" dirty="0" err="1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태깅</a:t>
            </a:r>
            <a:endParaRPr lang="en-US" sz="2400" b="1" spc="-123" dirty="0">
              <a:solidFill>
                <a:srgbClr val="000000"/>
              </a:solidFill>
              <a:latin typeface="+mn-ea"/>
              <a:cs typeface="Source Han Sans KR Medium"/>
              <a:sym typeface="Source Han Sans KR Medium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A1C7F5F-97B6-DBBC-1AC8-77407D6004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6882" y="2373235"/>
            <a:ext cx="5629911" cy="7585264"/>
          </a:xfrm>
          <a:prstGeom prst="rect">
            <a:avLst/>
          </a:prstGeom>
        </p:spPr>
      </p:pic>
      <p:sp>
        <p:nvSpPr>
          <p:cNvPr id="6" name="TextBox 4">
            <a:extLst>
              <a:ext uri="{FF2B5EF4-FFF2-40B4-BE49-F238E27FC236}">
                <a16:creationId xmlns:a16="http://schemas.microsoft.com/office/drawing/2014/main" id="{D33CC0D3-AC75-869F-0EE1-28A6F5A0C24C}"/>
              </a:ext>
            </a:extLst>
          </p:cNvPr>
          <p:cNvSpPr txBox="1"/>
          <p:nvPr/>
        </p:nvSpPr>
        <p:spPr>
          <a:xfrm>
            <a:off x="9954000" y="1813500"/>
            <a:ext cx="5985000" cy="3676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148"/>
              </a:lnSpc>
              <a:spcBef>
                <a:spcPct val="0"/>
              </a:spcBef>
            </a:pPr>
            <a:r>
              <a:rPr lang="ko-KR" altLang="en-US" sz="2400" b="1" spc="-123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설문 응답에 대한 점수 매핑 </a:t>
            </a:r>
            <a:r>
              <a:rPr lang="en-US" altLang="ko-KR" sz="2400" b="1" spc="-123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+ </a:t>
            </a:r>
            <a:r>
              <a:rPr lang="ko-KR" altLang="en-US" sz="2400" b="1" spc="-123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정규화</a:t>
            </a:r>
            <a:endParaRPr lang="en-US" sz="2400" b="1" spc="-123" dirty="0">
              <a:solidFill>
                <a:srgbClr val="000000"/>
              </a:solidFill>
              <a:latin typeface="+mn-ea"/>
              <a:cs typeface="Source Han Sans KR Medium"/>
              <a:sym typeface="Source Han Sans KR Medium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66E9F97A-6AFD-A76D-592B-3F170C32F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0734" y="2373235"/>
            <a:ext cx="5298265" cy="7614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4946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286C1E-D92B-B868-CC8E-ABFF6596B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AutoShape 17">
            <a:extLst>
              <a:ext uri="{FF2B5EF4-FFF2-40B4-BE49-F238E27FC236}">
                <a16:creationId xmlns:a16="http://schemas.microsoft.com/office/drawing/2014/main" id="{B6A45CC0-4D69-C180-A981-9782E8D84617}"/>
              </a:ext>
            </a:extLst>
          </p:cNvPr>
          <p:cNvSpPr/>
          <p:nvPr/>
        </p:nvSpPr>
        <p:spPr>
          <a:xfrm>
            <a:off x="4418999" y="1074277"/>
            <a:ext cx="12951991" cy="0"/>
          </a:xfrm>
          <a:prstGeom prst="line">
            <a:avLst/>
          </a:prstGeom>
          <a:ln w="952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C5266EF2-620B-B5F2-096F-151A62FBA3F7}"/>
              </a:ext>
            </a:extLst>
          </p:cNvPr>
          <p:cNvSpPr txBox="1"/>
          <p:nvPr/>
        </p:nvSpPr>
        <p:spPr>
          <a:xfrm>
            <a:off x="1197103" y="795626"/>
            <a:ext cx="3736349" cy="513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29"/>
              </a:lnSpc>
            </a:pPr>
            <a:r>
              <a:rPr lang="ko-KR" altLang="en-US" sz="3092" b="1" spc="-19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고객 데이터 분석</a:t>
            </a:r>
            <a:endParaRPr lang="en-US" sz="3092" b="1" spc="-197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39" name="TextBox 12">
            <a:extLst>
              <a:ext uri="{FF2B5EF4-FFF2-40B4-BE49-F238E27FC236}">
                <a16:creationId xmlns:a16="http://schemas.microsoft.com/office/drawing/2014/main" id="{D121789A-678F-36D9-7048-D3789C6E4AF2}"/>
              </a:ext>
            </a:extLst>
          </p:cNvPr>
          <p:cNvSpPr txBox="1"/>
          <p:nvPr/>
        </p:nvSpPr>
        <p:spPr>
          <a:xfrm>
            <a:off x="11574000" y="547028"/>
            <a:ext cx="5796991" cy="4678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3935"/>
              </a:lnSpc>
              <a:spcBef>
                <a:spcPct val="0"/>
              </a:spcBef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Part 2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– </a:t>
            </a:r>
            <a:r>
              <a:rPr lang="ko-KR" alt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데이터 분석</a:t>
            </a:r>
            <a:endParaRPr lang="en-US" sz="2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  <a:cs typeface="Telegraf"/>
              <a:sym typeface="Telegraf"/>
            </a:endParaRPr>
          </a:p>
        </p:txBody>
      </p:sp>
      <p:sp>
        <p:nvSpPr>
          <p:cNvPr id="2" name="TextBox 2">
            <a:extLst>
              <a:ext uri="{FF2B5EF4-FFF2-40B4-BE49-F238E27FC236}">
                <a16:creationId xmlns:a16="http://schemas.microsoft.com/office/drawing/2014/main" id="{8CCA79EB-9A45-2D72-4A75-506A0A47FB33}"/>
              </a:ext>
            </a:extLst>
          </p:cNvPr>
          <p:cNvSpPr txBox="1"/>
          <p:nvPr/>
        </p:nvSpPr>
        <p:spPr>
          <a:xfrm>
            <a:off x="1206628" y="2311427"/>
            <a:ext cx="6722370" cy="20261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altLang="ko-KR" b="1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&lt;</a:t>
            </a:r>
            <a:r>
              <a:rPr lang="ko-KR" altLang="en-US" b="1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스케일 방식에 따른 실루엣 계수 확인</a:t>
            </a:r>
            <a:r>
              <a:rPr lang="en-US" altLang="ko-KR" b="1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&gt;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k-=3~10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클러스터링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&amp;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실루엣 계산</a:t>
            </a:r>
            <a:endParaRPr lang="en-US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pc="-28" dirty="0" err="1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StandardScaler</a:t>
            </a:r>
            <a:r>
              <a:rPr 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best silhouette: 0.2216 (k=3)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pc="-28" dirty="0" err="1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MinMaxScaler</a:t>
            </a:r>
            <a:r>
              <a:rPr 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best silhouette: 0.2252 (k=4)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pc="-28" dirty="0" err="1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QuantileTransformer</a:t>
            </a:r>
            <a:r>
              <a:rPr 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best silhouette: 0.1794 (k=4)</a:t>
            </a:r>
          </a:p>
        </p:txBody>
      </p:sp>
      <p:sp>
        <p:nvSpPr>
          <p:cNvPr id="3" name="TextBox 4">
            <a:extLst>
              <a:ext uri="{FF2B5EF4-FFF2-40B4-BE49-F238E27FC236}">
                <a16:creationId xmlns:a16="http://schemas.microsoft.com/office/drawing/2014/main" id="{1B23C1EF-05FD-3C82-7FAB-9F1929F084C9}"/>
              </a:ext>
            </a:extLst>
          </p:cNvPr>
          <p:cNvSpPr txBox="1"/>
          <p:nvPr/>
        </p:nvSpPr>
        <p:spPr>
          <a:xfrm>
            <a:off x="1206628" y="1813500"/>
            <a:ext cx="4516269" cy="371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8"/>
              </a:lnSpc>
              <a:spcBef>
                <a:spcPct val="0"/>
              </a:spcBef>
            </a:pPr>
            <a:r>
              <a:rPr lang="en-US" altLang="ko-KR" sz="2400" b="1" spc="-123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K-Means </a:t>
            </a:r>
            <a:r>
              <a:rPr lang="ko-KR" altLang="en-US" sz="2400" b="1" spc="-123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군집분석</a:t>
            </a:r>
            <a:endParaRPr lang="en-US" sz="2400" b="1" spc="-123" dirty="0">
              <a:solidFill>
                <a:srgbClr val="000000"/>
              </a:solidFill>
              <a:latin typeface="+mn-ea"/>
              <a:cs typeface="Source Han Sans KR Medium"/>
              <a:sym typeface="Source Han Sans KR Medium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746752A-F364-35A4-0424-FADE697734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7103" y="4873500"/>
            <a:ext cx="7612061" cy="4995000"/>
          </a:xfrm>
          <a:prstGeom prst="rect">
            <a:avLst/>
          </a:prstGeom>
        </p:spPr>
      </p:pic>
      <p:sp>
        <p:nvSpPr>
          <p:cNvPr id="8" name="TextBox 2">
            <a:extLst>
              <a:ext uri="{FF2B5EF4-FFF2-40B4-BE49-F238E27FC236}">
                <a16:creationId xmlns:a16="http://schemas.microsoft.com/office/drawing/2014/main" id="{8FE0DA7C-78B3-BA25-BE78-E8BB38DFB7A8}"/>
              </a:ext>
            </a:extLst>
          </p:cNvPr>
          <p:cNvSpPr txBox="1"/>
          <p:nvPr/>
        </p:nvSpPr>
        <p:spPr>
          <a:xfrm>
            <a:off x="9324000" y="2311427"/>
            <a:ext cx="6722370" cy="244169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altLang="ko-KR" b="1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&lt;</a:t>
            </a:r>
            <a:r>
              <a:rPr lang="ko-KR" altLang="en-US" b="1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최적의 클러스터</a:t>
            </a:r>
            <a:r>
              <a:rPr lang="en-US" altLang="ko-KR" b="1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(k=4)</a:t>
            </a:r>
            <a:r>
              <a:rPr lang="ko-KR" altLang="en-US" b="1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에 따른 클러스터링</a:t>
            </a:r>
            <a:r>
              <a:rPr lang="en-US" altLang="ko-KR" b="1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&gt;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클러스터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0 :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실속형 미식가</a:t>
            </a: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클러스터 </a:t>
            </a:r>
            <a:r>
              <a:rPr 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1 :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건강 추구형 소비자</a:t>
            </a:r>
            <a:endParaRPr lang="en-US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클러스터 </a:t>
            </a:r>
            <a:r>
              <a:rPr 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2 :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구매 소극적 소비자</a:t>
            </a:r>
            <a:endParaRPr lang="en-US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클러스터 </a:t>
            </a:r>
            <a:r>
              <a:rPr 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3 :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트렌드 주도형 소비자</a:t>
            </a: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>
              <a:lnSpc>
                <a:spcPct val="150000"/>
              </a:lnSpc>
            </a:pPr>
            <a:r>
              <a:rPr lang="en-US" sz="1600" spc="-28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cs typeface="Source Han Sans KR"/>
                <a:sym typeface="Source Han Sans KR"/>
              </a:rPr>
              <a:t>** </a:t>
            </a:r>
            <a:r>
              <a:rPr lang="ko-KR" altLang="en-US" sz="1600" spc="-28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cs typeface="Source Han Sans KR"/>
                <a:sym typeface="Source Han Sans KR"/>
              </a:rPr>
              <a:t>클러스터 </a:t>
            </a:r>
            <a:r>
              <a:rPr lang="en-US" altLang="ko-KR" sz="1600" spc="-28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cs typeface="Source Han Sans KR"/>
                <a:sym typeface="Source Han Sans KR"/>
              </a:rPr>
              <a:t>2</a:t>
            </a:r>
            <a:r>
              <a:rPr lang="ko-KR" altLang="en-US" sz="1600" spc="-28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cs typeface="Source Han Sans KR"/>
                <a:sym typeface="Source Han Sans KR"/>
              </a:rPr>
              <a:t>는 향후 페르소나 생성에 부적합하여 제거</a:t>
            </a:r>
            <a:endParaRPr lang="en-US" spc="-28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  <a:cs typeface="Source Han Sans KR"/>
              <a:sym typeface="Source Han Sans KR"/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559E3ABB-A21E-38E5-4420-1EB12A3BAF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1869848"/>
              </p:ext>
            </p:extLst>
          </p:nvPr>
        </p:nvGraphicFramePr>
        <p:xfrm>
          <a:off x="9311612" y="5233500"/>
          <a:ext cx="8556986" cy="3797420"/>
        </p:xfrm>
        <a:graphic>
          <a:graphicData uri="http://schemas.openxmlformats.org/drawingml/2006/table">
            <a:tbl>
              <a:tblPr/>
              <a:tblGrid>
                <a:gridCol w="602284">
                  <a:extLst>
                    <a:ext uri="{9D8B030D-6E8A-4147-A177-3AD203B41FA5}">
                      <a16:colId xmlns:a16="http://schemas.microsoft.com/office/drawing/2014/main" val="3379984702"/>
                    </a:ext>
                  </a:extLst>
                </a:gridCol>
                <a:gridCol w="1136386">
                  <a:extLst>
                    <a:ext uri="{9D8B030D-6E8A-4147-A177-3AD203B41FA5}">
                      <a16:colId xmlns:a16="http://schemas.microsoft.com/office/drawing/2014/main" val="876718"/>
                    </a:ext>
                  </a:extLst>
                </a:gridCol>
                <a:gridCol w="1136386">
                  <a:extLst>
                    <a:ext uri="{9D8B030D-6E8A-4147-A177-3AD203B41FA5}">
                      <a16:colId xmlns:a16="http://schemas.microsoft.com/office/drawing/2014/main" val="3296977064"/>
                    </a:ext>
                  </a:extLst>
                </a:gridCol>
                <a:gridCol w="1136386">
                  <a:extLst>
                    <a:ext uri="{9D8B030D-6E8A-4147-A177-3AD203B41FA5}">
                      <a16:colId xmlns:a16="http://schemas.microsoft.com/office/drawing/2014/main" val="1902624355"/>
                    </a:ext>
                  </a:extLst>
                </a:gridCol>
                <a:gridCol w="1136386">
                  <a:extLst>
                    <a:ext uri="{9D8B030D-6E8A-4147-A177-3AD203B41FA5}">
                      <a16:colId xmlns:a16="http://schemas.microsoft.com/office/drawing/2014/main" val="2417079764"/>
                    </a:ext>
                  </a:extLst>
                </a:gridCol>
                <a:gridCol w="1136386">
                  <a:extLst>
                    <a:ext uri="{9D8B030D-6E8A-4147-A177-3AD203B41FA5}">
                      <a16:colId xmlns:a16="http://schemas.microsoft.com/office/drawing/2014/main" val="3427366892"/>
                    </a:ext>
                  </a:extLst>
                </a:gridCol>
                <a:gridCol w="1136386">
                  <a:extLst>
                    <a:ext uri="{9D8B030D-6E8A-4147-A177-3AD203B41FA5}">
                      <a16:colId xmlns:a16="http://schemas.microsoft.com/office/drawing/2014/main" val="2053529130"/>
                    </a:ext>
                  </a:extLst>
                </a:gridCol>
                <a:gridCol w="1136386">
                  <a:extLst>
                    <a:ext uri="{9D8B030D-6E8A-4147-A177-3AD203B41FA5}">
                      <a16:colId xmlns:a16="http://schemas.microsoft.com/office/drawing/2014/main" val="3194104869"/>
                    </a:ext>
                  </a:extLst>
                </a:gridCol>
              </a:tblGrid>
              <a:tr h="10184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cluster</a:t>
                      </a:r>
                    </a:p>
                  </a:txBody>
                  <a:tcPr marL="118034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brand_loyalty</a:t>
                      </a:r>
                      <a:b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_scaled</a:t>
                      </a:r>
                    </a:p>
                  </a:txBody>
                  <a:tcPr marL="118034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cooking_convenience_scaled</a:t>
                      </a:r>
                      <a:endParaRPr lang="en-US" sz="105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18034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health_orientation_scaled</a:t>
                      </a:r>
                    </a:p>
                  </a:txBody>
                  <a:tcPr marL="118034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hmr_preference</a:t>
                      </a:r>
                      <a:b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_scaled</a:t>
                      </a:r>
                    </a:p>
                  </a:txBody>
                  <a:tcPr marL="118034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premium_orientation_scaled</a:t>
                      </a:r>
                    </a:p>
                  </a:txBody>
                  <a:tcPr marL="118034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price_sensitivity</a:t>
                      </a:r>
                      <a:b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_scaled</a:t>
                      </a:r>
                    </a:p>
                  </a:txBody>
                  <a:tcPr marL="118034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variety_seeking</a:t>
                      </a:r>
                      <a:b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_scaled</a:t>
                      </a:r>
                    </a:p>
                  </a:txBody>
                  <a:tcPr marL="118034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2361100"/>
                  </a:ext>
                </a:extLst>
              </a:tr>
              <a:tr h="6947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0.32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0.55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0.31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0.79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0.26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0.36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0.48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2723465"/>
                  </a:ext>
                </a:extLst>
              </a:tr>
              <a:tr h="6947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0.38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0.45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0.66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0.81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0.50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0.32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0.25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35944468"/>
                  </a:ext>
                </a:extLst>
              </a:tr>
              <a:tr h="6947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0.22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0.10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0.33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0.01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0.24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0.26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0.28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3421135"/>
                  </a:ext>
                </a:extLst>
              </a:tr>
              <a:tr h="6947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0.63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0.55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0.37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0.84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0.45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0.36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0.54</a:t>
                      </a:r>
                    </a:p>
                  </a:txBody>
                  <a:tcPr marL="6557" marR="6557" marT="655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65010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76672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C9A355-CDAC-F0B1-7878-91B9F6033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AutoShape 17">
            <a:extLst>
              <a:ext uri="{FF2B5EF4-FFF2-40B4-BE49-F238E27FC236}">
                <a16:creationId xmlns:a16="http://schemas.microsoft.com/office/drawing/2014/main" id="{B18E236F-A105-BA8F-9D62-8520D47F7012}"/>
              </a:ext>
            </a:extLst>
          </p:cNvPr>
          <p:cNvSpPr/>
          <p:nvPr/>
        </p:nvSpPr>
        <p:spPr>
          <a:xfrm>
            <a:off x="4418999" y="1074277"/>
            <a:ext cx="12951991" cy="0"/>
          </a:xfrm>
          <a:prstGeom prst="line">
            <a:avLst/>
          </a:prstGeom>
          <a:ln w="952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65DD2A8E-D8D1-0D1F-F5DD-B46E80ED344B}"/>
              </a:ext>
            </a:extLst>
          </p:cNvPr>
          <p:cNvSpPr txBox="1"/>
          <p:nvPr/>
        </p:nvSpPr>
        <p:spPr>
          <a:xfrm>
            <a:off x="1197103" y="795626"/>
            <a:ext cx="3736349" cy="513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29"/>
              </a:lnSpc>
            </a:pPr>
            <a:r>
              <a:rPr lang="ko-KR" altLang="en-US" sz="3092" b="1" spc="-19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고객 데이터 분석</a:t>
            </a:r>
            <a:endParaRPr lang="en-US" sz="3092" b="1" spc="-197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39" name="TextBox 12">
            <a:extLst>
              <a:ext uri="{FF2B5EF4-FFF2-40B4-BE49-F238E27FC236}">
                <a16:creationId xmlns:a16="http://schemas.microsoft.com/office/drawing/2014/main" id="{CB6B422B-B494-C51F-2A38-B039CDC6EBDF}"/>
              </a:ext>
            </a:extLst>
          </p:cNvPr>
          <p:cNvSpPr txBox="1"/>
          <p:nvPr/>
        </p:nvSpPr>
        <p:spPr>
          <a:xfrm>
            <a:off x="11574000" y="547028"/>
            <a:ext cx="5796991" cy="4678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3935"/>
              </a:lnSpc>
              <a:spcBef>
                <a:spcPct val="0"/>
              </a:spcBef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Part 2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– </a:t>
            </a:r>
            <a:r>
              <a:rPr lang="ko-KR" alt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데이터 분석</a:t>
            </a:r>
            <a:endParaRPr lang="en-US" sz="2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  <a:cs typeface="Telegraf"/>
              <a:sym typeface="Telegraf"/>
            </a:endParaRPr>
          </a:p>
        </p:txBody>
      </p:sp>
      <p:sp>
        <p:nvSpPr>
          <p:cNvPr id="2" name="TextBox 2">
            <a:extLst>
              <a:ext uri="{FF2B5EF4-FFF2-40B4-BE49-F238E27FC236}">
                <a16:creationId xmlns:a16="http://schemas.microsoft.com/office/drawing/2014/main" id="{C9C4F421-3AD3-3EE4-DCDF-D15CB79B3477}"/>
              </a:ext>
            </a:extLst>
          </p:cNvPr>
          <p:cNvSpPr txBox="1"/>
          <p:nvPr/>
        </p:nvSpPr>
        <p:spPr>
          <a:xfrm>
            <a:off x="1206628" y="2311427"/>
            <a:ext cx="14192372" cy="67723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33"/>
              </a:lnSpc>
            </a:pPr>
            <a:r>
              <a:rPr lang="ko-KR" altLang="en-US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연령</a:t>
            </a:r>
            <a:r>
              <a:rPr lang="en-US" altLang="ko-KR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성별의 절대값에는 차이가 있으나</a:t>
            </a:r>
            <a:r>
              <a:rPr lang="en-US" altLang="ko-KR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대체로 세그먼트 별 연령</a:t>
            </a:r>
            <a:r>
              <a:rPr lang="en-US" altLang="ko-KR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/</a:t>
            </a:r>
            <a:r>
              <a:rPr lang="ko-KR" altLang="en-US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성별 분포는 균일함 </a:t>
            </a:r>
            <a:r>
              <a:rPr lang="en-US" altLang="ko-KR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(</a:t>
            </a:r>
            <a:r>
              <a:rPr lang="ko-KR" altLang="en-US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단</a:t>
            </a:r>
            <a:r>
              <a:rPr lang="en-US" altLang="ko-KR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건강 추구형은 </a:t>
            </a:r>
            <a:r>
              <a:rPr lang="en-US" altLang="ko-KR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20</a:t>
            </a:r>
            <a:r>
              <a:rPr lang="ko-KR" altLang="en-US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대</a:t>
            </a:r>
            <a:r>
              <a:rPr lang="en-US" altLang="ko-KR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</a:t>
            </a:r>
            <a:r>
              <a:rPr lang="ko-KR" altLang="en-US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혹은 남성이 더 낮은 비율</a:t>
            </a:r>
            <a:r>
              <a:rPr lang="en-US" altLang="ko-KR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)</a:t>
            </a:r>
          </a:p>
          <a:p>
            <a:pPr algn="l">
              <a:lnSpc>
                <a:spcPts val="2833"/>
              </a:lnSpc>
            </a:pPr>
            <a:r>
              <a:rPr lang="ko-KR" altLang="en-US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소극적 소비자를 제외하면 모두 </a:t>
            </a:r>
            <a:r>
              <a:rPr lang="en-US" altLang="ko-KR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HMR </a:t>
            </a:r>
            <a:r>
              <a:rPr lang="ko-KR" altLang="en-US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선호도가 높으며</a:t>
            </a:r>
            <a:r>
              <a:rPr lang="en-US" altLang="ko-KR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비슷한 가격 민감도를 가지고 있음</a:t>
            </a:r>
            <a:endParaRPr lang="en-US" sz="1686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</p:txBody>
      </p:sp>
      <p:sp>
        <p:nvSpPr>
          <p:cNvPr id="3" name="TextBox 4">
            <a:extLst>
              <a:ext uri="{FF2B5EF4-FFF2-40B4-BE49-F238E27FC236}">
                <a16:creationId xmlns:a16="http://schemas.microsoft.com/office/drawing/2014/main" id="{F53B776D-C91C-DBA2-57BC-212C67280C6E}"/>
              </a:ext>
            </a:extLst>
          </p:cNvPr>
          <p:cNvSpPr txBox="1"/>
          <p:nvPr/>
        </p:nvSpPr>
        <p:spPr>
          <a:xfrm>
            <a:off x="1206628" y="1813500"/>
            <a:ext cx="4516269" cy="371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8"/>
              </a:lnSpc>
              <a:spcBef>
                <a:spcPct val="0"/>
              </a:spcBef>
            </a:pPr>
            <a:r>
              <a:rPr lang="ko-KR" altLang="en-US" sz="2248" b="1" spc="-123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소비자 페르소나 정보 시각화</a:t>
            </a:r>
            <a:endParaRPr lang="en-US" sz="2248" b="1" spc="-123" dirty="0">
              <a:solidFill>
                <a:srgbClr val="000000"/>
              </a:solidFill>
              <a:latin typeface="+mn-ea"/>
              <a:cs typeface="Source Han Sans KR Medium"/>
              <a:sym typeface="Source Han Sans KR Medium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DE47E7A-DD6D-24D9-3745-0986C9DBD1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000" y="3298500"/>
            <a:ext cx="12478740" cy="350320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F2F4F59D-B9EB-F891-923E-9D0415F19A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2104" y="6676010"/>
            <a:ext cx="12370636" cy="3419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79430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B06CC0-6AA5-4051-BCE8-46FEE26F77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AutoShape 17">
            <a:extLst>
              <a:ext uri="{FF2B5EF4-FFF2-40B4-BE49-F238E27FC236}">
                <a16:creationId xmlns:a16="http://schemas.microsoft.com/office/drawing/2014/main" id="{309AD47B-492D-8EC2-7F28-285A229F7E27}"/>
              </a:ext>
            </a:extLst>
          </p:cNvPr>
          <p:cNvSpPr/>
          <p:nvPr/>
        </p:nvSpPr>
        <p:spPr>
          <a:xfrm>
            <a:off x="3923999" y="1074277"/>
            <a:ext cx="13446991" cy="0"/>
          </a:xfrm>
          <a:prstGeom prst="line">
            <a:avLst/>
          </a:prstGeom>
          <a:ln w="952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AFCD0C3A-6994-1794-0C26-6CED1E9D79D6}"/>
              </a:ext>
            </a:extLst>
          </p:cNvPr>
          <p:cNvSpPr txBox="1"/>
          <p:nvPr/>
        </p:nvSpPr>
        <p:spPr>
          <a:xfrm>
            <a:off x="1197103" y="795626"/>
            <a:ext cx="3736349" cy="513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29"/>
              </a:lnSpc>
            </a:pPr>
            <a:r>
              <a:rPr lang="ko-KR" altLang="en-US" sz="3092" b="1" spc="-19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판매 제품 분석</a:t>
            </a:r>
          </a:p>
        </p:txBody>
      </p:sp>
      <p:sp>
        <p:nvSpPr>
          <p:cNvPr id="39" name="TextBox 12">
            <a:extLst>
              <a:ext uri="{FF2B5EF4-FFF2-40B4-BE49-F238E27FC236}">
                <a16:creationId xmlns:a16="http://schemas.microsoft.com/office/drawing/2014/main" id="{101C872F-6449-FC7E-A6E4-A4D24E4272A9}"/>
              </a:ext>
            </a:extLst>
          </p:cNvPr>
          <p:cNvSpPr txBox="1"/>
          <p:nvPr/>
        </p:nvSpPr>
        <p:spPr>
          <a:xfrm>
            <a:off x="11574000" y="547028"/>
            <a:ext cx="5796991" cy="4678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3935"/>
              </a:lnSpc>
              <a:spcBef>
                <a:spcPct val="0"/>
              </a:spcBef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Part 2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– </a:t>
            </a:r>
            <a:r>
              <a:rPr lang="ko-KR" alt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데이터 분석</a:t>
            </a:r>
            <a:endParaRPr lang="en-US" sz="2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  <a:cs typeface="Telegraf"/>
              <a:sym typeface="Telegraf"/>
            </a:endParaRPr>
          </a:p>
        </p:txBody>
      </p:sp>
      <p:sp>
        <p:nvSpPr>
          <p:cNvPr id="4" name="TextBox 2">
            <a:extLst>
              <a:ext uri="{FF2B5EF4-FFF2-40B4-BE49-F238E27FC236}">
                <a16:creationId xmlns:a16="http://schemas.microsoft.com/office/drawing/2014/main" id="{469EA316-DC1B-D095-BB34-37172605AAE0}"/>
              </a:ext>
            </a:extLst>
          </p:cNvPr>
          <p:cNvSpPr txBox="1"/>
          <p:nvPr/>
        </p:nvSpPr>
        <p:spPr>
          <a:xfrm>
            <a:off x="1206628" y="2350463"/>
            <a:ext cx="6722370" cy="10395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85750" indent="-285750" algn="l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시장 예측 대상인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15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개의 신제품 데이터</a:t>
            </a: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285750" indent="-285750" algn="l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제품명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제품특징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카테고리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1~3 </a:t>
            </a:r>
            <a:r>
              <a:rPr lang="ko-KR" altLang="en-US" spc="-28" dirty="0" err="1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뎁스</a:t>
            </a: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285750" indent="-285750" algn="l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</a:t>
            </a:r>
            <a:endParaRPr lang="en-US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7B40D309-F00C-A9C0-11B1-ECFB72A4923B}"/>
              </a:ext>
            </a:extLst>
          </p:cNvPr>
          <p:cNvSpPr txBox="1"/>
          <p:nvPr/>
        </p:nvSpPr>
        <p:spPr>
          <a:xfrm>
            <a:off x="1206628" y="1813500"/>
            <a:ext cx="4516269" cy="371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8"/>
              </a:lnSpc>
              <a:spcBef>
                <a:spcPct val="0"/>
              </a:spcBef>
            </a:pPr>
            <a:r>
              <a:rPr lang="ko-KR" altLang="en-US" sz="2400" b="1" spc="-123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제품 데이터 분석 및 가공 계획</a:t>
            </a:r>
            <a:endParaRPr lang="en-US" sz="2400" b="1" spc="-123" dirty="0">
              <a:solidFill>
                <a:srgbClr val="000000"/>
              </a:solidFill>
              <a:latin typeface="+mn-ea"/>
              <a:cs typeface="Source Han Sans KR Medium"/>
              <a:sym typeface="Source Han Sans KR Medium"/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DBD6A322-08EC-26CC-FCDF-1634A54C84DD}"/>
              </a:ext>
            </a:extLst>
          </p:cNvPr>
          <p:cNvGraphicFramePr>
            <a:graphicFrameLocks noGrp="1"/>
          </p:cNvGraphicFramePr>
          <p:nvPr/>
        </p:nvGraphicFramePr>
        <p:xfrm>
          <a:off x="8575496" y="1853916"/>
          <a:ext cx="8793695" cy="2992878"/>
        </p:xfrm>
        <a:graphic>
          <a:graphicData uri="http://schemas.openxmlformats.org/drawingml/2006/table">
            <a:tbl>
              <a:tblPr>
                <a:tableStyleId>{3B4B98B0-60AC-42C2-AFA5-B58CD77FA1E5}</a:tableStyleId>
              </a:tblPr>
              <a:tblGrid>
                <a:gridCol w="1918504">
                  <a:extLst>
                    <a:ext uri="{9D8B030D-6E8A-4147-A177-3AD203B41FA5}">
                      <a16:colId xmlns:a16="http://schemas.microsoft.com/office/drawing/2014/main" val="873741868"/>
                    </a:ext>
                  </a:extLst>
                </a:gridCol>
                <a:gridCol w="4479893">
                  <a:extLst>
                    <a:ext uri="{9D8B030D-6E8A-4147-A177-3AD203B41FA5}">
                      <a16:colId xmlns:a16="http://schemas.microsoft.com/office/drawing/2014/main" val="2115629589"/>
                    </a:ext>
                  </a:extLst>
                </a:gridCol>
                <a:gridCol w="746480">
                  <a:extLst>
                    <a:ext uri="{9D8B030D-6E8A-4147-A177-3AD203B41FA5}">
                      <a16:colId xmlns:a16="http://schemas.microsoft.com/office/drawing/2014/main" val="2606838674"/>
                    </a:ext>
                  </a:extLst>
                </a:gridCol>
                <a:gridCol w="746480">
                  <a:extLst>
                    <a:ext uri="{9D8B030D-6E8A-4147-A177-3AD203B41FA5}">
                      <a16:colId xmlns:a16="http://schemas.microsoft.com/office/drawing/2014/main" val="2896155942"/>
                    </a:ext>
                  </a:extLst>
                </a:gridCol>
                <a:gridCol w="902338">
                  <a:extLst>
                    <a:ext uri="{9D8B030D-6E8A-4147-A177-3AD203B41FA5}">
                      <a16:colId xmlns:a16="http://schemas.microsoft.com/office/drawing/2014/main" val="3034170607"/>
                    </a:ext>
                  </a:extLst>
                </a:gridCol>
              </a:tblGrid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700" b="1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product_name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700" b="1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product_feature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7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category_level_1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7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category_level_2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7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category_level_3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3823846"/>
                  </a:ext>
                </a:extLst>
              </a:tr>
              <a:tr h="29488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덴마크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하이그릭요거트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400g</a:t>
                      </a:r>
                      <a:endParaRPr lang="en-US" altLang="ko-KR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이중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유청분리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공법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꾸덕한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질감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고소함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호상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(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떠먹는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)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발효유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고단백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아연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칼슘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6-7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월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TV/</a:t>
                      </a:r>
                      <a:r>
                        <a:rPr lang="en-US" altLang="ko-KR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Youtube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/SNS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광고 진행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6-8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월 수도권 중심 아파트 엘리베이터 광고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광고모델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: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일반인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우유류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발효유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호상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-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중대용량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69687532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동원맛참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고소참기름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135g</a:t>
                      </a:r>
                      <a:endParaRPr lang="en-US" altLang="ko-KR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광고모델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: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안유진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참기름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단백질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셀레늄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고소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참치캔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라이트스탠다드참치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4236223829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동원맛참 고소참기름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90g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광고모델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: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안유진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참기름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단백질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셀레늄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고소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참치캔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라이트스탠다드참치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3786069640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동원맛참 매콤참기름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135g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광고모델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: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안유진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참기름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단백질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셀레늄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매콤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참치캔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라이트스탠다드참치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1057904755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동원맛참 매콤참기름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90g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광고모델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: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안유진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참기름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단백질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셀레늄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매콤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참치캔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라이트스탠다드참치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1164325224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동원참치액 순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500g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훈연참치추출물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80%,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참기엑기스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참치명가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직접 잡은 참치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가쓰오엑기스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표고버섯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무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감초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마늘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조미소스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액상조미료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3320823384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동원참치액 순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900g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훈연참치추출물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80%,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참기엑기스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참치명가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직접 잡은 참치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가쓰오엑기스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표고버섯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무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감초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마늘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조미소스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액상조미료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3653438810"/>
                  </a:ext>
                </a:extLst>
              </a:tr>
              <a:tr h="23739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동원참치액 진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500g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훈연참치추출물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80%,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참기엑기스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참치명가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직접 잡은 참치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가쓰오엑기스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표고버섯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무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감초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마늘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조미소스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액상조미료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2059535145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동원참치액 진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900g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훈연참치추출물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80%,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참기엑기스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참치명가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직접 잡은 참치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가쓰오엑기스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표고버섯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무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감초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마늘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조미소스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액상조미료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267507559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리챔 오믈레햄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200g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오믈렛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(Omelet)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과 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(Ham)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의 합성어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저나트륨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내열성 케첩 소스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축산캔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고급축산캔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가미축산캔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2203704635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리챔 오믈레햄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340g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오믈렛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(Omelet)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과 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(Ham)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의 합성어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저나트륨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내열성 케첩 소스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축산캔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고급축산캔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가미축산캔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1726226023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소화가 잘되는 우유로 만든 바닐라라떼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250mL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락토프리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저온효소 처리 기술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유당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ZERO,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저당 트렌드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신선한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등급 원유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SNS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바이럴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2-6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월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광고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X</a:t>
                      </a:r>
                      <a:endParaRPr lang="en-US" altLang="ko-KR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우유류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커피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커피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-</a:t>
                      </a:r>
                      <a:r>
                        <a:rPr 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CUP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4043807920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소화가 잘되는 우유로 만든 카페라떼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250mL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락토프리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저온효소 처리 기술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유당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ZERO,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저당 트렌드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신선한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1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등급 원유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SNS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바이럴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2-6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월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광고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X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우유류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커피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커피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-</a:t>
                      </a:r>
                      <a:r>
                        <a:rPr 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CUP</a:t>
                      </a:r>
                      <a:endParaRPr 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26820827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프리미엄 동원참치액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500g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훈연참치추출물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85%,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참기엑기스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참치명가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직접 잡은 참치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가쓰오엑기스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표고버섯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무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감초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마늘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조미소스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액상조미료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419616684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프리미엄 동원참치액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900g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훈연참치추출물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85%,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참기엑기스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참치명가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직접 잡은 참치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가쓰오엑기스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표고버섯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무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감초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마늘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조미소스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액상조미료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15733573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858433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F9B85C-4018-B6E5-212B-234C40AA1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AutoShape 17">
            <a:extLst>
              <a:ext uri="{FF2B5EF4-FFF2-40B4-BE49-F238E27FC236}">
                <a16:creationId xmlns:a16="http://schemas.microsoft.com/office/drawing/2014/main" id="{053347B1-F34C-3CE4-8E30-DD6EA077859E}"/>
              </a:ext>
            </a:extLst>
          </p:cNvPr>
          <p:cNvSpPr/>
          <p:nvPr/>
        </p:nvSpPr>
        <p:spPr>
          <a:xfrm>
            <a:off x="3923999" y="1074277"/>
            <a:ext cx="13446991" cy="0"/>
          </a:xfrm>
          <a:prstGeom prst="line">
            <a:avLst/>
          </a:prstGeom>
          <a:ln w="952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495E69ED-FFB1-1260-A4CF-5876262A5CBF}"/>
              </a:ext>
            </a:extLst>
          </p:cNvPr>
          <p:cNvSpPr txBox="1"/>
          <p:nvPr/>
        </p:nvSpPr>
        <p:spPr>
          <a:xfrm>
            <a:off x="1197103" y="795626"/>
            <a:ext cx="3736349" cy="513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29"/>
              </a:lnSpc>
            </a:pPr>
            <a:r>
              <a:rPr lang="ko-KR" altLang="en-US" sz="3092" b="1" spc="-19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판매 제품 분석</a:t>
            </a:r>
          </a:p>
        </p:txBody>
      </p:sp>
      <p:sp>
        <p:nvSpPr>
          <p:cNvPr id="39" name="TextBox 12">
            <a:extLst>
              <a:ext uri="{FF2B5EF4-FFF2-40B4-BE49-F238E27FC236}">
                <a16:creationId xmlns:a16="http://schemas.microsoft.com/office/drawing/2014/main" id="{F778F007-ECFA-E0DD-572C-DFE02D8A93D8}"/>
              </a:ext>
            </a:extLst>
          </p:cNvPr>
          <p:cNvSpPr txBox="1"/>
          <p:nvPr/>
        </p:nvSpPr>
        <p:spPr>
          <a:xfrm>
            <a:off x="11574000" y="547028"/>
            <a:ext cx="5796991" cy="4678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3935"/>
              </a:lnSpc>
              <a:spcBef>
                <a:spcPct val="0"/>
              </a:spcBef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Part 2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– </a:t>
            </a:r>
            <a:r>
              <a:rPr lang="ko-KR" alt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데이터 분석</a:t>
            </a:r>
            <a:endParaRPr lang="en-US" sz="2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  <a:cs typeface="Telegraf"/>
              <a:sym typeface="Telegraf"/>
            </a:endParaRPr>
          </a:p>
        </p:txBody>
      </p:sp>
      <p:sp>
        <p:nvSpPr>
          <p:cNvPr id="4" name="TextBox 2">
            <a:extLst>
              <a:ext uri="{FF2B5EF4-FFF2-40B4-BE49-F238E27FC236}">
                <a16:creationId xmlns:a16="http://schemas.microsoft.com/office/drawing/2014/main" id="{FCF35430-C75C-5A28-2FE2-08FF2E9385C3}"/>
              </a:ext>
            </a:extLst>
          </p:cNvPr>
          <p:cNvSpPr txBox="1"/>
          <p:nvPr/>
        </p:nvSpPr>
        <p:spPr>
          <a:xfrm>
            <a:off x="1206628" y="2350463"/>
            <a:ext cx="6722370" cy="10395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85750" indent="-285750" algn="l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시장 예측 대상인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15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개의 신제품 데이터</a:t>
            </a: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285750" indent="-285750" algn="l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제품명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제품특징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카테고리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1~3 </a:t>
            </a:r>
            <a:r>
              <a:rPr lang="ko-KR" altLang="en-US" spc="-28" dirty="0" err="1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뎁스</a:t>
            </a: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285750" indent="-285750" algn="l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</a:t>
            </a:r>
            <a:endParaRPr lang="en-US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2F06C0B4-A718-D9B0-E131-2070B482E498}"/>
              </a:ext>
            </a:extLst>
          </p:cNvPr>
          <p:cNvSpPr txBox="1"/>
          <p:nvPr/>
        </p:nvSpPr>
        <p:spPr>
          <a:xfrm>
            <a:off x="1206628" y="1813500"/>
            <a:ext cx="4516269" cy="371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8"/>
              </a:lnSpc>
              <a:spcBef>
                <a:spcPct val="0"/>
              </a:spcBef>
            </a:pPr>
            <a:r>
              <a:rPr lang="ko-KR" altLang="en-US" sz="2400" b="1" spc="-123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제품 데이터 분석 및 가공 계획</a:t>
            </a:r>
            <a:endParaRPr lang="en-US" sz="2400" b="1" spc="-123" dirty="0">
              <a:solidFill>
                <a:srgbClr val="000000"/>
              </a:solidFill>
              <a:latin typeface="+mn-ea"/>
              <a:cs typeface="Source Han Sans KR Medium"/>
              <a:sym typeface="Source Han Sans KR Medium"/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26905A34-BFA2-7352-5715-3C6A9D1878D2}"/>
              </a:ext>
            </a:extLst>
          </p:cNvPr>
          <p:cNvGraphicFramePr>
            <a:graphicFrameLocks noGrp="1"/>
          </p:cNvGraphicFramePr>
          <p:nvPr/>
        </p:nvGraphicFramePr>
        <p:xfrm>
          <a:off x="8575496" y="1853916"/>
          <a:ext cx="8793695" cy="2992878"/>
        </p:xfrm>
        <a:graphic>
          <a:graphicData uri="http://schemas.openxmlformats.org/drawingml/2006/table">
            <a:tbl>
              <a:tblPr>
                <a:tableStyleId>{3B4B98B0-60AC-42C2-AFA5-B58CD77FA1E5}</a:tableStyleId>
              </a:tblPr>
              <a:tblGrid>
                <a:gridCol w="1918504">
                  <a:extLst>
                    <a:ext uri="{9D8B030D-6E8A-4147-A177-3AD203B41FA5}">
                      <a16:colId xmlns:a16="http://schemas.microsoft.com/office/drawing/2014/main" val="873741868"/>
                    </a:ext>
                  </a:extLst>
                </a:gridCol>
                <a:gridCol w="4479893">
                  <a:extLst>
                    <a:ext uri="{9D8B030D-6E8A-4147-A177-3AD203B41FA5}">
                      <a16:colId xmlns:a16="http://schemas.microsoft.com/office/drawing/2014/main" val="2115629589"/>
                    </a:ext>
                  </a:extLst>
                </a:gridCol>
                <a:gridCol w="746480">
                  <a:extLst>
                    <a:ext uri="{9D8B030D-6E8A-4147-A177-3AD203B41FA5}">
                      <a16:colId xmlns:a16="http://schemas.microsoft.com/office/drawing/2014/main" val="2606838674"/>
                    </a:ext>
                  </a:extLst>
                </a:gridCol>
                <a:gridCol w="746480">
                  <a:extLst>
                    <a:ext uri="{9D8B030D-6E8A-4147-A177-3AD203B41FA5}">
                      <a16:colId xmlns:a16="http://schemas.microsoft.com/office/drawing/2014/main" val="2896155942"/>
                    </a:ext>
                  </a:extLst>
                </a:gridCol>
                <a:gridCol w="902338">
                  <a:extLst>
                    <a:ext uri="{9D8B030D-6E8A-4147-A177-3AD203B41FA5}">
                      <a16:colId xmlns:a16="http://schemas.microsoft.com/office/drawing/2014/main" val="3034170607"/>
                    </a:ext>
                  </a:extLst>
                </a:gridCol>
              </a:tblGrid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700" b="1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product_name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700" b="1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product_feature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7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category_level_1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7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category_level_2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7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category_level_3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3823846"/>
                  </a:ext>
                </a:extLst>
              </a:tr>
              <a:tr h="29488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덴마크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하이그릭요거트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400g</a:t>
                      </a:r>
                      <a:endParaRPr lang="en-US" altLang="ko-KR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이중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유청분리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공법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꾸덕한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질감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고소함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호상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(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떠먹는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)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발효유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고단백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아연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칼슘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6-7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월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TV/</a:t>
                      </a:r>
                      <a:r>
                        <a:rPr lang="en-US" altLang="ko-KR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Youtube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/SNS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광고 진행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6-8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월 수도권 중심 아파트 엘리베이터 광고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광고모델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: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일반인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우유류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발효유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호상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-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중대용량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69687532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동원맛참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고소참기름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135g</a:t>
                      </a:r>
                      <a:endParaRPr lang="en-US" altLang="ko-KR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광고모델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: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안유진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참기름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단백질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셀레늄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고소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참치캔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라이트스탠다드참치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4236223829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동원맛참 고소참기름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90g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광고모델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: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안유진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참기름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단백질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셀레늄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고소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참치캔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라이트스탠다드참치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3786069640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동원맛참 매콤참기름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135g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광고모델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: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안유진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참기름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단백질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셀레늄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매콤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참치캔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라이트스탠다드참치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1057904755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동원맛참 매콤참기름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90g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광고모델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: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안유진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참기름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단백질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셀레늄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매콤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참치캔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라이트스탠다드참치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1164325224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동원참치액 순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500g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훈연참치추출물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80%,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참기엑기스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참치명가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직접 잡은 참치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가쓰오엑기스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표고버섯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무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감초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마늘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조미소스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액상조미료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3320823384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동원참치액 순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900g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훈연참치추출물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80%,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참기엑기스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참치명가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직접 잡은 참치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가쓰오엑기스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표고버섯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무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감초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마늘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조미소스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액상조미료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3653438810"/>
                  </a:ext>
                </a:extLst>
              </a:tr>
              <a:tr h="23739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동원참치액 진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500g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훈연참치추출물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80%,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참기엑기스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참치명가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직접 잡은 참치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가쓰오엑기스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표고버섯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무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감초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마늘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조미소스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액상조미료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2059535145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동원참치액 진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900g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훈연참치추출물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80%,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참기엑기스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참치명가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직접 잡은 참치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가쓰오엑기스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표고버섯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무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감초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마늘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조미소스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액상조미료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267507559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리챔 오믈레햄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200g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오믈렛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(Omelet)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과 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(Ham)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의 합성어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저나트륨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내열성 케첩 소스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축산캔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고급축산캔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가미축산캔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2203704635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리챔 오믈레햄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340g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오믈렛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(Omelet)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과 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(Ham)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의 합성어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저나트륨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내열성 케첩 소스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축산캔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고급축산캔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가미축산캔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1726226023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소화가 잘되는 우유로 만든 바닐라라떼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250mL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락토프리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저온효소 처리 기술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유당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ZERO,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저당 트렌드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신선한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등급 원유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SNS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바이럴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2-6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월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광고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X</a:t>
                      </a:r>
                      <a:endParaRPr lang="en-US" altLang="ko-KR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우유류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커피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커피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-</a:t>
                      </a:r>
                      <a:r>
                        <a:rPr 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CUP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4043807920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소화가 잘되는 우유로 만든 카페라떼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250mL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락토프리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저온효소 처리 기술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유당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ZERO,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저당 트렌드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신선한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1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등급 원유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SNS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바이럴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2-6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월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광고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X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우유류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커피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커피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-</a:t>
                      </a:r>
                      <a:r>
                        <a:rPr 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CUP</a:t>
                      </a:r>
                      <a:endParaRPr 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26820827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프리미엄 동원참치액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500g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훈연참치추출물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85%,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참기엑기스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참치명가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직접 잡은 참치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가쓰오엑기스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표고버섯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무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감초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마늘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조미소스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액상조미료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419616684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프리미엄 동원참치액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900g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훈연참치추출물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85%,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참기엑기스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참치명가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직접 잡은 참치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가쓰오엑기스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표고버섯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무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감초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마늘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조미소스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액상조미료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15733573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523053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A85C0-ABE8-00E6-2B59-E4344B0E3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AutoShape 17">
            <a:extLst>
              <a:ext uri="{FF2B5EF4-FFF2-40B4-BE49-F238E27FC236}">
                <a16:creationId xmlns:a16="http://schemas.microsoft.com/office/drawing/2014/main" id="{4648E589-F7B0-D86E-E851-09D197C54EEE}"/>
              </a:ext>
            </a:extLst>
          </p:cNvPr>
          <p:cNvSpPr/>
          <p:nvPr/>
        </p:nvSpPr>
        <p:spPr>
          <a:xfrm>
            <a:off x="3923999" y="1074277"/>
            <a:ext cx="13446991" cy="0"/>
          </a:xfrm>
          <a:prstGeom prst="line">
            <a:avLst/>
          </a:prstGeom>
          <a:ln w="952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A2B507AE-61BB-E93F-8E05-385DB5CCA47D}"/>
              </a:ext>
            </a:extLst>
          </p:cNvPr>
          <p:cNvSpPr txBox="1"/>
          <p:nvPr/>
        </p:nvSpPr>
        <p:spPr>
          <a:xfrm>
            <a:off x="1197103" y="795626"/>
            <a:ext cx="3736349" cy="513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29"/>
              </a:lnSpc>
            </a:pPr>
            <a:r>
              <a:rPr lang="ko-KR" altLang="en-US" sz="3092" b="1" spc="-19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외생 변수 가공</a:t>
            </a:r>
          </a:p>
        </p:txBody>
      </p:sp>
      <p:sp>
        <p:nvSpPr>
          <p:cNvPr id="39" name="TextBox 12">
            <a:extLst>
              <a:ext uri="{FF2B5EF4-FFF2-40B4-BE49-F238E27FC236}">
                <a16:creationId xmlns:a16="http://schemas.microsoft.com/office/drawing/2014/main" id="{61B02E66-60DD-825D-B380-5C8E8FDD1A23}"/>
              </a:ext>
            </a:extLst>
          </p:cNvPr>
          <p:cNvSpPr txBox="1"/>
          <p:nvPr/>
        </p:nvSpPr>
        <p:spPr>
          <a:xfrm>
            <a:off x="11574000" y="547028"/>
            <a:ext cx="5796991" cy="4678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3935"/>
              </a:lnSpc>
              <a:spcBef>
                <a:spcPct val="0"/>
              </a:spcBef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Part 2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– </a:t>
            </a:r>
            <a:r>
              <a:rPr lang="ko-KR" alt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데이터 분석</a:t>
            </a:r>
            <a:endParaRPr lang="en-US" sz="2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  <a:cs typeface="Telegraf"/>
              <a:sym typeface="Telegraf"/>
            </a:endParaRPr>
          </a:p>
        </p:txBody>
      </p:sp>
      <p:sp>
        <p:nvSpPr>
          <p:cNvPr id="4" name="TextBox 2">
            <a:extLst>
              <a:ext uri="{FF2B5EF4-FFF2-40B4-BE49-F238E27FC236}">
                <a16:creationId xmlns:a16="http://schemas.microsoft.com/office/drawing/2014/main" id="{9961E3F7-483A-D632-0072-9B2B7E9513D4}"/>
              </a:ext>
            </a:extLst>
          </p:cNvPr>
          <p:cNvSpPr txBox="1"/>
          <p:nvPr/>
        </p:nvSpPr>
        <p:spPr>
          <a:xfrm>
            <a:off x="1206628" y="2350463"/>
            <a:ext cx="6722370" cy="10395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85750" indent="-285750" algn="l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시장 예측 대상인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15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개의 신제품 데이터</a:t>
            </a: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285750" indent="-285750" algn="l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제품명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제품특징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카테고리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1~3 </a:t>
            </a:r>
            <a:r>
              <a:rPr lang="ko-KR" altLang="en-US" spc="-28" dirty="0" err="1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뎁스</a:t>
            </a: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285750" indent="-285750" algn="l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</a:t>
            </a:r>
            <a:endParaRPr lang="en-US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3444B6E8-04F8-EC96-DEF4-EDB3E8E75324}"/>
              </a:ext>
            </a:extLst>
          </p:cNvPr>
          <p:cNvSpPr txBox="1"/>
          <p:nvPr/>
        </p:nvSpPr>
        <p:spPr>
          <a:xfrm>
            <a:off x="1206628" y="1813500"/>
            <a:ext cx="4516269" cy="371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8"/>
              </a:lnSpc>
              <a:spcBef>
                <a:spcPct val="0"/>
              </a:spcBef>
            </a:pPr>
            <a:r>
              <a:rPr lang="ko-KR" altLang="en-US" sz="2400" b="1" spc="-123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제품 데이터 분석 및 가공 계획</a:t>
            </a:r>
            <a:endParaRPr lang="en-US" sz="2400" b="1" spc="-123" dirty="0">
              <a:solidFill>
                <a:srgbClr val="000000"/>
              </a:solidFill>
              <a:latin typeface="+mn-ea"/>
              <a:cs typeface="Source Han Sans KR Medium"/>
              <a:sym typeface="Source Han Sans KR Medium"/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E5A242C6-1518-8662-5C42-3313C6B1F49D}"/>
              </a:ext>
            </a:extLst>
          </p:cNvPr>
          <p:cNvGraphicFramePr>
            <a:graphicFrameLocks noGrp="1"/>
          </p:cNvGraphicFramePr>
          <p:nvPr/>
        </p:nvGraphicFramePr>
        <p:xfrm>
          <a:off x="8575496" y="1853916"/>
          <a:ext cx="8793695" cy="2992878"/>
        </p:xfrm>
        <a:graphic>
          <a:graphicData uri="http://schemas.openxmlformats.org/drawingml/2006/table">
            <a:tbl>
              <a:tblPr>
                <a:tableStyleId>{3B4B98B0-60AC-42C2-AFA5-B58CD77FA1E5}</a:tableStyleId>
              </a:tblPr>
              <a:tblGrid>
                <a:gridCol w="1918504">
                  <a:extLst>
                    <a:ext uri="{9D8B030D-6E8A-4147-A177-3AD203B41FA5}">
                      <a16:colId xmlns:a16="http://schemas.microsoft.com/office/drawing/2014/main" val="873741868"/>
                    </a:ext>
                  </a:extLst>
                </a:gridCol>
                <a:gridCol w="4479893">
                  <a:extLst>
                    <a:ext uri="{9D8B030D-6E8A-4147-A177-3AD203B41FA5}">
                      <a16:colId xmlns:a16="http://schemas.microsoft.com/office/drawing/2014/main" val="2115629589"/>
                    </a:ext>
                  </a:extLst>
                </a:gridCol>
                <a:gridCol w="746480">
                  <a:extLst>
                    <a:ext uri="{9D8B030D-6E8A-4147-A177-3AD203B41FA5}">
                      <a16:colId xmlns:a16="http://schemas.microsoft.com/office/drawing/2014/main" val="2606838674"/>
                    </a:ext>
                  </a:extLst>
                </a:gridCol>
                <a:gridCol w="746480">
                  <a:extLst>
                    <a:ext uri="{9D8B030D-6E8A-4147-A177-3AD203B41FA5}">
                      <a16:colId xmlns:a16="http://schemas.microsoft.com/office/drawing/2014/main" val="2896155942"/>
                    </a:ext>
                  </a:extLst>
                </a:gridCol>
                <a:gridCol w="902338">
                  <a:extLst>
                    <a:ext uri="{9D8B030D-6E8A-4147-A177-3AD203B41FA5}">
                      <a16:colId xmlns:a16="http://schemas.microsoft.com/office/drawing/2014/main" val="3034170607"/>
                    </a:ext>
                  </a:extLst>
                </a:gridCol>
              </a:tblGrid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700" b="1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product_name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700" b="1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product_feature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7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category_level_1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7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category_level_2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7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category_level_3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3823846"/>
                  </a:ext>
                </a:extLst>
              </a:tr>
              <a:tr h="29488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덴마크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하이그릭요거트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400g</a:t>
                      </a:r>
                      <a:endParaRPr lang="en-US" altLang="ko-KR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이중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유청분리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공법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꾸덕한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질감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고소함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호상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(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떠먹는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)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발효유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고단백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아연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칼슘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6-7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월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TV/</a:t>
                      </a:r>
                      <a:r>
                        <a:rPr lang="en-US" altLang="ko-KR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Youtube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/SNS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광고 진행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6-8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월 수도권 중심 아파트 엘리베이터 광고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광고모델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: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일반인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우유류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발효유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호상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-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중대용량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69687532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동원맛참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고소참기름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135g</a:t>
                      </a:r>
                      <a:endParaRPr lang="en-US" altLang="ko-KR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광고모델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: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안유진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참기름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단백질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셀레늄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고소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참치캔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라이트스탠다드참치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4236223829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동원맛참 고소참기름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90g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광고모델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: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안유진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참기름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단백질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셀레늄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고소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참치캔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라이트스탠다드참치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3786069640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동원맛참 매콤참기름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135g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광고모델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: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안유진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참기름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단백질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셀레늄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매콤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참치캔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라이트스탠다드참치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1057904755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동원맛참 매콤참기름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90g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광고모델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: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안유진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참기름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단백질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셀레늄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매콤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참치캔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라이트스탠다드참치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1164325224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동원참치액 순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500g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훈연참치추출물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80%,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참기엑기스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참치명가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직접 잡은 참치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가쓰오엑기스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표고버섯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무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감초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마늘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조미소스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액상조미료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3320823384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동원참치액 순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900g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훈연참치추출물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80%,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참기엑기스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참치명가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직접 잡은 참치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가쓰오엑기스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표고버섯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무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감초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마늘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조미소스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액상조미료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3653438810"/>
                  </a:ext>
                </a:extLst>
              </a:tr>
              <a:tr h="23739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동원참치액 진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500g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훈연참치추출물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80%,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참기엑기스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참치명가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직접 잡은 참치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가쓰오엑기스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표고버섯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무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감초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마늘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조미소스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액상조미료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2059535145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동원참치액 진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900g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훈연참치추출물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80%,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참기엑기스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참치명가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직접 잡은 참치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가쓰오엑기스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표고버섯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무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감초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마늘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조미소스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액상조미료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267507559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리챔 오믈레햄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200g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오믈렛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(Omelet)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과 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(Ham)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의 합성어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저나트륨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내열성 케첩 소스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축산캔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고급축산캔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가미축산캔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2203704635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리챔 오믈레햄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340g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오믈렛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(Omelet)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과 햄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(Ham)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의 합성어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저나트륨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내열성 케첩 소스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축산캔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고급축산캔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가미축산캔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1726226023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소화가 잘되는 우유로 만든 바닐라라떼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250mL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락토프리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저온효소 처리 기술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유당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ZERO,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저당 트렌드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신선한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등급 원유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SNS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바이럴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2-6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월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광고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X</a:t>
                      </a:r>
                      <a:endParaRPr lang="en-US" altLang="ko-KR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우유류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커피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커피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-</a:t>
                      </a:r>
                      <a:r>
                        <a:rPr 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CUP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4043807920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소화가 잘되는 우유로 만든 카페라떼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250mL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락토프리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저온효소 처리 기술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유당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ZERO,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저당 트렌드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신선한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1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등급 원유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SNS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바이럴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2-6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월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광고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X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우유류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커피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커피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-</a:t>
                      </a:r>
                      <a:r>
                        <a:rPr 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CUP</a:t>
                      </a:r>
                      <a:endParaRPr 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26820827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프리미엄 동원참치액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500g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훈연참치추출물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85%,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참기엑기스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참치명가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직접 잡은 참치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가쓰오엑기스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표고버섯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무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감초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마늘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조미소스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액상조미료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419616684"/>
                  </a:ext>
                </a:extLst>
              </a:tr>
              <a:tr h="1807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프리미엄 동원참치액 </a:t>
                      </a:r>
                      <a:r>
                        <a:rPr lang="en-US" altLang="ko-KR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900g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훈연참치추출물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85%,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참기엑기스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참치명가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직접 잡은 참치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가쓰오엑기스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표고버섯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무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감초</a:t>
                      </a:r>
                      <a:r>
                        <a:rPr lang="en-US" altLang="ko-KR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, </a:t>
                      </a: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마늘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조미소스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>
                          <a:solidFill>
                            <a:srgbClr val="000000"/>
                          </a:solidFill>
                          <a:effectLst/>
                        </a:rPr>
                        <a:t>조미료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7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액상조미료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606" marR="4606" marT="4606" marB="0" anchor="ctr"/>
                </a:tc>
                <a:extLst>
                  <a:ext uri="{0D108BD9-81ED-4DB2-BD59-A6C34878D82A}">
                    <a16:rowId xmlns:a16="http://schemas.microsoft.com/office/drawing/2014/main" val="15733573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08661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B0A80C-4DA8-DB74-15C7-8A18310E1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AutoShape 17">
            <a:extLst>
              <a:ext uri="{FF2B5EF4-FFF2-40B4-BE49-F238E27FC236}">
                <a16:creationId xmlns:a16="http://schemas.microsoft.com/office/drawing/2014/main" id="{F650AC71-6DA5-BC16-7592-8FDE9E9D3EEA}"/>
              </a:ext>
            </a:extLst>
          </p:cNvPr>
          <p:cNvSpPr/>
          <p:nvPr/>
        </p:nvSpPr>
        <p:spPr>
          <a:xfrm>
            <a:off x="3924001" y="1074278"/>
            <a:ext cx="13446992" cy="0"/>
          </a:xfrm>
          <a:prstGeom prst="line">
            <a:avLst/>
          </a:prstGeom>
          <a:ln w="952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8BD19F59-92F5-211A-D9D8-9F22337E6ED5}"/>
              </a:ext>
            </a:extLst>
          </p:cNvPr>
          <p:cNvSpPr txBox="1"/>
          <p:nvPr/>
        </p:nvSpPr>
        <p:spPr>
          <a:xfrm>
            <a:off x="1197104" y="795628"/>
            <a:ext cx="3736349" cy="5000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329"/>
              </a:lnSpc>
            </a:pPr>
            <a:r>
              <a:rPr lang="ko-KR" altLang="en-US" sz="3092" b="1" spc="-19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외생 변수 가공</a:t>
            </a:r>
          </a:p>
        </p:txBody>
      </p:sp>
      <p:sp>
        <p:nvSpPr>
          <p:cNvPr id="39" name="TextBox 12">
            <a:extLst>
              <a:ext uri="{FF2B5EF4-FFF2-40B4-BE49-F238E27FC236}">
                <a16:creationId xmlns:a16="http://schemas.microsoft.com/office/drawing/2014/main" id="{86A0893C-BFCA-539D-6EB7-CD4AB8C09929}"/>
              </a:ext>
            </a:extLst>
          </p:cNvPr>
          <p:cNvSpPr txBox="1"/>
          <p:nvPr/>
        </p:nvSpPr>
        <p:spPr>
          <a:xfrm>
            <a:off x="11574001" y="547028"/>
            <a:ext cx="5796992" cy="4562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3935"/>
              </a:lnSpc>
              <a:spcBef>
                <a:spcPct val="0"/>
              </a:spcBef>
            </a:pPr>
            <a:r>
              <a:rPr lang="en-US" sz="280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Part 2 </a:t>
            </a:r>
            <a:r>
              <a:rPr lang="en-US" altLang="ko-KR" sz="280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– </a:t>
            </a:r>
            <a:r>
              <a:rPr lang="ko-KR" altLang="en-US" sz="280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데이터 분석</a:t>
            </a:r>
            <a:endParaRPr lang="en-US" sz="280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  <a:cs typeface="Telegraf"/>
              <a:sym typeface="Telegraf"/>
            </a:endParaRPr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DA5D3ED4-47E3-A5E2-ED64-617B14444FD4}"/>
              </a:ext>
            </a:extLst>
          </p:cNvPr>
          <p:cNvSpPr/>
          <p:nvPr/>
        </p:nvSpPr>
        <p:spPr>
          <a:xfrm>
            <a:off x="1216657" y="1754043"/>
            <a:ext cx="4462343" cy="4194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3300"/>
              </a:lnSpc>
            </a:pPr>
            <a:r>
              <a:rPr lang="en-US" sz="2400" b="1" dirty="0" err="1">
                <a:solidFill>
                  <a:srgbClr val="000000"/>
                </a:solidFill>
                <a:latin typeface="+mn-ea"/>
                <a:cs typeface="Inter Bold" pitchFamily="34" charset="-120"/>
              </a:rPr>
              <a:t>월매출계수</a:t>
            </a:r>
            <a:r>
              <a:rPr lang="en-US" sz="2400" b="1" dirty="0">
                <a:solidFill>
                  <a:srgbClr val="000000"/>
                </a:solidFill>
                <a:latin typeface="+mn-ea"/>
                <a:cs typeface="Inter Bold" pitchFamily="34" charset="-120"/>
              </a:rPr>
              <a:t>(2020-2023)</a:t>
            </a:r>
            <a:endParaRPr lang="en-US" sz="2400" dirty="0">
              <a:latin typeface="+mn-ea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2114D07-2EC5-D178-D6F2-8E646394E83B}"/>
              </a:ext>
            </a:extLst>
          </p:cNvPr>
          <p:cNvSpPr/>
          <p:nvPr/>
        </p:nvSpPr>
        <p:spPr>
          <a:xfrm>
            <a:off x="1108084" y="2346282"/>
            <a:ext cx="13184744" cy="5022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lvl="1"/>
            <a:r>
              <a:rPr lang="en-US" dirty="0">
                <a:solidFill>
                  <a:srgbClr val="272525"/>
                </a:solidFill>
                <a:latin typeface="+mn-ea"/>
                <a:cs typeface="Inter" pitchFamily="34" charset="-120"/>
              </a:rPr>
              <a:t> 2020년부터 2023년까지 주요 식품 품목의 월별 매출 계수를 도출하여 제품별 매출 추세와 계절성 </a:t>
            </a:r>
            <a:r>
              <a:rPr lang="en-US" dirty="0" err="1">
                <a:solidFill>
                  <a:srgbClr val="272525"/>
                </a:solidFill>
                <a:latin typeface="+mn-ea"/>
                <a:cs typeface="Inter" pitchFamily="34" charset="-120"/>
              </a:rPr>
              <a:t>패턴을</a:t>
            </a:r>
            <a:r>
              <a:rPr lang="en-US" dirty="0">
                <a:solidFill>
                  <a:srgbClr val="272525"/>
                </a:solidFill>
                <a:latin typeface="+mn-ea"/>
                <a:cs typeface="Inter" pitchFamily="34" charset="-120"/>
              </a:rPr>
              <a:t> </a:t>
            </a:r>
            <a:r>
              <a:rPr lang="en-US" dirty="0" err="1">
                <a:solidFill>
                  <a:srgbClr val="272525"/>
                </a:solidFill>
                <a:latin typeface="+mn-ea"/>
                <a:cs typeface="Inter" pitchFamily="34" charset="-120"/>
              </a:rPr>
              <a:t>파악</a:t>
            </a:r>
            <a:endParaRPr lang="en-US" dirty="0">
              <a:latin typeface="+mn-ea"/>
            </a:endParaRPr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01CA7C1D-6850-739F-BAC7-49AC225F1ED9}"/>
              </a:ext>
            </a:extLst>
          </p:cNvPr>
          <p:cNvSpPr/>
          <p:nvPr/>
        </p:nvSpPr>
        <p:spPr>
          <a:xfrm>
            <a:off x="1195926" y="4513500"/>
            <a:ext cx="2685098" cy="3355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599"/>
              </a:lnSpc>
            </a:pPr>
            <a:r>
              <a:rPr lang="en-US" altLang="ko-KR" sz="2000" b="1" dirty="0">
                <a:solidFill>
                  <a:srgbClr val="000000"/>
                </a:solidFill>
                <a:latin typeface="+mn-ea"/>
                <a:cs typeface="Inter Bold" pitchFamily="34" charset="-120"/>
              </a:rPr>
              <a:t>&lt;</a:t>
            </a:r>
            <a:r>
              <a:rPr lang="en-US" sz="2000" b="1" dirty="0" err="1">
                <a:solidFill>
                  <a:srgbClr val="000000"/>
                </a:solidFill>
                <a:latin typeface="+mn-ea"/>
                <a:cs typeface="Inter Bold" pitchFamily="34" charset="-120"/>
              </a:rPr>
              <a:t>제품별</a:t>
            </a:r>
            <a:r>
              <a:rPr lang="en-US" sz="2000" b="1" dirty="0">
                <a:solidFill>
                  <a:srgbClr val="000000"/>
                </a:solidFill>
                <a:latin typeface="+mn-ea"/>
                <a:cs typeface="Inter Bold" pitchFamily="34" charset="-120"/>
              </a:rPr>
              <a:t> </a:t>
            </a:r>
            <a:r>
              <a:rPr lang="en-US" sz="2000" b="1" dirty="0" err="1">
                <a:solidFill>
                  <a:srgbClr val="000000"/>
                </a:solidFill>
                <a:latin typeface="+mn-ea"/>
                <a:cs typeface="Inter Bold" pitchFamily="34" charset="-120"/>
              </a:rPr>
              <a:t>분석</a:t>
            </a:r>
            <a:r>
              <a:rPr lang="en-US" altLang="ko-KR" sz="2000" b="1" dirty="0">
                <a:solidFill>
                  <a:srgbClr val="000000"/>
                </a:solidFill>
                <a:latin typeface="+mn-ea"/>
                <a:cs typeface="Inter Bold" pitchFamily="34" charset="-120"/>
              </a:rPr>
              <a:t>&gt;</a:t>
            </a:r>
            <a:endParaRPr lang="en-US" sz="2000" dirty="0">
              <a:latin typeface="+mn-ea"/>
            </a:endParaRPr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BB3097F8-AE42-F313-47D0-2B719F4B92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182" y="4952484"/>
            <a:ext cx="5034869" cy="3003612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B0B54F3C-26DD-1DF7-837D-40A30304FC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11091" y="4960585"/>
            <a:ext cx="5034869" cy="3003611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94F24A58-E910-F16E-3CFC-D1462AAF17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8133" y="4982569"/>
            <a:ext cx="4875311" cy="2908427"/>
          </a:xfrm>
          <a:prstGeom prst="rect">
            <a:avLst/>
          </a:prstGeom>
        </p:spPr>
      </p:pic>
      <p:sp>
        <p:nvSpPr>
          <p:cNvPr id="4" name="TextBox 2">
            <a:extLst>
              <a:ext uri="{FF2B5EF4-FFF2-40B4-BE49-F238E27FC236}">
                <a16:creationId xmlns:a16="http://schemas.microsoft.com/office/drawing/2014/main" id="{EAADD087-1CF7-9A4A-56F5-6C6D85BAFC22}"/>
              </a:ext>
            </a:extLst>
          </p:cNvPr>
          <p:cNvSpPr txBox="1"/>
          <p:nvPr/>
        </p:nvSpPr>
        <p:spPr>
          <a:xfrm>
            <a:off x="1206628" y="2825821"/>
            <a:ext cx="8342372" cy="13968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33"/>
              </a:lnSpc>
            </a:pPr>
            <a:r>
              <a:rPr lang="en-US" altLang="ko-KR" sz="2000" b="1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&lt;</a:t>
            </a:r>
            <a:r>
              <a:rPr lang="ko-KR" altLang="en-US" sz="2000" b="1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데이터 산출 방식</a:t>
            </a:r>
            <a:r>
              <a:rPr lang="en-US" altLang="ko-KR" sz="2000" b="1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&gt;</a:t>
            </a:r>
          </a:p>
          <a:p>
            <a:pPr marL="742950" lvl="1" indent="-285750">
              <a:lnSpc>
                <a:spcPts val="2833"/>
              </a:lnSpc>
              <a:buFont typeface="Arial" panose="020B0604020202020204" pitchFamily="34" charset="0"/>
              <a:buChar char="•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데이터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: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마켓링크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POS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데이터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(2020-2023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년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),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전국 유통 채널 매출 포함</a:t>
            </a:r>
          </a:p>
          <a:p>
            <a:pPr marL="742950" lvl="1" indent="-285750">
              <a:lnSpc>
                <a:spcPts val="2833"/>
              </a:lnSpc>
              <a:buFont typeface="Arial" panose="020B0604020202020204" pitchFamily="34" charset="0"/>
              <a:buChar char="•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계수 산출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: </a:t>
            </a:r>
            <a:r>
              <a:rPr lang="ko-KR" altLang="en-US" spc="-28" dirty="0" err="1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월매출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계수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=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해당 월 매출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÷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연평균 매출</a:t>
            </a:r>
          </a:p>
          <a:p>
            <a:pPr marL="742950" lvl="1" indent="-285750">
              <a:lnSpc>
                <a:spcPts val="2833"/>
              </a:lnSpc>
              <a:buFont typeface="Arial" panose="020B0604020202020204" pitchFamily="34" charset="0"/>
              <a:buChar char="•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최종 계수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: 2020-2023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년 </a:t>
            </a:r>
            <a:r>
              <a:rPr lang="ko-KR" altLang="en-US" spc="-28" dirty="0" err="1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월매출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계수 평균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단일 연도 특이점 상쇄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C57217-D06E-6901-AA60-E9C6D9E38199}"/>
              </a:ext>
            </a:extLst>
          </p:cNvPr>
          <p:cNvSpPr txBox="1"/>
          <p:nvPr/>
        </p:nvSpPr>
        <p:spPr>
          <a:xfrm>
            <a:off x="935181" y="7964196"/>
            <a:ext cx="5283819" cy="17573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lang="ko-KR" altLang="en-US" b="1" dirty="0" err="1">
                <a:latin typeface="+mn-ea"/>
              </a:rPr>
              <a:t>참치캔</a:t>
            </a:r>
            <a:r>
              <a:rPr lang="en-US" altLang="ko-KR" b="1" dirty="0">
                <a:latin typeface="+mn-ea"/>
              </a:rPr>
              <a:t>(</a:t>
            </a:r>
            <a:r>
              <a:rPr lang="ko-KR" altLang="en-US" b="1" dirty="0">
                <a:latin typeface="+mn-ea"/>
              </a:rPr>
              <a:t>동원</a:t>
            </a:r>
            <a:r>
              <a:rPr lang="en-US" altLang="ko-KR" b="1" dirty="0">
                <a:latin typeface="+mn-ea"/>
              </a:rPr>
              <a:t>)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US" altLang="ko-KR" sz="1400" dirty="0">
              <a:latin typeface="+mn-ea"/>
            </a:endParaRPr>
          </a:p>
          <a:p>
            <a:pPr marL="285750" indent="-285750">
              <a:lnSpc>
                <a:spcPts val="2500"/>
              </a:lnSpc>
              <a:buFont typeface="Arial" panose="020B0604020202020204" pitchFamily="34" charset="0"/>
              <a:buChar char="•"/>
            </a:pPr>
            <a:r>
              <a:rPr lang="ko-KR" altLang="en-US" sz="1600" b="1" dirty="0">
                <a:latin typeface="+mn-ea"/>
              </a:rPr>
              <a:t>추세 </a:t>
            </a:r>
            <a:r>
              <a:rPr lang="en-US" altLang="ko-KR" sz="1600" b="1" dirty="0">
                <a:latin typeface="+mn-ea"/>
              </a:rPr>
              <a:t>: </a:t>
            </a:r>
            <a:r>
              <a:rPr lang="en-US" altLang="ko-KR" sz="1600" dirty="0">
                <a:latin typeface="+mn-ea"/>
              </a:rPr>
              <a:t>2020</a:t>
            </a:r>
            <a:r>
              <a:rPr lang="ko-KR" altLang="en-US" sz="1600" dirty="0">
                <a:latin typeface="+mn-ea"/>
              </a:rPr>
              <a:t>년 대비 </a:t>
            </a:r>
            <a:r>
              <a:rPr lang="en-US" altLang="ko-KR" sz="1600" dirty="0">
                <a:latin typeface="+mn-ea"/>
              </a:rPr>
              <a:t>2023</a:t>
            </a:r>
            <a:r>
              <a:rPr lang="ko-KR" altLang="en-US" sz="1600" dirty="0">
                <a:latin typeface="+mn-ea"/>
              </a:rPr>
              <a:t>년 월평균 </a:t>
            </a:r>
            <a:r>
              <a:rPr lang="en-US" altLang="ko-KR" sz="1600" dirty="0">
                <a:latin typeface="+mn-ea"/>
              </a:rPr>
              <a:t>-16% </a:t>
            </a:r>
            <a:r>
              <a:rPr lang="ko-KR" altLang="en-US" sz="1600" dirty="0">
                <a:latin typeface="+mn-ea"/>
              </a:rPr>
              <a:t>소폭 감소</a:t>
            </a:r>
            <a:r>
              <a:rPr lang="en-US" altLang="ko-KR" sz="1600" dirty="0">
                <a:latin typeface="+mn-ea"/>
              </a:rPr>
              <a:t>, </a:t>
            </a:r>
            <a:br>
              <a:rPr lang="en-US" altLang="ko-KR" sz="1600" dirty="0">
                <a:latin typeface="+mn-ea"/>
              </a:rPr>
            </a:br>
            <a:r>
              <a:rPr lang="en-US" altLang="ko-KR" sz="1600" dirty="0">
                <a:latin typeface="+mn-ea"/>
              </a:rPr>
              <a:t>         2022</a:t>
            </a:r>
            <a:r>
              <a:rPr lang="ko-KR" altLang="en-US" sz="1600" dirty="0">
                <a:latin typeface="+mn-ea"/>
              </a:rPr>
              <a:t>년 하반기부터 회복 기미</a:t>
            </a:r>
          </a:p>
          <a:p>
            <a:pPr marL="285750" indent="-285750">
              <a:lnSpc>
                <a:spcPts val="2500"/>
              </a:lnSpc>
              <a:buFont typeface="Arial" panose="020B0604020202020204" pitchFamily="34" charset="0"/>
              <a:buChar char="•"/>
            </a:pPr>
            <a:r>
              <a:rPr lang="ko-KR" altLang="en-US" sz="1600" b="1" dirty="0">
                <a:latin typeface="+mn-ea"/>
              </a:rPr>
              <a:t>계절성 </a:t>
            </a:r>
            <a:r>
              <a:rPr lang="en-US" altLang="ko-KR" sz="1600" b="1" dirty="0">
                <a:latin typeface="+mn-ea"/>
              </a:rPr>
              <a:t>: </a:t>
            </a:r>
            <a:r>
              <a:rPr lang="ko-KR" altLang="en-US" sz="1600" dirty="0">
                <a:latin typeface="+mn-ea"/>
              </a:rPr>
              <a:t>중간 수준 </a:t>
            </a:r>
            <a:r>
              <a:rPr lang="en-US" altLang="ko-KR" sz="1600" dirty="0">
                <a:latin typeface="+mn-ea"/>
              </a:rPr>
              <a:t>(</a:t>
            </a:r>
            <a:r>
              <a:rPr lang="ko-KR" altLang="en-US" sz="1600" dirty="0">
                <a:latin typeface="+mn-ea"/>
              </a:rPr>
              <a:t>연간 매출 진폭 </a:t>
            </a:r>
            <a:r>
              <a:rPr lang="en-US" altLang="ko-KR" sz="1600" dirty="0">
                <a:latin typeface="+mn-ea"/>
              </a:rPr>
              <a:t>1.58</a:t>
            </a:r>
            <a:r>
              <a:rPr lang="ko-KR" altLang="en-US" sz="1600" dirty="0">
                <a:latin typeface="+mn-ea"/>
              </a:rPr>
              <a:t>배</a:t>
            </a:r>
            <a:r>
              <a:rPr lang="en-US" altLang="ko-KR" sz="1600" dirty="0">
                <a:latin typeface="+mn-ea"/>
              </a:rPr>
              <a:t>)</a:t>
            </a:r>
            <a:endParaRPr lang="ko-KR" altLang="en-US" sz="1600" dirty="0">
              <a:latin typeface="+mn-ea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E07B17-9A14-66F7-0E6F-3F5D0052BFFD}"/>
              </a:ext>
            </a:extLst>
          </p:cNvPr>
          <p:cNvSpPr txBox="1"/>
          <p:nvPr/>
        </p:nvSpPr>
        <p:spPr>
          <a:xfrm>
            <a:off x="6828133" y="7964196"/>
            <a:ext cx="5073825" cy="18932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 startAt="2"/>
            </a:pPr>
            <a:r>
              <a:rPr lang="ko-KR" altLang="en-US" b="1" dirty="0" err="1">
                <a:latin typeface="+mn-ea"/>
              </a:rPr>
              <a:t>참치액</a:t>
            </a:r>
            <a:endParaRPr lang="en-US" altLang="ko-KR" b="1" dirty="0">
              <a:latin typeface="+mn-ea"/>
            </a:endParaRPr>
          </a:p>
          <a:p>
            <a:pPr marL="342900" indent="-342900">
              <a:buAutoNum type="arabicPeriod" startAt="2"/>
            </a:pPr>
            <a:endParaRPr lang="en-US" altLang="ko-KR" sz="1400" dirty="0">
              <a:latin typeface="+mn-ea"/>
            </a:endParaRPr>
          </a:p>
          <a:p>
            <a:pPr marL="285750" indent="-285750">
              <a:lnSpc>
                <a:spcPts val="2500"/>
              </a:lnSpc>
              <a:buFont typeface="Arial" panose="020B0604020202020204" pitchFamily="34" charset="0"/>
              <a:buChar char="•"/>
            </a:pPr>
            <a:r>
              <a:rPr lang="ko-KR" altLang="en-US" sz="1600" b="1" dirty="0">
                <a:latin typeface="+mn-ea"/>
              </a:rPr>
              <a:t>추세 </a:t>
            </a:r>
            <a:r>
              <a:rPr lang="en-US" altLang="ko-KR" sz="1600" b="1" dirty="0">
                <a:latin typeface="+mn-ea"/>
              </a:rPr>
              <a:t>: </a:t>
            </a:r>
            <a:r>
              <a:rPr lang="en-US" altLang="ko-KR" sz="1600" dirty="0">
                <a:latin typeface="+mn-ea"/>
              </a:rPr>
              <a:t>2020</a:t>
            </a:r>
            <a:r>
              <a:rPr lang="ko-KR" altLang="en-US" sz="1600" dirty="0">
                <a:latin typeface="+mn-ea"/>
              </a:rPr>
              <a:t>년 대비 </a:t>
            </a:r>
            <a:r>
              <a:rPr lang="en-US" altLang="ko-KR" sz="1600" dirty="0">
                <a:latin typeface="+mn-ea"/>
              </a:rPr>
              <a:t>2023</a:t>
            </a:r>
            <a:r>
              <a:rPr lang="ko-KR" altLang="en-US" sz="1600" dirty="0">
                <a:latin typeface="+mn-ea"/>
              </a:rPr>
              <a:t>년 월평균 </a:t>
            </a:r>
            <a:r>
              <a:rPr lang="en-US" altLang="ko-KR" sz="1600" dirty="0">
                <a:latin typeface="+mn-ea"/>
              </a:rPr>
              <a:t>+8% </a:t>
            </a:r>
            <a:r>
              <a:rPr lang="ko-KR" altLang="en-US" sz="1600" dirty="0">
                <a:latin typeface="+mn-ea"/>
              </a:rPr>
              <a:t>상승 </a:t>
            </a:r>
            <a:br>
              <a:rPr lang="en-US" altLang="ko-KR" sz="1600" dirty="0">
                <a:latin typeface="+mn-ea"/>
              </a:rPr>
            </a:br>
            <a:r>
              <a:rPr lang="en-US" altLang="ko-KR" sz="1600" dirty="0">
                <a:latin typeface="+mn-ea"/>
              </a:rPr>
              <a:t>       → </a:t>
            </a:r>
            <a:r>
              <a:rPr lang="ko-KR" altLang="en-US" sz="1600" dirty="0">
                <a:latin typeface="+mn-ea"/>
              </a:rPr>
              <a:t>가정식 증가 영향</a:t>
            </a:r>
            <a:endParaRPr lang="en-US" altLang="ko-KR" sz="1600" dirty="0">
              <a:latin typeface="+mn-ea"/>
            </a:endParaRPr>
          </a:p>
          <a:p>
            <a:pPr marL="285750" indent="-285750">
              <a:lnSpc>
                <a:spcPts val="2500"/>
              </a:lnSpc>
              <a:buFont typeface="Arial" panose="020B0604020202020204" pitchFamily="34" charset="0"/>
              <a:buChar char="•"/>
            </a:pPr>
            <a:r>
              <a:rPr lang="ko-KR" altLang="en-US" sz="1600" b="1" dirty="0">
                <a:latin typeface="+mn-ea"/>
              </a:rPr>
              <a:t>계절성 </a:t>
            </a:r>
            <a:r>
              <a:rPr lang="en-US" altLang="ko-KR" sz="1600" b="1" dirty="0">
                <a:latin typeface="+mn-ea"/>
              </a:rPr>
              <a:t>: </a:t>
            </a:r>
            <a:r>
              <a:rPr lang="ko-KR" altLang="en-US" sz="1600" dirty="0">
                <a:latin typeface="+mn-ea"/>
              </a:rPr>
              <a:t>매우 강함 </a:t>
            </a:r>
            <a:r>
              <a:rPr lang="en-US" altLang="ko-KR" sz="1600" dirty="0">
                <a:latin typeface="+mn-ea"/>
              </a:rPr>
              <a:t>(</a:t>
            </a:r>
            <a:r>
              <a:rPr lang="ko-KR" altLang="en-US" sz="1600" dirty="0">
                <a:latin typeface="+mn-ea"/>
              </a:rPr>
              <a:t>연간 매출 진폭 </a:t>
            </a:r>
            <a:r>
              <a:rPr lang="en-US" altLang="ko-KR" sz="1600" dirty="0">
                <a:latin typeface="+mn-ea"/>
              </a:rPr>
              <a:t>1.51</a:t>
            </a:r>
            <a:r>
              <a:rPr lang="ko-KR" altLang="en-US" sz="1600" dirty="0">
                <a:latin typeface="+mn-ea"/>
              </a:rPr>
              <a:t>배</a:t>
            </a:r>
            <a:r>
              <a:rPr lang="en-US" altLang="ko-KR" sz="1600" dirty="0">
                <a:latin typeface="+mn-ea"/>
              </a:rPr>
              <a:t>)</a:t>
            </a:r>
          </a:p>
          <a:p>
            <a:pPr marL="285750" indent="-285750">
              <a:lnSpc>
                <a:spcPts val="2500"/>
              </a:lnSpc>
              <a:buFont typeface="Arial" panose="020B0604020202020204" pitchFamily="34" charset="0"/>
              <a:buChar char="•"/>
            </a:pPr>
            <a:r>
              <a:rPr lang="ko-KR" altLang="en-US" sz="1600" b="1" dirty="0">
                <a:latin typeface="+mn-ea"/>
              </a:rPr>
              <a:t>월별 </a:t>
            </a:r>
            <a:r>
              <a:rPr lang="en-US" altLang="ko-KR" sz="1600" b="1" dirty="0">
                <a:latin typeface="+mn-ea"/>
              </a:rPr>
              <a:t>: </a:t>
            </a:r>
            <a:r>
              <a:rPr lang="ko-KR" altLang="en-US" sz="1600" dirty="0">
                <a:latin typeface="+mn-ea"/>
              </a:rPr>
              <a:t>높음 </a:t>
            </a:r>
            <a:r>
              <a:rPr lang="en-US" altLang="ko-KR" sz="1600" dirty="0">
                <a:latin typeface="+mn-ea"/>
              </a:rPr>
              <a:t>- 6</a:t>
            </a:r>
            <a:r>
              <a:rPr lang="ko-KR" altLang="en-US" sz="1600" dirty="0">
                <a:latin typeface="+mn-ea"/>
              </a:rPr>
              <a:t>월</a:t>
            </a:r>
            <a:r>
              <a:rPr lang="en-US" altLang="ko-KR" sz="1600" dirty="0">
                <a:latin typeface="+mn-ea"/>
              </a:rPr>
              <a:t>, 9</a:t>
            </a:r>
            <a:r>
              <a:rPr lang="ko-KR" altLang="en-US" sz="1600" dirty="0">
                <a:latin typeface="+mn-ea"/>
              </a:rPr>
              <a:t>월</a:t>
            </a:r>
            <a:r>
              <a:rPr lang="en-US" altLang="ko-KR" sz="1600" dirty="0">
                <a:latin typeface="+mn-ea"/>
              </a:rPr>
              <a:t>, 12</a:t>
            </a:r>
            <a:r>
              <a:rPr lang="ko-KR" altLang="en-US" sz="1600" dirty="0">
                <a:latin typeface="+mn-ea"/>
              </a:rPr>
              <a:t>월 </a:t>
            </a:r>
            <a:r>
              <a:rPr lang="en-US" altLang="ko-KR" sz="1600" dirty="0">
                <a:latin typeface="+mn-ea"/>
              </a:rPr>
              <a:t>/ </a:t>
            </a:r>
            <a:r>
              <a:rPr lang="ko-KR" altLang="en-US" sz="1600" dirty="0">
                <a:latin typeface="+mn-ea"/>
              </a:rPr>
              <a:t>낮음 </a:t>
            </a:r>
            <a:r>
              <a:rPr lang="en-US" altLang="ko-KR" sz="1600" dirty="0">
                <a:latin typeface="+mn-ea"/>
              </a:rPr>
              <a:t>- 2</a:t>
            </a:r>
            <a:r>
              <a:rPr lang="ko-KR" altLang="en-US" sz="1600" dirty="0">
                <a:latin typeface="+mn-ea"/>
              </a:rPr>
              <a:t>월</a:t>
            </a:r>
            <a:r>
              <a:rPr lang="en-US" altLang="ko-KR" sz="1600" dirty="0">
                <a:latin typeface="+mn-ea"/>
              </a:rPr>
              <a:t>, 10-11</a:t>
            </a:r>
            <a:r>
              <a:rPr lang="ko-KR" altLang="en-US" sz="1600" dirty="0">
                <a:latin typeface="+mn-ea"/>
              </a:rPr>
              <a:t>월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107DF23-9121-C065-B335-3E354EC1E7AC}"/>
              </a:ext>
            </a:extLst>
          </p:cNvPr>
          <p:cNvSpPr txBox="1"/>
          <p:nvPr/>
        </p:nvSpPr>
        <p:spPr>
          <a:xfrm>
            <a:off x="12511091" y="7964196"/>
            <a:ext cx="5073825" cy="18932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 startAt="3"/>
            </a:pPr>
            <a:r>
              <a:rPr lang="ko-KR" altLang="en-US" b="1" dirty="0" err="1">
                <a:latin typeface="+mn-ea"/>
              </a:rPr>
              <a:t>캔햄</a:t>
            </a:r>
            <a:endParaRPr lang="en-US" altLang="ko-KR" b="1" dirty="0">
              <a:latin typeface="+mn-ea"/>
            </a:endParaRPr>
          </a:p>
          <a:p>
            <a:pPr marL="342900" indent="-342900">
              <a:buAutoNum type="arabicPeriod" startAt="3"/>
            </a:pPr>
            <a:endParaRPr lang="en-US" altLang="ko-KR" sz="1400" dirty="0">
              <a:latin typeface="+mn-ea"/>
            </a:endParaRPr>
          </a:p>
          <a:p>
            <a:pPr marL="285750" indent="-285750">
              <a:lnSpc>
                <a:spcPts val="2500"/>
              </a:lnSpc>
              <a:buFont typeface="Arial" panose="020B0604020202020204" pitchFamily="34" charset="0"/>
              <a:buChar char="•"/>
            </a:pPr>
            <a:r>
              <a:rPr lang="ko-KR" altLang="en-US" sz="1600" b="1" dirty="0">
                <a:latin typeface="+mn-ea"/>
              </a:rPr>
              <a:t>추세 </a:t>
            </a:r>
            <a:r>
              <a:rPr lang="en-US" altLang="ko-KR" sz="1600" b="1" dirty="0">
                <a:latin typeface="+mn-ea"/>
              </a:rPr>
              <a:t>: </a:t>
            </a:r>
            <a:r>
              <a:rPr lang="en-US" altLang="ko-KR" sz="1600" dirty="0">
                <a:latin typeface="+mn-ea"/>
              </a:rPr>
              <a:t>2020</a:t>
            </a:r>
            <a:r>
              <a:rPr lang="ko-KR" altLang="en-US" sz="1600" dirty="0">
                <a:latin typeface="+mn-ea"/>
              </a:rPr>
              <a:t>년 대비 </a:t>
            </a:r>
            <a:r>
              <a:rPr lang="en-US" altLang="ko-KR" sz="1600" dirty="0">
                <a:latin typeface="+mn-ea"/>
              </a:rPr>
              <a:t>2023</a:t>
            </a:r>
            <a:r>
              <a:rPr lang="ko-KR" altLang="en-US" sz="1600" dirty="0">
                <a:latin typeface="+mn-ea"/>
              </a:rPr>
              <a:t>년 월평균 </a:t>
            </a:r>
            <a:r>
              <a:rPr lang="en-US" altLang="ko-KR" sz="1600" dirty="0">
                <a:latin typeface="+mn-ea"/>
              </a:rPr>
              <a:t>-25% </a:t>
            </a:r>
            <a:r>
              <a:rPr lang="ko-KR" altLang="en-US" sz="1600" dirty="0">
                <a:latin typeface="+mn-ea"/>
              </a:rPr>
              <a:t>감소</a:t>
            </a:r>
            <a:br>
              <a:rPr lang="en-US" altLang="ko-KR" sz="1600" dirty="0">
                <a:latin typeface="+mn-ea"/>
              </a:rPr>
            </a:br>
            <a:r>
              <a:rPr lang="en-US" altLang="ko-KR" sz="1600" dirty="0">
                <a:latin typeface="+mn-ea"/>
              </a:rPr>
              <a:t>       → </a:t>
            </a:r>
            <a:r>
              <a:rPr lang="ko-KR" altLang="en-US" sz="1600" dirty="0">
                <a:latin typeface="+mn-ea"/>
              </a:rPr>
              <a:t>식생활 변화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경쟁 심화</a:t>
            </a:r>
            <a:endParaRPr lang="en-US" altLang="ko-KR" sz="1600" dirty="0">
              <a:latin typeface="+mn-ea"/>
            </a:endParaRPr>
          </a:p>
          <a:p>
            <a:pPr marL="285750" indent="-285750">
              <a:lnSpc>
                <a:spcPts val="2500"/>
              </a:lnSpc>
              <a:buFont typeface="Arial" panose="020B0604020202020204" pitchFamily="34" charset="0"/>
              <a:buChar char="•"/>
            </a:pPr>
            <a:r>
              <a:rPr lang="ko-KR" altLang="en-US" sz="1600" b="1" dirty="0">
                <a:latin typeface="+mn-ea"/>
              </a:rPr>
              <a:t>계절성 </a:t>
            </a:r>
            <a:r>
              <a:rPr lang="en-US" altLang="ko-KR" sz="1600" b="1" dirty="0">
                <a:latin typeface="+mn-ea"/>
              </a:rPr>
              <a:t>: </a:t>
            </a:r>
            <a:r>
              <a:rPr lang="ko-KR" altLang="en-US" sz="1600" dirty="0">
                <a:latin typeface="+mn-ea"/>
              </a:rPr>
              <a:t>가장 강함 </a:t>
            </a:r>
            <a:r>
              <a:rPr lang="en-US" altLang="ko-KR" sz="1600" dirty="0">
                <a:latin typeface="+mn-ea"/>
              </a:rPr>
              <a:t>(</a:t>
            </a:r>
            <a:r>
              <a:rPr lang="ko-KR" altLang="en-US" sz="1600" dirty="0">
                <a:latin typeface="+mn-ea"/>
              </a:rPr>
              <a:t>연간 매출 진폭 </a:t>
            </a:r>
            <a:r>
              <a:rPr lang="en-US" altLang="ko-KR" sz="1600" dirty="0">
                <a:latin typeface="+mn-ea"/>
              </a:rPr>
              <a:t>1.81</a:t>
            </a:r>
            <a:r>
              <a:rPr lang="ko-KR" altLang="en-US" sz="1600" dirty="0">
                <a:latin typeface="+mn-ea"/>
              </a:rPr>
              <a:t>배</a:t>
            </a:r>
            <a:r>
              <a:rPr lang="en-US" altLang="ko-KR" sz="1600" dirty="0">
                <a:latin typeface="+mn-ea"/>
              </a:rPr>
              <a:t>)</a:t>
            </a:r>
          </a:p>
          <a:p>
            <a:pPr marL="285750" indent="-285750">
              <a:lnSpc>
                <a:spcPts val="2500"/>
              </a:lnSpc>
              <a:buFont typeface="Arial" panose="020B0604020202020204" pitchFamily="34" charset="0"/>
              <a:buChar char="•"/>
            </a:pPr>
            <a:r>
              <a:rPr lang="ko-KR" altLang="en-US" sz="1600" b="1" dirty="0">
                <a:latin typeface="+mn-ea"/>
              </a:rPr>
              <a:t>월별 </a:t>
            </a:r>
            <a:r>
              <a:rPr lang="en-US" altLang="ko-KR" sz="1600" b="1" dirty="0">
                <a:latin typeface="+mn-ea"/>
              </a:rPr>
              <a:t>: </a:t>
            </a:r>
            <a:r>
              <a:rPr lang="ko-KR" altLang="en-US" sz="1600" dirty="0">
                <a:latin typeface="+mn-ea"/>
              </a:rPr>
              <a:t>높음 </a:t>
            </a:r>
            <a:r>
              <a:rPr lang="en-US" altLang="ko-KR" sz="1600" dirty="0">
                <a:latin typeface="+mn-ea"/>
              </a:rPr>
              <a:t>- 6</a:t>
            </a:r>
            <a:r>
              <a:rPr lang="ko-KR" altLang="en-US" sz="1600" dirty="0">
                <a:latin typeface="+mn-ea"/>
              </a:rPr>
              <a:t>월</a:t>
            </a:r>
            <a:r>
              <a:rPr lang="en-US" altLang="ko-KR" sz="1600" dirty="0">
                <a:latin typeface="+mn-ea"/>
              </a:rPr>
              <a:t>, 8</a:t>
            </a:r>
            <a:r>
              <a:rPr lang="ko-KR" altLang="en-US" sz="1600" dirty="0">
                <a:latin typeface="+mn-ea"/>
              </a:rPr>
              <a:t>월</a:t>
            </a:r>
            <a:r>
              <a:rPr lang="en-US" altLang="ko-KR" sz="1600" dirty="0">
                <a:latin typeface="+mn-ea"/>
              </a:rPr>
              <a:t>, 12</a:t>
            </a:r>
            <a:r>
              <a:rPr lang="ko-KR" altLang="en-US" sz="1600" dirty="0">
                <a:latin typeface="+mn-ea"/>
              </a:rPr>
              <a:t>월 </a:t>
            </a:r>
            <a:r>
              <a:rPr lang="en-US" altLang="ko-KR" sz="1600" dirty="0">
                <a:latin typeface="+mn-ea"/>
              </a:rPr>
              <a:t>/ </a:t>
            </a:r>
            <a:r>
              <a:rPr lang="ko-KR" altLang="en-US" sz="1600" dirty="0">
                <a:latin typeface="+mn-ea"/>
              </a:rPr>
              <a:t>낮음 </a:t>
            </a:r>
            <a:r>
              <a:rPr lang="en-US" altLang="ko-KR" sz="1600" dirty="0">
                <a:latin typeface="+mn-ea"/>
              </a:rPr>
              <a:t>- 2</a:t>
            </a:r>
            <a:r>
              <a:rPr lang="ko-KR" altLang="en-US" sz="1600" dirty="0">
                <a:latin typeface="+mn-ea"/>
              </a:rPr>
              <a:t>월</a:t>
            </a:r>
            <a:r>
              <a:rPr lang="en-US" altLang="ko-KR" sz="1600" dirty="0">
                <a:latin typeface="+mn-ea"/>
              </a:rPr>
              <a:t>, 10-11</a:t>
            </a:r>
            <a:r>
              <a:rPr lang="ko-KR" altLang="en-US" sz="1600" dirty="0">
                <a:latin typeface="+mn-ea"/>
              </a:rPr>
              <a:t>월</a:t>
            </a:r>
          </a:p>
        </p:txBody>
      </p:sp>
    </p:spTree>
    <p:extLst>
      <p:ext uri="{BB962C8B-B14F-4D97-AF65-F5344CB8AC3E}">
        <p14:creationId xmlns:p14="http://schemas.microsoft.com/office/powerpoint/2010/main" val="8101115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B0A80C-4DA8-DB74-15C7-8A18310E1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AutoShape 17">
            <a:extLst>
              <a:ext uri="{FF2B5EF4-FFF2-40B4-BE49-F238E27FC236}">
                <a16:creationId xmlns:a16="http://schemas.microsoft.com/office/drawing/2014/main" id="{F650AC71-6DA5-BC16-7592-8FDE9E9D3EEA}"/>
              </a:ext>
            </a:extLst>
          </p:cNvPr>
          <p:cNvSpPr/>
          <p:nvPr/>
        </p:nvSpPr>
        <p:spPr>
          <a:xfrm>
            <a:off x="3923999" y="1074277"/>
            <a:ext cx="13446991" cy="0"/>
          </a:xfrm>
          <a:prstGeom prst="line">
            <a:avLst/>
          </a:prstGeom>
          <a:ln w="952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8BD19F59-92F5-211A-D9D8-9F22337E6ED5}"/>
              </a:ext>
            </a:extLst>
          </p:cNvPr>
          <p:cNvSpPr txBox="1"/>
          <p:nvPr/>
        </p:nvSpPr>
        <p:spPr>
          <a:xfrm>
            <a:off x="1197103" y="795626"/>
            <a:ext cx="3736349" cy="513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329"/>
              </a:lnSpc>
            </a:pPr>
            <a:r>
              <a:rPr lang="ko-KR" altLang="en-US" sz="3092" b="1" spc="-19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외생 변수 가공</a:t>
            </a:r>
          </a:p>
        </p:txBody>
      </p:sp>
      <p:sp>
        <p:nvSpPr>
          <p:cNvPr id="39" name="TextBox 12">
            <a:extLst>
              <a:ext uri="{FF2B5EF4-FFF2-40B4-BE49-F238E27FC236}">
                <a16:creationId xmlns:a16="http://schemas.microsoft.com/office/drawing/2014/main" id="{86A0893C-BFCA-539D-6EB7-CD4AB8C09929}"/>
              </a:ext>
            </a:extLst>
          </p:cNvPr>
          <p:cNvSpPr txBox="1"/>
          <p:nvPr/>
        </p:nvSpPr>
        <p:spPr>
          <a:xfrm>
            <a:off x="11574000" y="547028"/>
            <a:ext cx="5796991" cy="4678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3935"/>
              </a:lnSpc>
              <a:spcBef>
                <a:spcPct val="0"/>
              </a:spcBef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Part 2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– </a:t>
            </a:r>
            <a:r>
              <a:rPr lang="ko-KR" alt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데이터 분석</a:t>
            </a:r>
            <a:endParaRPr lang="en-US" sz="2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  <a:cs typeface="Telegraf"/>
              <a:sym typeface="Telegraf"/>
            </a:endParaRPr>
          </a:p>
        </p:txBody>
      </p:sp>
      <p:sp>
        <p:nvSpPr>
          <p:cNvPr id="4" name="TextBox 2">
            <a:extLst>
              <a:ext uri="{FF2B5EF4-FFF2-40B4-BE49-F238E27FC236}">
                <a16:creationId xmlns:a16="http://schemas.microsoft.com/office/drawing/2014/main" id="{24634D30-191B-7444-5FD6-95F352798B86}"/>
              </a:ext>
            </a:extLst>
          </p:cNvPr>
          <p:cNvSpPr txBox="1"/>
          <p:nvPr/>
        </p:nvSpPr>
        <p:spPr>
          <a:xfrm>
            <a:off x="1206628" y="2350463"/>
            <a:ext cx="8342372" cy="31944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33"/>
              </a:lnSpc>
            </a:pPr>
            <a:r>
              <a:rPr lang="en-US" altLang="ko-KR" b="1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&lt;</a:t>
            </a:r>
            <a:r>
              <a:rPr lang="ko-KR" altLang="en-US" b="1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상관관계 분석</a:t>
            </a:r>
            <a:r>
              <a:rPr lang="en-US" altLang="ko-KR" b="1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&gt;</a:t>
            </a:r>
          </a:p>
          <a:p>
            <a:pPr marL="285750" indent="-285750" algn="l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네이버 </a:t>
            </a:r>
            <a:r>
              <a:rPr lang="ko-KR" altLang="en-US" spc="-28" dirty="0" err="1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데이터랩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API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를 이용한 </a:t>
            </a:r>
            <a:r>
              <a:rPr lang="ko-KR" altLang="en-US" spc="-28" dirty="0" err="1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검색량과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식품산업통계 매출 상관 관계를 분석</a:t>
            </a: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285750" indent="-285750" algn="l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전체적인 상관관계는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0.2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수준으로 높지 않으나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프로모션 방식에 따라 매출과 선행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혹은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</a:t>
            </a:r>
            <a:r>
              <a:rPr lang="ko-KR" altLang="en-US" spc="-28" dirty="0" err="1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후행적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상관 관계가 있는 것으로 추정</a:t>
            </a: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285750" indent="-285750" algn="l">
              <a:lnSpc>
                <a:spcPts val="2833"/>
              </a:lnSpc>
              <a:buFontTx/>
              <a:buChar char="-"/>
            </a:pP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algn="l">
              <a:lnSpc>
                <a:spcPts val="2833"/>
              </a:lnSpc>
            </a:pPr>
            <a:r>
              <a:rPr lang="en-US" altLang="ko-KR" b="1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&lt;</a:t>
            </a:r>
            <a:r>
              <a:rPr lang="ko-KR" altLang="en-US" b="1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검색 트랜드</a:t>
            </a:r>
            <a:r>
              <a:rPr lang="en-US" altLang="ko-KR" b="1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&gt;</a:t>
            </a:r>
          </a:p>
          <a:p>
            <a:pPr marL="285750" indent="-285750" algn="l">
              <a:lnSpc>
                <a:spcPts val="2833"/>
              </a:lnSpc>
              <a:buFontTx/>
              <a:buChar char="-"/>
            </a:pPr>
            <a:r>
              <a:rPr 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24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년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8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월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pc="-28" dirty="0" err="1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맛참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</a:t>
            </a:r>
            <a:r>
              <a:rPr lang="ko-KR" altLang="en-US" spc="-28" dirty="0" err="1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검색량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급등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(TV PPL,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추석 선물세트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바이럴 광고 추정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)</a:t>
            </a:r>
          </a:p>
          <a:p>
            <a:pPr marL="285750" indent="-285750" algn="l">
              <a:lnSpc>
                <a:spcPts val="2833"/>
              </a:lnSpc>
              <a:buFontTx/>
              <a:buChar char="-"/>
            </a:pPr>
            <a:r>
              <a:rPr lang="ko-KR" altLang="en-US" spc="-28" dirty="0" err="1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하이그릭요거트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pc="-28" dirty="0" err="1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리챔오믈레햄의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출시 이후 </a:t>
            </a:r>
            <a:r>
              <a:rPr lang="ko-KR" altLang="en-US" spc="-28" dirty="0" err="1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검색량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발생</a:t>
            </a: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285750" indent="-285750" algn="l">
              <a:lnSpc>
                <a:spcPts val="2833"/>
              </a:lnSpc>
              <a:buFontTx/>
              <a:buChar char="-"/>
            </a:pPr>
            <a:r>
              <a:rPr lang="ko-KR" altLang="en-US" spc="-28" dirty="0" err="1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소잘라떼는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긴 제품명으로 직접적인 </a:t>
            </a:r>
            <a:r>
              <a:rPr lang="ko-KR" altLang="en-US" spc="-28" dirty="0" err="1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검색량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측정이 어려움</a:t>
            </a:r>
            <a:endParaRPr lang="en-US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B23F9734-2098-F320-CD09-944506B77462}"/>
              </a:ext>
            </a:extLst>
          </p:cNvPr>
          <p:cNvSpPr txBox="1"/>
          <p:nvPr/>
        </p:nvSpPr>
        <p:spPr>
          <a:xfrm>
            <a:off x="1206628" y="1813500"/>
            <a:ext cx="4516269" cy="371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8"/>
              </a:lnSpc>
              <a:spcBef>
                <a:spcPct val="0"/>
              </a:spcBef>
            </a:pPr>
            <a:r>
              <a:rPr lang="ko-KR" altLang="en-US" sz="2400" b="1" spc="-123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네이버 검색 트랜드</a:t>
            </a:r>
            <a:endParaRPr lang="en-US" sz="2400" b="1" spc="-123" dirty="0">
              <a:solidFill>
                <a:srgbClr val="000000"/>
              </a:solidFill>
              <a:latin typeface="+mn-ea"/>
              <a:cs typeface="Source Han Sans KR Medium"/>
              <a:sym typeface="Source Han Sans KR Medium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FDA2E903-510A-90F4-87EA-687CD16CA4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000" y="6088500"/>
            <a:ext cx="8704275" cy="3588862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E657D792-CDFA-67A2-B7C2-04E1618C80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9000" y="2353500"/>
            <a:ext cx="8135254" cy="6840000"/>
          </a:xfrm>
          <a:prstGeom prst="rect">
            <a:avLst/>
          </a:prstGeom>
        </p:spPr>
      </p:pic>
      <p:sp>
        <p:nvSpPr>
          <p:cNvPr id="15" name="타원 14">
            <a:extLst>
              <a:ext uri="{FF2B5EF4-FFF2-40B4-BE49-F238E27FC236}">
                <a16:creationId xmlns:a16="http://schemas.microsoft.com/office/drawing/2014/main" id="{8434F436-EB7D-39B6-54A4-5D3BCFFD06A0}"/>
              </a:ext>
            </a:extLst>
          </p:cNvPr>
          <p:cNvSpPr/>
          <p:nvPr/>
        </p:nvSpPr>
        <p:spPr>
          <a:xfrm>
            <a:off x="2889000" y="6673500"/>
            <a:ext cx="810000" cy="810000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F321A03C-A0F1-032E-8FD9-94C4923E8AF1}"/>
              </a:ext>
            </a:extLst>
          </p:cNvPr>
          <p:cNvSpPr/>
          <p:nvPr/>
        </p:nvSpPr>
        <p:spPr>
          <a:xfrm>
            <a:off x="3699000" y="6673500"/>
            <a:ext cx="810000" cy="810000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8A284531-3FC8-F607-F27D-BF8B5D1ED559}"/>
              </a:ext>
            </a:extLst>
          </p:cNvPr>
          <p:cNvSpPr/>
          <p:nvPr/>
        </p:nvSpPr>
        <p:spPr>
          <a:xfrm>
            <a:off x="5409000" y="6538500"/>
            <a:ext cx="810000" cy="810000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3AF40B31-F84F-B79F-C59F-5C4A2CBC1BD2}"/>
              </a:ext>
            </a:extLst>
          </p:cNvPr>
          <p:cNvSpPr/>
          <p:nvPr/>
        </p:nvSpPr>
        <p:spPr>
          <a:xfrm>
            <a:off x="6309000" y="6403500"/>
            <a:ext cx="810000" cy="810000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B86FCB92-74C5-31F5-7B95-C719EE73991C}"/>
              </a:ext>
            </a:extLst>
          </p:cNvPr>
          <p:cNvSpPr/>
          <p:nvPr/>
        </p:nvSpPr>
        <p:spPr>
          <a:xfrm>
            <a:off x="8019000" y="6448500"/>
            <a:ext cx="1035000" cy="1305000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39495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9EC86-FAE9-F66B-0DDA-CA3D8FA157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1">
            <a:extLst>
              <a:ext uri="{FF2B5EF4-FFF2-40B4-BE49-F238E27FC236}">
                <a16:creationId xmlns:a16="http://schemas.microsoft.com/office/drawing/2014/main" id="{C7463F9E-E043-A325-1394-FD71D61767E2}"/>
              </a:ext>
            </a:extLst>
          </p:cNvPr>
          <p:cNvSpPr txBox="1"/>
          <p:nvPr/>
        </p:nvSpPr>
        <p:spPr>
          <a:xfrm>
            <a:off x="1183714" y="6035503"/>
            <a:ext cx="5608040" cy="23614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74"/>
              </a:lnSpc>
            </a:pPr>
            <a:r>
              <a:rPr lang="ko-KR" altLang="en-US" sz="8000" b="1" spc="-61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페르소나</a:t>
            </a:r>
            <a:endParaRPr lang="en-US" altLang="ko-KR" sz="8000" b="1" spc="-617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  <a:p>
            <a:pPr algn="l">
              <a:lnSpc>
                <a:spcPts val="9674"/>
              </a:lnSpc>
            </a:pPr>
            <a:r>
              <a:rPr lang="ko-KR" altLang="en-US" sz="6600" b="1" spc="-61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시뮬레이션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D5B02A83-C67C-F16D-F02B-BF2CD87AA85B}"/>
              </a:ext>
            </a:extLst>
          </p:cNvPr>
          <p:cNvSpPr txBox="1"/>
          <p:nvPr/>
        </p:nvSpPr>
        <p:spPr>
          <a:xfrm>
            <a:off x="1299068" y="5101802"/>
            <a:ext cx="1267504" cy="4564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935"/>
              </a:lnSpc>
              <a:spcBef>
                <a:spcPct val="0"/>
              </a:spcBef>
            </a:pPr>
            <a:r>
              <a:rPr lang="en-US" sz="2811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Part </a:t>
            </a:r>
            <a:r>
              <a:rPr lang="en-US" altLang="ko-KR" sz="2811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3</a:t>
            </a:r>
            <a:endParaRPr lang="en-US" sz="2811" dirty="0">
              <a:solidFill>
                <a:srgbClr val="000000"/>
              </a:solidFill>
              <a:latin typeface="+mn-ea"/>
              <a:cs typeface="Telegraf"/>
              <a:sym typeface="Telegraf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8732C2AD-04F9-F7F5-52D3-CBED474D675C}"/>
              </a:ext>
            </a:extLst>
          </p:cNvPr>
          <p:cNvSpPr/>
          <p:nvPr/>
        </p:nvSpPr>
        <p:spPr>
          <a:xfrm>
            <a:off x="14454000" y="-11033"/>
            <a:ext cx="3834000" cy="4368922"/>
          </a:xfrm>
          <a:prstGeom prst="rect">
            <a:avLst/>
          </a:prstGeom>
          <a:solidFill>
            <a:srgbClr val="1319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DDE4D645-6389-C7AB-1207-3A73294980EC}"/>
              </a:ext>
            </a:extLst>
          </p:cNvPr>
          <p:cNvGrpSpPr/>
          <p:nvPr/>
        </p:nvGrpSpPr>
        <p:grpSpPr>
          <a:xfrm>
            <a:off x="0" y="-11033"/>
            <a:ext cx="14544000" cy="4368922"/>
            <a:chOff x="0" y="-11033"/>
            <a:chExt cx="14544000" cy="4368922"/>
          </a:xfrm>
        </p:grpSpPr>
        <p:pic>
          <p:nvPicPr>
            <p:cNvPr id="3074" name="Picture 2">
              <a:extLst>
                <a:ext uri="{FF2B5EF4-FFF2-40B4-BE49-F238E27FC236}">
                  <a16:creationId xmlns:a16="http://schemas.microsoft.com/office/drawing/2014/main" id="{CD24626C-E874-799D-1019-4DBF458EFBA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3992" b="15424"/>
            <a:stretch>
              <a:fillRect/>
            </a:stretch>
          </p:blipFill>
          <p:spPr bwMode="auto">
            <a:xfrm>
              <a:off x="3744000" y="-4281"/>
              <a:ext cx="10800000" cy="43621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C7232430-0AA8-90D7-0DA0-C5C2DCDE04FF}"/>
                </a:ext>
              </a:extLst>
            </p:cNvPr>
            <p:cNvSpPr/>
            <p:nvPr/>
          </p:nvSpPr>
          <p:spPr>
            <a:xfrm>
              <a:off x="0" y="-11033"/>
              <a:ext cx="3834000" cy="4368922"/>
            </a:xfrm>
            <a:prstGeom prst="rect">
              <a:avLst/>
            </a:prstGeom>
            <a:gradFill flip="none" rotWithShape="1">
              <a:gsLst>
                <a:gs pos="56084">
                  <a:srgbClr val="1A3F6B"/>
                </a:gs>
                <a:gs pos="31746">
                  <a:srgbClr val="194470"/>
                </a:gs>
                <a:gs pos="0">
                  <a:srgbClr val="325880"/>
                </a:gs>
                <a:gs pos="74000">
                  <a:srgbClr val="153B60"/>
                </a:gs>
                <a:gs pos="83000">
                  <a:srgbClr val="193356"/>
                </a:gs>
                <a:gs pos="100000">
                  <a:srgbClr val="132A49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9" name="TextBox 5">
            <a:extLst>
              <a:ext uri="{FF2B5EF4-FFF2-40B4-BE49-F238E27FC236}">
                <a16:creationId xmlns:a16="http://schemas.microsoft.com/office/drawing/2014/main" id="{E0F0FA35-8BA6-84FD-4497-7F13050417AC}"/>
              </a:ext>
            </a:extLst>
          </p:cNvPr>
          <p:cNvSpPr txBox="1"/>
          <p:nvPr/>
        </p:nvSpPr>
        <p:spPr>
          <a:xfrm>
            <a:off x="8064000" y="6742688"/>
            <a:ext cx="2598180" cy="11228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>
              <a:lnSpc>
                <a:spcPts val="3132"/>
              </a:lnSpc>
              <a:spcBef>
                <a:spcPct val="0"/>
              </a:spcBef>
            </a:pPr>
            <a:r>
              <a:rPr lang="ko-KR" altLang="en-US" sz="2000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프롬프트</a:t>
            </a:r>
            <a:endParaRPr lang="en-US" altLang="ko-KR" sz="2000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  <a:p>
            <a:pPr lvl="0">
              <a:lnSpc>
                <a:spcPts val="3132"/>
              </a:lnSpc>
              <a:spcBef>
                <a:spcPct val="0"/>
              </a:spcBef>
            </a:pPr>
            <a:r>
              <a:rPr lang="ko-KR" altLang="en-US" sz="2000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엔지니어링</a:t>
            </a:r>
            <a:endParaRPr lang="en-US" altLang="ko-KR" sz="2000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  <a:p>
            <a:pPr marL="0" lvl="0" indent="0" algn="l">
              <a:lnSpc>
                <a:spcPts val="2757"/>
              </a:lnSpc>
              <a:spcBef>
                <a:spcPct val="0"/>
              </a:spcBef>
            </a:pPr>
            <a:endParaRPr lang="en-US" sz="2000" b="1" spc="-7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20" name="TextBox 6">
            <a:extLst>
              <a:ext uri="{FF2B5EF4-FFF2-40B4-BE49-F238E27FC236}">
                <a16:creationId xmlns:a16="http://schemas.microsoft.com/office/drawing/2014/main" id="{B579F4BF-B9CE-0543-83FB-423610C72194}"/>
              </a:ext>
            </a:extLst>
          </p:cNvPr>
          <p:cNvSpPr txBox="1"/>
          <p:nvPr/>
        </p:nvSpPr>
        <p:spPr>
          <a:xfrm>
            <a:off x="5916826" y="6742688"/>
            <a:ext cx="1540397" cy="7516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ts val="3132"/>
              </a:lnSpc>
              <a:spcBef>
                <a:spcPct val="0"/>
              </a:spcBef>
            </a:pPr>
            <a:r>
              <a:rPr lang="ko-KR" altLang="en-US" sz="2000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시뮬레이션</a:t>
            </a:r>
            <a:endParaRPr lang="en-US" altLang="ko-KR" sz="2000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  <a:p>
            <a:pPr lvl="0">
              <a:lnSpc>
                <a:spcPts val="3132"/>
              </a:lnSpc>
              <a:spcBef>
                <a:spcPct val="0"/>
              </a:spcBef>
            </a:pPr>
            <a:r>
              <a:rPr lang="ko-KR" altLang="en-US" sz="2000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계획</a:t>
            </a:r>
            <a:endParaRPr lang="en-US" altLang="ko-KR" sz="2000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21" name="TextBox 7">
            <a:extLst>
              <a:ext uri="{FF2B5EF4-FFF2-40B4-BE49-F238E27FC236}">
                <a16:creationId xmlns:a16="http://schemas.microsoft.com/office/drawing/2014/main" id="{23384FA4-0E42-CEFB-2B8E-82D33A4FBC52}"/>
              </a:ext>
            </a:extLst>
          </p:cNvPr>
          <p:cNvSpPr txBox="1"/>
          <p:nvPr/>
        </p:nvSpPr>
        <p:spPr>
          <a:xfrm>
            <a:off x="10154632" y="6742688"/>
            <a:ext cx="1537052" cy="7516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ts val="3132"/>
              </a:lnSpc>
              <a:spcBef>
                <a:spcPct val="0"/>
              </a:spcBef>
            </a:pPr>
            <a:r>
              <a:rPr lang="ko-KR" altLang="en-US" sz="2000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페르소나</a:t>
            </a:r>
            <a:endParaRPr lang="en-US" altLang="ko-KR" sz="2000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  <a:p>
            <a:pPr lvl="0">
              <a:lnSpc>
                <a:spcPts val="3132"/>
              </a:lnSpc>
              <a:spcBef>
                <a:spcPct val="0"/>
              </a:spcBef>
            </a:pPr>
            <a:r>
              <a:rPr lang="ko-KR" altLang="en-US" sz="2000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생성</a:t>
            </a:r>
            <a:endParaRPr lang="en-US" altLang="ko-KR" sz="2000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22" name="AutoShape 8">
            <a:extLst>
              <a:ext uri="{FF2B5EF4-FFF2-40B4-BE49-F238E27FC236}">
                <a16:creationId xmlns:a16="http://schemas.microsoft.com/office/drawing/2014/main" id="{50A63C82-9134-0630-E1A0-8AF12ED90A9B}"/>
              </a:ext>
            </a:extLst>
          </p:cNvPr>
          <p:cNvSpPr/>
          <p:nvPr/>
        </p:nvSpPr>
        <p:spPr>
          <a:xfrm>
            <a:off x="7517113" y="6320010"/>
            <a:ext cx="0" cy="1174294"/>
          </a:xfrm>
          <a:prstGeom prst="line">
            <a:avLst/>
          </a:prstGeom>
          <a:ln w="9525" cap="flat">
            <a:solidFill>
              <a:srgbClr val="DFDFD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3" name="AutoShape 9">
            <a:extLst>
              <a:ext uri="{FF2B5EF4-FFF2-40B4-BE49-F238E27FC236}">
                <a16:creationId xmlns:a16="http://schemas.microsoft.com/office/drawing/2014/main" id="{7333041C-178B-5681-2797-93D5BEB51168}"/>
              </a:ext>
            </a:extLst>
          </p:cNvPr>
          <p:cNvSpPr/>
          <p:nvPr/>
        </p:nvSpPr>
        <p:spPr>
          <a:xfrm>
            <a:off x="9604398" y="6320010"/>
            <a:ext cx="0" cy="1174294"/>
          </a:xfrm>
          <a:prstGeom prst="line">
            <a:avLst/>
          </a:prstGeom>
          <a:ln w="9525" cap="flat">
            <a:solidFill>
              <a:srgbClr val="DFDFD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4" name="AutoShape 10">
            <a:extLst>
              <a:ext uri="{FF2B5EF4-FFF2-40B4-BE49-F238E27FC236}">
                <a16:creationId xmlns:a16="http://schemas.microsoft.com/office/drawing/2014/main" id="{BD0098F1-A136-F4B2-46D7-2C0DA9299659}"/>
              </a:ext>
            </a:extLst>
          </p:cNvPr>
          <p:cNvSpPr/>
          <p:nvPr/>
        </p:nvSpPr>
        <p:spPr>
          <a:xfrm>
            <a:off x="11694905" y="6320010"/>
            <a:ext cx="0" cy="1174294"/>
          </a:xfrm>
          <a:prstGeom prst="line">
            <a:avLst/>
          </a:prstGeom>
          <a:ln w="9525" cap="flat">
            <a:solidFill>
              <a:srgbClr val="DFDFD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5" name="TextBox 13">
            <a:extLst>
              <a:ext uri="{FF2B5EF4-FFF2-40B4-BE49-F238E27FC236}">
                <a16:creationId xmlns:a16="http://schemas.microsoft.com/office/drawing/2014/main" id="{400FCF7B-87F4-ADF1-A06D-9D46CD1A0981}"/>
              </a:ext>
            </a:extLst>
          </p:cNvPr>
          <p:cNvSpPr txBox="1"/>
          <p:nvPr/>
        </p:nvSpPr>
        <p:spPr>
          <a:xfrm>
            <a:off x="8064000" y="6253335"/>
            <a:ext cx="874928" cy="3501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956"/>
              </a:lnSpc>
              <a:spcBef>
                <a:spcPct val="0"/>
              </a:spcBef>
            </a:pPr>
            <a:r>
              <a:rPr lang="en-US" altLang="ko-KR" sz="2000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3</a:t>
            </a:r>
            <a:r>
              <a:rPr lang="en-US" sz="2000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-2</a:t>
            </a:r>
          </a:p>
        </p:txBody>
      </p:sp>
      <p:sp>
        <p:nvSpPr>
          <p:cNvPr id="26" name="TextBox 14">
            <a:extLst>
              <a:ext uri="{FF2B5EF4-FFF2-40B4-BE49-F238E27FC236}">
                <a16:creationId xmlns:a16="http://schemas.microsoft.com/office/drawing/2014/main" id="{B6364D96-A762-BCA9-DED5-423C4E7B0342}"/>
              </a:ext>
            </a:extLst>
          </p:cNvPr>
          <p:cNvSpPr txBox="1"/>
          <p:nvPr/>
        </p:nvSpPr>
        <p:spPr>
          <a:xfrm>
            <a:off x="5916826" y="6253335"/>
            <a:ext cx="874928" cy="3501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956"/>
              </a:lnSpc>
              <a:spcBef>
                <a:spcPct val="0"/>
              </a:spcBef>
            </a:pPr>
            <a:r>
              <a:rPr lang="en-US" altLang="ko-KR" sz="2000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3</a:t>
            </a:r>
            <a:r>
              <a:rPr lang="en-US" sz="2000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-1</a:t>
            </a:r>
          </a:p>
        </p:txBody>
      </p:sp>
      <p:sp>
        <p:nvSpPr>
          <p:cNvPr id="27" name="TextBox 15">
            <a:extLst>
              <a:ext uri="{FF2B5EF4-FFF2-40B4-BE49-F238E27FC236}">
                <a16:creationId xmlns:a16="http://schemas.microsoft.com/office/drawing/2014/main" id="{16F71CAD-0844-FAC1-0438-495466329D6F}"/>
              </a:ext>
            </a:extLst>
          </p:cNvPr>
          <p:cNvSpPr txBox="1"/>
          <p:nvPr/>
        </p:nvSpPr>
        <p:spPr>
          <a:xfrm>
            <a:off x="10154631" y="6253335"/>
            <a:ext cx="873479" cy="3501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956"/>
              </a:lnSpc>
              <a:spcBef>
                <a:spcPct val="0"/>
              </a:spcBef>
            </a:pPr>
            <a:r>
              <a:rPr lang="en-US" altLang="ko-KR" sz="2000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3</a:t>
            </a:r>
            <a:r>
              <a:rPr lang="en-US" sz="2000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-3</a:t>
            </a:r>
          </a:p>
        </p:txBody>
      </p:sp>
      <p:sp>
        <p:nvSpPr>
          <p:cNvPr id="31" name="TextBox 16">
            <a:extLst>
              <a:ext uri="{FF2B5EF4-FFF2-40B4-BE49-F238E27FC236}">
                <a16:creationId xmlns:a16="http://schemas.microsoft.com/office/drawing/2014/main" id="{21183223-B137-29BB-7AB0-F7936238D6E5}"/>
              </a:ext>
            </a:extLst>
          </p:cNvPr>
          <p:cNvSpPr txBox="1"/>
          <p:nvPr/>
        </p:nvSpPr>
        <p:spPr>
          <a:xfrm>
            <a:off x="12243813" y="6742688"/>
            <a:ext cx="1273345" cy="112280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ts val="3132"/>
              </a:lnSpc>
              <a:spcBef>
                <a:spcPct val="0"/>
              </a:spcBef>
            </a:pPr>
            <a:r>
              <a:rPr lang="ko-KR" altLang="en-US" sz="2000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예측 </a:t>
            </a:r>
            <a:endParaRPr lang="en-US" altLang="ko-KR" sz="2000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  <a:p>
            <a:pPr lvl="0">
              <a:lnSpc>
                <a:spcPts val="3132"/>
              </a:lnSpc>
              <a:spcBef>
                <a:spcPct val="0"/>
              </a:spcBef>
            </a:pPr>
            <a:r>
              <a:rPr lang="ko-KR" altLang="en-US" sz="2000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시뮬레이션</a:t>
            </a:r>
            <a:endParaRPr lang="en-US" altLang="ko-KR" sz="2000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  <a:p>
            <a:pPr marL="0" lvl="0" indent="0" algn="l">
              <a:lnSpc>
                <a:spcPts val="2757"/>
              </a:lnSpc>
              <a:spcBef>
                <a:spcPct val="0"/>
              </a:spcBef>
            </a:pPr>
            <a:endParaRPr lang="en-US" sz="2000" b="1" spc="-7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32" name="TextBox 17">
            <a:extLst>
              <a:ext uri="{FF2B5EF4-FFF2-40B4-BE49-F238E27FC236}">
                <a16:creationId xmlns:a16="http://schemas.microsoft.com/office/drawing/2014/main" id="{412683F3-A928-3C41-0AFE-63170F1A2D49}"/>
              </a:ext>
            </a:extLst>
          </p:cNvPr>
          <p:cNvSpPr txBox="1"/>
          <p:nvPr/>
        </p:nvSpPr>
        <p:spPr>
          <a:xfrm>
            <a:off x="12243813" y="6253335"/>
            <a:ext cx="1024538" cy="3501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956"/>
              </a:lnSpc>
              <a:spcBef>
                <a:spcPct val="0"/>
              </a:spcBef>
            </a:pPr>
            <a:r>
              <a:rPr lang="en-US" altLang="ko-KR" sz="2000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3</a:t>
            </a:r>
            <a:r>
              <a:rPr lang="en-US" sz="2000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-4</a:t>
            </a:r>
          </a:p>
        </p:txBody>
      </p:sp>
      <p:sp>
        <p:nvSpPr>
          <p:cNvPr id="33" name="AutoShape 10">
            <a:extLst>
              <a:ext uri="{FF2B5EF4-FFF2-40B4-BE49-F238E27FC236}">
                <a16:creationId xmlns:a16="http://schemas.microsoft.com/office/drawing/2014/main" id="{C498D18D-47E0-D851-0239-1E503B5112BA}"/>
              </a:ext>
            </a:extLst>
          </p:cNvPr>
          <p:cNvSpPr/>
          <p:nvPr/>
        </p:nvSpPr>
        <p:spPr>
          <a:xfrm>
            <a:off x="13869385" y="6320010"/>
            <a:ext cx="0" cy="1174294"/>
          </a:xfrm>
          <a:prstGeom prst="line">
            <a:avLst/>
          </a:prstGeom>
          <a:ln w="9525" cap="flat">
            <a:solidFill>
              <a:srgbClr val="DFDFD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4" name="TextBox 16">
            <a:extLst>
              <a:ext uri="{FF2B5EF4-FFF2-40B4-BE49-F238E27FC236}">
                <a16:creationId xmlns:a16="http://schemas.microsoft.com/office/drawing/2014/main" id="{2099EB8F-B5E4-81B4-285F-6128AE0E0D7E}"/>
              </a:ext>
            </a:extLst>
          </p:cNvPr>
          <p:cNvSpPr txBox="1"/>
          <p:nvPr/>
        </p:nvSpPr>
        <p:spPr>
          <a:xfrm>
            <a:off x="14311221" y="6742688"/>
            <a:ext cx="1731814" cy="3606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ts val="3132"/>
              </a:lnSpc>
              <a:spcBef>
                <a:spcPct val="0"/>
              </a:spcBef>
            </a:pPr>
            <a:r>
              <a:rPr lang="ko-KR" altLang="en-US" sz="2000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평가 및 검증</a:t>
            </a:r>
            <a:endParaRPr lang="en-US" altLang="ko-KR" sz="2000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35" name="TextBox 17">
            <a:extLst>
              <a:ext uri="{FF2B5EF4-FFF2-40B4-BE49-F238E27FC236}">
                <a16:creationId xmlns:a16="http://schemas.microsoft.com/office/drawing/2014/main" id="{3C4E7360-B7B9-AC19-47B5-1277C265919A}"/>
              </a:ext>
            </a:extLst>
          </p:cNvPr>
          <p:cNvSpPr txBox="1"/>
          <p:nvPr/>
        </p:nvSpPr>
        <p:spPr>
          <a:xfrm>
            <a:off x="14418293" y="6253335"/>
            <a:ext cx="1024538" cy="3501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956"/>
              </a:lnSpc>
              <a:spcBef>
                <a:spcPct val="0"/>
              </a:spcBef>
            </a:pPr>
            <a:r>
              <a:rPr lang="en-US" altLang="ko-KR" sz="2000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3</a:t>
            </a:r>
            <a:r>
              <a:rPr lang="en-US" sz="2000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-</a:t>
            </a:r>
            <a:r>
              <a:rPr lang="en-US" altLang="ko-KR" sz="2000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5</a:t>
            </a:r>
            <a:endParaRPr lang="en-US" sz="2000" dirty="0">
              <a:solidFill>
                <a:srgbClr val="000000"/>
              </a:solidFill>
              <a:latin typeface="+mn-ea"/>
              <a:cs typeface="Telegraf"/>
              <a:sym typeface="Telegraf"/>
            </a:endParaRPr>
          </a:p>
        </p:txBody>
      </p:sp>
    </p:spTree>
    <p:extLst>
      <p:ext uri="{BB962C8B-B14F-4D97-AF65-F5344CB8AC3E}">
        <p14:creationId xmlns:p14="http://schemas.microsoft.com/office/powerpoint/2010/main" val="523239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C6768-CF18-77AD-61C1-BE487011F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화살표: 오른쪽 96">
            <a:extLst>
              <a:ext uri="{FF2B5EF4-FFF2-40B4-BE49-F238E27FC236}">
                <a16:creationId xmlns:a16="http://schemas.microsoft.com/office/drawing/2014/main" id="{8A5F21A2-BD29-0451-ABD4-8B4572067F21}"/>
              </a:ext>
            </a:extLst>
          </p:cNvPr>
          <p:cNvSpPr/>
          <p:nvPr/>
        </p:nvSpPr>
        <p:spPr>
          <a:xfrm>
            <a:off x="13063332" y="1802192"/>
            <a:ext cx="4387232" cy="865566"/>
          </a:xfrm>
          <a:prstGeom prst="rightArrow">
            <a:avLst>
              <a:gd name="adj1" fmla="val 100000"/>
              <a:gd name="adj2" fmla="val 61738"/>
            </a:avLst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8" name="화살표: 오른쪽 97">
            <a:extLst>
              <a:ext uri="{FF2B5EF4-FFF2-40B4-BE49-F238E27FC236}">
                <a16:creationId xmlns:a16="http://schemas.microsoft.com/office/drawing/2014/main" id="{8D36CF51-8536-C998-87BA-50591D59D77F}"/>
              </a:ext>
            </a:extLst>
          </p:cNvPr>
          <p:cNvSpPr/>
          <p:nvPr/>
        </p:nvSpPr>
        <p:spPr>
          <a:xfrm>
            <a:off x="4933452" y="1801842"/>
            <a:ext cx="8737111" cy="865566"/>
          </a:xfrm>
          <a:prstGeom prst="rightArrow">
            <a:avLst>
              <a:gd name="adj1" fmla="val 100000"/>
              <a:gd name="adj2" fmla="val 61738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화살표: 오른쪽 98">
            <a:extLst>
              <a:ext uri="{FF2B5EF4-FFF2-40B4-BE49-F238E27FC236}">
                <a16:creationId xmlns:a16="http://schemas.microsoft.com/office/drawing/2014/main" id="{3EB0B9EA-25D4-2DB9-944E-9CFEFBA06220}"/>
              </a:ext>
            </a:extLst>
          </p:cNvPr>
          <p:cNvSpPr/>
          <p:nvPr/>
        </p:nvSpPr>
        <p:spPr>
          <a:xfrm>
            <a:off x="1025564" y="1802192"/>
            <a:ext cx="4500000" cy="865566"/>
          </a:xfrm>
          <a:prstGeom prst="rightArrow">
            <a:avLst>
              <a:gd name="adj1" fmla="val 100000"/>
              <a:gd name="adj2" fmla="val 61738"/>
            </a:avLst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A0AF6921-A0CA-1E02-9401-905990D97E8D}"/>
              </a:ext>
            </a:extLst>
          </p:cNvPr>
          <p:cNvSpPr/>
          <p:nvPr/>
        </p:nvSpPr>
        <p:spPr>
          <a:xfrm>
            <a:off x="5345563" y="2845331"/>
            <a:ext cx="7425000" cy="7155000"/>
          </a:xfrm>
          <a:prstGeom prst="roundRect">
            <a:avLst>
              <a:gd name="adj" fmla="val 3574"/>
            </a:avLst>
          </a:prstGeom>
          <a:solidFill>
            <a:schemeClr val="accent1">
              <a:lumMod val="20000"/>
              <a:lumOff val="80000"/>
              <a:alpha val="6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AutoShape 17">
            <a:extLst>
              <a:ext uri="{FF2B5EF4-FFF2-40B4-BE49-F238E27FC236}">
                <a16:creationId xmlns:a16="http://schemas.microsoft.com/office/drawing/2014/main" id="{54E25581-9ED6-233D-56A4-AE6676C4C689}"/>
              </a:ext>
            </a:extLst>
          </p:cNvPr>
          <p:cNvSpPr/>
          <p:nvPr/>
        </p:nvSpPr>
        <p:spPr>
          <a:xfrm>
            <a:off x="4239000" y="1074277"/>
            <a:ext cx="13131990" cy="0"/>
          </a:xfrm>
          <a:prstGeom prst="line">
            <a:avLst/>
          </a:prstGeom>
          <a:ln w="952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FEEBFFAC-A47B-CA6F-1ACF-D17C80840B8F}"/>
              </a:ext>
            </a:extLst>
          </p:cNvPr>
          <p:cNvSpPr txBox="1"/>
          <p:nvPr/>
        </p:nvSpPr>
        <p:spPr>
          <a:xfrm>
            <a:off x="1197103" y="795626"/>
            <a:ext cx="3736349" cy="513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329"/>
              </a:lnSpc>
            </a:pPr>
            <a:r>
              <a:rPr lang="ko-KR" altLang="en-US" sz="3092" b="1" spc="-19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시뮬레이션 계획</a:t>
            </a:r>
          </a:p>
        </p:txBody>
      </p:sp>
      <p:sp>
        <p:nvSpPr>
          <p:cNvPr id="39" name="TextBox 12">
            <a:extLst>
              <a:ext uri="{FF2B5EF4-FFF2-40B4-BE49-F238E27FC236}">
                <a16:creationId xmlns:a16="http://schemas.microsoft.com/office/drawing/2014/main" id="{4A9EB413-C136-136B-1E34-914FF8E3CC74}"/>
              </a:ext>
            </a:extLst>
          </p:cNvPr>
          <p:cNvSpPr txBox="1"/>
          <p:nvPr/>
        </p:nvSpPr>
        <p:spPr>
          <a:xfrm>
            <a:off x="11574000" y="547028"/>
            <a:ext cx="5796991" cy="4678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3935"/>
              </a:lnSpc>
              <a:spcBef>
                <a:spcPct val="0"/>
              </a:spcBef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Part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3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– </a:t>
            </a:r>
            <a:r>
              <a:rPr lang="ko-KR" alt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페르소나 시뮬레이션</a:t>
            </a:r>
            <a:endParaRPr lang="en-US" sz="2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  <a:cs typeface="Telegraf"/>
              <a:sym typeface="Telegraf"/>
            </a:endParaRPr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17CC6A37-DC98-928A-AF83-5073B3EAF014}"/>
              </a:ext>
            </a:extLst>
          </p:cNvPr>
          <p:cNvSpPr txBox="1"/>
          <p:nvPr/>
        </p:nvSpPr>
        <p:spPr>
          <a:xfrm>
            <a:off x="1759377" y="2036687"/>
            <a:ext cx="2357372" cy="3975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48"/>
              </a:lnSpc>
              <a:spcBef>
                <a:spcPct val="0"/>
              </a:spcBef>
            </a:pPr>
            <a:r>
              <a:rPr lang="ko-KR" altLang="en-US" sz="2800" b="1" spc="-123" dirty="0">
                <a:solidFill>
                  <a:schemeClr val="bg1"/>
                </a:solidFill>
                <a:latin typeface="+mn-ea"/>
                <a:cs typeface="Source Han Sans KR Medium"/>
                <a:sym typeface="Source Han Sans KR Medium"/>
              </a:rPr>
              <a:t>데이터 입력</a:t>
            </a:r>
            <a:endParaRPr lang="en-US" sz="2800" b="1" spc="-123" dirty="0">
              <a:solidFill>
                <a:schemeClr val="bg1"/>
              </a:solidFill>
              <a:latin typeface="+mn-ea"/>
              <a:cs typeface="Source Han Sans KR Medium"/>
              <a:sym typeface="Source Han Sans KR Medium"/>
            </a:endParaRPr>
          </a:p>
        </p:txBody>
      </p:sp>
      <p:sp>
        <p:nvSpPr>
          <p:cNvPr id="2" name="TextBox 4">
            <a:extLst>
              <a:ext uri="{FF2B5EF4-FFF2-40B4-BE49-F238E27FC236}">
                <a16:creationId xmlns:a16="http://schemas.microsoft.com/office/drawing/2014/main" id="{F90A8246-AA60-90C7-02F7-80021E230A82}"/>
              </a:ext>
            </a:extLst>
          </p:cNvPr>
          <p:cNvSpPr txBox="1"/>
          <p:nvPr/>
        </p:nvSpPr>
        <p:spPr>
          <a:xfrm>
            <a:off x="7879377" y="2035331"/>
            <a:ext cx="2357372" cy="3975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48"/>
              </a:lnSpc>
              <a:spcBef>
                <a:spcPct val="0"/>
              </a:spcBef>
            </a:pPr>
            <a:r>
              <a:rPr lang="ko-KR" altLang="en-US" sz="2800" b="1" spc="-123" dirty="0">
                <a:solidFill>
                  <a:schemeClr val="bg1"/>
                </a:solidFill>
                <a:latin typeface="+mn-ea"/>
                <a:cs typeface="Source Han Sans KR Medium"/>
                <a:sym typeface="Source Han Sans KR Medium"/>
              </a:rPr>
              <a:t>예측 프로세스</a:t>
            </a:r>
            <a:endParaRPr lang="en-US" sz="2800" b="1" spc="-123" dirty="0">
              <a:solidFill>
                <a:schemeClr val="bg1"/>
              </a:solidFill>
              <a:latin typeface="+mn-ea"/>
              <a:cs typeface="Source Han Sans KR Medium"/>
              <a:sym typeface="Source Han Sans KR Medium"/>
            </a:endParaRPr>
          </a:p>
        </p:txBody>
      </p:sp>
      <p:sp>
        <p:nvSpPr>
          <p:cNvPr id="3" name="TextBox 4">
            <a:extLst>
              <a:ext uri="{FF2B5EF4-FFF2-40B4-BE49-F238E27FC236}">
                <a16:creationId xmlns:a16="http://schemas.microsoft.com/office/drawing/2014/main" id="{035031A0-ADC5-5590-BDE6-6C81B463DE7E}"/>
              </a:ext>
            </a:extLst>
          </p:cNvPr>
          <p:cNvSpPr txBox="1"/>
          <p:nvPr/>
        </p:nvSpPr>
        <p:spPr>
          <a:xfrm>
            <a:off x="14134377" y="2035331"/>
            <a:ext cx="2357372" cy="3975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48"/>
              </a:lnSpc>
              <a:spcBef>
                <a:spcPct val="0"/>
              </a:spcBef>
            </a:pPr>
            <a:r>
              <a:rPr lang="ko-KR" altLang="en-US" sz="2800" b="1" spc="-123" dirty="0">
                <a:solidFill>
                  <a:schemeClr val="bg1"/>
                </a:solidFill>
                <a:latin typeface="+mn-ea"/>
                <a:cs typeface="Source Han Sans KR Medium"/>
                <a:sym typeface="Source Han Sans KR Medium"/>
              </a:rPr>
              <a:t>결과 평가</a:t>
            </a:r>
            <a:endParaRPr lang="en-US" sz="2800" b="1" spc="-123" dirty="0">
              <a:solidFill>
                <a:schemeClr val="bg1"/>
              </a:solidFill>
              <a:latin typeface="+mn-ea"/>
              <a:cs typeface="Source Han Sans KR Medium"/>
              <a:sym typeface="Source Han Sans KR Medium"/>
            </a:endParaRP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2EF5280C-4865-012D-F083-E4D2997EF05A}"/>
              </a:ext>
            </a:extLst>
          </p:cNvPr>
          <p:cNvSpPr/>
          <p:nvPr/>
        </p:nvSpPr>
        <p:spPr>
          <a:xfrm>
            <a:off x="1025563" y="2845331"/>
            <a:ext cx="3735000" cy="3780000"/>
          </a:xfrm>
          <a:prstGeom prst="roundRect">
            <a:avLst>
              <a:gd name="adj" fmla="val 7486"/>
            </a:avLst>
          </a:prstGeom>
          <a:solidFill>
            <a:schemeClr val="tx2">
              <a:lumMod val="20000"/>
              <a:lumOff val="80000"/>
              <a:alpha val="6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1B0D263C-5479-0D7A-8202-DD27464D5D0B}"/>
              </a:ext>
            </a:extLst>
          </p:cNvPr>
          <p:cNvSpPr/>
          <p:nvPr/>
        </p:nvSpPr>
        <p:spPr>
          <a:xfrm>
            <a:off x="1025563" y="6985331"/>
            <a:ext cx="3735000" cy="3015000"/>
          </a:xfrm>
          <a:prstGeom prst="roundRect">
            <a:avLst>
              <a:gd name="adj" fmla="val 11191"/>
            </a:avLst>
          </a:prstGeom>
          <a:solidFill>
            <a:srgbClr val="DDEF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6F5DC60E-CCE5-EFC9-4DA2-4CE5C2B36087}"/>
              </a:ext>
            </a:extLst>
          </p:cNvPr>
          <p:cNvSpPr/>
          <p:nvPr/>
        </p:nvSpPr>
        <p:spPr>
          <a:xfrm>
            <a:off x="1406987" y="3070331"/>
            <a:ext cx="968576" cy="968576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Freeform 13">
            <a:extLst>
              <a:ext uri="{FF2B5EF4-FFF2-40B4-BE49-F238E27FC236}">
                <a16:creationId xmlns:a16="http://schemas.microsoft.com/office/drawing/2014/main" id="{2812CC7D-383F-F8BE-4CB3-FDE411D2DF70}"/>
              </a:ext>
            </a:extLst>
          </p:cNvPr>
          <p:cNvSpPr>
            <a:spLocks noEditPoints="1"/>
          </p:cNvSpPr>
          <p:nvPr/>
        </p:nvSpPr>
        <p:spPr bwMode="auto">
          <a:xfrm>
            <a:off x="1675488" y="3398498"/>
            <a:ext cx="463046" cy="360000"/>
          </a:xfrm>
          <a:custGeom>
            <a:avLst/>
            <a:gdLst>
              <a:gd name="T0" fmla="*/ 200 w 293"/>
              <a:gd name="T1" fmla="*/ 80 h 187"/>
              <a:gd name="T2" fmla="*/ 240 w 293"/>
              <a:gd name="T3" fmla="*/ 40 h 187"/>
              <a:gd name="T4" fmla="*/ 200 w 293"/>
              <a:gd name="T5" fmla="*/ 0 h 187"/>
              <a:gd name="T6" fmla="*/ 160 w 293"/>
              <a:gd name="T7" fmla="*/ 40 h 187"/>
              <a:gd name="T8" fmla="*/ 200 w 293"/>
              <a:gd name="T9" fmla="*/ 80 h 187"/>
              <a:gd name="T10" fmla="*/ 200 w 293"/>
              <a:gd name="T11" fmla="*/ 80 h 187"/>
              <a:gd name="T12" fmla="*/ 93 w 293"/>
              <a:gd name="T13" fmla="*/ 80 h 187"/>
              <a:gd name="T14" fmla="*/ 133 w 293"/>
              <a:gd name="T15" fmla="*/ 40 h 187"/>
              <a:gd name="T16" fmla="*/ 93 w 293"/>
              <a:gd name="T17" fmla="*/ 0 h 187"/>
              <a:gd name="T18" fmla="*/ 53 w 293"/>
              <a:gd name="T19" fmla="*/ 40 h 187"/>
              <a:gd name="T20" fmla="*/ 93 w 293"/>
              <a:gd name="T21" fmla="*/ 80 h 187"/>
              <a:gd name="T22" fmla="*/ 93 w 293"/>
              <a:gd name="T23" fmla="*/ 80 h 187"/>
              <a:gd name="T24" fmla="*/ 93 w 293"/>
              <a:gd name="T25" fmla="*/ 107 h 187"/>
              <a:gd name="T26" fmla="*/ 0 w 293"/>
              <a:gd name="T27" fmla="*/ 154 h 187"/>
              <a:gd name="T28" fmla="*/ 0 w 293"/>
              <a:gd name="T29" fmla="*/ 187 h 187"/>
              <a:gd name="T30" fmla="*/ 187 w 293"/>
              <a:gd name="T31" fmla="*/ 187 h 187"/>
              <a:gd name="T32" fmla="*/ 187 w 293"/>
              <a:gd name="T33" fmla="*/ 154 h 187"/>
              <a:gd name="T34" fmla="*/ 93 w 293"/>
              <a:gd name="T35" fmla="*/ 107 h 187"/>
              <a:gd name="T36" fmla="*/ 93 w 293"/>
              <a:gd name="T37" fmla="*/ 107 h 187"/>
              <a:gd name="T38" fmla="*/ 200 w 293"/>
              <a:gd name="T39" fmla="*/ 107 h 187"/>
              <a:gd name="T40" fmla="*/ 187 w 293"/>
              <a:gd name="T41" fmla="*/ 108 h 187"/>
              <a:gd name="T42" fmla="*/ 213 w 293"/>
              <a:gd name="T43" fmla="*/ 154 h 187"/>
              <a:gd name="T44" fmla="*/ 213 w 293"/>
              <a:gd name="T45" fmla="*/ 187 h 187"/>
              <a:gd name="T46" fmla="*/ 293 w 293"/>
              <a:gd name="T47" fmla="*/ 187 h 187"/>
              <a:gd name="T48" fmla="*/ 293 w 293"/>
              <a:gd name="T49" fmla="*/ 154 h 187"/>
              <a:gd name="T50" fmla="*/ 200 w 293"/>
              <a:gd name="T51" fmla="*/ 107 h 187"/>
              <a:gd name="T52" fmla="*/ 200 w 293"/>
              <a:gd name="T53" fmla="*/ 107 h 18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</a:cxnLst>
            <a:rect l="0" t="0" r="r" b="b"/>
            <a:pathLst>
              <a:path w="293" h="187">
                <a:moveTo>
                  <a:pt x="200" y="80"/>
                </a:moveTo>
                <a:cubicBezTo>
                  <a:pt x="222" y="80"/>
                  <a:pt x="240" y="62"/>
                  <a:pt x="240" y="40"/>
                </a:cubicBezTo>
                <a:cubicBezTo>
                  <a:pt x="240" y="18"/>
                  <a:pt x="222" y="0"/>
                  <a:pt x="200" y="0"/>
                </a:cubicBezTo>
                <a:cubicBezTo>
                  <a:pt x="178" y="0"/>
                  <a:pt x="160" y="18"/>
                  <a:pt x="160" y="40"/>
                </a:cubicBezTo>
                <a:cubicBezTo>
                  <a:pt x="160" y="62"/>
                  <a:pt x="178" y="80"/>
                  <a:pt x="200" y="80"/>
                </a:cubicBezTo>
                <a:lnTo>
                  <a:pt x="200" y="80"/>
                </a:lnTo>
                <a:close/>
                <a:moveTo>
                  <a:pt x="93" y="80"/>
                </a:moveTo>
                <a:cubicBezTo>
                  <a:pt x="115" y="80"/>
                  <a:pt x="133" y="62"/>
                  <a:pt x="133" y="40"/>
                </a:cubicBezTo>
                <a:cubicBezTo>
                  <a:pt x="133" y="18"/>
                  <a:pt x="115" y="0"/>
                  <a:pt x="93" y="0"/>
                </a:cubicBezTo>
                <a:cubicBezTo>
                  <a:pt x="71" y="0"/>
                  <a:pt x="53" y="18"/>
                  <a:pt x="53" y="40"/>
                </a:cubicBezTo>
                <a:cubicBezTo>
                  <a:pt x="53" y="62"/>
                  <a:pt x="71" y="80"/>
                  <a:pt x="93" y="80"/>
                </a:cubicBezTo>
                <a:lnTo>
                  <a:pt x="93" y="80"/>
                </a:lnTo>
                <a:close/>
                <a:moveTo>
                  <a:pt x="93" y="107"/>
                </a:moveTo>
                <a:cubicBezTo>
                  <a:pt x="62" y="107"/>
                  <a:pt x="0" y="123"/>
                  <a:pt x="0" y="154"/>
                </a:cubicBezTo>
                <a:lnTo>
                  <a:pt x="0" y="187"/>
                </a:lnTo>
                <a:lnTo>
                  <a:pt x="187" y="187"/>
                </a:lnTo>
                <a:lnTo>
                  <a:pt x="187" y="154"/>
                </a:lnTo>
                <a:cubicBezTo>
                  <a:pt x="187" y="123"/>
                  <a:pt x="124" y="107"/>
                  <a:pt x="93" y="107"/>
                </a:cubicBezTo>
                <a:lnTo>
                  <a:pt x="93" y="107"/>
                </a:lnTo>
                <a:close/>
                <a:moveTo>
                  <a:pt x="200" y="107"/>
                </a:moveTo>
                <a:cubicBezTo>
                  <a:pt x="196" y="107"/>
                  <a:pt x="192" y="107"/>
                  <a:pt x="187" y="108"/>
                </a:cubicBezTo>
                <a:cubicBezTo>
                  <a:pt x="203" y="119"/>
                  <a:pt x="213" y="134"/>
                  <a:pt x="213" y="154"/>
                </a:cubicBezTo>
                <a:lnTo>
                  <a:pt x="213" y="187"/>
                </a:lnTo>
                <a:lnTo>
                  <a:pt x="293" y="187"/>
                </a:lnTo>
                <a:lnTo>
                  <a:pt x="293" y="154"/>
                </a:lnTo>
                <a:cubicBezTo>
                  <a:pt x="293" y="123"/>
                  <a:pt x="231" y="107"/>
                  <a:pt x="200" y="107"/>
                </a:cubicBezTo>
                <a:lnTo>
                  <a:pt x="200" y="107"/>
                </a:lnTo>
                <a:close/>
              </a:path>
            </a:pathLst>
          </a:custGeom>
          <a:solidFill>
            <a:srgbClr val="F2F2F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" name="Rectangle 948">
            <a:extLst>
              <a:ext uri="{FF2B5EF4-FFF2-40B4-BE49-F238E27FC236}">
                <a16:creationId xmlns:a16="http://schemas.microsoft.com/office/drawing/2014/main" id="{89C5EAB6-B1A4-A7A7-442A-4D5659C8C6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00563" y="3250331"/>
            <a:ext cx="1665000" cy="6155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en-US" sz="2000" b="1" i="0" u="none" strike="noStrike" cap="none" normalizeH="0" baseline="0" dirty="0">
                <a:ln>
                  <a:noFill/>
                </a:ln>
                <a:effectLst/>
                <a:latin typeface="+mj-ea"/>
                <a:ea typeface="+mj-ea"/>
              </a:rPr>
              <a:t>페르소나</a:t>
            </a:r>
            <a:endParaRPr kumimoji="0" lang="en-US" altLang="ko-KR" sz="2000" b="1" i="0" u="none" strike="noStrike" cap="none" normalizeH="0" baseline="0" dirty="0">
              <a:ln>
                <a:noFill/>
              </a:ln>
              <a:effectLst/>
              <a:latin typeface="+mj-ea"/>
              <a:ea typeface="+mj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en-US" sz="2000" b="1" i="0" u="none" strike="noStrike" cap="none" normalizeH="0" baseline="0" dirty="0">
                <a:ln>
                  <a:noFill/>
                </a:ln>
                <a:effectLst/>
                <a:latin typeface="+mj-ea"/>
                <a:ea typeface="+mj-ea"/>
              </a:rPr>
              <a:t>고객 데이터</a:t>
            </a:r>
            <a:endParaRPr kumimoji="0" lang="ko-KR" altLang="ko-KR" sz="2000" b="1" i="0" u="none" strike="noStrike" cap="none" normalizeH="0" baseline="0" dirty="0">
              <a:ln>
                <a:noFill/>
              </a:ln>
              <a:effectLst/>
              <a:latin typeface="+mj-ea"/>
              <a:ea typeface="+mj-ea"/>
            </a:endParaRPr>
          </a:p>
        </p:txBody>
      </p:sp>
      <p:sp>
        <p:nvSpPr>
          <p:cNvPr id="16" name="Rectangle 948">
            <a:extLst>
              <a:ext uri="{FF2B5EF4-FFF2-40B4-BE49-F238E27FC236}">
                <a16:creationId xmlns:a16="http://schemas.microsoft.com/office/drawing/2014/main" id="{EE7068CC-7714-7090-0319-A61EFDCA5B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85563" y="4240331"/>
            <a:ext cx="3105000" cy="184665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+mj-ea"/>
                <a:ea typeface="+mj-ea"/>
              </a:rPr>
              <a:t>연령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+mj-ea"/>
                <a:ea typeface="+mj-ea"/>
              </a:rPr>
              <a:t>, 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+mj-ea"/>
                <a:ea typeface="+mj-ea"/>
              </a:rPr>
              <a:t>성별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+mj-ea"/>
                <a:ea typeface="+mj-ea"/>
              </a:rPr>
              <a:t>, 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+mj-ea"/>
                <a:ea typeface="+mj-ea"/>
              </a:rPr>
              <a:t>가구형태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+mj-ea"/>
                <a:ea typeface="+mj-ea"/>
              </a:rPr>
              <a:t>,</a:t>
            </a:r>
            <a:b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+mj-ea"/>
                <a:ea typeface="+mj-ea"/>
              </a:rPr>
            </a:b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+mj-ea"/>
                <a:ea typeface="+mj-ea"/>
              </a:rPr>
              <a:t>결혼여부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+mj-ea"/>
                <a:ea typeface="+mj-ea"/>
              </a:rPr>
              <a:t>, </a:t>
            </a:r>
            <a:r>
              <a:rPr kumimoji="0" lang="ko-KR" altLang="en-US" sz="1600" i="0" u="none" strike="noStrike" cap="none" normalizeH="0" baseline="0" dirty="0" err="1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+mj-ea"/>
                <a:ea typeface="+mj-ea"/>
              </a:rPr>
              <a:t>월소득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+mj-ea"/>
                <a:ea typeface="+mj-ea"/>
              </a:rPr>
              <a:t>, 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+mj-ea"/>
                <a:ea typeface="+mj-ea"/>
              </a:rPr>
              <a:t>맞벌이여부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latin typeface="+mj-ea"/>
              <a:ea typeface="+mj-ea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  <a:ea typeface="+mj-ea"/>
              </a:rPr>
              <a:t>소비성향 세그먼트 및 스코어</a:t>
            </a:r>
            <a:endParaRPr lang="en-US" altLang="ko-KR" sz="1600" dirty="0">
              <a:solidFill>
                <a:schemeClr val="tx1">
                  <a:lumMod val="65000"/>
                  <a:lumOff val="35000"/>
                </a:schemeClr>
              </a:solidFill>
              <a:latin typeface="+mj-ea"/>
              <a:ea typeface="+mj-ea"/>
            </a:endParaRPr>
          </a:p>
          <a:p>
            <a:pPr marL="533400" lvl="1" indent="-266700">
              <a:buFont typeface="Arial" panose="020B0604020202020204" pitchFamily="34" charset="0"/>
              <a:buChar char="•"/>
            </a:pPr>
            <a:r>
              <a:rPr lang="ko-KR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  <a:ea typeface="+mj-ea"/>
              </a:rPr>
              <a:t>실속형 미식가</a:t>
            </a:r>
            <a:endParaRPr lang="en-US" altLang="ko-KR" sz="1600" dirty="0">
              <a:solidFill>
                <a:schemeClr val="tx1">
                  <a:lumMod val="65000"/>
                  <a:lumOff val="35000"/>
                </a:schemeClr>
              </a:solidFill>
              <a:latin typeface="+mj-ea"/>
              <a:ea typeface="+mj-ea"/>
            </a:endParaRPr>
          </a:p>
          <a:p>
            <a:pPr marL="533400" lvl="1" indent="-266700">
              <a:buFont typeface="Arial" panose="020B0604020202020204" pitchFamily="34" charset="0"/>
              <a:buChar char="•"/>
            </a:pPr>
            <a:r>
              <a:rPr lang="ko-KR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  <a:ea typeface="+mj-ea"/>
              </a:rPr>
              <a:t>건강 추구형 소비자</a:t>
            </a:r>
            <a:endParaRPr lang="en-US" altLang="ko-KR" sz="1600" dirty="0">
              <a:solidFill>
                <a:schemeClr val="tx1">
                  <a:lumMod val="65000"/>
                  <a:lumOff val="35000"/>
                </a:schemeClr>
              </a:solidFill>
              <a:latin typeface="+mj-ea"/>
              <a:ea typeface="+mj-ea"/>
            </a:endParaRPr>
          </a:p>
          <a:p>
            <a:pPr marL="533400" lvl="1" indent="-266700">
              <a:buFont typeface="Arial" panose="020B0604020202020204" pitchFamily="34" charset="0"/>
              <a:buChar char="•"/>
            </a:pPr>
            <a:r>
              <a:rPr lang="ko-KR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  <a:ea typeface="+mj-ea"/>
              </a:rPr>
              <a:t>트렌드 주도형 소비자</a:t>
            </a:r>
            <a:r>
              <a:rPr lang="en-US" altLang="ko-K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  <a:ea typeface="+mj-ea"/>
              </a:rPr>
              <a:t>  </a:t>
            </a:r>
            <a:endParaRPr kumimoji="0" lang="ko-KR" altLang="ko-KR" sz="1600" b="1" i="0" u="none" strike="noStrike" cap="none" normalizeH="0" baseline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latin typeface="+mj-ea"/>
              <a:ea typeface="+mj-ea"/>
            </a:endParaRPr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F66963ED-54A5-31B4-CE7B-CF6E4B18D14D}"/>
              </a:ext>
            </a:extLst>
          </p:cNvPr>
          <p:cNvSpPr/>
          <p:nvPr/>
        </p:nvSpPr>
        <p:spPr>
          <a:xfrm>
            <a:off x="2375563" y="6355331"/>
            <a:ext cx="900000" cy="900000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십자형 18">
            <a:extLst>
              <a:ext uri="{FF2B5EF4-FFF2-40B4-BE49-F238E27FC236}">
                <a16:creationId xmlns:a16="http://schemas.microsoft.com/office/drawing/2014/main" id="{8D7D317B-EF0B-24E7-7EA9-FDBC2E4C56A9}"/>
              </a:ext>
            </a:extLst>
          </p:cNvPr>
          <p:cNvSpPr/>
          <p:nvPr/>
        </p:nvSpPr>
        <p:spPr>
          <a:xfrm>
            <a:off x="2465563" y="6445331"/>
            <a:ext cx="720000" cy="720000"/>
          </a:xfrm>
          <a:prstGeom prst="plus">
            <a:avLst>
              <a:gd name="adj" fmla="val 37700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7BED569F-B271-B8B8-F9A6-6C8928C938C9}"/>
              </a:ext>
            </a:extLst>
          </p:cNvPr>
          <p:cNvSpPr/>
          <p:nvPr/>
        </p:nvSpPr>
        <p:spPr>
          <a:xfrm>
            <a:off x="1406987" y="7321755"/>
            <a:ext cx="968576" cy="968576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1" name="그래픽 20" descr="테이블 차림 단색으로 채워진">
            <a:extLst>
              <a:ext uri="{FF2B5EF4-FFF2-40B4-BE49-F238E27FC236}">
                <a16:creationId xmlns:a16="http://schemas.microsoft.com/office/drawing/2014/main" id="{F2FAF325-1306-34D7-4649-9A3503C44E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34963" y="7456755"/>
            <a:ext cx="705600" cy="705600"/>
          </a:xfrm>
          <a:prstGeom prst="rect">
            <a:avLst/>
          </a:prstGeom>
        </p:spPr>
      </p:pic>
      <p:sp>
        <p:nvSpPr>
          <p:cNvPr id="23" name="Rectangle 948">
            <a:extLst>
              <a:ext uri="{FF2B5EF4-FFF2-40B4-BE49-F238E27FC236}">
                <a16:creationId xmlns:a16="http://schemas.microsoft.com/office/drawing/2014/main" id="{BB70B7CF-4E6D-BBD6-E6C5-3F8592C2A6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00563" y="7501755"/>
            <a:ext cx="1665000" cy="6155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en-US" sz="2000" b="1" i="0" u="none" strike="noStrike" cap="none" normalizeH="0" baseline="0" dirty="0">
                <a:ln>
                  <a:noFill/>
                </a:ln>
                <a:effectLst/>
                <a:latin typeface="+mj-ea"/>
                <a:ea typeface="+mj-ea"/>
              </a:rPr>
              <a:t>판매 제</a:t>
            </a:r>
            <a:r>
              <a:rPr lang="ko-KR" altLang="en-US" sz="2000" b="1" dirty="0">
                <a:latin typeface="+mj-ea"/>
                <a:ea typeface="+mj-ea"/>
              </a:rPr>
              <a:t>품 데이터</a:t>
            </a:r>
            <a:endParaRPr kumimoji="0" lang="en-US" altLang="ko-KR" sz="2000" b="1" i="0" u="none" strike="noStrike" cap="none" normalizeH="0" baseline="0" dirty="0">
              <a:ln>
                <a:noFill/>
              </a:ln>
              <a:effectLst/>
              <a:latin typeface="+mj-ea"/>
              <a:ea typeface="+mj-ea"/>
            </a:endParaRPr>
          </a:p>
        </p:txBody>
      </p:sp>
      <p:sp>
        <p:nvSpPr>
          <p:cNvPr id="24" name="Rectangle 948">
            <a:extLst>
              <a:ext uri="{FF2B5EF4-FFF2-40B4-BE49-F238E27FC236}">
                <a16:creationId xmlns:a16="http://schemas.microsoft.com/office/drawing/2014/main" id="{A0F15468-85F9-185E-7380-F56450159A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85563" y="8489976"/>
            <a:ext cx="3105000" cy="10603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+mj-ea"/>
                <a:ea typeface="+mj-ea"/>
              </a:rPr>
              <a:t>제품명 및 제품 특징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latin typeface="+mj-ea"/>
              <a:ea typeface="+mj-ea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  <a:ea typeface="+mj-ea"/>
              </a:rPr>
              <a:t>가격</a:t>
            </a:r>
            <a:r>
              <a:rPr lang="en-US" altLang="ko-K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  <a:ea typeface="+mj-ea"/>
              </a:rPr>
              <a:t>, </a:t>
            </a:r>
            <a:r>
              <a:rPr lang="ko-KR" altLang="en-US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  <a:ea typeface="+mj-ea"/>
              </a:rPr>
              <a:t>후기수</a:t>
            </a:r>
            <a:r>
              <a:rPr lang="en-US" altLang="ko-K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  <a:ea typeface="+mj-ea"/>
              </a:rPr>
              <a:t>, </a:t>
            </a:r>
            <a:r>
              <a:rPr lang="ko-KR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  <a:ea typeface="+mj-ea"/>
              </a:rPr>
              <a:t>경쟁상품 비교</a:t>
            </a:r>
            <a:endParaRPr lang="en-US" altLang="ko-KR" sz="1600" dirty="0">
              <a:solidFill>
                <a:schemeClr val="tx1">
                  <a:lumMod val="65000"/>
                  <a:lumOff val="35000"/>
                </a:schemeClr>
              </a:solidFill>
              <a:latin typeface="+mj-ea"/>
              <a:ea typeface="+mj-ea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  <a:ea typeface="+mj-ea"/>
              </a:rPr>
              <a:t>제품별 시장 규모 등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latin typeface="+mj-ea"/>
              <a:ea typeface="+mj-ea"/>
            </a:endParaRP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E478E301-6A9F-E4C5-7E55-B8FDAD5FB662}"/>
              </a:ext>
            </a:extLst>
          </p:cNvPr>
          <p:cNvSpPr/>
          <p:nvPr/>
        </p:nvSpPr>
        <p:spPr>
          <a:xfrm>
            <a:off x="13400563" y="2845331"/>
            <a:ext cx="3735000" cy="3420000"/>
          </a:xfrm>
          <a:prstGeom prst="roundRect">
            <a:avLst>
              <a:gd name="adj" fmla="val 9866"/>
            </a:avLst>
          </a:prstGeom>
          <a:solidFill>
            <a:schemeClr val="tx2">
              <a:lumMod val="20000"/>
              <a:lumOff val="80000"/>
              <a:alpha val="6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7235E111-D2F8-C839-C277-ED07991D8D2E}"/>
              </a:ext>
            </a:extLst>
          </p:cNvPr>
          <p:cNvSpPr/>
          <p:nvPr/>
        </p:nvSpPr>
        <p:spPr>
          <a:xfrm>
            <a:off x="13400563" y="6625331"/>
            <a:ext cx="3735000" cy="3375000"/>
          </a:xfrm>
          <a:prstGeom prst="roundRect">
            <a:avLst/>
          </a:prstGeom>
          <a:solidFill>
            <a:srgbClr val="DDEFF5">
              <a:alpha val="6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1D167CD1-EF23-CE6E-C680-B400DB826AF2}"/>
              </a:ext>
            </a:extLst>
          </p:cNvPr>
          <p:cNvSpPr/>
          <p:nvPr/>
        </p:nvSpPr>
        <p:spPr>
          <a:xfrm>
            <a:off x="13781987" y="3070331"/>
            <a:ext cx="968576" cy="968576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Rectangle 948">
            <a:extLst>
              <a:ext uri="{FF2B5EF4-FFF2-40B4-BE49-F238E27FC236}">
                <a16:creationId xmlns:a16="http://schemas.microsoft.com/office/drawing/2014/main" id="{D4CCFF10-C836-5D0F-7061-FEF0CCF50B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75563" y="3250331"/>
            <a:ext cx="1665000" cy="6155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sz="2000" b="1" dirty="0" err="1">
                <a:latin typeface="+mj-ea"/>
                <a:ea typeface="+mj-ea"/>
              </a:rPr>
              <a:t>다콘</a:t>
            </a:r>
            <a:endParaRPr kumimoji="0" lang="en-US" altLang="ko-KR" sz="2000" b="1" i="0" u="none" strike="noStrike" cap="none" normalizeH="0" baseline="0" dirty="0">
              <a:ln>
                <a:noFill/>
              </a:ln>
              <a:effectLst/>
              <a:latin typeface="+mj-ea"/>
              <a:ea typeface="+mj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sz="2000" b="1" dirty="0">
                <a:latin typeface="+mj-ea"/>
                <a:ea typeface="+mj-ea"/>
              </a:rPr>
              <a:t>리더보드</a:t>
            </a:r>
            <a:endParaRPr kumimoji="0" lang="ko-KR" altLang="ko-KR" sz="2000" b="1" i="0" u="none" strike="noStrike" cap="none" normalizeH="0" baseline="0" dirty="0">
              <a:ln>
                <a:noFill/>
              </a:ln>
              <a:effectLst/>
              <a:latin typeface="+mj-ea"/>
              <a:ea typeface="+mj-ea"/>
            </a:endParaRPr>
          </a:p>
        </p:txBody>
      </p:sp>
      <p:sp>
        <p:nvSpPr>
          <p:cNvPr id="31" name="Rectangle 948">
            <a:extLst>
              <a:ext uri="{FF2B5EF4-FFF2-40B4-BE49-F238E27FC236}">
                <a16:creationId xmlns:a16="http://schemas.microsoft.com/office/drawing/2014/main" id="{160C94CE-9AE2-B083-219E-CAD8A7CEA7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60563" y="4285331"/>
            <a:ext cx="3105000" cy="10603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+mj-ea"/>
                <a:ea typeface="+mj-ea"/>
              </a:rPr>
              <a:t>예측 데이터와 실제 데이터를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latin typeface="+mj-ea"/>
              <a:ea typeface="+mj-ea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600" b="1" i="0" u="none" strike="noStrike" cap="none" normalizeH="0" baseline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+mj-ea"/>
                <a:ea typeface="+mj-ea"/>
              </a:rPr>
              <a:t>SMAPE </a:t>
            </a:r>
            <a:r>
              <a:rPr kumimoji="0" lang="ko-KR" altLang="en-US" sz="1600" b="1" i="0" u="none" strike="noStrike" cap="none" normalizeH="0" baseline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+mj-ea"/>
                <a:ea typeface="+mj-ea"/>
              </a:rPr>
              <a:t>방식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+mj-ea"/>
                <a:ea typeface="+mj-ea"/>
              </a:rPr>
              <a:t>으로 평가하여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latin typeface="+mj-ea"/>
              <a:ea typeface="+mj-ea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  <a:ea typeface="+mj-ea"/>
              </a:rPr>
              <a:t>제출물에 대한 실시간 점수 반환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latin typeface="+mj-ea"/>
              <a:ea typeface="+mj-ea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42D4BCCF-B273-377D-EA5C-7110FB4AC8FB}"/>
              </a:ext>
            </a:extLst>
          </p:cNvPr>
          <p:cNvSpPr/>
          <p:nvPr/>
        </p:nvSpPr>
        <p:spPr>
          <a:xfrm>
            <a:off x="13781987" y="7210331"/>
            <a:ext cx="968576" cy="968576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Rectangle 948">
            <a:extLst>
              <a:ext uri="{FF2B5EF4-FFF2-40B4-BE49-F238E27FC236}">
                <a16:creationId xmlns:a16="http://schemas.microsoft.com/office/drawing/2014/main" id="{C9E3D97E-DBFB-A2D7-A87D-F865EE2FD9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75563" y="7390331"/>
            <a:ext cx="1665000" cy="6155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2000" b="1" i="0" u="none" strike="noStrike" cap="none" normalizeH="0" baseline="0" dirty="0">
                <a:ln>
                  <a:noFill/>
                </a:ln>
                <a:effectLst/>
                <a:latin typeface="+mj-ea"/>
                <a:ea typeface="+mj-ea"/>
              </a:rPr>
              <a:t>LLM </a:t>
            </a:r>
            <a:r>
              <a:rPr kumimoji="0" lang="ko-KR" altLang="en-US" sz="2000" b="1" i="0" u="none" strike="noStrike" cap="none" normalizeH="0" baseline="0" dirty="0" err="1">
                <a:ln>
                  <a:noFill/>
                </a:ln>
                <a:effectLst/>
                <a:latin typeface="+mj-ea"/>
                <a:ea typeface="+mj-ea"/>
              </a:rPr>
              <a:t>모델별</a:t>
            </a:r>
            <a:endParaRPr kumimoji="0" lang="en-US" altLang="ko-KR" sz="2000" b="1" i="0" u="none" strike="noStrike" cap="none" normalizeH="0" baseline="0" dirty="0">
              <a:ln>
                <a:noFill/>
              </a:ln>
              <a:effectLst/>
              <a:latin typeface="+mj-ea"/>
              <a:ea typeface="+mj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en-US" sz="2000" b="1" i="0" u="none" strike="noStrike" cap="none" normalizeH="0" baseline="0" dirty="0">
                <a:ln>
                  <a:noFill/>
                </a:ln>
                <a:effectLst/>
                <a:latin typeface="+mj-ea"/>
                <a:ea typeface="+mj-ea"/>
              </a:rPr>
              <a:t>교차 검증</a:t>
            </a:r>
            <a:endParaRPr kumimoji="0" lang="en-US" altLang="ko-KR" sz="2000" b="1" i="0" u="none" strike="noStrike" cap="none" normalizeH="0" baseline="0" dirty="0">
              <a:ln>
                <a:noFill/>
              </a:ln>
              <a:effectLst/>
              <a:latin typeface="+mj-ea"/>
              <a:ea typeface="+mj-ea"/>
            </a:endParaRPr>
          </a:p>
        </p:txBody>
      </p:sp>
      <p:sp>
        <p:nvSpPr>
          <p:cNvPr id="37" name="Rectangle 948">
            <a:extLst>
              <a:ext uri="{FF2B5EF4-FFF2-40B4-BE49-F238E27FC236}">
                <a16:creationId xmlns:a16="http://schemas.microsoft.com/office/drawing/2014/main" id="{92DC6FA2-8E9D-89EA-A08A-1200AD1C5C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60563" y="8425331"/>
            <a:ext cx="3105000" cy="11006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+mj-ea"/>
                <a:ea typeface="+mj-ea"/>
              </a:rPr>
              <a:t>GPT-5, Claude, </a:t>
            </a:r>
            <a:r>
              <a:rPr kumimoji="0" lang="en-US" altLang="ko-KR" sz="1600" i="0" u="none" strike="noStrike" cap="none" normalizeH="0" baseline="0" dirty="0" err="1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+mj-ea"/>
                <a:ea typeface="+mj-ea"/>
              </a:rPr>
              <a:t>eXaone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+mj-ea"/>
                <a:ea typeface="+mj-ea"/>
              </a:rPr>
              <a:t> 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+mj-ea"/>
                <a:ea typeface="+mj-ea"/>
              </a:rPr>
              <a:t>등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latin typeface="+mj-ea"/>
              <a:ea typeface="+mj-ea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+mj-ea"/>
                <a:ea typeface="+mj-ea"/>
              </a:rPr>
              <a:t>동일 프롬프트에 대한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latin typeface="+mj-ea"/>
              <a:ea typeface="+mj-ea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en-US" sz="1600" i="0" u="none" strike="noStrike" cap="none" normalizeH="0" baseline="0" dirty="0" err="1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+mj-ea"/>
                <a:ea typeface="+mj-ea"/>
              </a:rPr>
              <a:t>모델별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+mj-ea"/>
                <a:ea typeface="+mj-ea"/>
              </a:rPr>
              <a:t> 점수 검증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latin typeface="+mj-ea"/>
              <a:ea typeface="+mj-ea"/>
            </a:endParaRPr>
          </a:p>
        </p:txBody>
      </p:sp>
      <p:pic>
        <p:nvPicPr>
          <p:cNvPr id="42" name="그림 41">
            <a:extLst>
              <a:ext uri="{FF2B5EF4-FFF2-40B4-BE49-F238E27FC236}">
                <a16:creationId xmlns:a16="http://schemas.microsoft.com/office/drawing/2014/main" id="{29758DE4-20E4-E53B-C600-A44DB145FE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9000" y="-526500"/>
            <a:ext cx="381000" cy="381000"/>
          </a:xfrm>
          <a:prstGeom prst="rect">
            <a:avLst/>
          </a:prstGeom>
        </p:spPr>
      </p:pic>
      <p:grpSp>
        <p:nvGrpSpPr>
          <p:cNvPr id="50" name="그룹 49">
            <a:extLst>
              <a:ext uri="{FF2B5EF4-FFF2-40B4-BE49-F238E27FC236}">
                <a16:creationId xmlns:a16="http://schemas.microsoft.com/office/drawing/2014/main" id="{14F14DF4-8612-FCD4-E918-BD655ABC5AC3}"/>
              </a:ext>
            </a:extLst>
          </p:cNvPr>
          <p:cNvGrpSpPr/>
          <p:nvPr/>
        </p:nvGrpSpPr>
        <p:grpSpPr>
          <a:xfrm>
            <a:off x="6110563" y="3115331"/>
            <a:ext cx="2223001" cy="2313813"/>
            <a:chOff x="5678999" y="2059511"/>
            <a:chExt cx="2223001" cy="2313813"/>
          </a:xfrm>
        </p:grpSpPr>
        <p:sp>
          <p:nvSpPr>
            <p:cNvPr id="38" name="갈매기형 수장 1">
              <a:extLst>
                <a:ext uri="{FF2B5EF4-FFF2-40B4-BE49-F238E27FC236}">
                  <a16:creationId xmlns:a16="http://schemas.microsoft.com/office/drawing/2014/main" id="{4CA00E9E-3871-048D-71E6-7D0C892F3CC5}"/>
                </a:ext>
              </a:extLst>
            </p:cNvPr>
            <p:cNvSpPr/>
            <p:nvPr/>
          </p:nvSpPr>
          <p:spPr>
            <a:xfrm rot="5400000">
              <a:off x="5287092" y="2451418"/>
              <a:ext cx="2313813" cy="1529999"/>
            </a:xfrm>
            <a:prstGeom prst="chevron">
              <a:avLst>
                <a:gd name="adj" fmla="val 33191"/>
              </a:avLst>
            </a:pr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40" name="타원 39">
              <a:extLst>
                <a:ext uri="{FF2B5EF4-FFF2-40B4-BE49-F238E27FC236}">
                  <a16:creationId xmlns:a16="http://schemas.microsoft.com/office/drawing/2014/main" id="{38194C2B-F937-D761-1996-D94B37222399}"/>
                </a:ext>
              </a:extLst>
            </p:cNvPr>
            <p:cNvSpPr/>
            <p:nvPr/>
          </p:nvSpPr>
          <p:spPr>
            <a:xfrm>
              <a:off x="7794000" y="3163500"/>
              <a:ext cx="108000" cy="108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41" name="직선 연결선 40">
              <a:extLst>
                <a:ext uri="{FF2B5EF4-FFF2-40B4-BE49-F238E27FC236}">
                  <a16:creationId xmlns:a16="http://schemas.microsoft.com/office/drawing/2014/main" id="{3E2B0CA2-435E-2D22-68C3-5570E1F34701}"/>
                </a:ext>
              </a:extLst>
            </p:cNvPr>
            <p:cNvCxnSpPr>
              <a:cxnSpLocks/>
            </p:cNvCxnSpPr>
            <p:nvPr/>
          </p:nvCxnSpPr>
          <p:spPr>
            <a:xfrm>
              <a:off x="7209000" y="3216418"/>
              <a:ext cx="585000" cy="0"/>
            </a:xfrm>
            <a:prstGeom prst="line">
              <a:avLst/>
            </a:prstGeom>
            <a:ln>
              <a:solidFill>
                <a:srgbClr val="929292"/>
              </a:solidFill>
              <a:prstDash val="dash"/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210DA64-C5C3-5512-DF5D-E321AFFD0E8F}"/>
                </a:ext>
              </a:extLst>
            </p:cNvPr>
            <p:cNvSpPr txBox="1"/>
            <p:nvPr/>
          </p:nvSpPr>
          <p:spPr>
            <a:xfrm>
              <a:off x="5769000" y="3658500"/>
              <a:ext cx="135479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bg1"/>
                  </a:solidFill>
                  <a:latin typeface="+mn-ea"/>
                </a:rPr>
                <a:t>LLM</a:t>
              </a:r>
              <a:endParaRPr lang="ko-KR" altLang="en-US" sz="1400" b="1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49" name="그래픽 48" descr="뇌 단색으로 채워진">
              <a:extLst>
                <a:ext uri="{FF2B5EF4-FFF2-40B4-BE49-F238E27FC236}">
                  <a16:creationId xmlns:a16="http://schemas.microsoft.com/office/drawing/2014/main" id="{56BDE1BA-B035-8B41-BDDF-53201D27136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038999" y="2824511"/>
              <a:ext cx="779400" cy="779400"/>
            </a:xfrm>
            <a:prstGeom prst="rect">
              <a:avLst/>
            </a:prstGeom>
          </p:spPr>
        </p:pic>
      </p:grp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5A5B0A66-8624-C40A-3974-969C3764FA7C}"/>
              </a:ext>
            </a:extLst>
          </p:cNvPr>
          <p:cNvGrpSpPr/>
          <p:nvPr/>
        </p:nvGrpSpPr>
        <p:grpSpPr>
          <a:xfrm>
            <a:off x="6110563" y="5275331"/>
            <a:ext cx="2223001" cy="2313813"/>
            <a:chOff x="5678999" y="2059511"/>
            <a:chExt cx="2223001" cy="2313813"/>
          </a:xfrm>
        </p:grpSpPr>
        <p:sp>
          <p:nvSpPr>
            <p:cNvPr id="56" name="갈매기형 수장 1">
              <a:extLst>
                <a:ext uri="{FF2B5EF4-FFF2-40B4-BE49-F238E27FC236}">
                  <a16:creationId xmlns:a16="http://schemas.microsoft.com/office/drawing/2014/main" id="{7149D481-954A-0823-DABA-D4A27756ECC7}"/>
                </a:ext>
              </a:extLst>
            </p:cNvPr>
            <p:cNvSpPr/>
            <p:nvPr/>
          </p:nvSpPr>
          <p:spPr>
            <a:xfrm rot="5400000">
              <a:off x="5287092" y="2451418"/>
              <a:ext cx="2313813" cy="1529999"/>
            </a:xfrm>
            <a:prstGeom prst="chevron">
              <a:avLst>
                <a:gd name="adj" fmla="val 33191"/>
              </a:avLst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57" name="타원 56">
              <a:extLst>
                <a:ext uri="{FF2B5EF4-FFF2-40B4-BE49-F238E27FC236}">
                  <a16:creationId xmlns:a16="http://schemas.microsoft.com/office/drawing/2014/main" id="{8024C469-C0F3-0B8A-88C3-1B1E912803BA}"/>
                </a:ext>
              </a:extLst>
            </p:cNvPr>
            <p:cNvSpPr/>
            <p:nvPr/>
          </p:nvSpPr>
          <p:spPr>
            <a:xfrm>
              <a:off x="7794000" y="3163500"/>
              <a:ext cx="108000" cy="108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8" name="직선 연결선 57">
              <a:extLst>
                <a:ext uri="{FF2B5EF4-FFF2-40B4-BE49-F238E27FC236}">
                  <a16:creationId xmlns:a16="http://schemas.microsoft.com/office/drawing/2014/main" id="{AB1C6371-5971-3614-7A11-C7F15C168C4B}"/>
                </a:ext>
              </a:extLst>
            </p:cNvPr>
            <p:cNvCxnSpPr>
              <a:cxnSpLocks/>
            </p:cNvCxnSpPr>
            <p:nvPr/>
          </p:nvCxnSpPr>
          <p:spPr>
            <a:xfrm>
              <a:off x="7209000" y="3216418"/>
              <a:ext cx="585000" cy="0"/>
            </a:xfrm>
            <a:prstGeom prst="line">
              <a:avLst/>
            </a:prstGeom>
            <a:ln>
              <a:solidFill>
                <a:srgbClr val="929292"/>
              </a:solidFill>
              <a:prstDash val="dash"/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1265A5DB-1A10-12B3-C178-1744E9F2DFE4}"/>
                </a:ext>
              </a:extLst>
            </p:cNvPr>
            <p:cNvSpPr txBox="1"/>
            <p:nvPr/>
          </p:nvSpPr>
          <p:spPr>
            <a:xfrm>
              <a:off x="5769000" y="3658500"/>
              <a:ext cx="135479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 dirty="0" err="1">
                  <a:solidFill>
                    <a:schemeClr val="bg1"/>
                  </a:solidFill>
                  <a:latin typeface="+mn-ea"/>
                </a:rPr>
                <a:t>Extenal</a:t>
              </a:r>
              <a:endParaRPr lang="ko-KR" altLang="en-US" sz="1400" b="1" dirty="0">
                <a:solidFill>
                  <a:schemeClr val="bg1"/>
                </a:solidFill>
                <a:latin typeface="+mn-ea"/>
              </a:endParaRPr>
            </a:p>
          </p:txBody>
        </p:sp>
      </p:grp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E0899D3C-E6B0-883D-474F-26BAD42F2B37}"/>
              </a:ext>
            </a:extLst>
          </p:cNvPr>
          <p:cNvGrpSpPr/>
          <p:nvPr/>
        </p:nvGrpSpPr>
        <p:grpSpPr>
          <a:xfrm>
            <a:off x="6110563" y="7345331"/>
            <a:ext cx="2223001" cy="2313813"/>
            <a:chOff x="5678999" y="2059511"/>
            <a:chExt cx="2223001" cy="2313813"/>
          </a:xfrm>
        </p:grpSpPr>
        <p:sp>
          <p:nvSpPr>
            <p:cNvPr id="62" name="갈매기형 수장 1">
              <a:extLst>
                <a:ext uri="{FF2B5EF4-FFF2-40B4-BE49-F238E27FC236}">
                  <a16:creationId xmlns:a16="http://schemas.microsoft.com/office/drawing/2014/main" id="{A83E8BB8-6577-0A7C-8A58-111742C16F32}"/>
                </a:ext>
              </a:extLst>
            </p:cNvPr>
            <p:cNvSpPr/>
            <p:nvPr/>
          </p:nvSpPr>
          <p:spPr>
            <a:xfrm rot="5400000">
              <a:off x="5287092" y="2451418"/>
              <a:ext cx="2313813" cy="1529999"/>
            </a:xfrm>
            <a:prstGeom prst="chevron">
              <a:avLst>
                <a:gd name="adj" fmla="val 33191"/>
              </a:avLst>
            </a:pr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3" name="타원 62">
              <a:extLst>
                <a:ext uri="{FF2B5EF4-FFF2-40B4-BE49-F238E27FC236}">
                  <a16:creationId xmlns:a16="http://schemas.microsoft.com/office/drawing/2014/main" id="{B88C1DBA-E627-88F3-F988-E2AAFF05E6D8}"/>
                </a:ext>
              </a:extLst>
            </p:cNvPr>
            <p:cNvSpPr/>
            <p:nvPr/>
          </p:nvSpPr>
          <p:spPr>
            <a:xfrm>
              <a:off x="7794000" y="3163500"/>
              <a:ext cx="108000" cy="108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64" name="직선 연결선 63">
              <a:extLst>
                <a:ext uri="{FF2B5EF4-FFF2-40B4-BE49-F238E27FC236}">
                  <a16:creationId xmlns:a16="http://schemas.microsoft.com/office/drawing/2014/main" id="{0FE2B4C5-23D3-F3F5-0D10-ECCBAB602454}"/>
                </a:ext>
              </a:extLst>
            </p:cNvPr>
            <p:cNvCxnSpPr>
              <a:cxnSpLocks/>
            </p:cNvCxnSpPr>
            <p:nvPr/>
          </p:nvCxnSpPr>
          <p:spPr>
            <a:xfrm>
              <a:off x="7209000" y="3216418"/>
              <a:ext cx="585000" cy="0"/>
            </a:xfrm>
            <a:prstGeom prst="line">
              <a:avLst/>
            </a:prstGeom>
            <a:ln>
              <a:solidFill>
                <a:srgbClr val="929292"/>
              </a:solidFill>
              <a:prstDash val="dash"/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B34BFB31-A3E4-40CF-E533-F3E5CEE0B6E9}"/>
                </a:ext>
              </a:extLst>
            </p:cNvPr>
            <p:cNvSpPr txBox="1"/>
            <p:nvPr/>
          </p:nvSpPr>
          <p:spPr>
            <a:xfrm>
              <a:off x="5769000" y="3658500"/>
              <a:ext cx="135479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bg1"/>
                  </a:solidFill>
                  <a:latin typeface="+mn-ea"/>
                </a:rPr>
                <a:t>Predict</a:t>
              </a:r>
              <a:endParaRPr lang="ko-KR" altLang="en-US" sz="1400" b="1" dirty="0">
                <a:solidFill>
                  <a:schemeClr val="bg1"/>
                </a:solidFill>
                <a:latin typeface="+mn-ea"/>
              </a:endParaRPr>
            </a:p>
          </p:txBody>
        </p:sp>
      </p:grpSp>
      <p:sp>
        <p:nvSpPr>
          <p:cNvPr id="68" name="Rectangle 948">
            <a:extLst>
              <a:ext uri="{FF2B5EF4-FFF2-40B4-BE49-F238E27FC236}">
                <a16:creationId xmlns:a16="http://schemas.microsoft.com/office/drawing/2014/main" id="{3ED0F80C-ECFD-B20F-F8B0-36F7E0892A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65563" y="3314976"/>
            <a:ext cx="3105000" cy="4021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2000" b="1" dirty="0">
                <a:latin typeface="+mj-ea"/>
                <a:ea typeface="+mj-ea"/>
              </a:rPr>
              <a:t>LLM</a:t>
            </a:r>
            <a:r>
              <a:rPr lang="ko-KR" altLang="en-US" sz="2000" b="1" dirty="0">
                <a:latin typeface="+mj-ea"/>
                <a:ea typeface="+mj-ea"/>
              </a:rPr>
              <a:t> 질의 및 답변</a:t>
            </a:r>
            <a:endParaRPr lang="en-US" altLang="ko-KR" sz="2000" b="1" dirty="0">
              <a:latin typeface="+mj-ea"/>
              <a:ea typeface="+mj-ea"/>
            </a:endParaRPr>
          </a:p>
        </p:txBody>
      </p:sp>
      <p:sp>
        <p:nvSpPr>
          <p:cNvPr id="70" name="Rectangle 948">
            <a:extLst>
              <a:ext uri="{FF2B5EF4-FFF2-40B4-BE49-F238E27FC236}">
                <a16:creationId xmlns:a16="http://schemas.microsoft.com/office/drawing/2014/main" id="{9FD13496-E59E-19DD-43E5-0E3E87BC50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65563" y="3899976"/>
            <a:ext cx="3330000" cy="10603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통합된 프롬프트로 </a:t>
            </a:r>
            <a:r>
              <a:rPr lang="ko-KR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</a:rPr>
              <a:t>페르소나 구축</a:t>
            </a:r>
            <a:b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</a:rPr>
            </a:br>
            <a:r>
              <a:rPr lang="ko-KR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고객 맞춤형 구매 가능성</a:t>
            </a: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, </a:t>
            </a:r>
            <a:r>
              <a:rPr lang="ko-KR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선호도 등 예측 결과 도출</a:t>
            </a:r>
          </a:p>
        </p:txBody>
      </p:sp>
      <p:sp>
        <p:nvSpPr>
          <p:cNvPr id="71" name="Rectangle 948">
            <a:extLst>
              <a:ext uri="{FF2B5EF4-FFF2-40B4-BE49-F238E27FC236}">
                <a16:creationId xmlns:a16="http://schemas.microsoft.com/office/drawing/2014/main" id="{EC851289-BF66-9E7A-D6F0-96D1EEE746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65563" y="5564976"/>
            <a:ext cx="3105000" cy="4021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sz="2000" b="1" dirty="0">
                <a:latin typeface="+mj-ea"/>
                <a:ea typeface="+mj-ea"/>
              </a:rPr>
              <a:t>외생 변수 계산</a:t>
            </a:r>
            <a:endParaRPr lang="en-US" altLang="ko-KR" sz="2000" b="1" dirty="0">
              <a:latin typeface="+mj-ea"/>
              <a:ea typeface="+mj-ea"/>
            </a:endParaRPr>
          </a:p>
        </p:txBody>
      </p:sp>
      <p:sp>
        <p:nvSpPr>
          <p:cNvPr id="72" name="Rectangle 948">
            <a:extLst>
              <a:ext uri="{FF2B5EF4-FFF2-40B4-BE49-F238E27FC236}">
                <a16:creationId xmlns:a16="http://schemas.microsoft.com/office/drawing/2014/main" id="{1F2D29F4-0294-63D0-E45B-F697FE2CF0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65563" y="6149976"/>
            <a:ext cx="3465000" cy="10603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월별 판매추이</a:t>
            </a: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, </a:t>
            </a:r>
            <a:r>
              <a:rPr lang="ko-KR" altLang="en-US" sz="16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검색량</a:t>
            </a:r>
            <a:r>
              <a:rPr lang="ko-KR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 트랜드</a:t>
            </a: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,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시장규모 및 제품별 차등 계수</a:t>
            </a: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,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페르소나 증강 계수 등 계산</a:t>
            </a:r>
          </a:p>
        </p:txBody>
      </p:sp>
      <p:sp>
        <p:nvSpPr>
          <p:cNvPr id="73" name="Rectangle 948">
            <a:extLst>
              <a:ext uri="{FF2B5EF4-FFF2-40B4-BE49-F238E27FC236}">
                <a16:creationId xmlns:a16="http://schemas.microsoft.com/office/drawing/2014/main" id="{15ED770E-4AE3-4574-FC5F-5904E66AB8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65563" y="7689308"/>
            <a:ext cx="3105000" cy="4021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sz="2000" b="1" dirty="0" err="1">
                <a:latin typeface="+mj-ea"/>
                <a:ea typeface="+mj-ea"/>
              </a:rPr>
              <a:t>구매량</a:t>
            </a:r>
            <a:r>
              <a:rPr lang="ko-KR" altLang="en-US" sz="2000" b="1" dirty="0">
                <a:latin typeface="+mj-ea"/>
                <a:ea typeface="+mj-ea"/>
              </a:rPr>
              <a:t> 예측</a:t>
            </a:r>
            <a:endParaRPr lang="en-US" altLang="ko-KR" sz="2000" b="1" dirty="0">
              <a:latin typeface="+mj-ea"/>
              <a:ea typeface="+mj-ea"/>
            </a:endParaRPr>
          </a:p>
        </p:txBody>
      </p:sp>
      <p:sp>
        <p:nvSpPr>
          <p:cNvPr id="74" name="Rectangle 948">
            <a:extLst>
              <a:ext uri="{FF2B5EF4-FFF2-40B4-BE49-F238E27FC236}">
                <a16:creationId xmlns:a16="http://schemas.microsoft.com/office/drawing/2014/main" id="{2901CA35-F908-99CB-5009-951E34E40F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65563" y="8274308"/>
            <a:ext cx="3105000" cy="10603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LLM </a:t>
            </a:r>
            <a:r>
              <a:rPr lang="ko-KR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답변 내용과 외생변수의 </a:t>
            </a:r>
            <a:endParaRPr lang="en-US" altLang="ko-KR" sz="1600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계산을 통한 월별 </a:t>
            </a:r>
            <a:r>
              <a:rPr lang="ko-KR" altLang="en-US" sz="16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구매량</a:t>
            </a:r>
            <a:r>
              <a:rPr lang="ko-KR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 </a:t>
            </a:r>
            <a:endParaRPr lang="en-US" altLang="ko-KR" sz="1600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예측 산출물 출력</a:t>
            </a:r>
          </a:p>
        </p:txBody>
      </p:sp>
      <p:sp>
        <p:nvSpPr>
          <p:cNvPr id="75" name="Freeform 1032">
            <a:extLst>
              <a:ext uri="{FF2B5EF4-FFF2-40B4-BE49-F238E27FC236}">
                <a16:creationId xmlns:a16="http://schemas.microsoft.com/office/drawing/2014/main" id="{E66AFCFF-9844-2051-1647-402E86298FE6}"/>
              </a:ext>
            </a:extLst>
          </p:cNvPr>
          <p:cNvSpPr>
            <a:spLocks noEditPoints="1"/>
          </p:cNvSpPr>
          <p:nvPr/>
        </p:nvSpPr>
        <p:spPr bwMode="auto">
          <a:xfrm>
            <a:off x="6470563" y="6130331"/>
            <a:ext cx="765000" cy="630000"/>
          </a:xfrm>
          <a:custGeom>
            <a:avLst/>
            <a:gdLst>
              <a:gd name="T0" fmla="*/ 260 w 260"/>
              <a:gd name="T1" fmla="*/ 242 h 259"/>
              <a:gd name="T2" fmla="*/ 260 w 260"/>
              <a:gd name="T3" fmla="*/ 259 h 259"/>
              <a:gd name="T4" fmla="*/ 0 w 260"/>
              <a:gd name="T5" fmla="*/ 259 h 259"/>
              <a:gd name="T6" fmla="*/ 0 w 260"/>
              <a:gd name="T7" fmla="*/ 0 h 259"/>
              <a:gd name="T8" fmla="*/ 16 w 260"/>
              <a:gd name="T9" fmla="*/ 0 h 259"/>
              <a:gd name="T10" fmla="*/ 16 w 260"/>
              <a:gd name="T11" fmla="*/ 242 h 259"/>
              <a:gd name="T12" fmla="*/ 260 w 260"/>
              <a:gd name="T13" fmla="*/ 242 h 259"/>
              <a:gd name="T14" fmla="*/ 116 w 260"/>
              <a:gd name="T15" fmla="*/ 90 h 259"/>
              <a:gd name="T16" fmla="*/ 182 w 260"/>
              <a:gd name="T17" fmla="*/ 107 h 259"/>
              <a:gd name="T18" fmla="*/ 205 w 260"/>
              <a:gd name="T19" fmla="*/ 66 h 259"/>
              <a:gd name="T20" fmla="*/ 224 w 260"/>
              <a:gd name="T21" fmla="*/ 81 h 259"/>
              <a:gd name="T22" fmla="*/ 227 w 260"/>
              <a:gd name="T23" fmla="*/ 14 h 259"/>
              <a:gd name="T24" fmla="*/ 170 w 260"/>
              <a:gd name="T25" fmla="*/ 47 h 259"/>
              <a:gd name="T26" fmla="*/ 191 w 260"/>
              <a:gd name="T27" fmla="*/ 59 h 259"/>
              <a:gd name="T28" fmla="*/ 175 w 260"/>
              <a:gd name="T29" fmla="*/ 88 h 259"/>
              <a:gd name="T30" fmla="*/ 111 w 260"/>
              <a:gd name="T31" fmla="*/ 71 h 259"/>
              <a:gd name="T32" fmla="*/ 42 w 260"/>
              <a:gd name="T33" fmla="*/ 140 h 259"/>
              <a:gd name="T34" fmla="*/ 54 w 260"/>
              <a:gd name="T35" fmla="*/ 152 h 259"/>
              <a:gd name="T36" fmla="*/ 116 w 260"/>
              <a:gd name="T37" fmla="*/ 90 h 259"/>
              <a:gd name="T38" fmla="*/ 97 w 260"/>
              <a:gd name="T39" fmla="*/ 226 h 259"/>
              <a:gd name="T40" fmla="*/ 130 w 260"/>
              <a:gd name="T41" fmla="*/ 226 h 259"/>
              <a:gd name="T42" fmla="*/ 130 w 260"/>
              <a:gd name="T43" fmla="*/ 109 h 259"/>
              <a:gd name="T44" fmla="*/ 120 w 260"/>
              <a:gd name="T45" fmla="*/ 107 h 259"/>
              <a:gd name="T46" fmla="*/ 97 w 260"/>
              <a:gd name="T47" fmla="*/ 131 h 259"/>
              <a:gd name="T48" fmla="*/ 97 w 260"/>
              <a:gd name="T49" fmla="*/ 226 h 259"/>
              <a:gd name="T50" fmla="*/ 49 w 260"/>
              <a:gd name="T51" fmla="*/ 169 h 259"/>
              <a:gd name="T52" fmla="*/ 49 w 260"/>
              <a:gd name="T53" fmla="*/ 226 h 259"/>
              <a:gd name="T54" fmla="*/ 80 w 260"/>
              <a:gd name="T55" fmla="*/ 226 h 259"/>
              <a:gd name="T56" fmla="*/ 80 w 260"/>
              <a:gd name="T57" fmla="*/ 147 h 259"/>
              <a:gd name="T58" fmla="*/ 54 w 260"/>
              <a:gd name="T59" fmla="*/ 173 h 259"/>
              <a:gd name="T60" fmla="*/ 49 w 260"/>
              <a:gd name="T61" fmla="*/ 169 h 259"/>
              <a:gd name="T62" fmla="*/ 194 w 260"/>
              <a:gd name="T63" fmla="*/ 116 h 259"/>
              <a:gd name="T64" fmla="*/ 194 w 260"/>
              <a:gd name="T65" fmla="*/ 226 h 259"/>
              <a:gd name="T66" fmla="*/ 227 w 260"/>
              <a:gd name="T67" fmla="*/ 226 h 259"/>
              <a:gd name="T68" fmla="*/ 227 w 260"/>
              <a:gd name="T69" fmla="*/ 100 h 259"/>
              <a:gd name="T70" fmla="*/ 210 w 260"/>
              <a:gd name="T71" fmla="*/ 90 h 259"/>
              <a:gd name="T72" fmla="*/ 194 w 260"/>
              <a:gd name="T73" fmla="*/ 116 h 259"/>
              <a:gd name="T74" fmla="*/ 177 w 260"/>
              <a:gd name="T75" fmla="*/ 226 h 259"/>
              <a:gd name="T76" fmla="*/ 177 w 260"/>
              <a:gd name="T77" fmla="*/ 121 h 259"/>
              <a:gd name="T78" fmla="*/ 146 w 260"/>
              <a:gd name="T79" fmla="*/ 114 h 259"/>
              <a:gd name="T80" fmla="*/ 146 w 260"/>
              <a:gd name="T81" fmla="*/ 226 h 259"/>
              <a:gd name="T82" fmla="*/ 177 w 260"/>
              <a:gd name="T83" fmla="*/ 226 h 259"/>
              <a:gd name="T84" fmla="*/ 177 w 260"/>
              <a:gd name="T85" fmla="*/ 226 h 259"/>
              <a:gd name="T86" fmla="*/ 177 w 260"/>
              <a:gd name="T87" fmla="*/ 226 h 2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</a:cxnLst>
            <a:rect l="0" t="0" r="r" b="b"/>
            <a:pathLst>
              <a:path w="260" h="259">
                <a:moveTo>
                  <a:pt x="260" y="242"/>
                </a:moveTo>
                <a:lnTo>
                  <a:pt x="260" y="259"/>
                </a:lnTo>
                <a:lnTo>
                  <a:pt x="0" y="259"/>
                </a:lnTo>
                <a:lnTo>
                  <a:pt x="0" y="0"/>
                </a:lnTo>
                <a:lnTo>
                  <a:pt x="16" y="0"/>
                </a:lnTo>
                <a:lnTo>
                  <a:pt x="16" y="242"/>
                </a:lnTo>
                <a:lnTo>
                  <a:pt x="260" y="242"/>
                </a:lnTo>
                <a:close/>
                <a:moveTo>
                  <a:pt x="116" y="90"/>
                </a:moveTo>
                <a:lnTo>
                  <a:pt x="182" y="107"/>
                </a:lnTo>
                <a:lnTo>
                  <a:pt x="205" y="66"/>
                </a:lnTo>
                <a:lnTo>
                  <a:pt x="224" y="81"/>
                </a:lnTo>
                <a:lnTo>
                  <a:pt x="227" y="14"/>
                </a:lnTo>
                <a:lnTo>
                  <a:pt x="170" y="47"/>
                </a:lnTo>
                <a:lnTo>
                  <a:pt x="191" y="59"/>
                </a:lnTo>
                <a:lnTo>
                  <a:pt x="175" y="88"/>
                </a:lnTo>
                <a:lnTo>
                  <a:pt x="111" y="71"/>
                </a:lnTo>
                <a:lnTo>
                  <a:pt x="42" y="140"/>
                </a:lnTo>
                <a:lnTo>
                  <a:pt x="54" y="152"/>
                </a:lnTo>
                <a:lnTo>
                  <a:pt x="116" y="90"/>
                </a:lnTo>
                <a:close/>
                <a:moveTo>
                  <a:pt x="97" y="226"/>
                </a:moveTo>
                <a:lnTo>
                  <a:pt x="130" y="226"/>
                </a:lnTo>
                <a:lnTo>
                  <a:pt x="130" y="109"/>
                </a:lnTo>
                <a:lnTo>
                  <a:pt x="120" y="107"/>
                </a:lnTo>
                <a:lnTo>
                  <a:pt x="97" y="131"/>
                </a:lnTo>
                <a:lnTo>
                  <a:pt x="97" y="226"/>
                </a:lnTo>
                <a:close/>
                <a:moveTo>
                  <a:pt x="49" y="169"/>
                </a:moveTo>
                <a:lnTo>
                  <a:pt x="49" y="226"/>
                </a:lnTo>
                <a:lnTo>
                  <a:pt x="80" y="226"/>
                </a:lnTo>
                <a:lnTo>
                  <a:pt x="80" y="147"/>
                </a:lnTo>
                <a:lnTo>
                  <a:pt x="54" y="173"/>
                </a:lnTo>
                <a:lnTo>
                  <a:pt x="49" y="169"/>
                </a:lnTo>
                <a:close/>
                <a:moveTo>
                  <a:pt x="194" y="116"/>
                </a:moveTo>
                <a:lnTo>
                  <a:pt x="194" y="226"/>
                </a:lnTo>
                <a:lnTo>
                  <a:pt x="227" y="226"/>
                </a:lnTo>
                <a:lnTo>
                  <a:pt x="227" y="100"/>
                </a:lnTo>
                <a:lnTo>
                  <a:pt x="210" y="90"/>
                </a:lnTo>
                <a:lnTo>
                  <a:pt x="194" y="116"/>
                </a:lnTo>
                <a:close/>
                <a:moveTo>
                  <a:pt x="177" y="226"/>
                </a:moveTo>
                <a:lnTo>
                  <a:pt x="177" y="121"/>
                </a:lnTo>
                <a:lnTo>
                  <a:pt x="146" y="114"/>
                </a:lnTo>
                <a:lnTo>
                  <a:pt x="146" y="226"/>
                </a:lnTo>
                <a:lnTo>
                  <a:pt x="177" y="226"/>
                </a:lnTo>
                <a:close/>
                <a:moveTo>
                  <a:pt x="177" y="226"/>
                </a:moveTo>
                <a:lnTo>
                  <a:pt x="177" y="226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5344CD9F-4ECD-5F1C-868F-D55A4186271B}"/>
              </a:ext>
            </a:extLst>
          </p:cNvPr>
          <p:cNvGrpSpPr/>
          <p:nvPr/>
        </p:nvGrpSpPr>
        <p:grpSpPr>
          <a:xfrm>
            <a:off x="13985563" y="3340331"/>
            <a:ext cx="544512" cy="460375"/>
            <a:chOff x="1572131" y="3768482"/>
            <a:chExt cx="544512" cy="460375"/>
          </a:xfrm>
          <a:solidFill>
            <a:srgbClr val="F2F2F2"/>
          </a:solidFill>
        </p:grpSpPr>
        <p:sp>
          <p:nvSpPr>
            <p:cNvPr id="80" name="Freeform 1499">
              <a:extLst>
                <a:ext uri="{FF2B5EF4-FFF2-40B4-BE49-F238E27FC236}">
                  <a16:creationId xmlns:a16="http://schemas.microsoft.com/office/drawing/2014/main" id="{449F9242-96EF-B390-C109-1C8F12E9F5EE}"/>
                </a:ext>
              </a:extLst>
            </p:cNvPr>
            <p:cNvSpPr>
              <a:spLocks/>
            </p:cNvSpPr>
            <p:nvPr/>
          </p:nvSpPr>
          <p:spPr bwMode="auto">
            <a:xfrm>
              <a:off x="1635631" y="4165357"/>
              <a:ext cx="417512" cy="63500"/>
            </a:xfrm>
            <a:custGeom>
              <a:avLst/>
              <a:gdLst>
                <a:gd name="T0" fmla="*/ 250 w 263"/>
                <a:gd name="T1" fmla="*/ 27 h 40"/>
                <a:gd name="T2" fmla="*/ 184 w 263"/>
                <a:gd name="T3" fmla="*/ 27 h 40"/>
                <a:gd name="T4" fmla="*/ 184 w 263"/>
                <a:gd name="T5" fmla="*/ 14 h 40"/>
                <a:gd name="T6" fmla="*/ 184 w 263"/>
                <a:gd name="T7" fmla="*/ 14 h 40"/>
                <a:gd name="T8" fmla="*/ 184 w 263"/>
                <a:gd name="T9" fmla="*/ 7 h 40"/>
                <a:gd name="T10" fmla="*/ 181 w 263"/>
                <a:gd name="T11" fmla="*/ 4 h 40"/>
                <a:gd name="T12" fmla="*/ 178 w 263"/>
                <a:gd name="T13" fmla="*/ 0 h 40"/>
                <a:gd name="T14" fmla="*/ 171 w 263"/>
                <a:gd name="T15" fmla="*/ 0 h 40"/>
                <a:gd name="T16" fmla="*/ 92 w 263"/>
                <a:gd name="T17" fmla="*/ 0 h 40"/>
                <a:gd name="T18" fmla="*/ 92 w 263"/>
                <a:gd name="T19" fmla="*/ 0 h 40"/>
                <a:gd name="T20" fmla="*/ 85 w 263"/>
                <a:gd name="T21" fmla="*/ 4 h 40"/>
                <a:gd name="T22" fmla="*/ 82 w 263"/>
                <a:gd name="T23" fmla="*/ 7 h 40"/>
                <a:gd name="T24" fmla="*/ 79 w 263"/>
                <a:gd name="T25" fmla="*/ 14 h 40"/>
                <a:gd name="T26" fmla="*/ 79 w 263"/>
                <a:gd name="T27" fmla="*/ 27 h 40"/>
                <a:gd name="T28" fmla="*/ 13 w 263"/>
                <a:gd name="T29" fmla="*/ 27 h 40"/>
                <a:gd name="T30" fmla="*/ 13 w 263"/>
                <a:gd name="T31" fmla="*/ 27 h 40"/>
                <a:gd name="T32" fmla="*/ 6 w 263"/>
                <a:gd name="T33" fmla="*/ 27 h 40"/>
                <a:gd name="T34" fmla="*/ 3 w 263"/>
                <a:gd name="T35" fmla="*/ 30 h 40"/>
                <a:gd name="T36" fmla="*/ 0 w 263"/>
                <a:gd name="T37" fmla="*/ 40 h 40"/>
                <a:gd name="T38" fmla="*/ 263 w 263"/>
                <a:gd name="T39" fmla="*/ 40 h 40"/>
                <a:gd name="T40" fmla="*/ 263 w 263"/>
                <a:gd name="T41" fmla="*/ 40 h 40"/>
                <a:gd name="T42" fmla="*/ 263 w 263"/>
                <a:gd name="T43" fmla="*/ 33 h 40"/>
                <a:gd name="T44" fmla="*/ 260 w 263"/>
                <a:gd name="T45" fmla="*/ 30 h 40"/>
                <a:gd name="T46" fmla="*/ 257 w 263"/>
                <a:gd name="T47" fmla="*/ 27 h 40"/>
                <a:gd name="T48" fmla="*/ 250 w 263"/>
                <a:gd name="T49" fmla="*/ 27 h 40"/>
                <a:gd name="T50" fmla="*/ 250 w 263"/>
                <a:gd name="T51" fmla="*/ 27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3" h="40">
                  <a:moveTo>
                    <a:pt x="250" y="27"/>
                  </a:moveTo>
                  <a:lnTo>
                    <a:pt x="184" y="27"/>
                  </a:lnTo>
                  <a:lnTo>
                    <a:pt x="184" y="14"/>
                  </a:lnTo>
                  <a:lnTo>
                    <a:pt x="184" y="14"/>
                  </a:lnTo>
                  <a:lnTo>
                    <a:pt x="184" y="7"/>
                  </a:lnTo>
                  <a:lnTo>
                    <a:pt x="181" y="4"/>
                  </a:lnTo>
                  <a:lnTo>
                    <a:pt x="178" y="0"/>
                  </a:lnTo>
                  <a:lnTo>
                    <a:pt x="171" y="0"/>
                  </a:lnTo>
                  <a:lnTo>
                    <a:pt x="92" y="0"/>
                  </a:lnTo>
                  <a:lnTo>
                    <a:pt x="92" y="0"/>
                  </a:lnTo>
                  <a:lnTo>
                    <a:pt x="85" y="4"/>
                  </a:lnTo>
                  <a:lnTo>
                    <a:pt x="82" y="7"/>
                  </a:lnTo>
                  <a:lnTo>
                    <a:pt x="79" y="14"/>
                  </a:lnTo>
                  <a:lnTo>
                    <a:pt x="79" y="27"/>
                  </a:lnTo>
                  <a:lnTo>
                    <a:pt x="13" y="27"/>
                  </a:lnTo>
                  <a:lnTo>
                    <a:pt x="13" y="27"/>
                  </a:lnTo>
                  <a:lnTo>
                    <a:pt x="6" y="27"/>
                  </a:lnTo>
                  <a:lnTo>
                    <a:pt x="3" y="30"/>
                  </a:lnTo>
                  <a:lnTo>
                    <a:pt x="0" y="40"/>
                  </a:lnTo>
                  <a:lnTo>
                    <a:pt x="263" y="40"/>
                  </a:lnTo>
                  <a:lnTo>
                    <a:pt x="263" y="40"/>
                  </a:lnTo>
                  <a:lnTo>
                    <a:pt x="263" y="33"/>
                  </a:lnTo>
                  <a:lnTo>
                    <a:pt x="260" y="30"/>
                  </a:lnTo>
                  <a:lnTo>
                    <a:pt x="257" y="27"/>
                  </a:lnTo>
                  <a:lnTo>
                    <a:pt x="250" y="27"/>
                  </a:lnTo>
                  <a:lnTo>
                    <a:pt x="250" y="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1" name="Freeform 1500">
              <a:extLst>
                <a:ext uri="{FF2B5EF4-FFF2-40B4-BE49-F238E27FC236}">
                  <a16:creationId xmlns:a16="http://schemas.microsoft.com/office/drawing/2014/main" id="{CF16114F-F685-10C5-D12D-8E50354F8D8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572131" y="3768482"/>
              <a:ext cx="544512" cy="376238"/>
            </a:xfrm>
            <a:custGeom>
              <a:avLst/>
              <a:gdLst>
                <a:gd name="T0" fmla="*/ 330 w 343"/>
                <a:gd name="T1" fmla="*/ 0 h 237"/>
                <a:gd name="T2" fmla="*/ 13 w 343"/>
                <a:gd name="T3" fmla="*/ 0 h 237"/>
                <a:gd name="T4" fmla="*/ 13 w 343"/>
                <a:gd name="T5" fmla="*/ 0 h 237"/>
                <a:gd name="T6" fmla="*/ 7 w 343"/>
                <a:gd name="T7" fmla="*/ 0 h 237"/>
                <a:gd name="T8" fmla="*/ 3 w 343"/>
                <a:gd name="T9" fmla="*/ 3 h 237"/>
                <a:gd name="T10" fmla="*/ 0 w 343"/>
                <a:gd name="T11" fmla="*/ 7 h 237"/>
                <a:gd name="T12" fmla="*/ 0 w 343"/>
                <a:gd name="T13" fmla="*/ 13 h 237"/>
                <a:gd name="T14" fmla="*/ 0 w 343"/>
                <a:gd name="T15" fmla="*/ 224 h 237"/>
                <a:gd name="T16" fmla="*/ 0 w 343"/>
                <a:gd name="T17" fmla="*/ 224 h 237"/>
                <a:gd name="T18" fmla="*/ 0 w 343"/>
                <a:gd name="T19" fmla="*/ 231 h 237"/>
                <a:gd name="T20" fmla="*/ 3 w 343"/>
                <a:gd name="T21" fmla="*/ 234 h 237"/>
                <a:gd name="T22" fmla="*/ 7 w 343"/>
                <a:gd name="T23" fmla="*/ 237 h 237"/>
                <a:gd name="T24" fmla="*/ 13 w 343"/>
                <a:gd name="T25" fmla="*/ 237 h 237"/>
                <a:gd name="T26" fmla="*/ 330 w 343"/>
                <a:gd name="T27" fmla="*/ 237 h 237"/>
                <a:gd name="T28" fmla="*/ 330 w 343"/>
                <a:gd name="T29" fmla="*/ 237 h 237"/>
                <a:gd name="T30" fmla="*/ 336 w 343"/>
                <a:gd name="T31" fmla="*/ 237 h 237"/>
                <a:gd name="T32" fmla="*/ 340 w 343"/>
                <a:gd name="T33" fmla="*/ 234 h 237"/>
                <a:gd name="T34" fmla="*/ 343 w 343"/>
                <a:gd name="T35" fmla="*/ 231 h 237"/>
                <a:gd name="T36" fmla="*/ 343 w 343"/>
                <a:gd name="T37" fmla="*/ 224 h 237"/>
                <a:gd name="T38" fmla="*/ 343 w 343"/>
                <a:gd name="T39" fmla="*/ 13 h 237"/>
                <a:gd name="T40" fmla="*/ 343 w 343"/>
                <a:gd name="T41" fmla="*/ 13 h 237"/>
                <a:gd name="T42" fmla="*/ 343 w 343"/>
                <a:gd name="T43" fmla="*/ 7 h 237"/>
                <a:gd name="T44" fmla="*/ 340 w 343"/>
                <a:gd name="T45" fmla="*/ 3 h 237"/>
                <a:gd name="T46" fmla="*/ 336 w 343"/>
                <a:gd name="T47" fmla="*/ 0 h 237"/>
                <a:gd name="T48" fmla="*/ 330 w 343"/>
                <a:gd name="T49" fmla="*/ 0 h 237"/>
                <a:gd name="T50" fmla="*/ 330 w 343"/>
                <a:gd name="T51" fmla="*/ 0 h 237"/>
                <a:gd name="T52" fmla="*/ 317 w 343"/>
                <a:gd name="T53" fmla="*/ 198 h 237"/>
                <a:gd name="T54" fmla="*/ 26 w 343"/>
                <a:gd name="T55" fmla="*/ 198 h 237"/>
                <a:gd name="T56" fmla="*/ 26 w 343"/>
                <a:gd name="T57" fmla="*/ 26 h 237"/>
                <a:gd name="T58" fmla="*/ 317 w 343"/>
                <a:gd name="T59" fmla="*/ 26 h 237"/>
                <a:gd name="T60" fmla="*/ 317 w 343"/>
                <a:gd name="T61" fmla="*/ 198 h 2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343" h="237">
                  <a:moveTo>
                    <a:pt x="330" y="0"/>
                  </a:moveTo>
                  <a:lnTo>
                    <a:pt x="13" y="0"/>
                  </a:lnTo>
                  <a:lnTo>
                    <a:pt x="13" y="0"/>
                  </a:lnTo>
                  <a:lnTo>
                    <a:pt x="7" y="0"/>
                  </a:lnTo>
                  <a:lnTo>
                    <a:pt x="3" y="3"/>
                  </a:lnTo>
                  <a:lnTo>
                    <a:pt x="0" y="7"/>
                  </a:lnTo>
                  <a:lnTo>
                    <a:pt x="0" y="13"/>
                  </a:lnTo>
                  <a:lnTo>
                    <a:pt x="0" y="224"/>
                  </a:lnTo>
                  <a:lnTo>
                    <a:pt x="0" y="224"/>
                  </a:lnTo>
                  <a:lnTo>
                    <a:pt x="0" y="231"/>
                  </a:lnTo>
                  <a:lnTo>
                    <a:pt x="3" y="234"/>
                  </a:lnTo>
                  <a:lnTo>
                    <a:pt x="7" y="237"/>
                  </a:lnTo>
                  <a:lnTo>
                    <a:pt x="13" y="237"/>
                  </a:lnTo>
                  <a:lnTo>
                    <a:pt x="330" y="237"/>
                  </a:lnTo>
                  <a:lnTo>
                    <a:pt x="330" y="237"/>
                  </a:lnTo>
                  <a:lnTo>
                    <a:pt x="336" y="237"/>
                  </a:lnTo>
                  <a:lnTo>
                    <a:pt x="340" y="234"/>
                  </a:lnTo>
                  <a:lnTo>
                    <a:pt x="343" y="231"/>
                  </a:lnTo>
                  <a:lnTo>
                    <a:pt x="343" y="224"/>
                  </a:lnTo>
                  <a:lnTo>
                    <a:pt x="343" y="13"/>
                  </a:lnTo>
                  <a:lnTo>
                    <a:pt x="343" y="13"/>
                  </a:lnTo>
                  <a:lnTo>
                    <a:pt x="343" y="7"/>
                  </a:lnTo>
                  <a:lnTo>
                    <a:pt x="340" y="3"/>
                  </a:lnTo>
                  <a:lnTo>
                    <a:pt x="336" y="0"/>
                  </a:lnTo>
                  <a:lnTo>
                    <a:pt x="330" y="0"/>
                  </a:lnTo>
                  <a:lnTo>
                    <a:pt x="330" y="0"/>
                  </a:lnTo>
                  <a:close/>
                  <a:moveTo>
                    <a:pt x="317" y="198"/>
                  </a:moveTo>
                  <a:lnTo>
                    <a:pt x="26" y="198"/>
                  </a:lnTo>
                  <a:lnTo>
                    <a:pt x="26" y="26"/>
                  </a:lnTo>
                  <a:lnTo>
                    <a:pt x="317" y="26"/>
                  </a:lnTo>
                  <a:lnTo>
                    <a:pt x="317" y="1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</p:grpSp>
      <p:sp>
        <p:nvSpPr>
          <p:cNvPr id="82" name="Freeform 103">
            <a:extLst>
              <a:ext uri="{FF2B5EF4-FFF2-40B4-BE49-F238E27FC236}">
                <a16:creationId xmlns:a16="http://schemas.microsoft.com/office/drawing/2014/main" id="{1BDA4F77-DDE9-77F0-F13B-4B862CAE3705}"/>
              </a:ext>
            </a:extLst>
          </p:cNvPr>
          <p:cNvSpPr/>
          <p:nvPr/>
        </p:nvSpPr>
        <p:spPr>
          <a:xfrm rot="5400000">
            <a:off x="6515563" y="8110331"/>
            <a:ext cx="749558" cy="749558"/>
          </a:xfrm>
          <a:custGeom>
            <a:avLst/>
            <a:gdLst>
              <a:gd name="connsiteX0" fmla="*/ 1200727 w 1838037"/>
              <a:gd name="connsiteY0" fmla="*/ 189346 h 1838037"/>
              <a:gd name="connsiteX1" fmla="*/ 1200727 w 1838037"/>
              <a:gd name="connsiteY1" fmla="*/ 0 h 1838037"/>
              <a:gd name="connsiteX2" fmla="*/ 1838037 w 1838037"/>
              <a:gd name="connsiteY2" fmla="*/ 0 h 1838037"/>
              <a:gd name="connsiteX3" fmla="*/ 1838037 w 1838037"/>
              <a:gd name="connsiteY3" fmla="*/ 637310 h 1838037"/>
              <a:gd name="connsiteX4" fmla="*/ 1648691 w 1838037"/>
              <a:gd name="connsiteY4" fmla="*/ 637310 h 1838037"/>
              <a:gd name="connsiteX5" fmla="*/ 1648691 w 1838037"/>
              <a:gd name="connsiteY5" fmla="*/ 189346 h 1838037"/>
              <a:gd name="connsiteX6" fmla="*/ 1200727 w 1838037"/>
              <a:gd name="connsiteY6" fmla="*/ 1838037 h 1838037"/>
              <a:gd name="connsiteX7" fmla="*/ 1200727 w 1838037"/>
              <a:gd name="connsiteY7" fmla="*/ 1648692 h 1838037"/>
              <a:gd name="connsiteX8" fmla="*/ 1648691 w 1838037"/>
              <a:gd name="connsiteY8" fmla="*/ 1648692 h 1838037"/>
              <a:gd name="connsiteX9" fmla="*/ 1648691 w 1838037"/>
              <a:gd name="connsiteY9" fmla="*/ 1200729 h 1838037"/>
              <a:gd name="connsiteX10" fmla="*/ 1838037 w 1838037"/>
              <a:gd name="connsiteY10" fmla="*/ 1200729 h 1838037"/>
              <a:gd name="connsiteX11" fmla="*/ 1838037 w 1838037"/>
              <a:gd name="connsiteY11" fmla="*/ 1838037 h 1838037"/>
              <a:gd name="connsiteX12" fmla="*/ 967509 w 1838037"/>
              <a:gd name="connsiteY12" fmla="*/ 870528 h 1838037"/>
              <a:gd name="connsiteX13" fmla="*/ 1193347 w 1838037"/>
              <a:gd name="connsiteY13" fmla="*/ 870528 h 1838037"/>
              <a:gd name="connsiteX14" fmla="*/ 1188015 w 1838037"/>
              <a:gd name="connsiteY14" fmla="*/ 835262 h 1838037"/>
              <a:gd name="connsiteX15" fmla="*/ 1028653 w 1838037"/>
              <a:gd name="connsiteY15" fmla="*/ 659493 h 1838037"/>
              <a:gd name="connsiteX16" fmla="*/ 967509 w 1838037"/>
              <a:gd name="connsiteY16" fmla="*/ 647149 h 1838037"/>
              <a:gd name="connsiteX17" fmla="*/ 967509 w 1838037"/>
              <a:gd name="connsiteY17" fmla="*/ 1190889 h 1838037"/>
              <a:gd name="connsiteX18" fmla="*/ 1028653 w 1838037"/>
              <a:gd name="connsiteY18" fmla="*/ 1178545 h 1838037"/>
              <a:gd name="connsiteX19" fmla="*/ 1188015 w 1838037"/>
              <a:gd name="connsiteY19" fmla="*/ 1002776 h 1838037"/>
              <a:gd name="connsiteX20" fmla="*/ 1193347 w 1838037"/>
              <a:gd name="connsiteY20" fmla="*/ 967510 h 1838037"/>
              <a:gd name="connsiteX21" fmla="*/ 967509 w 1838037"/>
              <a:gd name="connsiteY21" fmla="*/ 967510 h 1838037"/>
              <a:gd name="connsiteX22" fmla="*/ 644689 w 1838037"/>
              <a:gd name="connsiteY22" fmla="*/ 870528 h 1838037"/>
              <a:gd name="connsiteX23" fmla="*/ 870527 w 1838037"/>
              <a:gd name="connsiteY23" fmla="*/ 870528 h 1838037"/>
              <a:gd name="connsiteX24" fmla="*/ 870527 w 1838037"/>
              <a:gd name="connsiteY24" fmla="*/ 647149 h 1838037"/>
              <a:gd name="connsiteX25" fmla="*/ 809383 w 1838037"/>
              <a:gd name="connsiteY25" fmla="*/ 659493 h 1838037"/>
              <a:gd name="connsiteX26" fmla="*/ 650021 w 1838037"/>
              <a:gd name="connsiteY26" fmla="*/ 835262 h 1838037"/>
              <a:gd name="connsiteX27" fmla="*/ 644689 w 1838037"/>
              <a:gd name="connsiteY27" fmla="*/ 967510 h 1838037"/>
              <a:gd name="connsiteX28" fmla="*/ 650021 w 1838037"/>
              <a:gd name="connsiteY28" fmla="*/ 1002776 h 1838037"/>
              <a:gd name="connsiteX29" fmla="*/ 809383 w 1838037"/>
              <a:gd name="connsiteY29" fmla="*/ 1178545 h 1838037"/>
              <a:gd name="connsiteX30" fmla="*/ 870527 w 1838037"/>
              <a:gd name="connsiteY30" fmla="*/ 1190889 h 1838037"/>
              <a:gd name="connsiteX31" fmla="*/ 870527 w 1838037"/>
              <a:gd name="connsiteY31" fmla="*/ 967510 h 1838037"/>
              <a:gd name="connsiteX32" fmla="*/ 297476 w 1838037"/>
              <a:gd name="connsiteY32" fmla="*/ 967510 h 1838037"/>
              <a:gd name="connsiteX33" fmla="*/ 297476 w 1838037"/>
              <a:gd name="connsiteY33" fmla="*/ 870528 h 1838037"/>
              <a:gd name="connsiteX34" fmla="*/ 544894 w 1838037"/>
              <a:gd name="connsiteY34" fmla="*/ 870528 h 1838037"/>
              <a:gd name="connsiteX35" fmla="*/ 546526 w 1838037"/>
              <a:gd name="connsiteY35" fmla="*/ 852036 h 1838037"/>
              <a:gd name="connsiteX36" fmla="*/ 842756 w 1838037"/>
              <a:gd name="connsiteY36" fmla="*/ 548305 h 1838037"/>
              <a:gd name="connsiteX37" fmla="*/ 870527 w 1838037"/>
              <a:gd name="connsiteY37" fmla="*/ 545506 h 1838037"/>
              <a:gd name="connsiteX38" fmla="*/ 870527 w 1838037"/>
              <a:gd name="connsiteY38" fmla="*/ 297477 h 1838037"/>
              <a:gd name="connsiteX39" fmla="*/ 967509 w 1838037"/>
              <a:gd name="connsiteY39" fmla="*/ 297477 h 1838037"/>
              <a:gd name="connsiteX40" fmla="*/ 967509 w 1838037"/>
              <a:gd name="connsiteY40" fmla="*/ 545506 h 1838037"/>
              <a:gd name="connsiteX41" fmla="*/ 995280 w 1838037"/>
              <a:gd name="connsiteY41" fmla="*/ 548305 h 1838037"/>
              <a:gd name="connsiteX42" fmla="*/ 1291510 w 1838037"/>
              <a:gd name="connsiteY42" fmla="*/ 852036 h 1838037"/>
              <a:gd name="connsiteX43" fmla="*/ 1293142 w 1838037"/>
              <a:gd name="connsiteY43" fmla="*/ 870528 h 1838037"/>
              <a:gd name="connsiteX44" fmla="*/ 1540560 w 1838037"/>
              <a:gd name="connsiteY44" fmla="*/ 870528 h 1838037"/>
              <a:gd name="connsiteX45" fmla="*/ 1540560 w 1838037"/>
              <a:gd name="connsiteY45" fmla="*/ 967510 h 1838037"/>
              <a:gd name="connsiteX46" fmla="*/ 1293142 w 1838037"/>
              <a:gd name="connsiteY46" fmla="*/ 967510 h 1838037"/>
              <a:gd name="connsiteX47" fmla="*/ 1291510 w 1838037"/>
              <a:gd name="connsiteY47" fmla="*/ 986003 h 1838037"/>
              <a:gd name="connsiteX48" fmla="*/ 995280 w 1838037"/>
              <a:gd name="connsiteY48" fmla="*/ 1289733 h 1838037"/>
              <a:gd name="connsiteX49" fmla="*/ 967509 w 1838037"/>
              <a:gd name="connsiteY49" fmla="*/ 1292533 h 1838037"/>
              <a:gd name="connsiteX50" fmla="*/ 967509 w 1838037"/>
              <a:gd name="connsiteY50" fmla="*/ 1540561 h 1838037"/>
              <a:gd name="connsiteX51" fmla="*/ 870527 w 1838037"/>
              <a:gd name="connsiteY51" fmla="*/ 1540561 h 1838037"/>
              <a:gd name="connsiteX52" fmla="*/ 870527 w 1838037"/>
              <a:gd name="connsiteY52" fmla="*/ 1292533 h 1838037"/>
              <a:gd name="connsiteX53" fmla="*/ 842756 w 1838037"/>
              <a:gd name="connsiteY53" fmla="*/ 1289733 h 1838037"/>
              <a:gd name="connsiteX54" fmla="*/ 546526 w 1838037"/>
              <a:gd name="connsiteY54" fmla="*/ 986003 h 1838037"/>
              <a:gd name="connsiteX55" fmla="*/ 544894 w 1838037"/>
              <a:gd name="connsiteY55" fmla="*/ 967510 h 1838037"/>
              <a:gd name="connsiteX56" fmla="*/ 0 w 1838037"/>
              <a:gd name="connsiteY56" fmla="*/ 637310 h 1838037"/>
              <a:gd name="connsiteX57" fmla="*/ 0 w 1838037"/>
              <a:gd name="connsiteY57" fmla="*/ 0 h 1838037"/>
              <a:gd name="connsiteX58" fmla="*/ 637308 w 1838037"/>
              <a:gd name="connsiteY58" fmla="*/ 0 h 1838037"/>
              <a:gd name="connsiteX59" fmla="*/ 637308 w 1838037"/>
              <a:gd name="connsiteY59" fmla="*/ 189346 h 1838037"/>
              <a:gd name="connsiteX60" fmla="*/ 189345 w 1838037"/>
              <a:gd name="connsiteY60" fmla="*/ 189346 h 1838037"/>
              <a:gd name="connsiteX61" fmla="*/ 189345 w 1838037"/>
              <a:gd name="connsiteY61" fmla="*/ 637310 h 1838037"/>
              <a:gd name="connsiteX62" fmla="*/ 0 w 1838037"/>
              <a:gd name="connsiteY62" fmla="*/ 1838037 h 1838037"/>
              <a:gd name="connsiteX63" fmla="*/ 0 w 1838037"/>
              <a:gd name="connsiteY63" fmla="*/ 1200729 h 1838037"/>
              <a:gd name="connsiteX64" fmla="*/ 189345 w 1838037"/>
              <a:gd name="connsiteY64" fmla="*/ 1200729 h 1838037"/>
              <a:gd name="connsiteX65" fmla="*/ 189345 w 1838037"/>
              <a:gd name="connsiteY65" fmla="*/ 1648692 h 1838037"/>
              <a:gd name="connsiteX66" fmla="*/ 637308 w 1838037"/>
              <a:gd name="connsiteY66" fmla="*/ 1648692 h 1838037"/>
              <a:gd name="connsiteX67" fmla="*/ 637308 w 1838037"/>
              <a:gd name="connsiteY67" fmla="*/ 1838037 h 18380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</a:cxnLst>
            <a:rect l="l" t="t" r="r" b="b"/>
            <a:pathLst>
              <a:path w="1838037" h="1838037">
                <a:moveTo>
                  <a:pt x="1200727" y="189346"/>
                </a:moveTo>
                <a:lnTo>
                  <a:pt x="1200727" y="0"/>
                </a:lnTo>
                <a:lnTo>
                  <a:pt x="1838037" y="0"/>
                </a:lnTo>
                <a:lnTo>
                  <a:pt x="1838037" y="637310"/>
                </a:lnTo>
                <a:lnTo>
                  <a:pt x="1648691" y="637310"/>
                </a:lnTo>
                <a:lnTo>
                  <a:pt x="1648691" y="189346"/>
                </a:lnTo>
                <a:close/>
                <a:moveTo>
                  <a:pt x="1200727" y="1838037"/>
                </a:moveTo>
                <a:lnTo>
                  <a:pt x="1200727" y="1648692"/>
                </a:lnTo>
                <a:lnTo>
                  <a:pt x="1648691" y="1648692"/>
                </a:lnTo>
                <a:lnTo>
                  <a:pt x="1648691" y="1200729"/>
                </a:lnTo>
                <a:lnTo>
                  <a:pt x="1838037" y="1200729"/>
                </a:lnTo>
                <a:lnTo>
                  <a:pt x="1838037" y="1838037"/>
                </a:lnTo>
                <a:close/>
                <a:moveTo>
                  <a:pt x="967509" y="870528"/>
                </a:moveTo>
                <a:lnTo>
                  <a:pt x="1193347" y="870528"/>
                </a:lnTo>
                <a:lnTo>
                  <a:pt x="1188015" y="835262"/>
                </a:lnTo>
                <a:cubicBezTo>
                  <a:pt x="1163327" y="755886"/>
                  <a:pt x="1104472" y="691562"/>
                  <a:pt x="1028653" y="659493"/>
                </a:cubicBezTo>
                <a:lnTo>
                  <a:pt x="967509" y="647149"/>
                </a:lnTo>
                <a:close/>
                <a:moveTo>
                  <a:pt x="967509" y="1190889"/>
                </a:moveTo>
                <a:lnTo>
                  <a:pt x="1028653" y="1178545"/>
                </a:lnTo>
                <a:cubicBezTo>
                  <a:pt x="1104472" y="1146476"/>
                  <a:pt x="1163327" y="1082153"/>
                  <a:pt x="1188015" y="1002776"/>
                </a:cubicBezTo>
                <a:lnTo>
                  <a:pt x="1193347" y="967510"/>
                </a:lnTo>
                <a:lnTo>
                  <a:pt x="967509" y="967510"/>
                </a:lnTo>
                <a:close/>
                <a:moveTo>
                  <a:pt x="644689" y="870528"/>
                </a:moveTo>
                <a:lnTo>
                  <a:pt x="870527" y="870528"/>
                </a:lnTo>
                <a:lnTo>
                  <a:pt x="870527" y="647149"/>
                </a:lnTo>
                <a:lnTo>
                  <a:pt x="809383" y="659493"/>
                </a:lnTo>
                <a:cubicBezTo>
                  <a:pt x="733564" y="691562"/>
                  <a:pt x="674709" y="755886"/>
                  <a:pt x="650021" y="835262"/>
                </a:cubicBezTo>
                <a:close/>
                <a:moveTo>
                  <a:pt x="644689" y="967510"/>
                </a:moveTo>
                <a:lnTo>
                  <a:pt x="650021" y="1002776"/>
                </a:lnTo>
                <a:cubicBezTo>
                  <a:pt x="674709" y="1082153"/>
                  <a:pt x="733564" y="1146476"/>
                  <a:pt x="809383" y="1178545"/>
                </a:cubicBezTo>
                <a:lnTo>
                  <a:pt x="870527" y="1190889"/>
                </a:lnTo>
                <a:lnTo>
                  <a:pt x="870527" y="967510"/>
                </a:lnTo>
                <a:close/>
                <a:moveTo>
                  <a:pt x="297476" y="967510"/>
                </a:moveTo>
                <a:lnTo>
                  <a:pt x="297476" y="870528"/>
                </a:lnTo>
                <a:lnTo>
                  <a:pt x="544894" y="870528"/>
                </a:lnTo>
                <a:lnTo>
                  <a:pt x="546526" y="852036"/>
                </a:lnTo>
                <a:cubicBezTo>
                  <a:pt x="573711" y="699848"/>
                  <a:pt x="691879" y="579179"/>
                  <a:pt x="842756" y="548305"/>
                </a:cubicBezTo>
                <a:lnTo>
                  <a:pt x="870527" y="545506"/>
                </a:lnTo>
                <a:lnTo>
                  <a:pt x="870527" y="297477"/>
                </a:lnTo>
                <a:lnTo>
                  <a:pt x="967509" y="297477"/>
                </a:lnTo>
                <a:lnTo>
                  <a:pt x="967509" y="545506"/>
                </a:lnTo>
                <a:lnTo>
                  <a:pt x="995280" y="548305"/>
                </a:lnTo>
                <a:cubicBezTo>
                  <a:pt x="1146157" y="579179"/>
                  <a:pt x="1264325" y="699848"/>
                  <a:pt x="1291510" y="852036"/>
                </a:cubicBezTo>
                <a:lnTo>
                  <a:pt x="1293142" y="870528"/>
                </a:lnTo>
                <a:lnTo>
                  <a:pt x="1540560" y="870528"/>
                </a:lnTo>
                <a:lnTo>
                  <a:pt x="1540560" y="967510"/>
                </a:lnTo>
                <a:lnTo>
                  <a:pt x="1293142" y="967510"/>
                </a:lnTo>
                <a:lnTo>
                  <a:pt x="1291510" y="986003"/>
                </a:lnTo>
                <a:cubicBezTo>
                  <a:pt x="1264325" y="1138191"/>
                  <a:pt x="1146157" y="1258859"/>
                  <a:pt x="995280" y="1289733"/>
                </a:cubicBezTo>
                <a:lnTo>
                  <a:pt x="967509" y="1292533"/>
                </a:lnTo>
                <a:lnTo>
                  <a:pt x="967509" y="1540561"/>
                </a:lnTo>
                <a:lnTo>
                  <a:pt x="870527" y="1540561"/>
                </a:lnTo>
                <a:lnTo>
                  <a:pt x="870527" y="1292533"/>
                </a:lnTo>
                <a:lnTo>
                  <a:pt x="842756" y="1289733"/>
                </a:lnTo>
                <a:cubicBezTo>
                  <a:pt x="691879" y="1258859"/>
                  <a:pt x="573711" y="1138191"/>
                  <a:pt x="546526" y="986003"/>
                </a:cubicBezTo>
                <a:lnTo>
                  <a:pt x="544894" y="967510"/>
                </a:lnTo>
                <a:close/>
                <a:moveTo>
                  <a:pt x="0" y="637310"/>
                </a:moveTo>
                <a:lnTo>
                  <a:pt x="0" y="0"/>
                </a:lnTo>
                <a:lnTo>
                  <a:pt x="637308" y="0"/>
                </a:lnTo>
                <a:lnTo>
                  <a:pt x="637308" y="189346"/>
                </a:lnTo>
                <a:lnTo>
                  <a:pt x="189345" y="189346"/>
                </a:lnTo>
                <a:lnTo>
                  <a:pt x="189345" y="637310"/>
                </a:lnTo>
                <a:close/>
                <a:moveTo>
                  <a:pt x="0" y="1838037"/>
                </a:moveTo>
                <a:lnTo>
                  <a:pt x="0" y="1200729"/>
                </a:lnTo>
                <a:lnTo>
                  <a:pt x="189345" y="1200729"/>
                </a:lnTo>
                <a:lnTo>
                  <a:pt x="189345" y="1648692"/>
                </a:lnTo>
                <a:lnTo>
                  <a:pt x="637308" y="1648692"/>
                </a:lnTo>
                <a:lnTo>
                  <a:pt x="637308" y="1838037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91" name="그래픽 90" descr="비즈니스 성장 단색으로 채워진">
            <a:extLst>
              <a:ext uri="{FF2B5EF4-FFF2-40B4-BE49-F238E27FC236}">
                <a16:creationId xmlns:a16="http://schemas.microsoft.com/office/drawing/2014/main" id="{FF01271B-1678-309E-9942-1D111E27DD9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flipH="1">
            <a:off x="13895563" y="7300331"/>
            <a:ext cx="795000" cy="79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20836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1CCC59-EB2F-653C-5902-78089B989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AutoShape 17">
            <a:extLst>
              <a:ext uri="{FF2B5EF4-FFF2-40B4-BE49-F238E27FC236}">
                <a16:creationId xmlns:a16="http://schemas.microsoft.com/office/drawing/2014/main" id="{431914D0-7350-2950-F42F-E07B513C0F07}"/>
              </a:ext>
            </a:extLst>
          </p:cNvPr>
          <p:cNvSpPr/>
          <p:nvPr/>
        </p:nvSpPr>
        <p:spPr>
          <a:xfrm>
            <a:off x="5229000" y="1074277"/>
            <a:ext cx="12141990" cy="0"/>
          </a:xfrm>
          <a:prstGeom prst="line">
            <a:avLst/>
          </a:prstGeom>
          <a:ln w="952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FEE5E62B-2E5F-6EAF-6FF5-BD581FA1B736}"/>
              </a:ext>
            </a:extLst>
          </p:cNvPr>
          <p:cNvSpPr txBox="1"/>
          <p:nvPr/>
        </p:nvSpPr>
        <p:spPr>
          <a:xfrm>
            <a:off x="1197103" y="795626"/>
            <a:ext cx="3736349" cy="513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329"/>
              </a:lnSpc>
            </a:pPr>
            <a:r>
              <a:rPr lang="ko-KR" altLang="en-US" sz="3092" b="1" spc="-19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프롬프트 엔지니어링</a:t>
            </a:r>
          </a:p>
        </p:txBody>
      </p:sp>
      <p:sp>
        <p:nvSpPr>
          <p:cNvPr id="39" name="TextBox 12">
            <a:extLst>
              <a:ext uri="{FF2B5EF4-FFF2-40B4-BE49-F238E27FC236}">
                <a16:creationId xmlns:a16="http://schemas.microsoft.com/office/drawing/2014/main" id="{4B31B308-0412-0B71-02E0-DE6F8F319BF2}"/>
              </a:ext>
            </a:extLst>
          </p:cNvPr>
          <p:cNvSpPr txBox="1"/>
          <p:nvPr/>
        </p:nvSpPr>
        <p:spPr>
          <a:xfrm>
            <a:off x="11574000" y="547028"/>
            <a:ext cx="5796991" cy="4678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3935"/>
              </a:lnSpc>
              <a:spcBef>
                <a:spcPct val="0"/>
              </a:spcBef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Part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3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– </a:t>
            </a:r>
            <a:r>
              <a:rPr lang="ko-KR" alt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페르소나 시뮬레이션</a:t>
            </a:r>
            <a:endParaRPr lang="en-US" sz="2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  <a:cs typeface="Telegraf"/>
              <a:sym typeface="Telegraf"/>
            </a:endParaRPr>
          </a:p>
        </p:txBody>
      </p:sp>
      <p:sp>
        <p:nvSpPr>
          <p:cNvPr id="4" name="TextBox 2">
            <a:extLst>
              <a:ext uri="{FF2B5EF4-FFF2-40B4-BE49-F238E27FC236}">
                <a16:creationId xmlns:a16="http://schemas.microsoft.com/office/drawing/2014/main" id="{80F01EE8-0A51-7A81-2051-5902869DC841}"/>
              </a:ext>
            </a:extLst>
          </p:cNvPr>
          <p:cNvSpPr txBox="1"/>
          <p:nvPr/>
        </p:nvSpPr>
        <p:spPr>
          <a:xfrm>
            <a:off x="1206628" y="2350463"/>
            <a:ext cx="6722370" cy="10395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85750" indent="-285750" algn="l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시장 예측 대상인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15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개의 신제품 데이터</a:t>
            </a: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285750" indent="-285750" algn="l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제품명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제품특징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카테고리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1~3 </a:t>
            </a:r>
            <a:r>
              <a:rPr lang="ko-KR" altLang="en-US" spc="-28" dirty="0" err="1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뎁스</a:t>
            </a: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285750" indent="-285750" algn="l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</a:t>
            </a:r>
            <a:endParaRPr lang="en-US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187B5602-C537-4CDE-47D8-3803610232D7}"/>
              </a:ext>
            </a:extLst>
          </p:cNvPr>
          <p:cNvSpPr txBox="1"/>
          <p:nvPr/>
        </p:nvSpPr>
        <p:spPr>
          <a:xfrm>
            <a:off x="1206628" y="1813500"/>
            <a:ext cx="4516269" cy="371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8"/>
              </a:lnSpc>
              <a:spcBef>
                <a:spcPct val="0"/>
              </a:spcBef>
            </a:pPr>
            <a:r>
              <a:rPr lang="ko-KR" altLang="en-US" sz="2400" b="1" spc="-123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제품 데이터 분석 및 가공 계획</a:t>
            </a:r>
            <a:endParaRPr lang="en-US" sz="2400" b="1" spc="-123" dirty="0">
              <a:solidFill>
                <a:srgbClr val="000000"/>
              </a:solidFill>
              <a:latin typeface="+mn-ea"/>
              <a:cs typeface="Source Han Sans KR Medium"/>
              <a:sym typeface="Source Han Sans KR Medium"/>
            </a:endParaRPr>
          </a:p>
        </p:txBody>
      </p:sp>
    </p:spTree>
    <p:extLst>
      <p:ext uri="{BB962C8B-B14F-4D97-AF65-F5344CB8AC3E}">
        <p14:creationId xmlns:p14="http://schemas.microsoft.com/office/powerpoint/2010/main" val="18257439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CF3882-CB4E-0168-296B-F75AC5FDF6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AutoShape 17">
            <a:extLst>
              <a:ext uri="{FF2B5EF4-FFF2-40B4-BE49-F238E27FC236}">
                <a16:creationId xmlns:a16="http://schemas.microsoft.com/office/drawing/2014/main" id="{421449DF-3B61-7B96-C1A1-CCF0E6042660}"/>
              </a:ext>
            </a:extLst>
          </p:cNvPr>
          <p:cNvSpPr/>
          <p:nvPr/>
        </p:nvSpPr>
        <p:spPr>
          <a:xfrm>
            <a:off x="4239000" y="1074277"/>
            <a:ext cx="13131990" cy="0"/>
          </a:xfrm>
          <a:prstGeom prst="line">
            <a:avLst/>
          </a:prstGeom>
          <a:ln w="952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C02C0A67-D1C0-30C1-2FE8-C2745ADF4EEA}"/>
              </a:ext>
            </a:extLst>
          </p:cNvPr>
          <p:cNvSpPr txBox="1"/>
          <p:nvPr/>
        </p:nvSpPr>
        <p:spPr>
          <a:xfrm>
            <a:off x="1197103" y="795626"/>
            <a:ext cx="3736349" cy="513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329"/>
              </a:lnSpc>
            </a:pPr>
            <a:r>
              <a:rPr lang="ko-KR" altLang="en-US" sz="3092" b="1" spc="-19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페르소나 생성</a:t>
            </a:r>
          </a:p>
        </p:txBody>
      </p:sp>
      <p:sp>
        <p:nvSpPr>
          <p:cNvPr id="39" name="TextBox 12">
            <a:extLst>
              <a:ext uri="{FF2B5EF4-FFF2-40B4-BE49-F238E27FC236}">
                <a16:creationId xmlns:a16="http://schemas.microsoft.com/office/drawing/2014/main" id="{CD2DD5EF-52C5-229B-FFDB-9D6F1EC3A47F}"/>
              </a:ext>
            </a:extLst>
          </p:cNvPr>
          <p:cNvSpPr txBox="1"/>
          <p:nvPr/>
        </p:nvSpPr>
        <p:spPr>
          <a:xfrm>
            <a:off x="11574000" y="547028"/>
            <a:ext cx="5796991" cy="4678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3935"/>
              </a:lnSpc>
              <a:spcBef>
                <a:spcPct val="0"/>
              </a:spcBef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Part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3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– </a:t>
            </a:r>
            <a:r>
              <a:rPr lang="ko-KR" alt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페르소나 시뮬레이션</a:t>
            </a:r>
            <a:endParaRPr lang="en-US" sz="2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  <a:cs typeface="Telegraf"/>
              <a:sym typeface="Telegraf"/>
            </a:endParaRPr>
          </a:p>
        </p:txBody>
      </p:sp>
      <p:sp>
        <p:nvSpPr>
          <p:cNvPr id="4" name="TextBox 2">
            <a:extLst>
              <a:ext uri="{FF2B5EF4-FFF2-40B4-BE49-F238E27FC236}">
                <a16:creationId xmlns:a16="http://schemas.microsoft.com/office/drawing/2014/main" id="{49C57BCD-71C2-0F71-76C1-65027DF1DE85}"/>
              </a:ext>
            </a:extLst>
          </p:cNvPr>
          <p:cNvSpPr txBox="1"/>
          <p:nvPr/>
        </p:nvSpPr>
        <p:spPr>
          <a:xfrm>
            <a:off x="1206628" y="2350463"/>
            <a:ext cx="6722370" cy="10395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85750" indent="-285750" algn="l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시장 예측 대상인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15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개의 신제품 데이터</a:t>
            </a: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285750" indent="-285750" algn="l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제품명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제품특징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카테고리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1~3 </a:t>
            </a:r>
            <a:r>
              <a:rPr lang="ko-KR" altLang="en-US" spc="-28" dirty="0" err="1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뎁스</a:t>
            </a: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285750" indent="-285750" algn="l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</a:t>
            </a:r>
            <a:endParaRPr lang="en-US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499DD8F8-D955-39DF-909E-74A0D180F4C7}"/>
              </a:ext>
            </a:extLst>
          </p:cNvPr>
          <p:cNvSpPr txBox="1"/>
          <p:nvPr/>
        </p:nvSpPr>
        <p:spPr>
          <a:xfrm>
            <a:off x="1206628" y="1813500"/>
            <a:ext cx="4516269" cy="371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8"/>
              </a:lnSpc>
              <a:spcBef>
                <a:spcPct val="0"/>
              </a:spcBef>
            </a:pPr>
            <a:r>
              <a:rPr lang="ko-KR" altLang="en-US" sz="2400" b="1" spc="-123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제품 데이터 분석 및 가공 계획</a:t>
            </a:r>
            <a:endParaRPr lang="en-US" sz="2400" b="1" spc="-123" dirty="0">
              <a:solidFill>
                <a:srgbClr val="000000"/>
              </a:solidFill>
              <a:latin typeface="+mn-ea"/>
              <a:cs typeface="Source Han Sans KR Medium"/>
              <a:sym typeface="Source Han Sans KR Medium"/>
            </a:endParaRPr>
          </a:p>
        </p:txBody>
      </p:sp>
    </p:spTree>
    <p:extLst>
      <p:ext uri="{BB962C8B-B14F-4D97-AF65-F5344CB8AC3E}">
        <p14:creationId xmlns:p14="http://schemas.microsoft.com/office/powerpoint/2010/main" val="40479036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F4977-EE0E-8F40-03D1-ECCFECC3F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AutoShape 17">
            <a:extLst>
              <a:ext uri="{FF2B5EF4-FFF2-40B4-BE49-F238E27FC236}">
                <a16:creationId xmlns:a16="http://schemas.microsoft.com/office/drawing/2014/main" id="{F66DDCBD-904F-7A2A-1B19-B8F669FA245D}"/>
              </a:ext>
            </a:extLst>
          </p:cNvPr>
          <p:cNvSpPr/>
          <p:nvPr/>
        </p:nvSpPr>
        <p:spPr>
          <a:xfrm>
            <a:off x="4239000" y="1074277"/>
            <a:ext cx="13131990" cy="0"/>
          </a:xfrm>
          <a:prstGeom prst="line">
            <a:avLst/>
          </a:prstGeom>
          <a:ln w="952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24C8E767-B6B5-61A2-B970-6A076008F950}"/>
              </a:ext>
            </a:extLst>
          </p:cNvPr>
          <p:cNvSpPr txBox="1"/>
          <p:nvPr/>
        </p:nvSpPr>
        <p:spPr>
          <a:xfrm>
            <a:off x="1197103" y="795626"/>
            <a:ext cx="3736349" cy="513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329"/>
              </a:lnSpc>
            </a:pPr>
            <a:r>
              <a:rPr lang="ko-KR" altLang="en-US" sz="3092" b="1" spc="-19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예측 시뮬레이션</a:t>
            </a:r>
          </a:p>
        </p:txBody>
      </p:sp>
      <p:sp>
        <p:nvSpPr>
          <p:cNvPr id="39" name="TextBox 12">
            <a:extLst>
              <a:ext uri="{FF2B5EF4-FFF2-40B4-BE49-F238E27FC236}">
                <a16:creationId xmlns:a16="http://schemas.microsoft.com/office/drawing/2014/main" id="{49818E51-5832-920B-DF19-37DB86DFD0DA}"/>
              </a:ext>
            </a:extLst>
          </p:cNvPr>
          <p:cNvSpPr txBox="1"/>
          <p:nvPr/>
        </p:nvSpPr>
        <p:spPr>
          <a:xfrm>
            <a:off x="11574000" y="547028"/>
            <a:ext cx="5796991" cy="4678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3935"/>
              </a:lnSpc>
              <a:spcBef>
                <a:spcPct val="0"/>
              </a:spcBef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Part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3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– </a:t>
            </a:r>
            <a:r>
              <a:rPr lang="ko-KR" alt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페르소나 시뮬레이션</a:t>
            </a:r>
            <a:endParaRPr lang="en-US" sz="2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  <a:cs typeface="Telegraf"/>
              <a:sym typeface="Telegraf"/>
            </a:endParaRPr>
          </a:p>
        </p:txBody>
      </p:sp>
      <p:sp>
        <p:nvSpPr>
          <p:cNvPr id="4" name="TextBox 2">
            <a:extLst>
              <a:ext uri="{FF2B5EF4-FFF2-40B4-BE49-F238E27FC236}">
                <a16:creationId xmlns:a16="http://schemas.microsoft.com/office/drawing/2014/main" id="{7E26EAD7-E444-C378-737F-6624051D9B92}"/>
              </a:ext>
            </a:extLst>
          </p:cNvPr>
          <p:cNvSpPr txBox="1"/>
          <p:nvPr/>
        </p:nvSpPr>
        <p:spPr>
          <a:xfrm>
            <a:off x="1206628" y="2350463"/>
            <a:ext cx="6722370" cy="10395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85750" indent="-285750" algn="l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시장 예측 대상인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15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개의 신제품 데이터</a:t>
            </a: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285750" indent="-285750" algn="l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제품명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제품특징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카테고리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1~3 </a:t>
            </a:r>
            <a:r>
              <a:rPr lang="ko-KR" altLang="en-US" spc="-28" dirty="0" err="1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뎁스</a:t>
            </a: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285750" indent="-285750" algn="l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</a:t>
            </a:r>
            <a:endParaRPr lang="en-US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7E040044-15CA-7502-D268-7E57248D2F8D}"/>
              </a:ext>
            </a:extLst>
          </p:cNvPr>
          <p:cNvSpPr txBox="1"/>
          <p:nvPr/>
        </p:nvSpPr>
        <p:spPr>
          <a:xfrm>
            <a:off x="1206628" y="1813500"/>
            <a:ext cx="4516269" cy="371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8"/>
              </a:lnSpc>
              <a:spcBef>
                <a:spcPct val="0"/>
              </a:spcBef>
            </a:pPr>
            <a:r>
              <a:rPr lang="ko-KR" altLang="en-US" sz="2400" b="1" spc="-123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제품 데이터 분석 및 가공 계획</a:t>
            </a:r>
            <a:endParaRPr lang="en-US" sz="2400" b="1" spc="-123" dirty="0">
              <a:solidFill>
                <a:srgbClr val="000000"/>
              </a:solidFill>
              <a:latin typeface="+mn-ea"/>
              <a:cs typeface="Source Han Sans KR Medium"/>
              <a:sym typeface="Source Han Sans KR Medium"/>
            </a:endParaRPr>
          </a:p>
        </p:txBody>
      </p:sp>
    </p:spTree>
    <p:extLst>
      <p:ext uri="{BB962C8B-B14F-4D97-AF65-F5344CB8AC3E}">
        <p14:creationId xmlns:p14="http://schemas.microsoft.com/office/powerpoint/2010/main" val="352370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1E74C2-5D3B-FFBA-8098-04BF34E58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AutoShape 17">
            <a:extLst>
              <a:ext uri="{FF2B5EF4-FFF2-40B4-BE49-F238E27FC236}">
                <a16:creationId xmlns:a16="http://schemas.microsoft.com/office/drawing/2014/main" id="{AC374AFA-DEEE-A58F-E544-B1C1FA22E72A}"/>
              </a:ext>
            </a:extLst>
          </p:cNvPr>
          <p:cNvSpPr/>
          <p:nvPr/>
        </p:nvSpPr>
        <p:spPr>
          <a:xfrm>
            <a:off x="4104000" y="1074277"/>
            <a:ext cx="13266990" cy="0"/>
          </a:xfrm>
          <a:prstGeom prst="line">
            <a:avLst/>
          </a:prstGeom>
          <a:ln w="952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EBC62329-88C3-BDC0-EEE2-82D506702776}"/>
              </a:ext>
            </a:extLst>
          </p:cNvPr>
          <p:cNvSpPr txBox="1"/>
          <p:nvPr/>
        </p:nvSpPr>
        <p:spPr>
          <a:xfrm>
            <a:off x="1197103" y="795626"/>
            <a:ext cx="3736349" cy="513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329"/>
              </a:lnSpc>
            </a:pPr>
            <a:r>
              <a:rPr lang="ko-KR" altLang="en-US" sz="3092" b="1" spc="-19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평가 및 검증</a:t>
            </a:r>
          </a:p>
        </p:txBody>
      </p:sp>
      <p:sp>
        <p:nvSpPr>
          <p:cNvPr id="39" name="TextBox 12">
            <a:extLst>
              <a:ext uri="{FF2B5EF4-FFF2-40B4-BE49-F238E27FC236}">
                <a16:creationId xmlns:a16="http://schemas.microsoft.com/office/drawing/2014/main" id="{95297A0E-1B9B-5F00-B733-8C7B91DC1FFF}"/>
              </a:ext>
            </a:extLst>
          </p:cNvPr>
          <p:cNvSpPr txBox="1"/>
          <p:nvPr/>
        </p:nvSpPr>
        <p:spPr>
          <a:xfrm>
            <a:off x="11574000" y="547028"/>
            <a:ext cx="5796991" cy="4678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3935"/>
              </a:lnSpc>
              <a:spcBef>
                <a:spcPct val="0"/>
              </a:spcBef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Part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3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– </a:t>
            </a:r>
            <a:r>
              <a:rPr lang="ko-KR" alt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페르소나 시뮬레이션</a:t>
            </a:r>
            <a:endParaRPr lang="en-US" sz="2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  <a:cs typeface="Telegraf"/>
              <a:sym typeface="Telegraf"/>
            </a:endParaRPr>
          </a:p>
        </p:txBody>
      </p:sp>
      <p:sp>
        <p:nvSpPr>
          <p:cNvPr id="4" name="TextBox 2">
            <a:extLst>
              <a:ext uri="{FF2B5EF4-FFF2-40B4-BE49-F238E27FC236}">
                <a16:creationId xmlns:a16="http://schemas.microsoft.com/office/drawing/2014/main" id="{07515A7F-CDE3-76A7-848D-A248D822B9F2}"/>
              </a:ext>
            </a:extLst>
          </p:cNvPr>
          <p:cNvSpPr txBox="1"/>
          <p:nvPr/>
        </p:nvSpPr>
        <p:spPr>
          <a:xfrm>
            <a:off x="1206628" y="2350463"/>
            <a:ext cx="6722370" cy="10395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85750" indent="-285750" algn="l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시장 예측 대상인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15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개의 신제품 데이터</a:t>
            </a: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285750" indent="-285750" algn="l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제품명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제품특징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카테고리 </a:t>
            </a:r>
            <a:r>
              <a:rPr lang="en-US" altLang="ko-KR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1~3 </a:t>
            </a:r>
            <a:r>
              <a:rPr lang="ko-KR" altLang="en-US" spc="-28" dirty="0" err="1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뎁스</a:t>
            </a:r>
            <a:endParaRPr lang="en-US" altLang="ko-KR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  <a:p>
            <a:pPr marL="285750" indent="-285750" algn="l">
              <a:lnSpc>
                <a:spcPts val="2833"/>
              </a:lnSpc>
              <a:buFontTx/>
              <a:buChar char="-"/>
            </a:pPr>
            <a:r>
              <a:rPr lang="ko-KR" altLang="en-US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</a:t>
            </a:r>
            <a:endParaRPr lang="en-US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04820A69-870E-2667-A227-9A25DC18D490}"/>
              </a:ext>
            </a:extLst>
          </p:cNvPr>
          <p:cNvSpPr txBox="1"/>
          <p:nvPr/>
        </p:nvSpPr>
        <p:spPr>
          <a:xfrm>
            <a:off x="1206628" y="1813500"/>
            <a:ext cx="4516269" cy="371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8"/>
              </a:lnSpc>
              <a:spcBef>
                <a:spcPct val="0"/>
              </a:spcBef>
            </a:pPr>
            <a:r>
              <a:rPr lang="ko-KR" altLang="en-US" sz="2400" b="1" spc="-123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제품 데이터 분석 및 가공 계획</a:t>
            </a:r>
            <a:endParaRPr lang="en-US" sz="2400" b="1" spc="-123" dirty="0">
              <a:solidFill>
                <a:srgbClr val="000000"/>
              </a:solidFill>
              <a:latin typeface="+mn-ea"/>
              <a:cs typeface="Source Han Sans KR Medium"/>
              <a:sym typeface="Source Han Sans KR Medium"/>
            </a:endParaRPr>
          </a:p>
        </p:txBody>
      </p:sp>
    </p:spTree>
    <p:extLst>
      <p:ext uri="{BB962C8B-B14F-4D97-AF65-F5344CB8AC3E}">
        <p14:creationId xmlns:p14="http://schemas.microsoft.com/office/powerpoint/2010/main" val="246617248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5A245-4F7D-EBC4-B2F9-0AA2EBCB8C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>
            <a:extLst>
              <a:ext uri="{FF2B5EF4-FFF2-40B4-BE49-F238E27FC236}">
                <a16:creationId xmlns:a16="http://schemas.microsoft.com/office/drawing/2014/main" id="{EA68121D-28D8-37A7-E001-D2F693DCC01B}"/>
              </a:ext>
            </a:extLst>
          </p:cNvPr>
          <p:cNvSpPr txBox="1"/>
          <p:nvPr/>
        </p:nvSpPr>
        <p:spPr>
          <a:xfrm>
            <a:off x="16716877" y="8776205"/>
            <a:ext cx="1242680" cy="4251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542"/>
              </a:lnSpc>
            </a:pPr>
            <a:r>
              <a:rPr lang="en-US" sz="2530" b="1" spc="-43">
                <a:solidFill>
                  <a:srgbClr val="FFFFFF"/>
                </a:solidFill>
                <a:latin typeface="+mn-ea"/>
                <a:cs typeface="Source Han Sans KR Bold"/>
                <a:sym typeface="Source Han Sans KR Bold"/>
              </a:rPr>
              <a:t>Logo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F60506DB-8D6F-F70F-D33B-A8C3BD3487F3}"/>
              </a:ext>
            </a:extLst>
          </p:cNvPr>
          <p:cNvSpPr txBox="1"/>
          <p:nvPr/>
        </p:nvSpPr>
        <p:spPr>
          <a:xfrm>
            <a:off x="9181522" y="6742688"/>
            <a:ext cx="2598180" cy="32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757"/>
              </a:lnSpc>
              <a:spcBef>
                <a:spcPct val="0"/>
              </a:spcBef>
            </a:pPr>
            <a:r>
              <a:rPr lang="ko-KR" altLang="en-US" sz="2000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플로우 차트</a:t>
            </a:r>
            <a:endParaRPr lang="en-US" altLang="ko-KR" sz="2000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6BB217D3-AAD6-863B-BE79-A4F3AA69C402}"/>
              </a:ext>
            </a:extLst>
          </p:cNvPr>
          <p:cNvSpPr txBox="1"/>
          <p:nvPr/>
        </p:nvSpPr>
        <p:spPr>
          <a:xfrm>
            <a:off x="6759000" y="6742688"/>
            <a:ext cx="2598180" cy="32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757"/>
              </a:lnSpc>
              <a:spcBef>
                <a:spcPct val="0"/>
              </a:spcBef>
            </a:pPr>
            <a:r>
              <a:rPr lang="ko-KR" altLang="en-US" sz="2000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화면 기획서</a:t>
            </a:r>
            <a:endParaRPr lang="en-US" altLang="ko-KR" sz="2000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8" name="AutoShape 8">
            <a:extLst>
              <a:ext uri="{FF2B5EF4-FFF2-40B4-BE49-F238E27FC236}">
                <a16:creationId xmlns:a16="http://schemas.microsoft.com/office/drawing/2014/main" id="{143F5C19-A5D4-31ED-5BB1-C756F4518A2D}"/>
              </a:ext>
            </a:extLst>
          </p:cNvPr>
          <p:cNvSpPr/>
          <p:nvPr/>
        </p:nvSpPr>
        <p:spPr>
          <a:xfrm>
            <a:off x="8634635" y="6320010"/>
            <a:ext cx="0" cy="759414"/>
          </a:xfrm>
          <a:prstGeom prst="line">
            <a:avLst/>
          </a:prstGeom>
          <a:ln w="9525" cap="flat">
            <a:solidFill>
              <a:srgbClr val="DFDFD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66D5EA4-CF28-583C-7AB8-3B21FB3976FF}"/>
              </a:ext>
            </a:extLst>
          </p:cNvPr>
          <p:cNvSpPr txBox="1"/>
          <p:nvPr/>
        </p:nvSpPr>
        <p:spPr>
          <a:xfrm>
            <a:off x="1183714" y="6035503"/>
            <a:ext cx="4502923" cy="24878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74"/>
              </a:lnSpc>
            </a:pPr>
            <a:r>
              <a:rPr lang="ko-KR" altLang="en-US" sz="8800" b="1" spc="-61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웹페이지</a:t>
            </a:r>
            <a:endParaRPr lang="en-US" altLang="ko-KR" sz="8800" b="1" spc="-617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  <a:p>
            <a:pPr algn="l">
              <a:lnSpc>
                <a:spcPts val="9674"/>
              </a:lnSpc>
            </a:pPr>
            <a:r>
              <a:rPr lang="ko-KR" altLang="en-US" sz="8800" b="1" spc="-61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개발</a:t>
            </a:r>
            <a:endParaRPr lang="en-US" sz="8800" b="1" spc="-617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2096DCB2-8357-63C2-1C12-9AB2056B03AB}"/>
              </a:ext>
            </a:extLst>
          </p:cNvPr>
          <p:cNvSpPr txBox="1"/>
          <p:nvPr/>
        </p:nvSpPr>
        <p:spPr>
          <a:xfrm>
            <a:off x="1299068" y="5101802"/>
            <a:ext cx="1267504" cy="4564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935"/>
              </a:lnSpc>
              <a:spcBef>
                <a:spcPct val="0"/>
              </a:spcBef>
            </a:pPr>
            <a:r>
              <a:rPr lang="en-US" sz="2811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Part </a:t>
            </a:r>
            <a:r>
              <a:rPr lang="en-US" altLang="ko-KR" sz="2811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4</a:t>
            </a:r>
            <a:endParaRPr lang="en-US" sz="2811" dirty="0">
              <a:solidFill>
                <a:srgbClr val="000000"/>
              </a:solidFill>
              <a:latin typeface="+mn-ea"/>
              <a:cs typeface="Telegraf"/>
              <a:sym typeface="Telegraf"/>
            </a:endParaRP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6219BCA4-091B-AD04-0D58-133E97481908}"/>
              </a:ext>
            </a:extLst>
          </p:cNvPr>
          <p:cNvSpPr txBox="1"/>
          <p:nvPr/>
        </p:nvSpPr>
        <p:spPr>
          <a:xfrm>
            <a:off x="9181522" y="6253335"/>
            <a:ext cx="874928" cy="3501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956"/>
              </a:lnSpc>
              <a:spcBef>
                <a:spcPct val="0"/>
              </a:spcBef>
            </a:pPr>
            <a:r>
              <a:rPr lang="en-US" altLang="ko-KR" sz="2111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4</a:t>
            </a:r>
            <a:r>
              <a:rPr lang="en-US" sz="2111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-2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54FE6113-D799-65D0-36A8-0EDD454A6A09}"/>
              </a:ext>
            </a:extLst>
          </p:cNvPr>
          <p:cNvSpPr txBox="1"/>
          <p:nvPr/>
        </p:nvSpPr>
        <p:spPr>
          <a:xfrm>
            <a:off x="6759000" y="6253335"/>
            <a:ext cx="874928" cy="3501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956"/>
              </a:lnSpc>
              <a:spcBef>
                <a:spcPct val="0"/>
              </a:spcBef>
            </a:pPr>
            <a:r>
              <a:rPr lang="en-US" altLang="ko-KR" sz="2111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4</a:t>
            </a:r>
            <a:r>
              <a:rPr lang="en-US" sz="2111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-1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B6583DB7-037B-2561-2C46-9E6DAF10AA04}"/>
              </a:ext>
            </a:extLst>
          </p:cNvPr>
          <p:cNvSpPr/>
          <p:nvPr/>
        </p:nvSpPr>
        <p:spPr>
          <a:xfrm>
            <a:off x="14454000" y="-11033"/>
            <a:ext cx="3834000" cy="4368922"/>
          </a:xfrm>
          <a:prstGeom prst="rect">
            <a:avLst/>
          </a:prstGeom>
          <a:solidFill>
            <a:srgbClr val="1319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97DF5566-66B1-79C8-F320-6AB918A18C96}"/>
              </a:ext>
            </a:extLst>
          </p:cNvPr>
          <p:cNvGrpSpPr/>
          <p:nvPr/>
        </p:nvGrpSpPr>
        <p:grpSpPr>
          <a:xfrm>
            <a:off x="0" y="-11033"/>
            <a:ext cx="14544000" cy="4368922"/>
            <a:chOff x="0" y="-11033"/>
            <a:chExt cx="14544000" cy="4368922"/>
          </a:xfrm>
        </p:grpSpPr>
        <p:pic>
          <p:nvPicPr>
            <p:cNvPr id="3074" name="Picture 2">
              <a:extLst>
                <a:ext uri="{FF2B5EF4-FFF2-40B4-BE49-F238E27FC236}">
                  <a16:creationId xmlns:a16="http://schemas.microsoft.com/office/drawing/2014/main" id="{B9CE96C5-D778-4823-1D37-213A216B041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3992" b="15424"/>
            <a:stretch>
              <a:fillRect/>
            </a:stretch>
          </p:blipFill>
          <p:spPr bwMode="auto">
            <a:xfrm>
              <a:off x="3744000" y="-4281"/>
              <a:ext cx="10800000" cy="43621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8F0A4C4A-C2EB-96E6-F334-389CF7234695}"/>
                </a:ext>
              </a:extLst>
            </p:cNvPr>
            <p:cNvSpPr/>
            <p:nvPr/>
          </p:nvSpPr>
          <p:spPr>
            <a:xfrm>
              <a:off x="0" y="-11033"/>
              <a:ext cx="3834000" cy="4368922"/>
            </a:xfrm>
            <a:prstGeom prst="rect">
              <a:avLst/>
            </a:prstGeom>
            <a:gradFill flip="none" rotWithShape="1">
              <a:gsLst>
                <a:gs pos="56084">
                  <a:srgbClr val="1A3F6B"/>
                </a:gs>
                <a:gs pos="31746">
                  <a:srgbClr val="194470"/>
                </a:gs>
                <a:gs pos="0">
                  <a:srgbClr val="325880"/>
                </a:gs>
                <a:gs pos="74000">
                  <a:srgbClr val="153B60"/>
                </a:gs>
                <a:gs pos="83000">
                  <a:srgbClr val="193356"/>
                </a:gs>
                <a:gs pos="100000">
                  <a:srgbClr val="132A49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4458081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F335AC-AA20-4221-74CD-F2429D65F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AutoShape 17">
            <a:extLst>
              <a:ext uri="{FF2B5EF4-FFF2-40B4-BE49-F238E27FC236}">
                <a16:creationId xmlns:a16="http://schemas.microsoft.com/office/drawing/2014/main" id="{FA07BAD3-1C39-508F-8B57-5173523FFE76}"/>
              </a:ext>
            </a:extLst>
          </p:cNvPr>
          <p:cNvSpPr/>
          <p:nvPr/>
        </p:nvSpPr>
        <p:spPr>
          <a:xfrm>
            <a:off x="3294000" y="1074277"/>
            <a:ext cx="14076990" cy="0"/>
          </a:xfrm>
          <a:prstGeom prst="line">
            <a:avLst/>
          </a:prstGeom>
          <a:ln w="952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E2E2A093-8C75-9F51-2ABC-104D17521500}"/>
              </a:ext>
            </a:extLst>
          </p:cNvPr>
          <p:cNvSpPr txBox="1"/>
          <p:nvPr/>
        </p:nvSpPr>
        <p:spPr>
          <a:xfrm>
            <a:off x="1197103" y="795626"/>
            <a:ext cx="3736349" cy="5000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29"/>
              </a:lnSpc>
            </a:pPr>
            <a:r>
              <a:rPr lang="ko-KR" altLang="en-US" sz="3092" b="1" spc="-19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플로우 차트</a:t>
            </a:r>
          </a:p>
        </p:txBody>
      </p:sp>
      <p:sp>
        <p:nvSpPr>
          <p:cNvPr id="39" name="TextBox 12">
            <a:extLst>
              <a:ext uri="{FF2B5EF4-FFF2-40B4-BE49-F238E27FC236}">
                <a16:creationId xmlns:a16="http://schemas.microsoft.com/office/drawing/2014/main" id="{6C54F8C9-CA8C-14B9-8487-33D2EB2C82C8}"/>
              </a:ext>
            </a:extLst>
          </p:cNvPr>
          <p:cNvSpPr txBox="1"/>
          <p:nvPr/>
        </p:nvSpPr>
        <p:spPr>
          <a:xfrm>
            <a:off x="11574000" y="547028"/>
            <a:ext cx="5796991" cy="956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3935"/>
              </a:lnSpc>
              <a:spcBef>
                <a:spcPct val="0"/>
              </a:spcBef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Part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4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– </a:t>
            </a:r>
            <a:r>
              <a:rPr lang="ko-KR" alt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웹페이지 개발</a:t>
            </a:r>
          </a:p>
          <a:p>
            <a:pPr marL="0" lvl="0" indent="0" algn="r">
              <a:lnSpc>
                <a:spcPts val="3935"/>
              </a:lnSpc>
              <a:spcBef>
                <a:spcPct val="0"/>
              </a:spcBef>
            </a:pPr>
            <a:endParaRPr lang="en-US" sz="2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  <a:cs typeface="Telegraf"/>
              <a:sym typeface="Telegraf"/>
            </a:endParaRPr>
          </a:p>
        </p:txBody>
      </p:sp>
    </p:spTree>
    <p:extLst>
      <p:ext uri="{BB962C8B-B14F-4D97-AF65-F5344CB8AC3E}">
        <p14:creationId xmlns:p14="http://schemas.microsoft.com/office/powerpoint/2010/main" val="14301888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A433C-C452-3DE5-9BF0-318CFFA9B5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AutoShape 17">
            <a:extLst>
              <a:ext uri="{FF2B5EF4-FFF2-40B4-BE49-F238E27FC236}">
                <a16:creationId xmlns:a16="http://schemas.microsoft.com/office/drawing/2014/main" id="{6AB09CE0-BA36-DE1D-20D4-3121751CD238}"/>
              </a:ext>
            </a:extLst>
          </p:cNvPr>
          <p:cNvSpPr/>
          <p:nvPr/>
        </p:nvSpPr>
        <p:spPr>
          <a:xfrm>
            <a:off x="3294000" y="1074277"/>
            <a:ext cx="14076990" cy="0"/>
          </a:xfrm>
          <a:prstGeom prst="line">
            <a:avLst/>
          </a:prstGeom>
          <a:ln w="952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06B50101-FCA5-22E2-C4E8-92B05894BADB}"/>
              </a:ext>
            </a:extLst>
          </p:cNvPr>
          <p:cNvSpPr txBox="1"/>
          <p:nvPr/>
        </p:nvSpPr>
        <p:spPr>
          <a:xfrm>
            <a:off x="1197103" y="795626"/>
            <a:ext cx="3736349" cy="5000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29"/>
              </a:lnSpc>
            </a:pPr>
            <a:r>
              <a:rPr lang="ko-KR" altLang="en-US" sz="3092" b="1" spc="-19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화면 기획서</a:t>
            </a:r>
          </a:p>
        </p:txBody>
      </p:sp>
      <p:sp>
        <p:nvSpPr>
          <p:cNvPr id="39" name="TextBox 12">
            <a:extLst>
              <a:ext uri="{FF2B5EF4-FFF2-40B4-BE49-F238E27FC236}">
                <a16:creationId xmlns:a16="http://schemas.microsoft.com/office/drawing/2014/main" id="{B26F00AE-38EC-DE90-B439-0088BAD833D8}"/>
              </a:ext>
            </a:extLst>
          </p:cNvPr>
          <p:cNvSpPr txBox="1"/>
          <p:nvPr/>
        </p:nvSpPr>
        <p:spPr>
          <a:xfrm>
            <a:off x="11574000" y="547028"/>
            <a:ext cx="5796991" cy="956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3935"/>
              </a:lnSpc>
              <a:spcBef>
                <a:spcPct val="0"/>
              </a:spcBef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Part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4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– </a:t>
            </a:r>
            <a:r>
              <a:rPr lang="ko-KR" alt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웹페이지 개발</a:t>
            </a:r>
          </a:p>
          <a:p>
            <a:pPr marL="0" lvl="0" indent="0" algn="r">
              <a:lnSpc>
                <a:spcPts val="3935"/>
              </a:lnSpc>
              <a:spcBef>
                <a:spcPct val="0"/>
              </a:spcBef>
            </a:pPr>
            <a:endParaRPr lang="en-US" sz="2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  <a:cs typeface="Telegraf"/>
              <a:sym typeface="Telegraf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0BDBFA29-D92E-CBE6-AA59-A31B0E7E8E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7102" y="1623282"/>
            <a:ext cx="9906373" cy="8531699"/>
          </a:xfrm>
          <a:prstGeom prst="rect">
            <a:avLst/>
          </a:prstGeom>
        </p:spPr>
      </p:pic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5E0A324E-258A-DC5C-CDAB-23B22F6293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6715848"/>
              </p:ext>
            </p:extLst>
          </p:nvPr>
        </p:nvGraphicFramePr>
        <p:xfrm>
          <a:off x="11934000" y="1601525"/>
          <a:ext cx="5940000" cy="67072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9532">
                  <a:extLst>
                    <a:ext uri="{9D8B030D-6E8A-4147-A177-3AD203B41FA5}">
                      <a16:colId xmlns:a16="http://schemas.microsoft.com/office/drawing/2014/main" val="2027186928"/>
                    </a:ext>
                  </a:extLst>
                </a:gridCol>
                <a:gridCol w="1575754">
                  <a:extLst>
                    <a:ext uri="{9D8B030D-6E8A-4147-A177-3AD203B41FA5}">
                      <a16:colId xmlns:a16="http://schemas.microsoft.com/office/drawing/2014/main" val="872229010"/>
                    </a:ext>
                  </a:extLst>
                </a:gridCol>
                <a:gridCol w="3744714">
                  <a:extLst>
                    <a:ext uri="{9D8B030D-6E8A-4147-A177-3AD203B41FA5}">
                      <a16:colId xmlns:a16="http://schemas.microsoft.com/office/drawing/2014/main" val="1914048250"/>
                    </a:ext>
                  </a:extLst>
                </a:gridCol>
              </a:tblGrid>
              <a:tr h="52839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+mn-ea"/>
                          <a:ea typeface="+mn-ea"/>
                        </a:rPr>
                        <a:t>No</a:t>
                      </a:r>
                      <a:endParaRPr lang="ko-KR" altLang="en-US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>
                          <a:latin typeface="+mn-ea"/>
                          <a:ea typeface="+mn-ea"/>
                        </a:rPr>
                        <a:t>Title</a:t>
                      </a:r>
                      <a:endParaRPr lang="ko-KR" altLang="en-US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>
                          <a:latin typeface="+mn-ea"/>
                          <a:ea typeface="+mn-ea"/>
                        </a:rPr>
                        <a:t>Description</a:t>
                      </a:r>
                      <a:endParaRPr lang="ko-KR" altLang="en-US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7240465"/>
                  </a:ext>
                </a:extLst>
              </a:tr>
              <a:tr h="44858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1600" dirty="0"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로고 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(home)</a:t>
                      </a:r>
                      <a:endParaRPr lang="ko-KR" altLang="en-US" sz="1600" dirty="0"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err="1">
                          <a:latin typeface="+mn-ea"/>
                          <a:ea typeface="+mn-ea"/>
                        </a:rPr>
                        <a:t>클릭시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home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이동</a:t>
                      </a:r>
                      <a:endParaRPr lang="en-US" altLang="ko-KR" sz="1600" dirty="0"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9317620"/>
                  </a:ext>
                </a:extLst>
              </a:tr>
              <a:tr h="52839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2</a:t>
                      </a:r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My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Chatbots</a:t>
                      </a:r>
                      <a:endParaRPr lang="ko-KR" altLang="en-US" sz="1600" dirty="0"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[</a:t>
                      </a:r>
                      <a:r>
                        <a:rPr lang="ko-KR" altLang="en-US" sz="1600" dirty="0" err="1">
                          <a:latin typeface="+mn-ea"/>
                          <a:ea typeface="+mn-ea"/>
                        </a:rPr>
                        <a:t>새채팅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]</a:t>
                      </a: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시작페이지</a:t>
                      </a:r>
                      <a:endParaRPr lang="en-US" altLang="ko-KR" sz="1600" dirty="0">
                        <a:latin typeface="+mn-ea"/>
                        <a:ea typeface="+mn-ea"/>
                      </a:endParaRP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페르소나 선택 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-&gt;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채팅시작</a:t>
                      </a:r>
                      <a:endParaRPr lang="en-US" altLang="ko-KR" sz="1600" dirty="0">
                        <a:latin typeface="+mn-ea"/>
                        <a:ea typeface="+mn-ea"/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[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채팅검색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]</a:t>
                      </a:r>
                    </a:p>
                    <a:p>
                      <a:pPr marL="0" indent="0" latinLnBrk="1">
                        <a:buFontTx/>
                        <a:buNone/>
                      </a:pP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최근 채팅 검색 페이지 로드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1185158"/>
                  </a:ext>
                </a:extLst>
              </a:tr>
              <a:tr h="52839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1600" dirty="0"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Recent Chats</a:t>
                      </a:r>
                      <a:endParaRPr lang="ko-KR" altLang="en-US" sz="1600" dirty="0"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최근 채팅 목록</a:t>
                      </a:r>
                      <a:endParaRPr lang="en-US" altLang="ko-KR" sz="1600" dirty="0">
                        <a:latin typeface="+mn-ea"/>
                        <a:ea typeface="+mn-ea"/>
                      </a:endParaRP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600" dirty="0" err="1">
                          <a:latin typeface="+mn-ea"/>
                          <a:ea typeface="+mn-ea"/>
                        </a:rPr>
                        <a:t>클릭시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 해당 채팅 목록으로 이동</a:t>
                      </a:r>
                      <a:endParaRPr lang="en-US" altLang="ko-KR" sz="1600" dirty="0">
                        <a:latin typeface="+mn-ea"/>
                        <a:ea typeface="+mn-ea"/>
                      </a:endParaRP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설정된 마이크로 세그먼트를 </a:t>
                      </a:r>
                      <a:br>
                        <a:rPr lang="en-US" altLang="ko-KR" sz="1600" dirty="0">
                          <a:latin typeface="+mn-ea"/>
                          <a:ea typeface="+mn-ea"/>
                        </a:rPr>
                      </a:b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태그로 상단에 표출</a:t>
                      </a: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색상은 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RFM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분류를 따라가도록 설정</a:t>
                      </a: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타이틀은 페르소나 번호 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+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이름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525348"/>
                  </a:ext>
                </a:extLst>
              </a:tr>
              <a:tr h="26419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1600" dirty="0"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Model dropdown</a:t>
                      </a:r>
                      <a:endParaRPr lang="ko-KR" altLang="en-US" sz="1600" dirty="0"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600" b="0" i="0" kern="1200" dirty="0">
                          <a:solidFill>
                            <a:schemeClr val="dk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사용가능한 모델을 선택</a:t>
                      </a:r>
                      <a:endParaRPr lang="en-US" altLang="ko-KR" sz="1600" b="0" i="0" kern="1200" dirty="0">
                        <a:solidFill>
                          <a:schemeClr val="dk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en-US" altLang="ko-KR" sz="1600" b="0" i="0" kern="1200" dirty="0">
                          <a:solidFill>
                            <a:schemeClr val="dk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Default :GPT 3.5-Turbo</a:t>
                      </a: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600" dirty="0" err="1">
                          <a:latin typeface="+mn-ea"/>
                          <a:ea typeface="+mn-ea"/>
                        </a:rPr>
                        <a:t>그외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 추가 예정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5678109"/>
                  </a:ext>
                </a:extLst>
              </a:tr>
              <a:tr h="26419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1600" dirty="0"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페르소나 </a:t>
                      </a:r>
                      <a:endParaRPr lang="en-US" altLang="ko-KR" sz="1600" dirty="0">
                        <a:latin typeface="+mn-ea"/>
                        <a:ea typeface="+mn-ea"/>
                      </a:endParaRPr>
                    </a:p>
                    <a:p>
                      <a:pPr latinLnBrk="1"/>
                      <a:r>
                        <a:rPr lang="ko-KR" altLang="en-US" sz="1600" dirty="0" err="1">
                          <a:latin typeface="+mn-ea"/>
                          <a:ea typeface="+mn-ea"/>
                        </a:rPr>
                        <a:t>생성창</a:t>
                      </a:r>
                      <a:endParaRPr lang="ko-KR" altLang="en-US" sz="1600" dirty="0"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연령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성별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가족구성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고객취향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고객가치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라이프스타일 선택</a:t>
                      </a:r>
                      <a:endParaRPr lang="en-US" altLang="ko-KR" sz="1600" dirty="0">
                        <a:latin typeface="+mn-ea"/>
                        <a:ea typeface="+mn-ea"/>
                      </a:endParaRP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EDA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및 고객 클러스터링에 따라 고객취향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고객가치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라이프 스타일 변경 예정</a:t>
                      </a:r>
                      <a:endParaRPr lang="en-US" altLang="ko-KR" sz="1600" dirty="0">
                        <a:latin typeface="+mn-ea"/>
                        <a:ea typeface="+mn-ea"/>
                      </a:endParaRP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복수선택 가능 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: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고객취향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라이프스타일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7707318"/>
                  </a:ext>
                </a:extLst>
              </a:tr>
            </a:tbl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A26486C2-B2B5-E4B5-9270-92362F236670}"/>
              </a:ext>
            </a:extLst>
          </p:cNvPr>
          <p:cNvSpPr/>
          <p:nvPr/>
        </p:nvSpPr>
        <p:spPr>
          <a:xfrm>
            <a:off x="1314000" y="1768500"/>
            <a:ext cx="1980000" cy="630000"/>
          </a:xfrm>
          <a:prstGeom prst="rect">
            <a:avLst/>
          </a:prstGeom>
          <a:noFill/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9AD9F6C-98B8-9AA5-F938-D6D0AC7879A2}"/>
              </a:ext>
            </a:extLst>
          </p:cNvPr>
          <p:cNvSpPr/>
          <p:nvPr/>
        </p:nvSpPr>
        <p:spPr>
          <a:xfrm>
            <a:off x="1314000" y="2494080"/>
            <a:ext cx="1980000" cy="1425483"/>
          </a:xfrm>
          <a:prstGeom prst="rect">
            <a:avLst/>
          </a:prstGeom>
          <a:noFill/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22D6B102-9E16-F864-3E02-48DF1C2E5E19}"/>
              </a:ext>
            </a:extLst>
          </p:cNvPr>
          <p:cNvSpPr/>
          <p:nvPr/>
        </p:nvSpPr>
        <p:spPr>
          <a:xfrm>
            <a:off x="1314000" y="4028143"/>
            <a:ext cx="1980000" cy="5840357"/>
          </a:xfrm>
          <a:prstGeom prst="rect">
            <a:avLst/>
          </a:prstGeom>
          <a:noFill/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07509A5-F4CC-CCC2-65CB-6BE086C2FFF9}"/>
              </a:ext>
            </a:extLst>
          </p:cNvPr>
          <p:cNvSpPr/>
          <p:nvPr/>
        </p:nvSpPr>
        <p:spPr>
          <a:xfrm>
            <a:off x="3410898" y="1768500"/>
            <a:ext cx="1413102" cy="630000"/>
          </a:xfrm>
          <a:prstGeom prst="rect">
            <a:avLst/>
          </a:prstGeom>
          <a:noFill/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404C054-04EC-2511-FAEE-BF4F1E4B9B69}"/>
              </a:ext>
            </a:extLst>
          </p:cNvPr>
          <p:cNvSpPr/>
          <p:nvPr/>
        </p:nvSpPr>
        <p:spPr>
          <a:xfrm>
            <a:off x="3424668" y="2494080"/>
            <a:ext cx="7384331" cy="7374420"/>
          </a:xfrm>
          <a:prstGeom prst="rect">
            <a:avLst/>
          </a:prstGeom>
          <a:noFill/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AA941130-0E59-2E0D-2C24-53946C176943}"/>
              </a:ext>
            </a:extLst>
          </p:cNvPr>
          <p:cNvGrpSpPr/>
          <p:nvPr/>
        </p:nvGrpSpPr>
        <p:grpSpPr>
          <a:xfrm>
            <a:off x="1183227" y="1584875"/>
            <a:ext cx="313166" cy="313166"/>
            <a:chOff x="7412417" y="1139116"/>
            <a:chExt cx="313166" cy="313166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E83162BC-18AD-6D98-6169-783698E67730}"/>
                </a:ext>
              </a:extLst>
            </p:cNvPr>
            <p:cNvSpPr/>
            <p:nvPr/>
          </p:nvSpPr>
          <p:spPr>
            <a:xfrm>
              <a:off x="7412417" y="1139116"/>
              <a:ext cx="313166" cy="313166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6E1B8014-8CB0-6E94-3187-BF903DD8DEE7}"/>
                </a:ext>
              </a:extLst>
            </p:cNvPr>
            <p:cNvSpPr txBox="1"/>
            <p:nvPr/>
          </p:nvSpPr>
          <p:spPr>
            <a:xfrm>
              <a:off x="7434187" y="1161261"/>
              <a:ext cx="2696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1200" dirty="0">
                  <a:latin typeface="+mj-ea"/>
                  <a:ea typeface="+mj-ea"/>
                </a:rPr>
                <a:t>1</a:t>
              </a:r>
              <a:endParaRPr lang="ko-KR" altLang="en-US" sz="1200" dirty="0">
                <a:latin typeface="+mj-ea"/>
                <a:ea typeface="+mj-ea"/>
              </a:endParaRP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96BC1807-0863-DB54-A82F-9744E957BD92}"/>
              </a:ext>
            </a:extLst>
          </p:cNvPr>
          <p:cNvGrpSpPr/>
          <p:nvPr/>
        </p:nvGrpSpPr>
        <p:grpSpPr>
          <a:xfrm>
            <a:off x="1157417" y="2412917"/>
            <a:ext cx="313166" cy="313166"/>
            <a:chOff x="7412417" y="1139116"/>
            <a:chExt cx="313166" cy="313166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647C0731-FEE6-8A02-83C2-438EED27233C}"/>
                </a:ext>
              </a:extLst>
            </p:cNvPr>
            <p:cNvSpPr/>
            <p:nvPr/>
          </p:nvSpPr>
          <p:spPr>
            <a:xfrm>
              <a:off x="7412417" y="1139116"/>
              <a:ext cx="313166" cy="313166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F705F14-293A-2B70-B031-35FD98CA95F9}"/>
                </a:ext>
              </a:extLst>
            </p:cNvPr>
            <p:cNvSpPr txBox="1"/>
            <p:nvPr/>
          </p:nvSpPr>
          <p:spPr>
            <a:xfrm>
              <a:off x="7434187" y="1161261"/>
              <a:ext cx="2696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1200" dirty="0">
                  <a:latin typeface="+mj-ea"/>
                  <a:ea typeface="+mj-ea"/>
                </a:rPr>
                <a:t>2</a:t>
              </a:r>
              <a:endParaRPr lang="ko-KR" altLang="en-US" sz="1200" dirty="0">
                <a:latin typeface="+mj-ea"/>
                <a:ea typeface="+mj-ea"/>
              </a:endParaRPr>
            </a:p>
          </p:txBody>
        </p:sp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649B038A-D78F-6E10-6182-83101CF67E18}"/>
              </a:ext>
            </a:extLst>
          </p:cNvPr>
          <p:cNvGrpSpPr/>
          <p:nvPr/>
        </p:nvGrpSpPr>
        <p:grpSpPr>
          <a:xfrm>
            <a:off x="1175580" y="3957970"/>
            <a:ext cx="313166" cy="313166"/>
            <a:chOff x="7412417" y="1139116"/>
            <a:chExt cx="313166" cy="313166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7C6102FA-D356-517D-50E2-322B7857B912}"/>
                </a:ext>
              </a:extLst>
            </p:cNvPr>
            <p:cNvSpPr/>
            <p:nvPr/>
          </p:nvSpPr>
          <p:spPr>
            <a:xfrm>
              <a:off x="7412417" y="1139116"/>
              <a:ext cx="313166" cy="313166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104D603-7C35-9387-6A94-8D5A41D2E20F}"/>
                </a:ext>
              </a:extLst>
            </p:cNvPr>
            <p:cNvSpPr txBox="1"/>
            <p:nvPr/>
          </p:nvSpPr>
          <p:spPr>
            <a:xfrm>
              <a:off x="7434187" y="1161261"/>
              <a:ext cx="2696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1200" dirty="0">
                  <a:latin typeface="+mj-ea"/>
                  <a:ea typeface="+mj-ea"/>
                </a:rPr>
                <a:t>3</a:t>
              </a:r>
              <a:endParaRPr lang="ko-KR" altLang="en-US" sz="1200" dirty="0">
                <a:latin typeface="+mj-ea"/>
                <a:ea typeface="+mj-ea"/>
              </a:endParaRPr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05104475-5D35-BEDA-3B60-17F2DF737F24}"/>
              </a:ext>
            </a:extLst>
          </p:cNvPr>
          <p:cNvGrpSpPr/>
          <p:nvPr/>
        </p:nvGrpSpPr>
        <p:grpSpPr>
          <a:xfrm>
            <a:off x="3333685" y="1584875"/>
            <a:ext cx="313166" cy="313166"/>
            <a:chOff x="7412417" y="1139116"/>
            <a:chExt cx="313166" cy="313166"/>
          </a:xfrm>
        </p:grpSpPr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CE0EC942-FB88-6FE3-0766-0DE9E8D35E99}"/>
                </a:ext>
              </a:extLst>
            </p:cNvPr>
            <p:cNvSpPr/>
            <p:nvPr/>
          </p:nvSpPr>
          <p:spPr>
            <a:xfrm>
              <a:off x="7412417" y="1139116"/>
              <a:ext cx="313166" cy="313166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946DC9A-006B-E6FC-C970-DAC5B2162F60}"/>
                </a:ext>
              </a:extLst>
            </p:cNvPr>
            <p:cNvSpPr txBox="1"/>
            <p:nvPr/>
          </p:nvSpPr>
          <p:spPr>
            <a:xfrm>
              <a:off x="7434187" y="1161261"/>
              <a:ext cx="2696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1200" dirty="0">
                  <a:latin typeface="+mj-ea"/>
                  <a:ea typeface="+mj-ea"/>
                </a:rPr>
                <a:t>4</a:t>
              </a:r>
              <a:endParaRPr lang="ko-KR" altLang="en-US" sz="1200" dirty="0">
                <a:latin typeface="+mj-ea"/>
                <a:ea typeface="+mj-ea"/>
              </a:endParaRPr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85B346DE-1125-8673-B002-C436D36410CB}"/>
              </a:ext>
            </a:extLst>
          </p:cNvPr>
          <p:cNvGrpSpPr/>
          <p:nvPr/>
        </p:nvGrpSpPr>
        <p:grpSpPr>
          <a:xfrm>
            <a:off x="3333685" y="2412917"/>
            <a:ext cx="313166" cy="313166"/>
            <a:chOff x="7412417" y="1139116"/>
            <a:chExt cx="313166" cy="313166"/>
          </a:xfrm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A99A6AA8-6456-6B78-652E-6E6ED3F18800}"/>
                </a:ext>
              </a:extLst>
            </p:cNvPr>
            <p:cNvSpPr/>
            <p:nvPr/>
          </p:nvSpPr>
          <p:spPr>
            <a:xfrm>
              <a:off x="7412417" y="1139116"/>
              <a:ext cx="313166" cy="313166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1793F94-C7E8-343E-3CB8-07ED6E1C3511}"/>
                </a:ext>
              </a:extLst>
            </p:cNvPr>
            <p:cNvSpPr txBox="1"/>
            <p:nvPr/>
          </p:nvSpPr>
          <p:spPr>
            <a:xfrm>
              <a:off x="7434187" y="1161261"/>
              <a:ext cx="2696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1200" dirty="0">
                  <a:latin typeface="+mj-ea"/>
                  <a:ea typeface="+mj-ea"/>
                </a:rPr>
                <a:t>5</a:t>
              </a:r>
              <a:endParaRPr lang="ko-KR" altLang="en-US" sz="1200" dirty="0">
                <a:latin typeface="+mj-ea"/>
                <a:ea typeface="+mj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6480869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A69D6B-1CC8-39A9-3F42-CF5457796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AutoShape 17">
            <a:extLst>
              <a:ext uri="{FF2B5EF4-FFF2-40B4-BE49-F238E27FC236}">
                <a16:creationId xmlns:a16="http://schemas.microsoft.com/office/drawing/2014/main" id="{D59AABE0-E75A-FBF9-9ADE-229BCE724E3A}"/>
              </a:ext>
            </a:extLst>
          </p:cNvPr>
          <p:cNvSpPr/>
          <p:nvPr/>
        </p:nvSpPr>
        <p:spPr>
          <a:xfrm>
            <a:off x="3294000" y="1074277"/>
            <a:ext cx="14076990" cy="0"/>
          </a:xfrm>
          <a:prstGeom prst="line">
            <a:avLst/>
          </a:prstGeom>
          <a:ln w="952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D6B659F6-DE20-0C14-7C20-771E69BE934E}"/>
              </a:ext>
            </a:extLst>
          </p:cNvPr>
          <p:cNvSpPr txBox="1"/>
          <p:nvPr/>
        </p:nvSpPr>
        <p:spPr>
          <a:xfrm>
            <a:off x="1197103" y="795626"/>
            <a:ext cx="3736349" cy="5000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29"/>
              </a:lnSpc>
            </a:pPr>
            <a:r>
              <a:rPr lang="ko-KR" altLang="en-US" sz="3092" b="1" spc="-19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화면 기획서</a:t>
            </a:r>
          </a:p>
        </p:txBody>
      </p:sp>
      <p:sp>
        <p:nvSpPr>
          <p:cNvPr id="39" name="TextBox 12">
            <a:extLst>
              <a:ext uri="{FF2B5EF4-FFF2-40B4-BE49-F238E27FC236}">
                <a16:creationId xmlns:a16="http://schemas.microsoft.com/office/drawing/2014/main" id="{CE9DEFC0-1A5B-6561-E26F-6E440F362643}"/>
              </a:ext>
            </a:extLst>
          </p:cNvPr>
          <p:cNvSpPr txBox="1"/>
          <p:nvPr/>
        </p:nvSpPr>
        <p:spPr>
          <a:xfrm>
            <a:off x="11574000" y="547028"/>
            <a:ext cx="5796991" cy="956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3935"/>
              </a:lnSpc>
              <a:spcBef>
                <a:spcPct val="0"/>
              </a:spcBef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Part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4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– </a:t>
            </a:r>
            <a:r>
              <a:rPr lang="ko-KR" alt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웹페이지 개발</a:t>
            </a:r>
          </a:p>
          <a:p>
            <a:pPr marL="0" lvl="0" indent="0" algn="r">
              <a:lnSpc>
                <a:spcPts val="3935"/>
              </a:lnSpc>
              <a:spcBef>
                <a:spcPct val="0"/>
              </a:spcBef>
            </a:pPr>
            <a:endParaRPr lang="en-US" sz="2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  <a:cs typeface="Telegraf"/>
              <a:sym typeface="Telegraf"/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0FE48425-432C-D47C-3C03-AE0D033622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7102" y="1601525"/>
            <a:ext cx="9898201" cy="8553456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D0A0DF1F-C599-6F8C-E825-13DB39E13A2F}"/>
              </a:ext>
            </a:extLst>
          </p:cNvPr>
          <p:cNvSpPr/>
          <p:nvPr/>
        </p:nvSpPr>
        <p:spPr>
          <a:xfrm>
            <a:off x="6146202" y="4918500"/>
            <a:ext cx="1962798" cy="2295000"/>
          </a:xfrm>
          <a:prstGeom prst="rect">
            <a:avLst/>
          </a:prstGeom>
          <a:noFill/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117ED8A5-3B19-5221-AD15-B2399DD6F3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037917"/>
              </p:ext>
            </p:extLst>
          </p:nvPr>
        </p:nvGraphicFramePr>
        <p:xfrm>
          <a:off x="11934000" y="1601525"/>
          <a:ext cx="5940000" cy="2814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9532">
                  <a:extLst>
                    <a:ext uri="{9D8B030D-6E8A-4147-A177-3AD203B41FA5}">
                      <a16:colId xmlns:a16="http://schemas.microsoft.com/office/drawing/2014/main" val="2027186928"/>
                    </a:ext>
                  </a:extLst>
                </a:gridCol>
                <a:gridCol w="1575754">
                  <a:extLst>
                    <a:ext uri="{9D8B030D-6E8A-4147-A177-3AD203B41FA5}">
                      <a16:colId xmlns:a16="http://schemas.microsoft.com/office/drawing/2014/main" val="872229010"/>
                    </a:ext>
                  </a:extLst>
                </a:gridCol>
                <a:gridCol w="3744714">
                  <a:extLst>
                    <a:ext uri="{9D8B030D-6E8A-4147-A177-3AD203B41FA5}">
                      <a16:colId xmlns:a16="http://schemas.microsoft.com/office/drawing/2014/main" val="1914048250"/>
                    </a:ext>
                  </a:extLst>
                </a:gridCol>
              </a:tblGrid>
              <a:tr h="52839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+mn-ea"/>
                          <a:ea typeface="+mn-ea"/>
                        </a:rPr>
                        <a:t>No</a:t>
                      </a:r>
                      <a:endParaRPr lang="ko-KR" altLang="en-US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>
                          <a:latin typeface="+mn-ea"/>
                          <a:ea typeface="+mn-ea"/>
                        </a:rPr>
                        <a:t>Title</a:t>
                      </a:r>
                      <a:endParaRPr lang="ko-KR" altLang="en-US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>
                          <a:latin typeface="+mn-ea"/>
                          <a:ea typeface="+mn-ea"/>
                        </a:rPr>
                        <a:t>Description</a:t>
                      </a:r>
                      <a:endParaRPr lang="ko-KR" altLang="en-US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7240465"/>
                  </a:ext>
                </a:extLst>
              </a:tr>
              <a:tr h="44858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1600" dirty="0"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페르소나 </a:t>
                      </a:r>
                      <a:endParaRPr lang="en-US" altLang="ko-KR" sz="1600" dirty="0">
                        <a:latin typeface="+mn-ea"/>
                        <a:ea typeface="+mn-ea"/>
                      </a:endParaRPr>
                    </a:p>
                    <a:p>
                      <a:pPr latinLnBrk="1"/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탐색 팝업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팝업 노출</a:t>
                      </a:r>
                      <a:endParaRPr lang="en-US" altLang="ko-KR" sz="1600" dirty="0">
                        <a:latin typeface="+mn-ea"/>
                        <a:ea typeface="+mn-ea"/>
                      </a:endParaRP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고객이 설정한 페르소나와 가장 일치율이 높은 페르소나를 선정</a:t>
                      </a:r>
                      <a:endParaRPr lang="en-US" altLang="ko-KR" sz="1600" dirty="0">
                        <a:latin typeface="+mn-ea"/>
                        <a:ea typeface="+mn-ea"/>
                      </a:endParaRP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600" dirty="0" err="1">
                          <a:latin typeface="+mn-ea"/>
                          <a:ea typeface="+mn-ea"/>
                        </a:rPr>
                        <a:t>일치율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 노출</a:t>
                      </a:r>
                      <a:endParaRPr lang="en-US" altLang="ko-KR" sz="1600" dirty="0">
                        <a:latin typeface="+mn-ea"/>
                        <a:ea typeface="+mn-ea"/>
                      </a:endParaRP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페르소나 번호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+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이름 노출</a:t>
                      </a:r>
                      <a:endParaRPr lang="en-US" altLang="ko-KR" sz="1600" dirty="0">
                        <a:latin typeface="+mn-ea"/>
                        <a:ea typeface="+mn-ea"/>
                      </a:endParaRP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페르소나 프로필 노출</a:t>
                      </a:r>
                      <a:endParaRPr lang="en-US" altLang="ko-KR" sz="1600" dirty="0">
                        <a:latin typeface="+mn-ea"/>
                        <a:ea typeface="+mn-ea"/>
                      </a:endParaRP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‘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재설정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’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1600" dirty="0" err="1">
                          <a:latin typeface="+mn-ea"/>
                          <a:ea typeface="+mn-ea"/>
                        </a:rPr>
                        <a:t>클릭시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: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페르소나 생성 페이지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이전설정 유지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)</a:t>
                      </a: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‘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채팅시작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‘ </a:t>
                      </a:r>
                      <a:r>
                        <a:rPr lang="ko-KR" altLang="en-US" sz="1600" dirty="0" err="1">
                          <a:latin typeface="+mn-ea"/>
                          <a:ea typeface="+mn-ea"/>
                        </a:rPr>
                        <a:t>클릭시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: </a:t>
                      </a:r>
                      <a:r>
                        <a:rPr lang="ko-KR" altLang="en-US" sz="1600" dirty="0" err="1">
                          <a:latin typeface="+mn-ea"/>
                          <a:ea typeface="+mn-ea"/>
                        </a:rPr>
                        <a:t>채팅창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 이동</a:t>
                      </a:r>
                      <a:endParaRPr lang="en-US" altLang="ko-KR" sz="1600" dirty="0"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9317620"/>
                  </a:ext>
                </a:extLst>
              </a:tr>
            </a:tbl>
          </a:graphicData>
        </a:graphic>
      </p:graphicFrame>
      <p:grpSp>
        <p:nvGrpSpPr>
          <p:cNvPr id="2" name="그룹 1">
            <a:extLst>
              <a:ext uri="{FF2B5EF4-FFF2-40B4-BE49-F238E27FC236}">
                <a16:creationId xmlns:a16="http://schemas.microsoft.com/office/drawing/2014/main" id="{C3D85481-B6C5-24DE-9BD3-2EAC72A6B53D}"/>
              </a:ext>
            </a:extLst>
          </p:cNvPr>
          <p:cNvGrpSpPr/>
          <p:nvPr/>
        </p:nvGrpSpPr>
        <p:grpSpPr>
          <a:xfrm>
            <a:off x="5989619" y="4761917"/>
            <a:ext cx="313166" cy="313166"/>
            <a:chOff x="7412417" y="1139116"/>
            <a:chExt cx="313166" cy="313166"/>
          </a:xfrm>
        </p:grpSpPr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FA038C45-1B2B-AD5C-E30A-E298932444BA}"/>
                </a:ext>
              </a:extLst>
            </p:cNvPr>
            <p:cNvSpPr/>
            <p:nvPr/>
          </p:nvSpPr>
          <p:spPr>
            <a:xfrm>
              <a:off x="7412417" y="1139116"/>
              <a:ext cx="313166" cy="313166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F8D4AE4-C69F-F49F-1E7D-CE9064397378}"/>
                </a:ext>
              </a:extLst>
            </p:cNvPr>
            <p:cNvSpPr txBox="1"/>
            <p:nvPr/>
          </p:nvSpPr>
          <p:spPr>
            <a:xfrm>
              <a:off x="7434187" y="1161261"/>
              <a:ext cx="2696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1200" dirty="0">
                  <a:latin typeface="+mj-ea"/>
                  <a:ea typeface="+mj-ea"/>
                </a:rPr>
                <a:t>1</a:t>
              </a:r>
              <a:endParaRPr lang="ko-KR" altLang="en-US" sz="1200" dirty="0">
                <a:latin typeface="+mj-ea"/>
                <a:ea typeface="+mj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6490233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A85E0-98A8-DB29-7564-282563976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AutoShape 17">
            <a:extLst>
              <a:ext uri="{FF2B5EF4-FFF2-40B4-BE49-F238E27FC236}">
                <a16:creationId xmlns:a16="http://schemas.microsoft.com/office/drawing/2014/main" id="{328F4802-4303-CFEE-4D8F-1259E327A944}"/>
              </a:ext>
            </a:extLst>
          </p:cNvPr>
          <p:cNvSpPr/>
          <p:nvPr/>
        </p:nvSpPr>
        <p:spPr>
          <a:xfrm>
            <a:off x="3294000" y="1074277"/>
            <a:ext cx="14076990" cy="0"/>
          </a:xfrm>
          <a:prstGeom prst="line">
            <a:avLst/>
          </a:prstGeom>
          <a:ln w="952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14C9E037-8CF3-AEA8-C94E-392B72B27C8E}"/>
              </a:ext>
            </a:extLst>
          </p:cNvPr>
          <p:cNvSpPr txBox="1"/>
          <p:nvPr/>
        </p:nvSpPr>
        <p:spPr>
          <a:xfrm>
            <a:off x="1197103" y="795626"/>
            <a:ext cx="3736349" cy="5000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29"/>
              </a:lnSpc>
            </a:pPr>
            <a:r>
              <a:rPr lang="ko-KR" altLang="en-US" sz="3092" b="1" spc="-19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화면 기획서</a:t>
            </a:r>
          </a:p>
        </p:txBody>
      </p:sp>
      <p:sp>
        <p:nvSpPr>
          <p:cNvPr id="39" name="TextBox 12">
            <a:extLst>
              <a:ext uri="{FF2B5EF4-FFF2-40B4-BE49-F238E27FC236}">
                <a16:creationId xmlns:a16="http://schemas.microsoft.com/office/drawing/2014/main" id="{C836C56D-0B49-4395-F866-519BEB5F2A81}"/>
              </a:ext>
            </a:extLst>
          </p:cNvPr>
          <p:cNvSpPr txBox="1"/>
          <p:nvPr/>
        </p:nvSpPr>
        <p:spPr>
          <a:xfrm>
            <a:off x="11574000" y="547028"/>
            <a:ext cx="5796991" cy="956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3935"/>
              </a:lnSpc>
              <a:spcBef>
                <a:spcPct val="0"/>
              </a:spcBef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Part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4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– </a:t>
            </a:r>
            <a:r>
              <a:rPr lang="ko-KR" alt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웹페이지 개발</a:t>
            </a:r>
          </a:p>
          <a:p>
            <a:pPr marL="0" lvl="0" indent="0" algn="r">
              <a:lnSpc>
                <a:spcPts val="3935"/>
              </a:lnSpc>
              <a:spcBef>
                <a:spcPct val="0"/>
              </a:spcBef>
            </a:pPr>
            <a:endParaRPr lang="en-US" sz="2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  <a:cs typeface="Telegraf"/>
              <a:sym typeface="Telegraf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4A306E75-19F2-18F2-A022-7E8513C500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4869" y="1623281"/>
            <a:ext cx="9916995" cy="8531693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8C2CB98C-C77F-9543-417E-0B223E1140C9}"/>
              </a:ext>
            </a:extLst>
          </p:cNvPr>
          <p:cNvSpPr/>
          <p:nvPr/>
        </p:nvSpPr>
        <p:spPr>
          <a:xfrm>
            <a:off x="1314000" y="4028143"/>
            <a:ext cx="1980000" cy="5840357"/>
          </a:xfrm>
          <a:prstGeom prst="rect">
            <a:avLst/>
          </a:prstGeom>
          <a:noFill/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E60A09A-6793-E8BF-ED4D-52015A4A4DAC}"/>
              </a:ext>
            </a:extLst>
          </p:cNvPr>
          <p:cNvSpPr/>
          <p:nvPr/>
        </p:nvSpPr>
        <p:spPr>
          <a:xfrm>
            <a:off x="4554537" y="3028499"/>
            <a:ext cx="5309463" cy="4937377"/>
          </a:xfrm>
          <a:prstGeom prst="rect">
            <a:avLst/>
          </a:prstGeom>
          <a:noFill/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0CECC3D0-42E8-539D-4DB1-AB4A6D2403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3718435"/>
              </p:ext>
            </p:extLst>
          </p:nvPr>
        </p:nvGraphicFramePr>
        <p:xfrm>
          <a:off x="11934000" y="1601525"/>
          <a:ext cx="5940000" cy="79655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9532">
                  <a:extLst>
                    <a:ext uri="{9D8B030D-6E8A-4147-A177-3AD203B41FA5}">
                      <a16:colId xmlns:a16="http://schemas.microsoft.com/office/drawing/2014/main" val="2027186928"/>
                    </a:ext>
                  </a:extLst>
                </a:gridCol>
                <a:gridCol w="1575754">
                  <a:extLst>
                    <a:ext uri="{9D8B030D-6E8A-4147-A177-3AD203B41FA5}">
                      <a16:colId xmlns:a16="http://schemas.microsoft.com/office/drawing/2014/main" val="872229010"/>
                    </a:ext>
                  </a:extLst>
                </a:gridCol>
                <a:gridCol w="3744714">
                  <a:extLst>
                    <a:ext uri="{9D8B030D-6E8A-4147-A177-3AD203B41FA5}">
                      <a16:colId xmlns:a16="http://schemas.microsoft.com/office/drawing/2014/main" val="1914048250"/>
                    </a:ext>
                  </a:extLst>
                </a:gridCol>
              </a:tblGrid>
              <a:tr h="52839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+mn-ea"/>
                          <a:ea typeface="+mn-ea"/>
                        </a:rPr>
                        <a:t>No</a:t>
                      </a:r>
                      <a:endParaRPr lang="ko-KR" altLang="en-US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>
                          <a:latin typeface="+mn-ea"/>
                          <a:ea typeface="+mn-ea"/>
                        </a:rPr>
                        <a:t>Title</a:t>
                      </a:r>
                      <a:endParaRPr lang="ko-KR" altLang="en-US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>
                          <a:latin typeface="+mn-ea"/>
                          <a:ea typeface="+mn-ea"/>
                        </a:rPr>
                        <a:t>Description</a:t>
                      </a:r>
                      <a:endParaRPr lang="ko-KR" altLang="en-US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7240465"/>
                  </a:ext>
                </a:extLst>
              </a:tr>
              <a:tr h="44858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1600" dirty="0"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Recent Chats</a:t>
                      </a:r>
                      <a:endParaRPr lang="ko-KR" altLang="en-US" sz="1600" dirty="0"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번 이상 채팅이 확인되면 최근 </a:t>
                      </a:r>
                      <a:r>
                        <a:rPr lang="ko-KR" altLang="en-US" sz="1600" dirty="0" err="1">
                          <a:latin typeface="+mn-ea"/>
                          <a:ea typeface="+mn-ea"/>
                        </a:rPr>
                        <a:t>챗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 목록 생성</a:t>
                      </a:r>
                      <a:endParaRPr lang="en-US" altLang="ko-KR" sz="1600" dirty="0">
                        <a:latin typeface="+mn-ea"/>
                        <a:ea typeface="+mn-ea"/>
                      </a:endParaRP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시간 내림차순 정렬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가장 최근 채팅이 </a:t>
                      </a:r>
                      <a:r>
                        <a:rPr lang="ko-KR" altLang="en-US" sz="1600" dirty="0" err="1">
                          <a:latin typeface="+mn-ea"/>
                          <a:ea typeface="+mn-ea"/>
                        </a:rPr>
                        <a:t>최상단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9317620"/>
                  </a:ext>
                </a:extLst>
              </a:tr>
              <a:tr h="52839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2</a:t>
                      </a:r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채팅 바디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[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디폴트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]</a:t>
                      </a: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좌측 위치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로고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)</a:t>
                      </a: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페르소나 번호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+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이름</a:t>
                      </a:r>
                      <a:endParaRPr lang="en-US" altLang="ko-KR" sz="1600" dirty="0">
                        <a:latin typeface="+mn-ea"/>
                        <a:ea typeface="+mn-ea"/>
                      </a:endParaRP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페르소나 프로필 출력</a:t>
                      </a:r>
                      <a:endParaRPr lang="en-US" altLang="ko-KR" sz="1600" dirty="0">
                        <a:latin typeface="+mn-ea"/>
                        <a:ea typeface="+mn-ea"/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[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질문 채팅 </a:t>
                      </a:r>
                      <a:r>
                        <a:rPr lang="ko-KR" altLang="en-US" sz="1600" dirty="0" err="1">
                          <a:latin typeface="+mn-ea"/>
                          <a:ea typeface="+mn-ea"/>
                        </a:rPr>
                        <a:t>입력시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]</a:t>
                      </a: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우측 위치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백그라운드 컬러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)</a:t>
                      </a: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줄 한글 약 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30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자 내외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초과시 </a:t>
                      </a:r>
                      <a:br>
                        <a:rPr lang="en-US" altLang="ko-KR" sz="1600" dirty="0">
                          <a:latin typeface="+mn-ea"/>
                          <a:ea typeface="+mn-ea"/>
                        </a:rPr>
                      </a:b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내려쓰기</a:t>
                      </a:r>
                      <a:endParaRPr lang="en-US" altLang="ko-KR" sz="1600" dirty="0">
                        <a:latin typeface="+mn-ea"/>
                        <a:ea typeface="+mn-ea"/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[GPT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1600" dirty="0" err="1">
                          <a:latin typeface="+mn-ea"/>
                          <a:ea typeface="+mn-ea"/>
                        </a:rPr>
                        <a:t>답변시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]</a:t>
                      </a: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좌측부터 출력</a:t>
                      </a:r>
                      <a:endParaRPr lang="en-US" altLang="ko-KR" sz="1600" dirty="0">
                        <a:latin typeface="+mn-ea"/>
                        <a:ea typeface="+mn-ea"/>
                      </a:endParaRP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줄 한글 약 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45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자 내외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초과시 </a:t>
                      </a:r>
                      <a:br>
                        <a:rPr lang="en-US" altLang="ko-KR" sz="1600" dirty="0">
                          <a:latin typeface="+mn-ea"/>
                          <a:ea typeface="+mn-ea"/>
                        </a:rPr>
                      </a:b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내려쓰기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1185158"/>
                  </a:ext>
                </a:extLst>
              </a:tr>
              <a:tr h="52839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3</a:t>
                      </a:r>
                      <a:endParaRPr lang="ko-KR" altLang="en-US" sz="1600" dirty="0"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err="1">
                          <a:latin typeface="+mn-ea"/>
                          <a:ea typeface="+mn-ea"/>
                        </a:rPr>
                        <a:t>입력창</a:t>
                      </a:r>
                      <a:endParaRPr lang="ko-KR" altLang="en-US" sz="1600" dirty="0"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[Place Holder]</a:t>
                      </a:r>
                    </a:p>
                    <a:p>
                      <a:pPr marL="0" indent="0" latinLnBrk="1">
                        <a:buFontTx/>
                        <a:buNone/>
                      </a:pP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‘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어떤 비즈니스 시뮬레이션을 원하시나요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? </a:t>
                      </a:r>
                      <a:br>
                        <a:rPr lang="en-US" altLang="ko-KR" sz="1600" dirty="0">
                          <a:latin typeface="+mn-ea"/>
                          <a:ea typeface="+mn-ea"/>
                        </a:rPr>
                      </a:b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신제품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기존제품에 대한 구매의향을 물어보세요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.</a:t>
                      </a:r>
                      <a:br>
                        <a:rPr lang="en-US" altLang="ko-KR" sz="1600" dirty="0">
                          <a:latin typeface="+mn-ea"/>
                          <a:ea typeface="+mn-ea"/>
                        </a:rPr>
                      </a:b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또는 어떤 프로모션을 했을 때 이 고객이 구매할 의향이 생길지 물어 볼 수 있습니다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.’</a:t>
                      </a:r>
                    </a:p>
                    <a:p>
                      <a:pPr marL="0" indent="0" latinLnBrk="1">
                        <a:buFontTx/>
                        <a:buNone/>
                      </a:pP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[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입력버튼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]</a:t>
                      </a:r>
                    </a:p>
                    <a:p>
                      <a:pPr marL="0" indent="0" latinLnBrk="1">
                        <a:buFontTx/>
                        <a:buNone/>
                      </a:pP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- Enter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키 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/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입력버튼 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: </a:t>
                      </a:r>
                      <a:r>
                        <a:rPr lang="ko-KR" altLang="en-US" sz="1600" dirty="0" err="1">
                          <a:latin typeface="+mn-ea"/>
                          <a:ea typeface="+mn-ea"/>
                        </a:rPr>
                        <a:t>채팅창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525348"/>
                  </a:ext>
                </a:extLst>
              </a:tr>
              <a:tr h="26419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1600" dirty="0"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안내문구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Chill Tuna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비즈니스 시뮬레이터는 실수를 할 수 있습니다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.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참고용으로 사용하세요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1600" dirty="0"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5678109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8288E3A2-4D0C-C865-6ABF-376D2578737D}"/>
              </a:ext>
            </a:extLst>
          </p:cNvPr>
          <p:cNvSpPr/>
          <p:nvPr/>
        </p:nvSpPr>
        <p:spPr>
          <a:xfrm>
            <a:off x="4554537" y="8158500"/>
            <a:ext cx="5309463" cy="1054223"/>
          </a:xfrm>
          <a:prstGeom prst="rect">
            <a:avLst/>
          </a:prstGeom>
          <a:noFill/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9BB14A9-EC19-2430-9696-FFF91749FF32}"/>
              </a:ext>
            </a:extLst>
          </p:cNvPr>
          <p:cNvSpPr/>
          <p:nvPr/>
        </p:nvSpPr>
        <p:spPr>
          <a:xfrm>
            <a:off x="4554537" y="9248763"/>
            <a:ext cx="5309463" cy="512963"/>
          </a:xfrm>
          <a:prstGeom prst="rect">
            <a:avLst/>
          </a:prstGeom>
          <a:noFill/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A4682A56-8821-9B80-8005-215DF6776E15}"/>
              </a:ext>
            </a:extLst>
          </p:cNvPr>
          <p:cNvGrpSpPr/>
          <p:nvPr/>
        </p:nvGrpSpPr>
        <p:grpSpPr>
          <a:xfrm>
            <a:off x="1157417" y="3871560"/>
            <a:ext cx="313166" cy="313166"/>
            <a:chOff x="7412417" y="1139116"/>
            <a:chExt cx="313166" cy="313166"/>
          </a:xfrm>
        </p:grpSpPr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82A2DD0B-E35B-E99C-A99D-70ABE650AEED}"/>
                </a:ext>
              </a:extLst>
            </p:cNvPr>
            <p:cNvSpPr/>
            <p:nvPr/>
          </p:nvSpPr>
          <p:spPr>
            <a:xfrm>
              <a:off x="7412417" y="1139116"/>
              <a:ext cx="313166" cy="313166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F210A57-7C6E-BABA-0DE6-78BF058E0F8A}"/>
                </a:ext>
              </a:extLst>
            </p:cNvPr>
            <p:cNvSpPr txBox="1"/>
            <p:nvPr/>
          </p:nvSpPr>
          <p:spPr>
            <a:xfrm>
              <a:off x="7434187" y="1161261"/>
              <a:ext cx="2696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1200" dirty="0">
                  <a:latin typeface="+mj-ea"/>
                  <a:ea typeface="+mj-ea"/>
                </a:rPr>
                <a:t>1</a:t>
              </a:r>
              <a:endParaRPr lang="ko-KR" altLang="en-US" sz="1200" dirty="0">
                <a:latin typeface="+mj-ea"/>
                <a:ea typeface="+mj-ea"/>
              </a:endParaRPr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2EAD1575-7EC2-C3A9-2D1B-01B4A444DC2B}"/>
              </a:ext>
            </a:extLst>
          </p:cNvPr>
          <p:cNvGrpSpPr/>
          <p:nvPr/>
        </p:nvGrpSpPr>
        <p:grpSpPr>
          <a:xfrm>
            <a:off x="4397954" y="2835877"/>
            <a:ext cx="313166" cy="313166"/>
            <a:chOff x="7412417" y="1139116"/>
            <a:chExt cx="313166" cy="313166"/>
          </a:xfrm>
        </p:grpSpPr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6FA10AC9-E697-5F63-0C83-503D75C57CA5}"/>
                </a:ext>
              </a:extLst>
            </p:cNvPr>
            <p:cNvSpPr/>
            <p:nvPr/>
          </p:nvSpPr>
          <p:spPr>
            <a:xfrm>
              <a:off x="7412417" y="1139116"/>
              <a:ext cx="313166" cy="313166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1173A0C-5625-8707-C4CC-190721F32354}"/>
                </a:ext>
              </a:extLst>
            </p:cNvPr>
            <p:cNvSpPr txBox="1"/>
            <p:nvPr/>
          </p:nvSpPr>
          <p:spPr>
            <a:xfrm>
              <a:off x="7434187" y="1161261"/>
              <a:ext cx="2696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1200" dirty="0">
                  <a:latin typeface="+mj-ea"/>
                  <a:ea typeface="+mj-ea"/>
                </a:rPr>
                <a:t>2</a:t>
              </a:r>
              <a:endParaRPr lang="ko-KR" altLang="en-US" sz="1200" dirty="0">
                <a:latin typeface="+mj-ea"/>
                <a:ea typeface="+mj-ea"/>
              </a:endParaRPr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BCBDEF6E-7872-2C36-AD17-9F6E57D546EE}"/>
              </a:ext>
            </a:extLst>
          </p:cNvPr>
          <p:cNvGrpSpPr/>
          <p:nvPr/>
        </p:nvGrpSpPr>
        <p:grpSpPr>
          <a:xfrm>
            <a:off x="4397954" y="8001917"/>
            <a:ext cx="313166" cy="313166"/>
            <a:chOff x="7412417" y="1139116"/>
            <a:chExt cx="313166" cy="313166"/>
          </a:xfrm>
        </p:grpSpPr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517834B6-E376-76E9-7FBF-5B74E41BD740}"/>
                </a:ext>
              </a:extLst>
            </p:cNvPr>
            <p:cNvSpPr/>
            <p:nvPr/>
          </p:nvSpPr>
          <p:spPr>
            <a:xfrm>
              <a:off x="7412417" y="1139116"/>
              <a:ext cx="313166" cy="313166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E9AB0EE-882A-6E25-B09F-52D076394B1C}"/>
                </a:ext>
              </a:extLst>
            </p:cNvPr>
            <p:cNvSpPr txBox="1"/>
            <p:nvPr/>
          </p:nvSpPr>
          <p:spPr>
            <a:xfrm>
              <a:off x="7434187" y="1161261"/>
              <a:ext cx="2696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1200" dirty="0">
                  <a:latin typeface="+mj-ea"/>
                  <a:ea typeface="+mj-ea"/>
                </a:rPr>
                <a:t>3</a:t>
              </a:r>
              <a:endParaRPr lang="ko-KR" altLang="en-US" sz="1200" dirty="0">
                <a:latin typeface="+mj-ea"/>
                <a:ea typeface="+mj-ea"/>
              </a:endParaRPr>
            </a:p>
          </p:txBody>
        </p:sp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403204B1-0EB9-FE93-AA9C-5FD606798A66}"/>
              </a:ext>
            </a:extLst>
          </p:cNvPr>
          <p:cNvGrpSpPr/>
          <p:nvPr/>
        </p:nvGrpSpPr>
        <p:grpSpPr>
          <a:xfrm>
            <a:off x="4397954" y="9257639"/>
            <a:ext cx="313166" cy="313166"/>
            <a:chOff x="7412417" y="1139116"/>
            <a:chExt cx="313166" cy="313166"/>
          </a:xfrm>
        </p:grpSpPr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6B874487-44D7-2FB9-78F8-1CCEF441A483}"/>
                </a:ext>
              </a:extLst>
            </p:cNvPr>
            <p:cNvSpPr/>
            <p:nvPr/>
          </p:nvSpPr>
          <p:spPr>
            <a:xfrm>
              <a:off x="7412417" y="1139116"/>
              <a:ext cx="313166" cy="313166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8A68ED3-ECFC-63F7-6EA7-82BD78B76569}"/>
                </a:ext>
              </a:extLst>
            </p:cNvPr>
            <p:cNvSpPr txBox="1"/>
            <p:nvPr/>
          </p:nvSpPr>
          <p:spPr>
            <a:xfrm>
              <a:off x="7434187" y="1161261"/>
              <a:ext cx="2696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1200" dirty="0">
                  <a:latin typeface="+mj-ea"/>
                  <a:ea typeface="+mj-ea"/>
                </a:rPr>
                <a:t>4</a:t>
              </a:r>
              <a:endParaRPr lang="ko-KR" altLang="en-US" sz="1200" dirty="0">
                <a:latin typeface="+mj-ea"/>
                <a:ea typeface="+mj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9447448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817B4-4989-D583-3D91-FACE18908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>
            <a:extLst>
              <a:ext uri="{FF2B5EF4-FFF2-40B4-BE49-F238E27FC236}">
                <a16:creationId xmlns:a16="http://schemas.microsoft.com/office/drawing/2014/main" id="{90B46399-1FEC-3ED2-CF90-5863345915DF}"/>
              </a:ext>
            </a:extLst>
          </p:cNvPr>
          <p:cNvSpPr txBox="1"/>
          <p:nvPr/>
        </p:nvSpPr>
        <p:spPr>
          <a:xfrm>
            <a:off x="16716877" y="8776205"/>
            <a:ext cx="1242680" cy="4251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542"/>
              </a:lnSpc>
            </a:pPr>
            <a:r>
              <a:rPr lang="en-US" sz="2530" b="1" spc="-43">
                <a:solidFill>
                  <a:srgbClr val="FFFFFF"/>
                </a:solidFill>
                <a:latin typeface="+mn-ea"/>
                <a:cs typeface="Source Han Sans KR Bold"/>
                <a:sym typeface="Source Han Sans KR Bold"/>
              </a:rPr>
              <a:t>Logo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C8F81CD7-F47B-179E-89F4-8D8632936E9A}"/>
              </a:ext>
            </a:extLst>
          </p:cNvPr>
          <p:cNvSpPr txBox="1"/>
          <p:nvPr/>
        </p:nvSpPr>
        <p:spPr>
          <a:xfrm>
            <a:off x="8339348" y="6742688"/>
            <a:ext cx="2598180" cy="3318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757"/>
              </a:lnSpc>
              <a:spcBef>
                <a:spcPct val="0"/>
              </a:spcBef>
            </a:pPr>
            <a:r>
              <a:rPr lang="ko-KR" altLang="en-US" sz="2000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기대효과</a:t>
            </a:r>
            <a:endParaRPr lang="en-US" altLang="ko-KR" sz="2000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CEB31060-7462-281D-D512-30B4AFF7DECC}"/>
              </a:ext>
            </a:extLst>
          </p:cNvPr>
          <p:cNvSpPr txBox="1"/>
          <p:nvPr/>
        </p:nvSpPr>
        <p:spPr>
          <a:xfrm>
            <a:off x="5916826" y="6742688"/>
            <a:ext cx="2598180" cy="3606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>
              <a:lnSpc>
                <a:spcPts val="3132"/>
              </a:lnSpc>
              <a:spcBef>
                <a:spcPct val="0"/>
              </a:spcBef>
            </a:pPr>
            <a:r>
              <a:rPr lang="ko-KR" altLang="en-US" sz="2000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화면 시연</a:t>
            </a:r>
            <a:endParaRPr lang="en-US" altLang="ko-KR" sz="2000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D1388CB4-EDB5-8BAA-6B0C-38A5E5E5285D}"/>
              </a:ext>
            </a:extLst>
          </p:cNvPr>
          <p:cNvSpPr txBox="1"/>
          <p:nvPr/>
        </p:nvSpPr>
        <p:spPr>
          <a:xfrm>
            <a:off x="10937528" y="6742688"/>
            <a:ext cx="2369187" cy="3606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>
              <a:lnSpc>
                <a:spcPts val="3132"/>
              </a:lnSpc>
              <a:spcBef>
                <a:spcPct val="0"/>
              </a:spcBef>
            </a:pPr>
            <a:r>
              <a:rPr lang="ko-KR" altLang="en-US" sz="2000" b="1" spc="-80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자체 피드백</a:t>
            </a:r>
            <a:endParaRPr lang="en-US" altLang="ko-KR" sz="2000" b="1" spc="-80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8" name="AutoShape 8">
            <a:extLst>
              <a:ext uri="{FF2B5EF4-FFF2-40B4-BE49-F238E27FC236}">
                <a16:creationId xmlns:a16="http://schemas.microsoft.com/office/drawing/2014/main" id="{46625C41-D13C-1228-D2A7-3D356231543E}"/>
              </a:ext>
            </a:extLst>
          </p:cNvPr>
          <p:cNvSpPr/>
          <p:nvPr/>
        </p:nvSpPr>
        <p:spPr>
          <a:xfrm>
            <a:off x="7792461" y="6320010"/>
            <a:ext cx="0" cy="759414"/>
          </a:xfrm>
          <a:prstGeom prst="line">
            <a:avLst/>
          </a:prstGeom>
          <a:ln w="9525" cap="flat">
            <a:solidFill>
              <a:srgbClr val="DFDFD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9" name="AutoShape 9">
            <a:extLst>
              <a:ext uri="{FF2B5EF4-FFF2-40B4-BE49-F238E27FC236}">
                <a16:creationId xmlns:a16="http://schemas.microsoft.com/office/drawing/2014/main" id="{E06F4706-C720-C4A4-7F70-FB4D5C581084}"/>
              </a:ext>
            </a:extLst>
          </p:cNvPr>
          <p:cNvSpPr/>
          <p:nvPr/>
        </p:nvSpPr>
        <p:spPr>
          <a:xfrm>
            <a:off x="10387295" y="6320010"/>
            <a:ext cx="0" cy="759414"/>
          </a:xfrm>
          <a:prstGeom prst="line">
            <a:avLst/>
          </a:prstGeom>
          <a:ln w="9525" cap="flat">
            <a:solidFill>
              <a:srgbClr val="DFDFD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08F1737D-CF6C-E891-A255-3C55ACD8234F}"/>
              </a:ext>
            </a:extLst>
          </p:cNvPr>
          <p:cNvSpPr txBox="1"/>
          <p:nvPr/>
        </p:nvSpPr>
        <p:spPr>
          <a:xfrm>
            <a:off x="1183714" y="6035503"/>
            <a:ext cx="4502923" cy="24878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74"/>
              </a:lnSpc>
            </a:pPr>
            <a:r>
              <a:rPr lang="ko-KR" altLang="en-US" sz="8800" b="1" spc="-61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결과</a:t>
            </a:r>
            <a:endParaRPr lang="en-US" altLang="ko-KR" sz="8800" b="1" spc="-617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  <a:p>
            <a:pPr algn="l">
              <a:lnSpc>
                <a:spcPts val="9674"/>
              </a:lnSpc>
            </a:pPr>
            <a:r>
              <a:rPr lang="ko-KR" altLang="en-US" sz="8800" b="1" spc="-61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및 평가</a:t>
            </a:r>
            <a:endParaRPr lang="en-US" sz="8800" b="1" spc="-617" dirty="0">
              <a:solidFill>
                <a:srgbClr val="000000"/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E161568E-E722-3150-42FB-999937B2BA89}"/>
              </a:ext>
            </a:extLst>
          </p:cNvPr>
          <p:cNvSpPr txBox="1"/>
          <p:nvPr/>
        </p:nvSpPr>
        <p:spPr>
          <a:xfrm>
            <a:off x="1299068" y="5101802"/>
            <a:ext cx="1267504" cy="4564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935"/>
              </a:lnSpc>
              <a:spcBef>
                <a:spcPct val="0"/>
              </a:spcBef>
            </a:pPr>
            <a:r>
              <a:rPr lang="en-US" sz="2811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Part </a:t>
            </a:r>
            <a:r>
              <a:rPr lang="en-US" altLang="ko-KR" sz="2811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5</a:t>
            </a:r>
            <a:endParaRPr lang="en-US" sz="2811" dirty="0">
              <a:solidFill>
                <a:srgbClr val="000000"/>
              </a:solidFill>
              <a:latin typeface="+mn-ea"/>
              <a:cs typeface="Telegraf"/>
              <a:sym typeface="Telegraf"/>
            </a:endParaRP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DB2FF93-5408-A521-AF2F-0FD6F425D978}"/>
              </a:ext>
            </a:extLst>
          </p:cNvPr>
          <p:cNvSpPr txBox="1"/>
          <p:nvPr/>
        </p:nvSpPr>
        <p:spPr>
          <a:xfrm>
            <a:off x="8339348" y="6253335"/>
            <a:ext cx="874928" cy="3501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956"/>
              </a:lnSpc>
              <a:spcBef>
                <a:spcPct val="0"/>
              </a:spcBef>
            </a:pPr>
            <a:r>
              <a:rPr lang="en-US" altLang="ko-KR" sz="2111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5</a:t>
            </a:r>
            <a:r>
              <a:rPr lang="en-US" sz="2111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-2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F21A84-C5DF-8F73-7098-F23CA7CDD462}"/>
              </a:ext>
            </a:extLst>
          </p:cNvPr>
          <p:cNvSpPr txBox="1"/>
          <p:nvPr/>
        </p:nvSpPr>
        <p:spPr>
          <a:xfrm>
            <a:off x="5916826" y="6253335"/>
            <a:ext cx="874928" cy="3501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956"/>
              </a:lnSpc>
              <a:spcBef>
                <a:spcPct val="0"/>
              </a:spcBef>
            </a:pPr>
            <a:r>
              <a:rPr lang="en-US" altLang="ko-KR" sz="2111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5</a:t>
            </a:r>
            <a:r>
              <a:rPr lang="en-US" sz="2111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-1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301708F-BECC-BACF-98EB-B798E5DC0D79}"/>
              </a:ext>
            </a:extLst>
          </p:cNvPr>
          <p:cNvSpPr txBox="1"/>
          <p:nvPr/>
        </p:nvSpPr>
        <p:spPr>
          <a:xfrm>
            <a:off x="10937528" y="6253335"/>
            <a:ext cx="873479" cy="3501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956"/>
              </a:lnSpc>
              <a:spcBef>
                <a:spcPct val="0"/>
              </a:spcBef>
            </a:pPr>
            <a:r>
              <a:rPr lang="en-US" altLang="ko-KR" sz="2111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5</a:t>
            </a:r>
            <a:r>
              <a:rPr lang="en-US" sz="2111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-3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22148576-46C7-1453-9B18-4A880A1A3898}"/>
              </a:ext>
            </a:extLst>
          </p:cNvPr>
          <p:cNvSpPr/>
          <p:nvPr/>
        </p:nvSpPr>
        <p:spPr>
          <a:xfrm>
            <a:off x="14454000" y="-11033"/>
            <a:ext cx="3834000" cy="4368922"/>
          </a:xfrm>
          <a:prstGeom prst="rect">
            <a:avLst/>
          </a:prstGeom>
          <a:solidFill>
            <a:srgbClr val="1319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E4663100-FBED-0D21-2147-18D9C481C197}"/>
              </a:ext>
            </a:extLst>
          </p:cNvPr>
          <p:cNvGrpSpPr/>
          <p:nvPr/>
        </p:nvGrpSpPr>
        <p:grpSpPr>
          <a:xfrm>
            <a:off x="0" y="-11033"/>
            <a:ext cx="14544000" cy="4368922"/>
            <a:chOff x="0" y="-11033"/>
            <a:chExt cx="14544000" cy="4368922"/>
          </a:xfrm>
        </p:grpSpPr>
        <p:pic>
          <p:nvPicPr>
            <p:cNvPr id="3074" name="Picture 2">
              <a:extLst>
                <a:ext uri="{FF2B5EF4-FFF2-40B4-BE49-F238E27FC236}">
                  <a16:creationId xmlns:a16="http://schemas.microsoft.com/office/drawing/2014/main" id="{AD7E7AD6-3805-B475-EDB6-1D764AF923E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3992" b="15424"/>
            <a:stretch>
              <a:fillRect/>
            </a:stretch>
          </p:blipFill>
          <p:spPr bwMode="auto">
            <a:xfrm>
              <a:off x="3744000" y="-4281"/>
              <a:ext cx="10800000" cy="43621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049E793D-3FCD-9525-A9FF-0FDC8B9B4884}"/>
                </a:ext>
              </a:extLst>
            </p:cNvPr>
            <p:cNvSpPr/>
            <p:nvPr/>
          </p:nvSpPr>
          <p:spPr>
            <a:xfrm>
              <a:off x="0" y="-11033"/>
              <a:ext cx="3834000" cy="4368922"/>
            </a:xfrm>
            <a:prstGeom prst="rect">
              <a:avLst/>
            </a:prstGeom>
            <a:gradFill flip="none" rotWithShape="1">
              <a:gsLst>
                <a:gs pos="56084">
                  <a:srgbClr val="1A3F6B"/>
                </a:gs>
                <a:gs pos="31746">
                  <a:srgbClr val="194470"/>
                </a:gs>
                <a:gs pos="0">
                  <a:srgbClr val="325880"/>
                </a:gs>
                <a:gs pos="74000">
                  <a:srgbClr val="153B60"/>
                </a:gs>
                <a:gs pos="83000">
                  <a:srgbClr val="193356"/>
                </a:gs>
                <a:gs pos="100000">
                  <a:srgbClr val="132A49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7368275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0F0DB-A062-A971-7838-85E8B5191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AutoShape 17">
            <a:extLst>
              <a:ext uri="{FF2B5EF4-FFF2-40B4-BE49-F238E27FC236}">
                <a16:creationId xmlns:a16="http://schemas.microsoft.com/office/drawing/2014/main" id="{7B7687CE-66F1-DD00-7AF8-E48704B3C7CF}"/>
              </a:ext>
            </a:extLst>
          </p:cNvPr>
          <p:cNvSpPr/>
          <p:nvPr/>
        </p:nvSpPr>
        <p:spPr>
          <a:xfrm>
            <a:off x="3294000" y="1074277"/>
            <a:ext cx="14076990" cy="0"/>
          </a:xfrm>
          <a:prstGeom prst="line">
            <a:avLst/>
          </a:prstGeom>
          <a:ln w="952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F9BA52C0-A9CE-13E5-0926-FB0FD2308CDD}"/>
              </a:ext>
            </a:extLst>
          </p:cNvPr>
          <p:cNvSpPr txBox="1"/>
          <p:nvPr/>
        </p:nvSpPr>
        <p:spPr>
          <a:xfrm>
            <a:off x="1197103" y="795626"/>
            <a:ext cx="3736349" cy="5000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29"/>
              </a:lnSpc>
            </a:pPr>
            <a:r>
              <a:rPr lang="ko-KR" altLang="en-US" sz="3092" b="1" spc="-19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화면 시연</a:t>
            </a:r>
          </a:p>
        </p:txBody>
      </p:sp>
      <p:sp>
        <p:nvSpPr>
          <p:cNvPr id="39" name="TextBox 12">
            <a:extLst>
              <a:ext uri="{FF2B5EF4-FFF2-40B4-BE49-F238E27FC236}">
                <a16:creationId xmlns:a16="http://schemas.microsoft.com/office/drawing/2014/main" id="{A4D55884-E872-4E73-E0A7-B3A30583B1B0}"/>
              </a:ext>
            </a:extLst>
          </p:cNvPr>
          <p:cNvSpPr txBox="1"/>
          <p:nvPr/>
        </p:nvSpPr>
        <p:spPr>
          <a:xfrm>
            <a:off x="11574000" y="547028"/>
            <a:ext cx="5796991" cy="4562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3935"/>
              </a:lnSpc>
              <a:spcBef>
                <a:spcPct val="0"/>
              </a:spcBef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Part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5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– </a:t>
            </a:r>
            <a:r>
              <a:rPr lang="ko-KR" alt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결과 및 평가</a:t>
            </a:r>
            <a:endParaRPr lang="en-US" sz="2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  <a:cs typeface="Telegraf"/>
              <a:sym typeface="Telegraf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71B42F22-C2F4-1A19-C8C9-B10BFABA9C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9000" y="1919994"/>
            <a:ext cx="7818444" cy="675625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E4C25BF7-AA13-AF0B-4266-FCC26E2342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1919994"/>
            <a:ext cx="7818445" cy="6733506"/>
          </a:xfrm>
          <a:prstGeom prst="rect">
            <a:avLst/>
          </a:prstGeom>
        </p:spPr>
      </p:pic>
      <p:sp>
        <p:nvSpPr>
          <p:cNvPr id="4" name="화살표: 오른쪽 3">
            <a:extLst>
              <a:ext uri="{FF2B5EF4-FFF2-40B4-BE49-F238E27FC236}">
                <a16:creationId xmlns:a16="http://schemas.microsoft.com/office/drawing/2014/main" id="{06327D5B-551F-C754-92F6-A3B19186026A}"/>
              </a:ext>
            </a:extLst>
          </p:cNvPr>
          <p:cNvSpPr/>
          <p:nvPr/>
        </p:nvSpPr>
        <p:spPr>
          <a:xfrm>
            <a:off x="8899188" y="2350619"/>
            <a:ext cx="821557" cy="5895000"/>
          </a:xfrm>
          <a:prstGeom prst="rightArrow">
            <a:avLst>
              <a:gd name="adj1" fmla="val 100000"/>
              <a:gd name="adj2" fmla="val 50000"/>
            </a:avLst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869662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ECC3A5-9464-0313-DB7D-1B73A789B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AutoShape 17">
            <a:extLst>
              <a:ext uri="{FF2B5EF4-FFF2-40B4-BE49-F238E27FC236}">
                <a16:creationId xmlns:a16="http://schemas.microsoft.com/office/drawing/2014/main" id="{C33812BD-F18D-2ACE-1DA6-9B87B37B171D}"/>
              </a:ext>
            </a:extLst>
          </p:cNvPr>
          <p:cNvSpPr/>
          <p:nvPr/>
        </p:nvSpPr>
        <p:spPr>
          <a:xfrm>
            <a:off x="3294000" y="1074277"/>
            <a:ext cx="14076990" cy="0"/>
          </a:xfrm>
          <a:prstGeom prst="line">
            <a:avLst/>
          </a:prstGeom>
          <a:ln w="952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843C60A7-0C63-6B34-E6A7-043DA5FFD2CC}"/>
              </a:ext>
            </a:extLst>
          </p:cNvPr>
          <p:cNvSpPr txBox="1"/>
          <p:nvPr/>
        </p:nvSpPr>
        <p:spPr>
          <a:xfrm>
            <a:off x="1197103" y="795626"/>
            <a:ext cx="3736349" cy="5000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29"/>
              </a:lnSpc>
            </a:pPr>
            <a:r>
              <a:rPr lang="ko-KR" altLang="en-US" sz="3092" b="1" spc="-197" dirty="0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기대 효과</a:t>
            </a:r>
          </a:p>
        </p:txBody>
      </p:sp>
      <p:sp>
        <p:nvSpPr>
          <p:cNvPr id="39" name="TextBox 12">
            <a:extLst>
              <a:ext uri="{FF2B5EF4-FFF2-40B4-BE49-F238E27FC236}">
                <a16:creationId xmlns:a16="http://schemas.microsoft.com/office/drawing/2014/main" id="{8B8F2A50-96E5-A985-65F8-9C8EDD625D72}"/>
              </a:ext>
            </a:extLst>
          </p:cNvPr>
          <p:cNvSpPr txBox="1"/>
          <p:nvPr/>
        </p:nvSpPr>
        <p:spPr>
          <a:xfrm>
            <a:off x="11574000" y="547028"/>
            <a:ext cx="5796991" cy="4562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3935"/>
              </a:lnSpc>
              <a:spcBef>
                <a:spcPct val="0"/>
              </a:spcBef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Part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5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 </a:t>
            </a:r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– </a:t>
            </a:r>
            <a:r>
              <a:rPr lang="ko-KR" alt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Telegraf"/>
                <a:sym typeface="Telegraf"/>
              </a:rPr>
              <a:t>결과 및 평가</a:t>
            </a:r>
            <a:endParaRPr lang="en-US" sz="2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  <a:cs typeface="Telegraf"/>
              <a:sym typeface="Telegraf"/>
            </a:endParaRPr>
          </a:p>
        </p:txBody>
      </p:sp>
      <p:sp>
        <p:nvSpPr>
          <p:cNvPr id="2" name="TextBox 2">
            <a:extLst>
              <a:ext uri="{FF2B5EF4-FFF2-40B4-BE49-F238E27FC236}">
                <a16:creationId xmlns:a16="http://schemas.microsoft.com/office/drawing/2014/main" id="{A57891CC-38AB-34A1-ED56-08123DE9E4AC}"/>
              </a:ext>
            </a:extLst>
          </p:cNvPr>
          <p:cNvSpPr txBox="1"/>
          <p:nvPr/>
        </p:nvSpPr>
        <p:spPr>
          <a:xfrm>
            <a:off x="1206628" y="3047692"/>
            <a:ext cx="6722370" cy="67723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33"/>
              </a:lnSpc>
            </a:pPr>
            <a:r>
              <a:rPr lang="ko-KR" altLang="en-US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시장 조사 분야의 기존 방식인 </a:t>
            </a:r>
            <a:r>
              <a:rPr lang="ko-KR" altLang="en-US" sz="1686" spc="-28" dirty="0" err="1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컨조인트</a:t>
            </a:r>
            <a:r>
              <a:rPr lang="ko-KR" altLang="en-US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연구</a:t>
            </a:r>
            <a:r>
              <a:rPr lang="en-US" altLang="ko-KR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포커스 그룹</a:t>
            </a:r>
            <a:r>
              <a:rPr lang="en-US" altLang="ko-KR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독점 데이터셋 등에서 소요되는 비용과 시간을 절약 가능</a:t>
            </a:r>
            <a:endParaRPr lang="en-US" sz="1686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7DDF6C27-7FBD-F242-C812-F84EA4E41F86}"/>
              </a:ext>
            </a:extLst>
          </p:cNvPr>
          <p:cNvSpPr txBox="1"/>
          <p:nvPr/>
        </p:nvSpPr>
        <p:spPr>
          <a:xfrm>
            <a:off x="1206628" y="5281316"/>
            <a:ext cx="6722370" cy="10363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33"/>
              </a:lnSpc>
            </a:pPr>
            <a:r>
              <a:rPr lang="en-US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LLM</a:t>
            </a:r>
            <a:r>
              <a:rPr lang="ko-KR" altLang="en-US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이 인간 연구와 일관된 응답을 생성함으로써 시장조사를 보완하며</a:t>
            </a:r>
            <a:r>
              <a:rPr lang="en-US" altLang="ko-KR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</a:t>
            </a:r>
          </a:p>
          <a:p>
            <a:pPr algn="l">
              <a:lnSpc>
                <a:spcPts val="2833"/>
              </a:lnSpc>
            </a:pPr>
            <a:r>
              <a:rPr lang="ko-KR" altLang="en-US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제품 개발주기를 단축하고</a:t>
            </a:r>
            <a:r>
              <a:rPr lang="en-US" altLang="ko-KR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신제품의 시장 출시 전 위험을 줄이는데 기여 가능</a:t>
            </a:r>
            <a:endParaRPr lang="en-US" sz="1686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A415510D-951F-6B9B-8DD7-F08EC35AA2CC}"/>
              </a:ext>
            </a:extLst>
          </p:cNvPr>
          <p:cNvSpPr txBox="1"/>
          <p:nvPr/>
        </p:nvSpPr>
        <p:spPr>
          <a:xfrm>
            <a:off x="1206628" y="2549765"/>
            <a:ext cx="4516269" cy="371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8"/>
              </a:lnSpc>
              <a:spcBef>
                <a:spcPct val="0"/>
              </a:spcBef>
            </a:pPr>
            <a:r>
              <a:rPr lang="ko-KR" altLang="en-US" sz="2248" b="1" spc="-123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빠르고 저렴한 선행적 시장조사 가능</a:t>
            </a:r>
            <a:endParaRPr lang="en-US" sz="2248" b="1" spc="-123" dirty="0">
              <a:solidFill>
                <a:srgbClr val="000000"/>
              </a:solidFill>
              <a:latin typeface="+mn-ea"/>
              <a:cs typeface="Source Han Sans KR Medium"/>
              <a:sym typeface="Source Han Sans KR Medium"/>
            </a:endParaRP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55205EB0-F96E-36B0-F191-910AD1661712}"/>
              </a:ext>
            </a:extLst>
          </p:cNvPr>
          <p:cNvSpPr txBox="1"/>
          <p:nvPr/>
        </p:nvSpPr>
        <p:spPr>
          <a:xfrm>
            <a:off x="1206628" y="4783389"/>
            <a:ext cx="6407372" cy="3715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148"/>
              </a:lnSpc>
              <a:spcBef>
                <a:spcPct val="0"/>
              </a:spcBef>
            </a:pPr>
            <a:r>
              <a:rPr lang="ko-KR" altLang="en-US" sz="2248" b="1" spc="-123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정교하게 설계된 페르소나를 통한 시장 예측</a:t>
            </a:r>
            <a:endParaRPr lang="en-US" sz="2248" b="1" spc="-123" dirty="0">
              <a:solidFill>
                <a:srgbClr val="000000"/>
              </a:solidFill>
              <a:latin typeface="+mn-ea"/>
              <a:cs typeface="Source Han Sans KR Medium"/>
              <a:sym typeface="Source Han Sans KR Medium"/>
            </a:endParaRPr>
          </a:p>
        </p:txBody>
      </p:sp>
      <p:sp>
        <p:nvSpPr>
          <p:cNvPr id="6" name="TextBox 7">
            <a:extLst>
              <a:ext uri="{FF2B5EF4-FFF2-40B4-BE49-F238E27FC236}">
                <a16:creationId xmlns:a16="http://schemas.microsoft.com/office/drawing/2014/main" id="{5F8268DE-5356-B12C-96A8-B6713CC7962B}"/>
              </a:ext>
            </a:extLst>
          </p:cNvPr>
          <p:cNvSpPr txBox="1"/>
          <p:nvPr/>
        </p:nvSpPr>
        <p:spPr>
          <a:xfrm>
            <a:off x="10346395" y="7573500"/>
            <a:ext cx="6030734" cy="57605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spc="-30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“</a:t>
            </a:r>
            <a:r>
              <a:rPr lang="ko-KR" altLang="en-US" sz="2800" b="1" dirty="0"/>
              <a:t>시장 조사의 </a:t>
            </a:r>
            <a:r>
              <a:rPr lang="ko-KR" altLang="en-US" sz="2800" b="1" dirty="0" err="1"/>
              <a:t>새로운패러다임</a:t>
            </a:r>
            <a:r>
              <a:rPr lang="ko-KR" altLang="en-US" sz="2800" b="1" dirty="0"/>
              <a:t> 제시</a:t>
            </a:r>
            <a:r>
              <a:rPr lang="en-US" sz="2800" b="1" spc="-30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”</a:t>
            </a:r>
          </a:p>
        </p:txBody>
      </p:sp>
      <p:sp>
        <p:nvSpPr>
          <p:cNvPr id="7" name="AutoShape 8">
            <a:extLst>
              <a:ext uri="{FF2B5EF4-FFF2-40B4-BE49-F238E27FC236}">
                <a16:creationId xmlns:a16="http://schemas.microsoft.com/office/drawing/2014/main" id="{8799A7D5-6B3B-F704-FEAD-B5E10F2CAEC5}"/>
              </a:ext>
            </a:extLst>
          </p:cNvPr>
          <p:cNvSpPr/>
          <p:nvPr/>
        </p:nvSpPr>
        <p:spPr>
          <a:xfrm flipV="1">
            <a:off x="10132910" y="7596081"/>
            <a:ext cx="0" cy="57605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pic>
        <p:nvPicPr>
          <p:cNvPr id="8" name="Picture 9">
            <a:extLst>
              <a:ext uri="{FF2B5EF4-FFF2-40B4-BE49-F238E27FC236}">
                <a16:creationId xmlns:a16="http://schemas.microsoft.com/office/drawing/2014/main" id="{75F4D51F-BD46-500D-28FD-841BC0CB69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6891" y="1819764"/>
            <a:ext cx="7692799" cy="5065027"/>
          </a:xfrm>
          <a:prstGeom prst="rect">
            <a:avLst/>
          </a:prstGeom>
        </p:spPr>
      </p:pic>
      <p:sp>
        <p:nvSpPr>
          <p:cNvPr id="9" name="TextBox 11">
            <a:extLst>
              <a:ext uri="{FF2B5EF4-FFF2-40B4-BE49-F238E27FC236}">
                <a16:creationId xmlns:a16="http://schemas.microsoft.com/office/drawing/2014/main" id="{BD4C9D0A-AC70-7066-4BFB-243DA41000AA}"/>
              </a:ext>
            </a:extLst>
          </p:cNvPr>
          <p:cNvSpPr txBox="1"/>
          <p:nvPr/>
        </p:nvSpPr>
        <p:spPr>
          <a:xfrm>
            <a:off x="1206628" y="7503357"/>
            <a:ext cx="6722370" cy="10363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833"/>
              </a:lnSpc>
            </a:pPr>
            <a:r>
              <a:rPr lang="ko-KR" altLang="en-US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구축된 </a:t>
            </a:r>
            <a:r>
              <a:rPr lang="ko-KR" altLang="en-US" b="1" spc="-123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비즈니스 시뮬레이터</a:t>
            </a:r>
            <a:r>
              <a:rPr lang="ko-KR" altLang="en-US" spc="-123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를</a:t>
            </a:r>
            <a:r>
              <a:rPr lang="ko-KR" altLang="en-US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 이용해 향후 효율적 마케팅 방향을 시뮬레이션하고 빠르게 적용</a:t>
            </a:r>
            <a:r>
              <a:rPr lang="en-US" altLang="ko-KR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, </a:t>
            </a:r>
            <a:r>
              <a:rPr lang="ko-KR" altLang="en-US" sz="1686" spc="-28" dirty="0">
                <a:solidFill>
                  <a:srgbClr val="000000"/>
                </a:solidFill>
                <a:latin typeface="+mn-ea"/>
                <a:cs typeface="Source Han Sans KR"/>
                <a:sym typeface="Source Han Sans KR"/>
              </a:rPr>
              <a:t>피드백을 통해 보완하여 체계적인 마케팅 전략을 구축 가능</a:t>
            </a:r>
            <a:endParaRPr lang="en-US" sz="1686" spc="-28" dirty="0">
              <a:solidFill>
                <a:srgbClr val="000000"/>
              </a:solidFill>
              <a:latin typeface="+mn-ea"/>
              <a:cs typeface="Source Han Sans KR"/>
              <a:sym typeface="Source Han Sans KR"/>
            </a:endParaRPr>
          </a:p>
        </p:txBody>
      </p:sp>
      <p:sp>
        <p:nvSpPr>
          <p:cNvPr id="10" name="TextBox 12">
            <a:extLst>
              <a:ext uri="{FF2B5EF4-FFF2-40B4-BE49-F238E27FC236}">
                <a16:creationId xmlns:a16="http://schemas.microsoft.com/office/drawing/2014/main" id="{FB3E6F3F-F70D-5381-412D-CB90B0D7E5EC}"/>
              </a:ext>
            </a:extLst>
          </p:cNvPr>
          <p:cNvSpPr txBox="1"/>
          <p:nvPr/>
        </p:nvSpPr>
        <p:spPr>
          <a:xfrm>
            <a:off x="1206628" y="7005430"/>
            <a:ext cx="4516269" cy="371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8"/>
              </a:lnSpc>
              <a:spcBef>
                <a:spcPct val="0"/>
              </a:spcBef>
            </a:pPr>
            <a:r>
              <a:rPr lang="ko-KR" altLang="en-US" sz="2248" b="1" spc="-123" dirty="0">
                <a:solidFill>
                  <a:srgbClr val="000000"/>
                </a:solidFill>
                <a:latin typeface="+mn-ea"/>
                <a:cs typeface="Source Han Sans KR Medium"/>
                <a:sym typeface="Source Han Sans KR Medium"/>
              </a:rPr>
              <a:t>체계적인 마케팅 전략 구축</a:t>
            </a:r>
            <a:endParaRPr lang="en-US" sz="2248" b="1" spc="-123" dirty="0">
              <a:solidFill>
                <a:srgbClr val="000000"/>
              </a:solidFill>
              <a:latin typeface="+mn-ea"/>
              <a:cs typeface="Source Han Sans KR Medium"/>
              <a:sym typeface="Source Han Sans KR Medium"/>
            </a:endParaRPr>
          </a:p>
        </p:txBody>
      </p:sp>
    </p:spTree>
    <p:extLst>
      <p:ext uri="{BB962C8B-B14F-4D97-AF65-F5344CB8AC3E}">
        <p14:creationId xmlns:p14="http://schemas.microsoft.com/office/powerpoint/2010/main" val="242075101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900FEF-2535-2B14-9934-E03D6C4C2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E878F59-B7F6-5BCF-F972-FA6313AFA9DE}"/>
              </a:ext>
            </a:extLst>
          </p:cNvPr>
          <p:cNvSpPr txBox="1"/>
          <p:nvPr/>
        </p:nvSpPr>
        <p:spPr>
          <a:xfrm>
            <a:off x="1197703" y="7727814"/>
            <a:ext cx="3933923" cy="17892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lang="ko-KR" altLang="en-US" sz="2000" spc="55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박진성</a:t>
            </a:r>
            <a:endParaRPr lang="en-US" altLang="ko-KR" sz="2000" spc="55" dirty="0">
              <a:solidFill>
                <a:srgbClr val="000000"/>
              </a:solidFill>
              <a:latin typeface="+mn-ea"/>
              <a:cs typeface="Telegraf"/>
              <a:sym typeface="Telegraf"/>
            </a:endParaRPr>
          </a:p>
          <a:p>
            <a:pPr algn="l">
              <a:lnSpc>
                <a:spcPct val="150000"/>
              </a:lnSpc>
            </a:pPr>
            <a:r>
              <a:rPr lang="ko-KR" altLang="en-US" sz="2000" spc="55" dirty="0" err="1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주용곤</a:t>
            </a:r>
            <a:endParaRPr lang="en-US" altLang="ko-KR" sz="2000" spc="55" dirty="0">
              <a:solidFill>
                <a:srgbClr val="000000"/>
              </a:solidFill>
              <a:latin typeface="+mn-ea"/>
              <a:cs typeface="Telegraf"/>
              <a:sym typeface="Telegraf"/>
            </a:endParaRPr>
          </a:p>
          <a:p>
            <a:pPr algn="l">
              <a:lnSpc>
                <a:spcPct val="150000"/>
              </a:lnSpc>
            </a:pPr>
            <a:r>
              <a:rPr lang="ko-KR" altLang="en-US" sz="2000" spc="55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박동현</a:t>
            </a:r>
            <a:endParaRPr lang="en-US" altLang="ko-KR" sz="2000" spc="55" dirty="0">
              <a:solidFill>
                <a:srgbClr val="000000"/>
              </a:solidFill>
              <a:latin typeface="+mn-ea"/>
              <a:cs typeface="Telegraf"/>
              <a:sym typeface="Telegraf"/>
            </a:endParaRPr>
          </a:p>
          <a:p>
            <a:pPr algn="l">
              <a:lnSpc>
                <a:spcPct val="150000"/>
              </a:lnSpc>
            </a:pPr>
            <a:r>
              <a:rPr lang="ko-KR" altLang="en-US" sz="2000" spc="55" dirty="0" err="1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최장호</a:t>
            </a:r>
            <a:endParaRPr lang="en-US" sz="2000" spc="55" dirty="0">
              <a:solidFill>
                <a:srgbClr val="000000"/>
              </a:solidFill>
              <a:latin typeface="+mn-ea"/>
              <a:cs typeface="Telegraf"/>
              <a:sym typeface="Telegraf"/>
            </a:endParaRPr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35AEE1E1-D197-9348-F81E-D6D695D32DD0}"/>
              </a:ext>
            </a:extLst>
          </p:cNvPr>
          <p:cNvSpPr/>
          <p:nvPr/>
        </p:nvSpPr>
        <p:spPr>
          <a:xfrm>
            <a:off x="4933452" y="6782489"/>
            <a:ext cx="9046359" cy="0"/>
          </a:xfrm>
          <a:prstGeom prst="line">
            <a:avLst/>
          </a:prstGeom>
          <a:ln w="952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C32C35B0-C6A7-34E7-9122-4FAFCE65A664}"/>
              </a:ext>
            </a:extLst>
          </p:cNvPr>
          <p:cNvSpPr txBox="1"/>
          <p:nvPr/>
        </p:nvSpPr>
        <p:spPr>
          <a:xfrm>
            <a:off x="1197103" y="6502039"/>
            <a:ext cx="3736349" cy="457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35"/>
              </a:lnSpc>
            </a:pPr>
            <a:r>
              <a:rPr lang="ko-KR" altLang="en-US" sz="2811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팀 </a:t>
            </a:r>
            <a:r>
              <a:rPr lang="en-US" altLang="ko-KR" sz="2811" dirty="0">
                <a:solidFill>
                  <a:srgbClr val="000000"/>
                </a:solidFill>
                <a:latin typeface="+mn-ea"/>
                <a:cs typeface="Telegraf"/>
                <a:sym typeface="Telegraf"/>
              </a:rPr>
              <a:t>Chill Tuna</a:t>
            </a:r>
            <a:endParaRPr lang="en-US" sz="2811" dirty="0">
              <a:solidFill>
                <a:srgbClr val="000000"/>
              </a:solidFill>
              <a:latin typeface="+mn-ea"/>
              <a:cs typeface="Telegraf"/>
              <a:sym typeface="Telegraf"/>
            </a:endParaRP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F98CAADA-FEEB-76E4-F8B3-5EAF0FB3A017}"/>
              </a:ext>
            </a:extLst>
          </p:cNvPr>
          <p:cNvSpPr txBox="1"/>
          <p:nvPr/>
        </p:nvSpPr>
        <p:spPr>
          <a:xfrm>
            <a:off x="1041586" y="3858737"/>
            <a:ext cx="6913999" cy="12604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74"/>
              </a:lnSpc>
            </a:pPr>
            <a:r>
              <a:rPr lang="en-US" sz="9214" b="1" spc="-617">
                <a:solidFill>
                  <a:srgbClr val="000000"/>
                </a:solidFill>
                <a:latin typeface="+mn-ea"/>
                <a:cs typeface="Source Han Sans KR Bold"/>
                <a:sym typeface="Source Han Sans KR Bold"/>
              </a:rPr>
              <a:t>감사합니다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453C149-8E9B-DE8F-6C3D-049C5F66DA6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097" t="2012" r="20097"/>
          <a:stretch>
            <a:fillRect/>
          </a:stretch>
        </p:blipFill>
        <p:spPr>
          <a:xfrm>
            <a:off x="14470498" y="-1"/>
            <a:ext cx="3817502" cy="10286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97530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791</TotalTime>
  <Words>3802</Words>
  <Application>Microsoft Office PowerPoint</Application>
  <PresentationFormat>사용자 지정</PresentationFormat>
  <Paragraphs>830</Paragraphs>
  <Slides>35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35</vt:i4>
      </vt:variant>
    </vt:vector>
  </HeadingPairs>
  <TitlesOfParts>
    <vt:vector size="39" baseType="lpstr">
      <vt:lpstr>맑은 고딕</vt:lpstr>
      <vt:lpstr>Calibri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블랙 화이트 깔끔한 비지니스 사업 제안 발표 프레젠테이션</dc:title>
  <dc:creator>Admin</dc:creator>
  <cp:lastModifiedBy>Admin</cp:lastModifiedBy>
  <cp:revision>59</cp:revision>
  <dcterms:created xsi:type="dcterms:W3CDTF">2006-08-16T00:00:00Z</dcterms:created>
  <dcterms:modified xsi:type="dcterms:W3CDTF">2025-08-27T07:43:24Z</dcterms:modified>
  <dc:identifier>DAGvFTuB4-w</dc:identifier>
</cp:coreProperties>
</file>