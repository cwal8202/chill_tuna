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74" r:id="rId9"/>
    <p:sldId id="272" r:id="rId10"/>
    <p:sldId id="278" r:id="rId11"/>
    <p:sldId id="314" r:id="rId12"/>
    <p:sldId id="315" r:id="rId13"/>
    <p:sldId id="317" r:id="rId14"/>
    <p:sldId id="318" r:id="rId15"/>
    <p:sldId id="316" r:id="rId16"/>
    <p:sldId id="319" r:id="rId17"/>
    <p:sldId id="320" r:id="rId18"/>
    <p:sldId id="321" r:id="rId19"/>
    <p:sldId id="322" r:id="rId20"/>
    <p:sldId id="292" r:id="rId21"/>
    <p:sldId id="324" r:id="rId22"/>
    <p:sldId id="323" r:id="rId23"/>
    <p:sldId id="325" r:id="rId24"/>
    <p:sldId id="326" r:id="rId25"/>
    <p:sldId id="327" r:id="rId26"/>
    <p:sldId id="299" r:id="rId27"/>
    <p:sldId id="300" r:id="rId28"/>
    <p:sldId id="303" r:id="rId29"/>
    <p:sldId id="304" r:id="rId30"/>
    <p:sldId id="306" r:id="rId31"/>
    <p:sldId id="307" r:id="rId32"/>
    <p:sldId id="310" r:id="rId33"/>
    <p:sldId id="312" r:id="rId34"/>
  </p:sldIdLst>
  <p:sldSz cx="18288000" cy="10287000"/>
  <p:notesSz cx="6858000" cy="9144000"/>
  <p:embeddedFontLs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33"/>
    <a:srgbClr val="1A3F6B"/>
    <a:srgbClr val="325880"/>
    <a:srgbClr val="194470"/>
    <a:srgbClr val="153B60"/>
    <a:srgbClr val="193356"/>
    <a:srgbClr val="132A49"/>
    <a:srgbClr val="1B4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48" autoAdjust="0"/>
    <p:restoredTop sz="94622" autoAdjust="0"/>
  </p:normalViewPr>
  <p:slideViewPr>
    <p:cSldViewPr>
      <p:cViewPr>
        <p:scale>
          <a:sx n="75" d="100"/>
          <a:sy n="75" d="100"/>
        </p:scale>
        <p:origin x="690" y="-114"/>
      </p:cViewPr>
      <p:guideLst>
        <p:guide orient="horz" pos="2220"/>
        <p:guide pos="2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A5B7F-7B8A-42A5-9B6B-2D2B2E035833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E74F-0990-4438-8AB4-17B5663E8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125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svg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hyperlink" Target="https://arxiv.org/pdf/2404.18231" TargetMode="External"/><Relationship Id="rId4" Type="http://schemas.openxmlformats.org/officeDocument/2006/relationships/hyperlink" Target="https://www.hbs.edu/ris/Publication%20Files/23-062_ed720ebc-ec4d-4bc3-a6ba-bad8cfbd9d51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7688" y="2510"/>
            <a:ext cx="2950312" cy="10281980"/>
          </a:xfrm>
          <a:custGeom>
            <a:avLst/>
            <a:gdLst/>
            <a:ahLst/>
            <a:cxnLst/>
            <a:rect l="l" t="t" r="r" b="b"/>
            <a:pathLst>
              <a:path w="2950312" h="10281980">
                <a:moveTo>
                  <a:pt x="0" y="0"/>
                </a:moveTo>
                <a:lnTo>
                  <a:pt x="2950312" y="0"/>
                </a:lnTo>
                <a:lnTo>
                  <a:pt x="2950312" y="10281980"/>
                </a:lnTo>
                <a:lnTo>
                  <a:pt x="0" y="1028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118" r="-203723"/>
            </a:stretch>
          </a:blipFill>
          <a:ln cap="sq">
            <a:noFill/>
            <a:prstDash val="solid"/>
            <a:miter/>
          </a:ln>
        </p:spPr>
      </p:sp>
      <p:sp>
        <p:nvSpPr>
          <p:cNvPr id="3" name="AutoShape 3"/>
          <p:cNvSpPr/>
          <p:nvPr/>
        </p:nvSpPr>
        <p:spPr>
          <a:xfrm>
            <a:off x="4554538" y="1067479"/>
            <a:ext cx="107831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14811" y="8498583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14811" y="9415926"/>
            <a:ext cx="9554206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422167" y="8498583"/>
            <a:ext cx="0" cy="924037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14811" y="588854"/>
            <a:ext cx="4349189" cy="956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동원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x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카이스트</a:t>
            </a:r>
            <a:b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</a:b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AI </a:t>
            </a: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챌린지 프로젝트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175" y="3838225"/>
            <a:ext cx="11325225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79"/>
              </a:lnSpc>
            </a:pPr>
            <a:r>
              <a:rPr 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  <a:r>
              <a:rPr lang="ko-KR" altLang="en-US" sz="9314" b="1" spc="-624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를 활용한 비즈니스 시뮬레이터</a:t>
            </a:r>
            <a:endParaRPr lang="en-US" sz="9314" b="1" spc="-624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7723" y="6847926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ko-KR" altLang="en-US" sz="2792" b="1" spc="-201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파인튜닝된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 페르소나를 이용한 신제품 판매 예측 시뮬레이션</a:t>
            </a:r>
            <a:endParaRPr lang="en-US" sz="2792" b="1" spc="-201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029200" y="8751807"/>
            <a:ext cx="5006687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2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2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2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8089" y="8761620"/>
            <a:ext cx="369871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en-US" altLang="ko-KR" sz="24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Chill Tuna</a:t>
            </a:r>
            <a:endParaRPr lang="en-US" sz="24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A0823AB-8BFD-7BE4-425D-170A335EDBA2}"/>
              </a:ext>
            </a:extLst>
          </p:cNvPr>
          <p:cNvSpPr txBox="1"/>
          <p:nvPr/>
        </p:nvSpPr>
        <p:spPr>
          <a:xfrm>
            <a:off x="1054984" y="3162300"/>
            <a:ext cx="10027786" cy="409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83765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7103" y="3408380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프로젝트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7103" y="5808211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17297" y="3509865"/>
            <a:ext cx="2690871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7297" y="2950280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70758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036594" y="5899587"/>
            <a:ext cx="295095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70758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2-3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11D637D-ADF8-BB14-FE40-9BE5C6A9A9DF}"/>
              </a:ext>
            </a:extLst>
          </p:cNvPr>
          <p:cNvSpPr txBox="1"/>
          <p:nvPr/>
        </p:nvSpPr>
        <p:spPr>
          <a:xfrm>
            <a:off x="14861629" y="3509865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AF8CC8F2-495D-568F-E28F-F90B65DEB68D}"/>
              </a:ext>
            </a:extLst>
          </p:cNvPr>
          <p:cNvSpPr txBox="1"/>
          <p:nvPr/>
        </p:nvSpPr>
        <p:spPr>
          <a:xfrm>
            <a:off x="14861629" y="2950280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1-5</a:t>
            </a:r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BE7BEF0-ABEB-91A8-4DE9-A84302469628}"/>
              </a:ext>
            </a:extLst>
          </p:cNvPr>
          <p:cNvSpPr/>
          <p:nvPr/>
        </p:nvSpPr>
        <p:spPr>
          <a:xfrm>
            <a:off x="3126317" y="7805948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8752153-9B06-84ED-1C40-1B5EC1775F89}"/>
              </a:ext>
            </a:extLst>
          </p:cNvPr>
          <p:cNvSpPr txBox="1"/>
          <p:nvPr/>
        </p:nvSpPr>
        <p:spPr>
          <a:xfrm>
            <a:off x="1197103" y="8211298"/>
            <a:ext cx="1429735" cy="76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RPLAs</a:t>
            </a: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7BB47E0-7241-0AEF-9424-0E8A579A765F}"/>
              </a:ext>
            </a:extLst>
          </p:cNvPr>
          <p:cNvSpPr txBox="1"/>
          <p:nvPr/>
        </p:nvSpPr>
        <p:spPr>
          <a:xfrm>
            <a:off x="1197103" y="7716845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5AB74ECC-504F-3AE0-AC25-9C3BF3D504FE}"/>
              </a:ext>
            </a:extLst>
          </p:cNvPr>
          <p:cNvSpPr/>
          <p:nvPr/>
        </p:nvSpPr>
        <p:spPr>
          <a:xfrm>
            <a:off x="1197103" y="7122190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E38EFC03-A41C-49CC-2546-5D8B2DFF0819}"/>
              </a:ext>
            </a:extLst>
          </p:cNvPr>
          <p:cNvSpPr txBox="1"/>
          <p:nvPr/>
        </p:nvSpPr>
        <p:spPr>
          <a:xfrm>
            <a:off x="6765062" y="8276430"/>
            <a:ext cx="1931732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6CA1A748-9C4E-938E-F9F9-0342F76F3983}"/>
              </a:ext>
            </a:extLst>
          </p:cNvPr>
          <p:cNvSpPr txBox="1"/>
          <p:nvPr/>
        </p:nvSpPr>
        <p:spPr>
          <a:xfrm>
            <a:off x="4057675" y="8276430"/>
            <a:ext cx="1722104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807EF01-B4F5-E63C-345E-8E5B4D2A0A81}"/>
              </a:ext>
            </a:extLst>
          </p:cNvPr>
          <p:cNvSpPr txBox="1"/>
          <p:nvPr/>
        </p:nvSpPr>
        <p:spPr>
          <a:xfrm>
            <a:off x="9591207" y="8276430"/>
            <a:ext cx="2690871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15C75304-A0AD-2C12-5CEF-1EF945C99180}"/>
              </a:ext>
            </a:extLst>
          </p:cNvPr>
          <p:cNvSpPr txBox="1"/>
          <p:nvPr/>
        </p:nvSpPr>
        <p:spPr>
          <a:xfrm>
            <a:off x="6765062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B47F37B6-9F1D-C2BF-2AE6-DBDA1D337A98}"/>
              </a:ext>
            </a:extLst>
          </p:cNvPr>
          <p:cNvSpPr txBox="1"/>
          <p:nvPr/>
        </p:nvSpPr>
        <p:spPr>
          <a:xfrm>
            <a:off x="4057675" y="7716845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2766E59C-3AEA-599A-AFA8-01905DF6A6B1}"/>
              </a:ext>
            </a:extLst>
          </p:cNvPr>
          <p:cNvSpPr txBox="1"/>
          <p:nvPr/>
        </p:nvSpPr>
        <p:spPr>
          <a:xfrm>
            <a:off x="9591207" y="7716845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70C03CB-A8D7-37DD-4B36-83E406D5AB9B}"/>
              </a:ext>
            </a:extLst>
          </p:cNvPr>
          <p:cNvSpPr txBox="1"/>
          <p:nvPr/>
        </p:nvSpPr>
        <p:spPr>
          <a:xfrm>
            <a:off x="12244668" y="8276430"/>
            <a:ext cx="2006411" cy="76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6B87391-72F4-E286-2408-19CD1330294C}"/>
              </a:ext>
            </a:extLst>
          </p:cNvPr>
          <p:cNvSpPr txBox="1"/>
          <p:nvPr/>
        </p:nvSpPr>
        <p:spPr>
          <a:xfrm>
            <a:off x="12244668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07088547-203C-C81C-47C8-3F6C194DB6BA}"/>
              </a:ext>
            </a:extLst>
          </p:cNvPr>
          <p:cNvSpPr txBox="1"/>
          <p:nvPr/>
        </p:nvSpPr>
        <p:spPr>
          <a:xfrm>
            <a:off x="14935539" y="8276430"/>
            <a:ext cx="2006411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3D782EB4-B956-6561-5257-CE967B003B90}"/>
              </a:ext>
            </a:extLst>
          </p:cNvPr>
          <p:cNvSpPr txBox="1"/>
          <p:nvPr/>
        </p:nvSpPr>
        <p:spPr>
          <a:xfrm>
            <a:off x="14935539" y="7716845"/>
            <a:ext cx="1163648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3547-2A40-9511-2F2D-36DBB8C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5BA034-D040-161C-30F3-64E770DF1BF7}"/>
              </a:ext>
            </a:extLst>
          </p:cNvPr>
          <p:cNvSpPr/>
          <p:nvPr/>
        </p:nvSpPr>
        <p:spPr>
          <a:xfrm>
            <a:off x="3126317" y="2956544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BB0E09-A747-EAA4-28A3-AA7EB50772F4}"/>
              </a:ext>
            </a:extLst>
          </p:cNvPr>
          <p:cNvSpPr/>
          <p:nvPr/>
        </p:nvSpPr>
        <p:spPr>
          <a:xfrm>
            <a:off x="3126317" y="5402861"/>
            <a:ext cx="0" cy="121493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C7C47F-73BE-AA3F-D9F6-99D8F1C7A8CE}"/>
              </a:ext>
            </a:extLst>
          </p:cNvPr>
          <p:cNvSpPr txBox="1"/>
          <p:nvPr/>
        </p:nvSpPr>
        <p:spPr>
          <a:xfrm>
            <a:off x="6691152" y="3509865"/>
            <a:ext cx="2950956" cy="36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플로우차트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B137CC-7ACF-8FA2-EFC3-FE5B0AEEBA77}"/>
              </a:ext>
            </a:extLst>
          </p:cNvPr>
          <p:cNvSpPr txBox="1"/>
          <p:nvPr/>
        </p:nvSpPr>
        <p:spPr>
          <a:xfrm>
            <a:off x="3983765" y="3509865"/>
            <a:ext cx="1740234" cy="36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화면기획서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B028-E0BE-B880-BBFE-5B1C8AB64AC5}"/>
              </a:ext>
            </a:extLst>
          </p:cNvPr>
          <p:cNvSpPr txBox="1"/>
          <p:nvPr/>
        </p:nvSpPr>
        <p:spPr>
          <a:xfrm>
            <a:off x="1197103" y="3408380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F5F5B-8113-6D22-6143-D1BECC5DE82B}"/>
              </a:ext>
            </a:extLst>
          </p:cNvPr>
          <p:cNvSpPr txBox="1"/>
          <p:nvPr/>
        </p:nvSpPr>
        <p:spPr>
          <a:xfrm>
            <a:off x="1197103" y="5808211"/>
            <a:ext cx="1429735" cy="76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 및</a:t>
            </a:r>
            <a:endParaRPr lang="en-US" altLang="ko-KR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E85676-C4F6-DF6D-19C8-1A1DB814A209}"/>
              </a:ext>
            </a:extLst>
          </p:cNvPr>
          <p:cNvSpPr txBox="1"/>
          <p:nvPr/>
        </p:nvSpPr>
        <p:spPr>
          <a:xfrm>
            <a:off x="6691152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06407D-7326-AF3E-7F34-D341FF5EF10F}"/>
              </a:ext>
            </a:extLst>
          </p:cNvPr>
          <p:cNvSpPr txBox="1"/>
          <p:nvPr/>
        </p:nvSpPr>
        <p:spPr>
          <a:xfrm>
            <a:off x="3983765" y="2950280"/>
            <a:ext cx="993725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CFED1F-BC1E-3ABF-8323-C392CA4C1C33}"/>
              </a:ext>
            </a:extLst>
          </p:cNvPr>
          <p:cNvSpPr txBox="1"/>
          <p:nvPr/>
        </p:nvSpPr>
        <p:spPr>
          <a:xfrm>
            <a:off x="1197103" y="2950280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12CEE7D-C368-36A7-069C-2D9AA19B62B3}"/>
              </a:ext>
            </a:extLst>
          </p:cNvPr>
          <p:cNvSpPr txBox="1"/>
          <p:nvPr/>
        </p:nvSpPr>
        <p:spPr>
          <a:xfrm>
            <a:off x="1197103" y="5313758"/>
            <a:ext cx="1081367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398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2381D79-6317-33B3-3096-126E06AFA12E}"/>
              </a:ext>
            </a:extLst>
          </p:cNvPr>
          <p:cNvSpPr txBox="1"/>
          <p:nvPr/>
        </p:nvSpPr>
        <p:spPr>
          <a:xfrm>
            <a:off x="4036594" y="5402861"/>
            <a:ext cx="1424056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D6BFD3-D1F0-3C04-35E3-BA5649ADD5D0}"/>
              </a:ext>
            </a:extLst>
          </p:cNvPr>
          <p:cNvSpPr txBox="1"/>
          <p:nvPr/>
        </p:nvSpPr>
        <p:spPr>
          <a:xfrm>
            <a:off x="6765388" y="5402861"/>
            <a:ext cx="992079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4F8680-F08A-8B41-C2A4-BB5BFCF6C66E}"/>
              </a:ext>
            </a:extLst>
          </p:cNvPr>
          <p:cNvSpPr txBox="1"/>
          <p:nvPr/>
        </p:nvSpPr>
        <p:spPr>
          <a:xfrm>
            <a:off x="4036594" y="5899587"/>
            <a:ext cx="2092403" cy="370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0FA740-92B6-CA92-0E2D-F8F69DF9F1CE}"/>
              </a:ext>
            </a:extLst>
          </p:cNvPr>
          <p:cNvSpPr txBox="1"/>
          <p:nvPr/>
        </p:nvSpPr>
        <p:spPr>
          <a:xfrm>
            <a:off x="6765388" y="5880734"/>
            <a:ext cx="2804658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DCA8A3-4191-D582-3BAC-EB05B2EAAC2A}"/>
              </a:ext>
            </a:extLst>
          </p:cNvPr>
          <p:cNvSpPr txBox="1"/>
          <p:nvPr/>
        </p:nvSpPr>
        <p:spPr>
          <a:xfrm>
            <a:off x="9565410" y="5880734"/>
            <a:ext cx="2918446" cy="37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2"/>
              </a:lnSpc>
              <a:spcBef>
                <a:spcPct val="0"/>
              </a:spcBef>
            </a:pPr>
            <a:r>
              <a:rPr lang="ko-KR" altLang="en-US" sz="2237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sz="2237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997DA83-1951-8A5C-AFA0-40B80E24BA9A}"/>
              </a:ext>
            </a:extLst>
          </p:cNvPr>
          <p:cNvSpPr txBox="1"/>
          <p:nvPr/>
        </p:nvSpPr>
        <p:spPr>
          <a:xfrm>
            <a:off x="1197103" y="787028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81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Content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7A1F50-57C9-9996-3B3A-6BFAEE9549BF}"/>
              </a:ext>
            </a:extLst>
          </p:cNvPr>
          <p:cNvSpPr txBox="1"/>
          <p:nvPr/>
        </p:nvSpPr>
        <p:spPr>
          <a:xfrm>
            <a:off x="9565410" y="5402861"/>
            <a:ext cx="974922" cy="396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altLang="ko-KR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398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A062BF6-7719-B597-C6E7-B42819F8C69B}"/>
              </a:ext>
            </a:extLst>
          </p:cNvPr>
          <p:cNvSpPr txBox="1"/>
          <p:nvPr/>
        </p:nvSpPr>
        <p:spPr>
          <a:xfrm>
            <a:off x="1107683" y="1527188"/>
            <a:ext cx="6913999" cy="767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5622" b="1" spc="-376" dirty="0" err="1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목차</a:t>
            </a:r>
            <a:endParaRPr lang="en-US" sz="5622" b="1" spc="-376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7E1CCA2-4CBC-BFB8-F687-76F7E639D124}"/>
              </a:ext>
            </a:extLst>
          </p:cNvPr>
          <p:cNvSpPr/>
          <p:nvPr/>
        </p:nvSpPr>
        <p:spPr>
          <a:xfrm>
            <a:off x="1197103" y="4719103"/>
            <a:ext cx="14840564" cy="0"/>
          </a:xfrm>
          <a:prstGeom prst="line">
            <a:avLst/>
          </a:prstGeom>
          <a:ln w="9525" cap="rnd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039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56928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개발목표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916826" y="6742688"/>
            <a:ext cx="2598180" cy="32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추진배경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47559" y="6742688"/>
            <a:ext cx="2369187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업무분장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1004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49732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87833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83714" y="6035503"/>
            <a:ext cx="4502923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개요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99068" y="5101802"/>
            <a:ext cx="1267504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692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47559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36741" y="6742688"/>
            <a:ext cx="2741300" cy="33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7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136741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1-4</a:t>
            </a: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E2FDB18-BD8B-AD40-380C-E5B878EA1A56}"/>
              </a:ext>
            </a:extLst>
          </p:cNvPr>
          <p:cNvSpPr/>
          <p:nvPr/>
        </p:nvSpPr>
        <p:spPr>
          <a:xfrm>
            <a:off x="1341008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A3CF3D2-3F1F-C3A4-5D57-40102211123A}"/>
              </a:ext>
            </a:extLst>
          </p:cNvPr>
          <p:cNvSpPr txBox="1"/>
          <p:nvPr/>
        </p:nvSpPr>
        <p:spPr>
          <a:xfrm>
            <a:off x="13958995" y="6742688"/>
            <a:ext cx="2741300" cy="68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BFF10AE-E2B0-D5D4-B575-7D805B1D3754}"/>
              </a:ext>
            </a:extLst>
          </p:cNvPr>
          <p:cNvSpPr txBox="1"/>
          <p:nvPr/>
        </p:nvSpPr>
        <p:spPr>
          <a:xfrm>
            <a:off x="13958995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1-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0F85-BA12-74A1-FE41-8CBE5092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18">
            <a:extLst>
              <a:ext uri="{FF2B5EF4-FFF2-40B4-BE49-F238E27FC236}">
                <a16:creationId xmlns:a16="http://schemas.microsoft.com/office/drawing/2014/main" id="{D5C54937-B391-A11E-DFD7-34DE8554C4B3}"/>
              </a:ext>
            </a:extLst>
          </p:cNvPr>
          <p:cNvGrpSpPr/>
          <p:nvPr/>
        </p:nvGrpSpPr>
        <p:grpSpPr>
          <a:xfrm>
            <a:off x="3065276" y="4235732"/>
            <a:ext cx="12333723" cy="1047776"/>
            <a:chOff x="0" y="0"/>
            <a:chExt cx="1162540" cy="945277"/>
          </a:xfrm>
        </p:grpSpPr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65B15FA0-D054-65C9-B616-95597FE8146B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8" name="TextBox 20">
              <a:extLst>
                <a:ext uri="{FF2B5EF4-FFF2-40B4-BE49-F238E27FC236}">
                  <a16:creationId xmlns:a16="http://schemas.microsoft.com/office/drawing/2014/main" id="{CBFCF64C-9361-A5AC-D320-5971C3F47187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01F5E6A-9B7C-EAE6-BED7-F0C2EDF97FB0}"/>
              </a:ext>
            </a:extLst>
          </p:cNvPr>
          <p:cNvGrpSpPr/>
          <p:nvPr/>
        </p:nvGrpSpPr>
        <p:grpSpPr>
          <a:xfrm>
            <a:off x="11167983" y="5906142"/>
            <a:ext cx="5806018" cy="3078090"/>
            <a:chOff x="0" y="0"/>
            <a:chExt cx="1162540" cy="94527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C1B6A5D-83FC-6AE0-7ADA-49BBBBB018D6}"/>
                </a:ext>
              </a:extLst>
            </p:cNvPr>
            <p:cNvSpPr/>
            <p:nvPr/>
          </p:nvSpPr>
          <p:spPr>
            <a:xfrm>
              <a:off x="0" y="0"/>
              <a:ext cx="1162540" cy="945277"/>
            </a:xfrm>
            <a:custGeom>
              <a:avLst/>
              <a:gdLst/>
              <a:ahLst/>
              <a:cxnLst/>
              <a:rect l="l" t="t" r="r" b="b"/>
              <a:pathLst>
                <a:path w="1162540" h="945277">
                  <a:moveTo>
                    <a:pt x="0" y="0"/>
                  </a:moveTo>
                  <a:lnTo>
                    <a:pt x="1162540" y="0"/>
                  </a:lnTo>
                  <a:lnTo>
                    <a:pt x="1162540" y="945277"/>
                  </a:lnTo>
                  <a:lnTo>
                    <a:pt x="0" y="945277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9D40C5D-D4FA-2F72-7C05-9EF66883D12B}"/>
                </a:ext>
              </a:extLst>
            </p:cNvPr>
            <p:cNvSpPr txBox="1"/>
            <p:nvPr/>
          </p:nvSpPr>
          <p:spPr>
            <a:xfrm>
              <a:off x="0" y="-47625"/>
              <a:ext cx="1162540" cy="992902"/>
            </a:xfrm>
            <a:prstGeom prst="rect">
              <a:avLst/>
            </a:prstGeom>
          </p:spPr>
          <p:txBody>
            <a:bodyPr lIns="71403" tIns="71403" rIns="71403" bIns="71403" rtlCol="0" anchor="ctr"/>
            <a:lstStyle/>
            <a:p>
              <a:pPr algn="ctr">
                <a:lnSpc>
                  <a:spcPts val="3671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3" name="AutoShape 23">
            <a:extLst>
              <a:ext uri="{FF2B5EF4-FFF2-40B4-BE49-F238E27FC236}">
                <a16:creationId xmlns:a16="http://schemas.microsoft.com/office/drawing/2014/main" id="{B67F5783-40C0-DB79-7644-0ED6EF57D18A}"/>
              </a:ext>
            </a:extLst>
          </p:cNvPr>
          <p:cNvSpPr/>
          <p:nvPr/>
        </p:nvSpPr>
        <p:spPr>
          <a:xfrm>
            <a:off x="3159000" y="1067583"/>
            <a:ext cx="1421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EB61A32-D495-0901-C928-4CA4FEBC6BAE}"/>
              </a:ext>
            </a:extLst>
          </p:cNvPr>
          <p:cNvSpPr txBox="1"/>
          <p:nvPr/>
        </p:nvSpPr>
        <p:spPr>
          <a:xfrm>
            <a:off x="11913536" y="7042085"/>
            <a:ext cx="4599425" cy="1656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z="2000" dirty="0"/>
              <a:t>고객의 소비활동을 기반으로 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마이크로 세그먼트를 분류하여 페르소나를 생성</a:t>
            </a:r>
            <a:r>
              <a:rPr lang="en-US" altLang="ko-KR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특정 제품에 대한 지불의사 추정을 통해 </a:t>
            </a:r>
            <a:endParaRPr lang="en-US" altLang="ko-KR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</a:t>
            </a:r>
            <a:r>
              <a:rPr lang="ko-KR" altLang="en-US" spc="-95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시뮬레이레이터</a:t>
            </a:r>
            <a:r>
              <a:rPr lang="ko-KR" altLang="en-US" spc="-95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개발 </a:t>
            </a:r>
            <a:endParaRPr lang="en-US" spc="-95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E662B2F-A86C-7127-3827-3DAD942A5C7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추진 배경</a:t>
            </a:r>
            <a:endParaRPr lang="en-US" altLang="ko-KR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D898888-7A0D-16B1-59F8-09B4470439AC}"/>
              </a:ext>
            </a:extLst>
          </p:cNvPr>
          <p:cNvSpPr txBox="1"/>
          <p:nvPr/>
        </p:nvSpPr>
        <p:spPr>
          <a:xfrm>
            <a:off x="3537490" y="4590908"/>
            <a:ext cx="1121302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LLM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을 활용한 </a:t>
            </a:r>
            <a:r>
              <a:rPr lang="en-US" altLang="ko-KR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Role-Playing Language Agents (RPLA)</a:t>
            </a:r>
            <a:r>
              <a:rPr lang="ko-KR" alt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의 잠재성 대두</a:t>
            </a:r>
            <a:r>
              <a:rPr lang="en-US" sz="2792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”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54037AB0-B2E6-ACD9-78A3-72D98B498862}"/>
              </a:ext>
            </a:extLst>
          </p:cNvPr>
          <p:cNvSpPr/>
          <p:nvPr/>
        </p:nvSpPr>
        <p:spPr>
          <a:xfrm rot="-5400000">
            <a:off x="9042497" y="544763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57298BD-772B-5AC6-A57C-18627397E8E2}"/>
              </a:ext>
            </a:extLst>
          </p:cNvPr>
          <p:cNvSpPr txBox="1"/>
          <p:nvPr/>
        </p:nvSpPr>
        <p:spPr>
          <a:xfrm>
            <a:off x="11691511" y="6269471"/>
            <a:ext cx="4758961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48"/>
              </a:lnSpc>
            </a:pPr>
            <a:r>
              <a:rPr lang="ko-KR" altLang="en-US" sz="2400" b="1" spc="-201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페르소나를 활용한 시장 예측</a:t>
            </a:r>
            <a:endParaRPr lang="en-US" sz="2000" b="1" spc="-184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4B9C0EC-A329-0070-7B32-03B5550AFDA7}"/>
              </a:ext>
            </a:extLst>
          </p:cNvPr>
          <p:cNvSpPr txBox="1"/>
          <p:nvPr/>
        </p:nvSpPr>
        <p:spPr>
          <a:xfrm>
            <a:off x="8739000" y="9414482"/>
            <a:ext cx="8948339" cy="85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출처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1</a:t>
            </a:r>
            <a:r>
              <a:rPr lang="ko-KR" altLang="en-US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 </a:t>
            </a:r>
            <a:r>
              <a:rPr lang="en-US" altLang="ko-KR" sz="1639" spc="-27" dirty="0">
                <a:solidFill>
                  <a:srgbClr val="000001"/>
                </a:solidFill>
                <a:latin typeface="+mn-ea"/>
                <a:cs typeface="Telegraf Medium"/>
                <a:sym typeface="Telegraf Medium"/>
              </a:rPr>
              <a:t>:  HBR - </a:t>
            </a:r>
            <a:r>
              <a:rPr lang="en-US" altLang="ko-KR" dirty="0"/>
              <a:t>Using LLMs for Market Research [</a:t>
            </a:r>
            <a:r>
              <a:rPr lang="ko-KR" altLang="en-US" dirty="0">
                <a:hlinkClick r:id="rId4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2 : From Persona to Personalization: A Survey on Role-Playing Language Agents[</a:t>
            </a:r>
            <a:r>
              <a:rPr lang="ko-KR" altLang="en-US" dirty="0">
                <a:hlinkClick r:id="rId5"/>
              </a:rPr>
              <a:t>링크</a:t>
            </a:r>
            <a:r>
              <a:rPr lang="en-US" altLang="ko-KR" dirty="0"/>
              <a:t>]</a:t>
            </a:r>
          </a:p>
          <a:p>
            <a:pPr algn="r">
              <a:lnSpc>
                <a:spcPts val="2295"/>
              </a:lnSpc>
            </a:pPr>
            <a:endParaRPr lang="en-US" sz="1639" spc="-27" dirty="0">
              <a:solidFill>
                <a:srgbClr val="000001"/>
              </a:solidFill>
              <a:latin typeface="+mn-ea"/>
              <a:cs typeface="Telegraf Medium"/>
              <a:sym typeface="Telegraf Medium"/>
            </a:endParaRP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51E20B05-055B-AA33-9BDD-192F0F41C44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26" name="Picture 2" descr="In Role-Playing, LLMs act according to assigned personas (i.e., roles) under a defined environment. For example, given role names with descriptions, LLMs role-play in a social simulation game. For Personalization, LLMs consider user personas to generate tailored responses to the same question. Dashed rectangles are prompts and solid rectangles are LLMs' responses.">
            <a:extLst>
              <a:ext uri="{FF2B5EF4-FFF2-40B4-BE49-F238E27FC236}">
                <a16:creationId xmlns:a16="http://schemas.microsoft.com/office/drawing/2014/main" id="{EDE43190-BD70-CFFF-DABD-1A6E9A5E4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16" b="56844" l="340" r="98812">
                        <a14:foregroundMark x1="2037" y1="4190" x2="23430" y2="43715"/>
                        <a14:foregroundMark x1="23430" y1="43715" x2="38710" y2="48603"/>
                        <a14:foregroundMark x1="38710" y1="48603" x2="68421" y2="48883"/>
                        <a14:foregroundMark x1="68421" y1="48883" x2="83531" y2="48603"/>
                        <a14:foregroundMark x1="83531" y1="48603" x2="91851" y2="45531"/>
                        <a14:foregroundMark x1="91851" y1="45531" x2="95756" y2="38408"/>
                        <a14:foregroundMark x1="95756" y1="38408" x2="97793" y2="14944"/>
                        <a14:foregroundMark x1="97793" y1="14944" x2="86587" y2="4469"/>
                        <a14:foregroundMark x1="86587" y1="4469" x2="9338" y2="2235"/>
                        <a14:foregroundMark x1="9338" y1="2235" x2="1019" y2="6006"/>
                        <a14:foregroundMark x1="1358" y1="2374" x2="11885" y2="1397"/>
                        <a14:foregroundMark x1="11885" y1="1397" x2="56537" y2="3911"/>
                        <a14:foregroundMark x1="56537" y1="3911" x2="41766" y2="1536"/>
                        <a14:foregroundMark x1="41766" y1="1536" x2="54499" y2="4469"/>
                        <a14:foregroundMark x1="54499" y1="4469" x2="82003" y2="1257"/>
                        <a14:foregroundMark x1="82003" y1="1257" x2="92699" y2="1816"/>
                        <a14:foregroundMark x1="92699" y1="1816" x2="97453" y2="11453"/>
                        <a14:foregroundMark x1="97453" y1="11453" x2="96435" y2="47207"/>
                        <a14:foregroundMark x1="96435" y1="47207" x2="83362" y2="51257"/>
                        <a14:foregroundMark x1="83362" y1="51257" x2="7301" y2="49581"/>
                        <a14:foregroundMark x1="7301" y1="49581" x2="340" y2="42039"/>
                        <a14:foregroundMark x1="340" y1="42039" x2="1528" y2="2793"/>
                        <a14:foregroundMark x1="92699" y1="3631" x2="97793" y2="22207"/>
                        <a14:foregroundMark x1="97793" y1="22207" x2="96095" y2="49302"/>
                        <a14:foregroundMark x1="96095" y1="49302" x2="96095" y2="49302"/>
                        <a14:foregroundMark x1="96604" y1="1816" x2="98812" y2="50419"/>
                        <a14:foregroundMark x1="98812" y1="50419" x2="98642" y2="50559"/>
                        <a14:foregroundMark x1="42105" y1="46648" x2="63497" y2="46648"/>
                        <a14:foregroundMark x1="41426" y1="52374" x2="57895" y2="52933"/>
                        <a14:foregroundMark x1="49576" y1="54609" x2="52632" y2="56844"/>
                        <a14:foregroundMark x1="86757" y1="51536" x2="97623" y2="51397"/>
                        <a14:foregroundMark x1="97623" y1="51397" x2="97623" y2="51397"/>
                        <a14:foregroundMark x1="5093" y1="49581" x2="849" y2="49581"/>
                        <a14:foregroundMark x1="52462" y1="2654" x2="71477" y2="3212"/>
                        <a14:foregroundMark x1="67742" y1="1816" x2="50424" y2="26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0273"/>
          <a:stretch>
            <a:fillRect/>
          </a:stretch>
        </p:blipFill>
        <p:spPr bwMode="auto">
          <a:xfrm>
            <a:off x="3791404" y="5906142"/>
            <a:ext cx="5200538" cy="37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Freeform 31">
            <a:extLst>
              <a:ext uri="{FF2B5EF4-FFF2-40B4-BE49-F238E27FC236}">
                <a16:creationId xmlns:a16="http://schemas.microsoft.com/office/drawing/2014/main" id="{B7979676-289F-61E1-C2E0-02BA628C5555}"/>
              </a:ext>
            </a:extLst>
          </p:cNvPr>
          <p:cNvSpPr/>
          <p:nvPr/>
        </p:nvSpPr>
        <p:spPr>
          <a:xfrm rot="10800000">
            <a:off x="10067813" y="7386230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289796-56CF-DEC1-EA2C-FF015361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097" y="1450500"/>
            <a:ext cx="10783805" cy="2133898"/>
          </a:xfrm>
          <a:prstGeom prst="rect">
            <a:avLst/>
          </a:prstGeom>
        </p:spPr>
      </p:pic>
      <p:sp>
        <p:nvSpPr>
          <p:cNvPr id="4" name="Freeform 31">
            <a:extLst>
              <a:ext uri="{FF2B5EF4-FFF2-40B4-BE49-F238E27FC236}">
                <a16:creationId xmlns:a16="http://schemas.microsoft.com/office/drawing/2014/main" id="{1B654AA2-7E72-B5D0-7EC4-6FF5FD6C4C7E}"/>
              </a:ext>
            </a:extLst>
          </p:cNvPr>
          <p:cNvSpPr/>
          <p:nvPr/>
        </p:nvSpPr>
        <p:spPr>
          <a:xfrm rot="-5400000">
            <a:off x="9042497" y="3748527"/>
            <a:ext cx="203006" cy="336940"/>
          </a:xfrm>
          <a:custGeom>
            <a:avLst/>
            <a:gdLst/>
            <a:ahLst/>
            <a:cxnLst/>
            <a:rect l="l" t="t" r="r" b="b"/>
            <a:pathLst>
              <a:path w="203006" h="336940">
                <a:moveTo>
                  <a:pt x="0" y="0"/>
                </a:moveTo>
                <a:lnTo>
                  <a:pt x="203006" y="0"/>
                </a:lnTo>
                <a:lnTo>
                  <a:pt x="203006" y="336941"/>
                </a:lnTo>
                <a:lnTo>
                  <a:pt x="0" y="336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224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65278" y="1074277"/>
            <a:ext cx="1430571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079001" y="8296926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 소비자태도 조사 데이터와 제품 데이터를 기반으로 분류된 마이크로 세그먼트 페르소나를 구축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257916" y="7433670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튜닝된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페르소나를 </a:t>
            </a:r>
            <a:r>
              <a:rPr lang="en-US" altLang="ko-KR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DB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저장 후 </a:t>
            </a:r>
            <a:r>
              <a:rPr lang="ko-KR" altLang="en-US" sz="1568" spc="-89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챗봇으로</a:t>
            </a: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만들어 비즈니스 시뮬레이터로 활용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81595" y="7626413"/>
            <a:ext cx="3348263" cy="82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신제품에 대한 개별 페르소나들의 </a:t>
            </a:r>
            <a:endParaRPr lang="en-US" altLang="ko-KR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algn="l">
              <a:lnSpc>
                <a:spcPts val="2195"/>
              </a:lnSpc>
            </a:pPr>
            <a:r>
              <a:rPr lang="ko-KR" altLang="en-US" sz="1568" spc="-89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월별 예측 구매액과 계수들을 계산하여 예측 데이터 작성</a:t>
            </a:r>
            <a:endParaRPr lang="en-US" sz="1568" spc="-89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목표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79001" y="7673055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페르소나 구축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257916" y="6809799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 </a:t>
            </a:r>
            <a:r>
              <a:rPr lang="ko-KR" altLang="en-US" sz="2402" b="1" spc="-10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챗봇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81595" y="7002542"/>
            <a:ext cx="3591943" cy="405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ko-KR" altLang="en-US" sz="2402" b="1" spc="-10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예측 시뮬레이션</a:t>
            </a:r>
            <a:endParaRPr lang="en-US" sz="2402" b="1" spc="-10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89ECD1FC-724D-7761-DD32-59D7BFF1391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6595BCF-BB31-A7DE-8B1B-CD8DF0F7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42"/>
          <a:stretch>
            <a:fillRect/>
          </a:stretch>
        </p:blipFill>
        <p:spPr>
          <a:xfrm>
            <a:off x="2079000" y="2533500"/>
            <a:ext cx="3357435" cy="4781355"/>
          </a:xfrm>
          <a:prstGeom prst="rect">
            <a:avLst/>
          </a:prstGeom>
        </p:spPr>
      </p:pic>
      <p:pic>
        <p:nvPicPr>
          <p:cNvPr id="2054" name="Picture 6" descr="ChatGPT for biomedical simulations">
            <a:extLst>
              <a:ext uri="{FF2B5EF4-FFF2-40B4-BE49-F238E27FC236}">
                <a16:creationId xmlns:a16="http://schemas.microsoft.com/office/drawing/2014/main" id="{38C5E622-3972-E0BD-B485-06E5C8F24C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9" r="28473"/>
          <a:stretch>
            <a:fillRect/>
          </a:stretch>
        </p:blipFill>
        <p:spPr bwMode="auto">
          <a:xfrm>
            <a:off x="7009144" y="2938500"/>
            <a:ext cx="3893164" cy="356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058BB7D-49F9-AA09-AA96-783819743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90" r="-512"/>
          <a:stretch>
            <a:fillRect/>
          </a:stretch>
        </p:blipFill>
        <p:spPr>
          <a:xfrm>
            <a:off x="12240509" y="1810955"/>
            <a:ext cx="3365669" cy="4856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68B7-5C28-E2CA-39BA-B803D9D8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8B8208B4-3989-432E-416B-F805952F2695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5C126BC-B930-5323-C4A2-76BFB60E7B2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업무 분장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D39B779-FEA2-7B8D-C1F2-F6D268D589C0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343B49-B554-C706-37C9-896F56702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3785"/>
              </p:ext>
            </p:extLst>
          </p:nvPr>
        </p:nvGraphicFramePr>
        <p:xfrm>
          <a:off x="1345552" y="2281500"/>
          <a:ext cx="15596897" cy="5724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34129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611884">
                  <a:extLst>
                    <a:ext uri="{9D8B030D-6E8A-4147-A177-3AD203B41FA5}">
                      <a16:colId xmlns:a16="http://schemas.microsoft.com/office/drawing/2014/main" val="4168032153"/>
                    </a:ext>
                  </a:extLst>
                </a:gridCol>
                <a:gridCol w="120508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성명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박진성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팀장</a:t>
                      </a:r>
                      <a:r>
                        <a:rPr lang="en-US" altLang="ko-KR" dirty="0"/>
                        <a:t>/</a:t>
                      </a:r>
                    </a:p>
                    <a:p>
                      <a:pPr lvl="0" algn="ctr" latinLnBrk="1"/>
                      <a:r>
                        <a:rPr lang="en-US" altLang="ko-KR" dirty="0"/>
                        <a:t>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기획안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화면기획서 작성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 프로토타입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소비패턴 클러스터링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웹페이지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발표자료 제작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주용곤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 판매추이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생성용 데이터셋 구축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박동현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인구통계학적 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마이크로 세그먼트 정의 및 프로파일링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 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1251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 err="1"/>
                        <a:t>최장호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동원몰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웹크롤링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컨조인트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EDA(RFM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세그먼트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페르소나 생성 및 시뮬레이션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예측결과 평가 및 튜닝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프론트 개발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ko-KR" altLang="en-US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백엔드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82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5E39-0B67-80C2-8E62-F93CBCC1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5F018E37-FB43-961C-F7DB-AB5D93B51035}"/>
              </a:ext>
            </a:extLst>
          </p:cNvPr>
          <p:cNvSpPr/>
          <p:nvPr/>
        </p:nvSpPr>
        <p:spPr>
          <a:xfrm>
            <a:off x="4373999" y="1074277"/>
            <a:ext cx="1299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D8FB865-6132-1DA9-6753-07E40E0BA0F9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일정</a:t>
            </a:r>
            <a:r>
              <a:rPr lang="en-US" altLang="ko-KR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(Gantt Chart)</a:t>
            </a: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 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59F5C4C3-2611-864E-32C7-9E0CF8695D2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50CF7BE-3B7D-3C6A-B303-E4224907D3BD}"/>
              </a:ext>
            </a:extLst>
          </p:cNvPr>
          <p:cNvGrpSpPr/>
          <p:nvPr/>
        </p:nvGrpSpPr>
        <p:grpSpPr>
          <a:xfrm>
            <a:off x="233586" y="1368850"/>
            <a:ext cx="17820828" cy="8131176"/>
            <a:chOff x="1197103" y="2055892"/>
            <a:chExt cx="16175435" cy="738042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BAFCE38-DCA4-B2C8-7163-4A09944C6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103" y="2055892"/>
              <a:ext cx="16175435" cy="738042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AC15815-176F-1B62-ADC5-DE645E8F2303}"/>
                </a:ext>
              </a:extLst>
            </p:cNvPr>
            <p:cNvSpPr/>
            <p:nvPr/>
          </p:nvSpPr>
          <p:spPr>
            <a:xfrm>
              <a:off x="1197103" y="3016700"/>
              <a:ext cx="16173887" cy="596800"/>
            </a:xfrm>
            <a:prstGeom prst="rect">
              <a:avLst/>
            </a:prstGeom>
            <a:solidFill>
              <a:schemeClr val="accent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277F66-E8FD-6A3F-9929-E6CBD652A7D5}"/>
                </a:ext>
              </a:extLst>
            </p:cNvPr>
            <p:cNvSpPr/>
            <p:nvPr/>
          </p:nvSpPr>
          <p:spPr>
            <a:xfrm>
              <a:off x="1197103" y="3613500"/>
              <a:ext cx="16173887" cy="960808"/>
            </a:xfrm>
            <a:prstGeom prst="rect">
              <a:avLst/>
            </a:prstGeom>
            <a:solidFill>
              <a:srgbClr val="FFFF00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DC2F4D4-ACB1-7326-DA47-F5910F68CB6B}"/>
                </a:ext>
              </a:extLst>
            </p:cNvPr>
            <p:cNvSpPr/>
            <p:nvPr/>
          </p:nvSpPr>
          <p:spPr>
            <a:xfrm>
              <a:off x="1197103" y="4546600"/>
              <a:ext cx="16173887" cy="1496901"/>
            </a:xfrm>
            <a:prstGeom prst="rect">
              <a:avLst/>
            </a:prstGeom>
            <a:solidFill>
              <a:schemeClr val="accent6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451F81-A8E6-A279-6B7B-1C1CFDB11698}"/>
                </a:ext>
              </a:extLst>
            </p:cNvPr>
            <p:cNvSpPr/>
            <p:nvPr/>
          </p:nvSpPr>
          <p:spPr>
            <a:xfrm>
              <a:off x="1197103" y="6043501"/>
              <a:ext cx="16173887" cy="1844998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E7FBC98-D054-35C0-ECB6-9D8617BE3060}"/>
                </a:ext>
              </a:extLst>
            </p:cNvPr>
            <p:cNvSpPr/>
            <p:nvPr/>
          </p:nvSpPr>
          <p:spPr>
            <a:xfrm>
              <a:off x="1197103" y="7888499"/>
              <a:ext cx="16173887" cy="1215001"/>
            </a:xfrm>
            <a:prstGeom prst="rec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5378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2CDE-6F52-AD59-5C06-5A987BEC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441740E-6CE4-C6D7-409E-5CA9F5A73687}"/>
              </a:ext>
            </a:extLst>
          </p:cNvPr>
          <p:cNvSpPr/>
          <p:nvPr/>
        </p:nvSpPr>
        <p:spPr>
          <a:xfrm>
            <a:off x="3537491" y="1074277"/>
            <a:ext cx="138335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4858D8-4B28-87F8-78B8-2506111BBC33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 환경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140EEED-9866-93D7-1625-30B54E76553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1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프로젝트 개요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6B480CE0-2A09-D2DE-B48F-86CBC0452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417721"/>
              </p:ext>
            </p:extLst>
          </p:nvPr>
        </p:nvGraphicFramePr>
        <p:xfrm>
          <a:off x="1345552" y="2263500"/>
          <a:ext cx="14953448" cy="6564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8064">
                  <a:extLst>
                    <a:ext uri="{9D8B030D-6E8A-4147-A177-3AD203B41FA5}">
                      <a16:colId xmlns:a16="http://schemas.microsoft.com/office/drawing/2014/main" val="3370476028"/>
                    </a:ext>
                  </a:extLst>
                </a:gridCol>
                <a:gridCol w="12885384">
                  <a:extLst>
                    <a:ext uri="{9D8B030D-6E8A-4147-A177-3AD203B41FA5}">
                      <a16:colId xmlns:a16="http://schemas.microsoft.com/office/drawing/2014/main" val="3299223831"/>
                    </a:ext>
                  </a:extLst>
                </a:gridCol>
              </a:tblGrid>
              <a:tr h="720001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ko-KR" altLang="en-US" dirty="0"/>
                        <a:t>상세내역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7667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Windows 10 /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67294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kern="0" spc="-16" dirty="0">
                          <a:solidFill>
                            <a:srgbClr val="000000">
                              <a:alpha val="99000"/>
                            </a:srgbClr>
                          </a:solidFill>
                          <a:latin typeface="+mn-ea"/>
                          <a:ea typeface="+mn-ea"/>
                          <a:cs typeface="Manrope" pitchFamily="34" charset="-120"/>
                        </a:rPr>
                        <a:t>Language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Python 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2503041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IDE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Anacomda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notebook(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데이터 정제 및 병합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그룹화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ML&amp;DL 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),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7555147"/>
                  </a:ext>
                </a:extLst>
              </a:tr>
              <a:tr h="2331819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Open</a:t>
                      </a:r>
                    </a:p>
                    <a:p>
                      <a:pPr lvl="0" algn="ctr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Source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beautifulsoup4==4.12.2,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requests==2.31.0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pandas==2.0.3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numpy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==1.24.4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matplotlib==3.7.2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seaborn==0.12.2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scikit-learn==1.3.0</a:t>
                      </a:r>
                    </a:p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prophet==1.1.5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tensorflow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==2.10.1  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&gt;=1.0.0,&lt;2.0.0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&gt;=0.1.0,&lt;0.2.0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langchain-openai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&gt;=0.1.0</a:t>
                      </a:r>
                    </a:p>
                    <a:p>
                      <a:pPr lvl="1" algn="l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mysqlclient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==2.2.0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88481929"/>
                  </a:ext>
                </a:extLst>
              </a:tr>
              <a:tr h="64841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FrameWork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1" algn="l" latinLnBrk="1"/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Django(Django==4.2.4 </a:t>
                      </a:r>
                      <a:r>
                        <a:rPr lang="en-US" altLang="ko-KR" sz="1800" dirty="0" err="1">
                          <a:latin typeface="+mn-ea"/>
                          <a:ea typeface="+mn-ea"/>
                        </a:rPr>
                        <a:t>djangorestframework</a:t>
                      </a:r>
                      <a:r>
                        <a:rPr lang="en-US" altLang="ko-KR" sz="1800" dirty="0">
                          <a:latin typeface="+mn-ea"/>
                          <a:ea typeface="+mn-ea"/>
                        </a:rPr>
                        <a:t>==3.14.0, channels==4.0.0 )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45377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5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E142-40C8-82BF-15CC-C1616608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430B8023-500C-5358-A29D-325B9E9F83D3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15072C-BFAC-66C3-C821-999B31D05528}"/>
              </a:ext>
            </a:extLst>
          </p:cNvPr>
          <p:cNvSpPr txBox="1"/>
          <p:nvPr/>
        </p:nvSpPr>
        <p:spPr>
          <a:xfrm>
            <a:off x="8555637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세그먼트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714E31-CDE4-0D35-B07F-558F5B61132A}"/>
              </a:ext>
            </a:extLst>
          </p:cNvPr>
          <p:cNvSpPr txBox="1"/>
          <p:nvPr/>
        </p:nvSpPr>
        <p:spPr>
          <a:xfrm>
            <a:off x="5916826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995AF394-1B24-DFBE-B654-61BF6E8DE9AA}"/>
              </a:ext>
            </a:extLst>
          </p:cNvPr>
          <p:cNvSpPr/>
          <p:nvPr/>
        </p:nvSpPr>
        <p:spPr>
          <a:xfrm>
            <a:off x="787322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6AD0C18-AECA-FB0B-DE4E-312C18DCB02A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분석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1E9433-69A9-0C84-4156-6BDFF19E2D2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30AC43-8A4F-A2BD-1084-7DEEE27CD323}"/>
              </a:ext>
            </a:extLst>
          </p:cNvPr>
          <p:cNvSpPr txBox="1"/>
          <p:nvPr/>
        </p:nvSpPr>
        <p:spPr>
          <a:xfrm>
            <a:off x="8555637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D14ED9A-BA97-1D94-208F-156E9D41FD16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4A58E5-28A1-E4C2-76C5-59ECCC95EDA6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694B6B6-7A1C-CC6D-24BC-0034E6E2EE49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7C338BE-DC9C-7091-942F-809ADDE200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9D49CBE-C1C0-BBC1-0010-165ED17BF857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5">
            <a:extLst>
              <a:ext uri="{FF2B5EF4-FFF2-40B4-BE49-F238E27FC236}">
                <a16:creationId xmlns:a16="http://schemas.microsoft.com/office/drawing/2014/main" id="{999453B8-1FC1-F725-9FB1-72597AE043B7}"/>
              </a:ext>
            </a:extLst>
          </p:cNvPr>
          <p:cNvSpPr txBox="1"/>
          <p:nvPr/>
        </p:nvSpPr>
        <p:spPr>
          <a:xfrm>
            <a:off x="1183623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A5C604EE-E7B8-1029-0DD2-2535DDBFDC97}"/>
              </a:ext>
            </a:extLst>
          </p:cNvPr>
          <p:cNvSpPr/>
          <p:nvPr/>
        </p:nvSpPr>
        <p:spPr>
          <a:xfrm>
            <a:off x="11153816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CD5D6859-5777-6DAB-E95F-F738895F3F10}"/>
              </a:ext>
            </a:extLst>
          </p:cNvPr>
          <p:cNvSpPr txBox="1"/>
          <p:nvPr/>
        </p:nvSpPr>
        <p:spPr>
          <a:xfrm>
            <a:off x="1183623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36F1B8C7-2DD6-CA3A-49C6-89CE30CC469A}"/>
              </a:ext>
            </a:extLst>
          </p:cNvPr>
          <p:cNvSpPr txBox="1"/>
          <p:nvPr/>
        </p:nvSpPr>
        <p:spPr>
          <a:xfrm>
            <a:off x="14679363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B6DB3CA9-385E-9EFE-CC99-078D100435D6}"/>
              </a:ext>
            </a:extLst>
          </p:cNvPr>
          <p:cNvSpPr/>
          <p:nvPr/>
        </p:nvSpPr>
        <p:spPr>
          <a:xfrm>
            <a:off x="13996947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8D37F8BC-5BC0-59BD-C15E-B60EB34EE35E}"/>
              </a:ext>
            </a:extLst>
          </p:cNvPr>
          <p:cNvSpPr txBox="1"/>
          <p:nvPr/>
        </p:nvSpPr>
        <p:spPr>
          <a:xfrm>
            <a:off x="14679363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94742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FD75-BDDA-7099-3136-26409925F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C80ACAB-4260-1AB6-556B-C4155B61E3BC}"/>
              </a:ext>
            </a:extLst>
          </p:cNvPr>
          <p:cNvSpPr/>
          <p:nvPr/>
        </p:nvSpPr>
        <p:spPr>
          <a:xfrm>
            <a:off x="3789001" y="1074277"/>
            <a:ext cx="1358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A735144-CBCB-AA02-6E8F-C2F192C53BD2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데이터 수집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22339ED9-6D43-07EB-76E0-433AE134281E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83B8738-F22F-4684-F4CD-8B8AB4266083}"/>
              </a:ext>
            </a:extLst>
          </p:cNvPr>
          <p:cNvSpPr txBox="1"/>
          <p:nvPr/>
        </p:nvSpPr>
        <p:spPr>
          <a:xfrm>
            <a:off x="1206628" y="2376645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227B6A0-339E-E2C8-7DC1-304F127E9718}"/>
              </a:ext>
            </a:extLst>
          </p:cNvPr>
          <p:cNvSpPr txBox="1"/>
          <p:nvPr/>
        </p:nvSpPr>
        <p:spPr>
          <a:xfrm>
            <a:off x="1206628" y="4540090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 자료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가구형태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월소득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등의 인구통계학적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건강식품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HMR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등에 대한 개인별 선호도 등이 포함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A92A396-FD8F-4105-B9DE-45A32D300509}"/>
              </a:ext>
            </a:extLst>
          </p:cNvPr>
          <p:cNvSpPr txBox="1"/>
          <p:nvPr/>
        </p:nvSpPr>
        <p:spPr>
          <a:xfrm>
            <a:off x="1206628" y="1828232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-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대회 제공 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13961F5-8F14-1305-7DBE-6AFF4CAA616A}"/>
              </a:ext>
            </a:extLst>
          </p:cNvPr>
          <p:cNvSpPr txBox="1"/>
          <p:nvPr/>
        </p:nvSpPr>
        <p:spPr>
          <a:xfrm>
            <a:off x="1206628" y="3908031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설문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D133B08E-8FA0-873E-8BF4-C011E30EF183}"/>
              </a:ext>
            </a:extLst>
          </p:cNvPr>
          <p:cNvSpPr txBox="1"/>
          <p:nvPr/>
        </p:nvSpPr>
        <p:spPr>
          <a:xfrm>
            <a:off x="1206628" y="6851967"/>
            <a:ext cx="6722370" cy="1395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동원몰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및 타 마켓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크롤링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가격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후기수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구성 등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식품산업통계정보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제조사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브랜드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세분시장 별 월별 매출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ts val="2833"/>
              </a:lnSpc>
              <a:buFontTx/>
              <a:buChar char="-"/>
            </a:pP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776DCD29-C9E9-4708-B6B5-82E19B04A261}"/>
              </a:ext>
            </a:extLst>
          </p:cNvPr>
          <p:cNvSpPr txBox="1"/>
          <p:nvPr/>
        </p:nvSpPr>
        <p:spPr>
          <a:xfrm>
            <a:off x="1206628" y="6283897"/>
            <a:ext cx="5417372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시장 규모 및 제품 판매 추정 데이터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C0F9097-F5DB-D873-537B-1A912560C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54620"/>
              </p:ext>
            </p:extLst>
          </p:nvPr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A68A7558-261F-2727-A8DF-04E64CD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596" y="5440206"/>
            <a:ext cx="8739805" cy="38734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85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FCB0-B513-807A-E17D-E397093A3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26C2A911-6211-B6D2-E036-81098AAE657E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071944E-63EB-26CB-4DA4-3927C8C7DFF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7C6ACC54-93E0-0D55-8A7E-F0D6F06F3B4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5D2D118-A9D7-F5D9-98F3-55F7C76F95AB}"/>
              </a:ext>
            </a:extLst>
          </p:cNvPr>
          <p:cNvSpPr txBox="1"/>
          <p:nvPr/>
        </p:nvSpPr>
        <p:spPr>
          <a:xfrm>
            <a:off x="1206628" y="2416308"/>
            <a:ext cx="8702372" cy="2025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가공 목표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통계청의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2024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년 가공식품 소비자 태도조사 설문 결과를 토대로 가공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입체감 있는 소비자 페르소나를 생성하기 위한 인구통계학적 특성을 포함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군집분석 및 실루엣 계수를 활용한 세그먼트 도출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페르소나 생성을 위한 기반 정보 제공을 위한 </a:t>
            </a:r>
            <a:r>
              <a:rPr lang="en-US" altLang="ko-KR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json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파일로 가공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85DC4AA-50CF-908B-27A1-4B95EAD3ABE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고객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F25EBB2-9734-5C74-8CE1-1BC1C906A32D}"/>
              </a:ext>
            </a:extLst>
          </p:cNvPr>
          <p:cNvSpPr txBox="1"/>
          <p:nvPr/>
        </p:nvSpPr>
        <p:spPr>
          <a:xfrm>
            <a:off x="1207828" y="5024467"/>
            <a:ext cx="8161172" cy="2854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작업 과정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세트를 기반으로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7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가지 성향 카테고리를 정의 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카테고리 분류를 위한 키워드 사전 작성 및 </a:t>
            </a:r>
            <a:r>
              <a:rPr lang="ko-KR" altLang="en-US" dirty="0" err="1"/>
              <a:t>태깅</a:t>
            </a:r>
            <a:r>
              <a:rPr lang="ko-KR" altLang="en-US" dirty="0"/>
              <a:t> 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필요한 질문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+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답변 필터링 및 카테고리 세부 조정 및 스코어 작성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엑셀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dirty="0"/>
              <a:t>설문조사 결과에 대한 스코어 집계</a:t>
            </a:r>
            <a:r>
              <a:rPr lang="en-US" altLang="ko-KR" dirty="0"/>
              <a:t>(</a:t>
            </a:r>
            <a:r>
              <a:rPr lang="ko-KR" altLang="en-US" dirty="0"/>
              <a:t>코딩</a:t>
            </a:r>
            <a:r>
              <a:rPr lang="en-US" altLang="ko-KR" dirty="0"/>
              <a:t>)</a:t>
            </a:r>
            <a:endParaRPr lang="en-US" altLang="ko-KR" spc="-28" dirty="0">
              <a:solidFill>
                <a:srgbClr val="000000"/>
              </a:solidFill>
              <a:latin typeface="+mn-ea"/>
              <a:sym typeface="Source Han Sans KR"/>
            </a:endParaRP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실루엣 계수를 이용한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K-means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최적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군집수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도출 및 군집 분석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eriod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인구통계학적 비율을 고려한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sym typeface="Source Han Sans KR"/>
              </a:rPr>
              <a:t>층화랜덤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 추출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(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sym typeface="Source Han Sans KR"/>
              </a:rPr>
              <a:t>코딩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sym typeface="Source Han Sans KR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F960F6C-219D-51DA-29BD-FDD89294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000" y="1359129"/>
            <a:ext cx="5994730" cy="84753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1754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9C22-1A14-D9B6-1375-4767B742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C5F8769-E066-2F4A-30EB-8B4DFA085D9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616F90-37E0-343A-4C16-02CE92119954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54FEDB3-BE96-93B7-DEAE-DAF539984336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B79A35B-E9C0-0766-7E24-1CF60CBD8D4B}"/>
              </a:ext>
            </a:extLst>
          </p:cNvPr>
          <p:cNvSpPr txBox="1"/>
          <p:nvPr/>
        </p:nvSpPr>
        <p:spPr>
          <a:xfrm>
            <a:off x="1206628" y="1813500"/>
            <a:ext cx="4516269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질문지 카테고리 </a:t>
            </a:r>
            <a:r>
              <a:rPr lang="ko-KR" altLang="en-US" sz="2400" b="1" spc="-123" dirty="0" err="1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태깅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1C7F5F-97B6-DBBC-1AC8-77407D600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2373235"/>
            <a:ext cx="5629911" cy="7585264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33CC0D3-AC75-869F-0EE1-28A6F5A0C24C}"/>
              </a:ext>
            </a:extLst>
          </p:cNvPr>
          <p:cNvSpPr txBox="1"/>
          <p:nvPr/>
        </p:nvSpPr>
        <p:spPr>
          <a:xfrm>
            <a:off x="9954000" y="1813500"/>
            <a:ext cx="4516269" cy="76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설문 응답에 대한 점수 매핑 </a:t>
            </a: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+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정규화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E9F97A-6AFD-A76D-592B-3F170C32F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34" y="2373235"/>
            <a:ext cx="5298265" cy="761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C1E-D92B-B868-CC8E-ABFF659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6A45CC0-4D69-C180-A981-9782E8D84617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5266EF2-620B-B5F2-096F-151A62FBA3F7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D121789A-678F-36D9-7048-D3789C6E4A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CCA79EB-9A45-2D72-4A75-506A0A47FB33}"/>
              </a:ext>
            </a:extLst>
          </p:cNvPr>
          <p:cNvSpPr txBox="1"/>
          <p:nvPr/>
        </p:nvSpPr>
        <p:spPr>
          <a:xfrm>
            <a:off x="1206628" y="2311427"/>
            <a:ext cx="6722370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스케일 방식에 따른 실루엣 계수 확인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k-=3~10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클러스터링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&amp;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실루엣 계산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StandardScaler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0.2216 (k=3)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MinMaxScaler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0.2252 (k=4)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QuantileTransformer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best silhouette: 0.1794 (k=4)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B23C1EF-05FD-3C82-7FAB-9F1929F084C9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en-US" altLang="ko-KR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K-Means </a:t>
            </a: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군집분석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46752A-F364-35A4-0424-FADE6977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3" y="4873500"/>
            <a:ext cx="7612061" cy="499500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8FE0DA7C-78B3-BA25-BE78-E8BB38DFB7A8}"/>
              </a:ext>
            </a:extLst>
          </p:cNvPr>
          <p:cNvSpPr txBox="1"/>
          <p:nvPr/>
        </p:nvSpPr>
        <p:spPr>
          <a:xfrm>
            <a:off x="9324000" y="2311427"/>
            <a:ext cx="6722370" cy="24416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&lt;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최적의 클러스터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(k=4)</a:t>
            </a:r>
            <a:r>
              <a:rPr lang="ko-KR" altLang="en-US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에 따른 클러스터링</a:t>
            </a:r>
            <a:r>
              <a:rPr lang="en-US" altLang="ko-KR" b="1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0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실속형 미식가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구매 소극적 소비자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3 :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트렌드 주도형 소비자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>
              <a:lnSpc>
                <a:spcPct val="150000"/>
              </a:lnSpc>
            </a:pPr>
            <a:r>
              <a:rPr 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** 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클러스터 </a:t>
            </a:r>
            <a:r>
              <a:rPr lang="en-US" altLang="ko-KR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2</a:t>
            </a:r>
            <a:r>
              <a:rPr lang="ko-KR" altLang="en-US" sz="1600" spc="-28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ource Han Sans KR"/>
                <a:sym typeface="Source Han Sans KR"/>
              </a:rPr>
              <a:t>는 향후 페르소나 생성에 부적합하여 제거</a:t>
            </a:r>
            <a:endParaRPr lang="en-US" spc="-28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Source Han Sans KR"/>
              <a:sym typeface="Source Han Sans KR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9E3ABB-A21E-38E5-4420-1EB12A3BA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69848"/>
              </p:ext>
            </p:extLst>
          </p:nvPr>
        </p:nvGraphicFramePr>
        <p:xfrm>
          <a:off x="9311612" y="5233500"/>
          <a:ext cx="8556986" cy="3797420"/>
        </p:xfrm>
        <a:graphic>
          <a:graphicData uri="http://schemas.openxmlformats.org/drawingml/2006/table">
            <a:tbl>
              <a:tblPr/>
              <a:tblGrid>
                <a:gridCol w="602284">
                  <a:extLst>
                    <a:ext uri="{9D8B030D-6E8A-4147-A177-3AD203B41FA5}">
                      <a16:colId xmlns:a16="http://schemas.microsoft.com/office/drawing/2014/main" val="337998470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876718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2969770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1902624355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417079764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427366892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2053529130"/>
                    </a:ext>
                  </a:extLst>
                </a:gridCol>
                <a:gridCol w="1136386">
                  <a:extLst>
                    <a:ext uri="{9D8B030D-6E8A-4147-A177-3AD203B41FA5}">
                      <a16:colId xmlns:a16="http://schemas.microsoft.com/office/drawing/2014/main" val="3194104869"/>
                    </a:ext>
                  </a:extLst>
                </a:gridCol>
              </a:tblGrid>
              <a:tr h="1018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brand_loyalty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cooking_convenience_scaled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hmr_preference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premium_orientation_scaled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price_sensitivity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variety_seeking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_scaled</a:t>
                      </a:r>
                    </a:p>
                  </a:txBody>
                  <a:tcPr marL="118034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61100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2346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944468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421135"/>
                  </a:ext>
                </a:extLst>
              </a:tr>
              <a:tr h="694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</a:t>
                      </a:r>
                    </a:p>
                  </a:txBody>
                  <a:tcPr marL="6557" marR="6557" marT="655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501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667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A355-CDAC-F0B1-7878-91B9F603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B18E236F-A105-BA8F-9D62-8520D47F7012}"/>
              </a:ext>
            </a:extLst>
          </p:cNvPr>
          <p:cNvSpPr/>
          <p:nvPr/>
        </p:nvSpPr>
        <p:spPr>
          <a:xfrm>
            <a:off x="4418999" y="1074277"/>
            <a:ext cx="12951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5DD2A8E-D8D1-0D1F-F5DD-B46E80ED344B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고객 데이터 분석</a:t>
            </a:r>
            <a:endParaRPr lang="en-US" sz="3092" b="1" spc="-19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B6B422B-B494-C51F-2A38-B039CDC6EBD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9C4F421-3AD3-3EE4-DCDF-D15CB79B3477}"/>
              </a:ext>
            </a:extLst>
          </p:cNvPr>
          <p:cNvSpPr txBox="1"/>
          <p:nvPr/>
        </p:nvSpPr>
        <p:spPr>
          <a:xfrm>
            <a:off x="1206628" y="2311427"/>
            <a:ext cx="14192372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성별의 절대값에는 차이가 있으나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대체로 세그먼트 별 연령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/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성별 분포는 균일함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(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건강 추구형은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20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대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혹은 남성이 더 낮은 비율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)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소극적 소비자를 제외하면 모두 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HMR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선호도가 높으며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비슷한 가격 민감도를 가지고 있음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F53B776D-C91C-DBA2-57BC-212C67280C6E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소비자 페르소나 정보 시각화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47E7A-DD6D-24D9-3745-0986C9D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" y="3298500"/>
            <a:ext cx="12478740" cy="3503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4F59D-B9EB-F891-923E-9D0415F19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04" y="6676010"/>
            <a:ext cx="12370636" cy="34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3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6CC0-6AA5-4051-BCE8-46FEE26F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09AD47B-492D-8EC2-7F28-285A229F7E27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CD0C3A-6994-1794-0C26-6CED1E9D79D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101C872F-6449-FC7E-A6E4-A4D24E4272A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69EA316-DC1B-D095-BB34-37172605AAE0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B40D309-F00C-A9C0-11B1-ECFB72A4923B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BD6A322-08EC-26CC-FCDF-1634A54C84D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84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B85C-4018-B6E5-212B-234C40AA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053347B1-F34C-3CE4-8E30-DD6EA077859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95E69ED-FFB1-1260-A4CF-5876262A5CBF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판매 제품 분석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778F007-ECFA-E0DD-572C-DFE02D8A93D8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CF35430-C75C-5A28-2FE2-08FF2E9385C3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06C0B4-A718-D9B0-E131-2070B482E498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6905A34-BFA2-7352-5715-3C6A9D1878D2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305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85C0-ABE8-00E6-2B59-E4344B0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648E589-F7B0-D86E-E851-09D197C54EEE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2B507AE-61BB-E93F-8E05-385DB5CCA47D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61B02E66-60DD-825D-B380-5C8E8FDD1A23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961E3F7-483A-D632-0072-9B2B7E9513D4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444B6E8-04F8-EC96-DEF4-EDB3E8E75324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5A242C6-1518-8662-5C42-3313C6B1F49D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66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A80C-4DA8-DB74-15C7-8A18310E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50AC71-6DA5-BC16-7592-8FDE9E9D3EEA}"/>
              </a:ext>
            </a:extLst>
          </p:cNvPr>
          <p:cNvSpPr/>
          <p:nvPr/>
        </p:nvSpPr>
        <p:spPr>
          <a:xfrm>
            <a:off x="3923999" y="1074277"/>
            <a:ext cx="13446991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BD19F59-92F5-211A-D9D8-9F22337E6ED5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외생 변수 가공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6A0893C-BFCA-539D-6EB7-CD4AB8C09929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2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데이터 분석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4634D30-191B-7444-5FD6-95F352798B86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23F9734-2098-F320-CD09-944506B77462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DD6544A-D3EB-2E6C-8978-DC3E901F45C0}"/>
              </a:ext>
            </a:extLst>
          </p:cNvPr>
          <p:cNvGraphicFramePr>
            <a:graphicFrameLocks noGrp="1"/>
          </p:cNvGraphicFramePr>
          <p:nvPr/>
        </p:nvGraphicFramePr>
        <p:xfrm>
          <a:off x="8575496" y="1853916"/>
          <a:ext cx="8793695" cy="299287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918504">
                  <a:extLst>
                    <a:ext uri="{9D8B030D-6E8A-4147-A177-3AD203B41FA5}">
                      <a16:colId xmlns:a16="http://schemas.microsoft.com/office/drawing/2014/main" val="873741868"/>
                    </a:ext>
                  </a:extLst>
                </a:gridCol>
                <a:gridCol w="4479893">
                  <a:extLst>
                    <a:ext uri="{9D8B030D-6E8A-4147-A177-3AD203B41FA5}">
                      <a16:colId xmlns:a16="http://schemas.microsoft.com/office/drawing/2014/main" val="2115629589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606838674"/>
                    </a:ext>
                  </a:extLst>
                </a:gridCol>
                <a:gridCol w="746480">
                  <a:extLst>
                    <a:ext uri="{9D8B030D-6E8A-4147-A177-3AD203B41FA5}">
                      <a16:colId xmlns:a16="http://schemas.microsoft.com/office/drawing/2014/main" val="2896155942"/>
                    </a:ext>
                  </a:extLst>
                </a:gridCol>
                <a:gridCol w="902338">
                  <a:extLst>
                    <a:ext uri="{9D8B030D-6E8A-4147-A177-3AD203B41FA5}">
                      <a16:colId xmlns:a16="http://schemas.microsoft.com/office/drawing/2014/main" val="3034170607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product_feature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category_level_3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23846"/>
                  </a:ext>
                </a:extLst>
              </a:tr>
              <a:tr h="2948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덴마크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하이그릭요거트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400g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이중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유청분리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공법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꾸덕한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질감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떠먹는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고단백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아연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칼슘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6-7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TV/</a:t>
                      </a:r>
                      <a:r>
                        <a:rPr lang="en-US" altLang="ko-KR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Youtube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진행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6-8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 수도권 중심 아파트 엘리베이터 광고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일반인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발효유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호상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중대용량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69687532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동원맛참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고소참기름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23622382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고소참기름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78606964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135g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05790475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동원맛참 매콤참기름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광고모델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안유진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참기름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단백질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셀레늄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매콤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라이트스탠다드참치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16432522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3208233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3653438810"/>
                  </a:ext>
                </a:extLst>
              </a:tr>
              <a:tr h="2373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05953514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동원참치액 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80%,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75075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203704635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리챔 오믈레햄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340g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오믈렛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(Omelet)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과 햄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(Ham)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의 합성어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저나트륨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내열성 케첩 소스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고급축산캔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가미축산캔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72622602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바닐라라떼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04380792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소화가 잘되는 우유로 만든 카페라떼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250mL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락토프리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저온효소 처리 기술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유당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ZERO,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저당 트렌드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신선한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등급 원유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SNS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바이럴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2-6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월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광고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X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우유류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커피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CUP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268208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훈연참치추출물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419616684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프리미엄 동원참치액 </a:t>
                      </a:r>
                      <a:r>
                        <a:rPr lang="en-US" altLang="ko-KR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900g</a:t>
                      </a:r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훈연참치추출물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85%,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참기엑기스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참치명가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직접 잡은 참치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가쓰오엑기스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표고버섯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무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감초</a:t>
                      </a:r>
                      <a:r>
                        <a:rPr lang="en-US" altLang="ko-KR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마늘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조미소스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조미료</a:t>
                      </a: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액상조미료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606" marR="4606" marT="4606" marB="0" anchor="ctr"/>
                </a:tc>
                <a:extLst>
                  <a:ext uri="{0D108BD9-81ED-4DB2-BD59-A6C34878D82A}">
                    <a16:rowId xmlns:a16="http://schemas.microsoft.com/office/drawing/2014/main" val="157335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94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EC86-FAE9-F66B-0DDA-CA3D8FA1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C7463F9E-E043-A325-1394-FD71D61767E2}"/>
              </a:ext>
            </a:extLst>
          </p:cNvPr>
          <p:cNvSpPr txBox="1"/>
          <p:nvPr/>
        </p:nvSpPr>
        <p:spPr>
          <a:xfrm>
            <a:off x="1183714" y="6035503"/>
            <a:ext cx="5608040" cy="236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0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80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66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B02A83-C67C-F16D-F02B-BF2CD87AA85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732C2AD-04F9-F7F5-52D3-CBED474D675C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E4D645-6389-C7AB-1207-3A73294980EC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D24626C-E874-799D-1019-4DBF458EFB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7232430-0AA8-90D7-0DA0-C5C2DCDE04FF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E0F0FA35-8BA6-84FD-4497-7F13050417AC}"/>
              </a:ext>
            </a:extLst>
          </p:cNvPr>
          <p:cNvSpPr txBox="1"/>
          <p:nvPr/>
        </p:nvSpPr>
        <p:spPr>
          <a:xfrm>
            <a:off x="8064000" y="6742688"/>
            <a:ext cx="2598180" cy="112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엔지니어링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579F4BF-B9CE-0543-83FB-423610C72194}"/>
              </a:ext>
            </a:extLst>
          </p:cNvPr>
          <p:cNvSpPr txBox="1"/>
          <p:nvPr/>
        </p:nvSpPr>
        <p:spPr>
          <a:xfrm>
            <a:off x="5916826" y="6742688"/>
            <a:ext cx="1540397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계획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3384FA4-0E42-CEFB-2B8E-82D33A4FBC52}"/>
              </a:ext>
            </a:extLst>
          </p:cNvPr>
          <p:cNvSpPr txBox="1"/>
          <p:nvPr/>
        </p:nvSpPr>
        <p:spPr>
          <a:xfrm>
            <a:off x="10154632" y="6742688"/>
            <a:ext cx="1537052" cy="751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생성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50A63C82-9134-0630-E1A0-8AF12ED90A9B}"/>
              </a:ext>
            </a:extLst>
          </p:cNvPr>
          <p:cNvSpPr/>
          <p:nvPr/>
        </p:nvSpPr>
        <p:spPr>
          <a:xfrm>
            <a:off x="7517113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7333041C-178B-5681-2797-93D5BEB51168}"/>
              </a:ext>
            </a:extLst>
          </p:cNvPr>
          <p:cNvSpPr/>
          <p:nvPr/>
        </p:nvSpPr>
        <p:spPr>
          <a:xfrm>
            <a:off x="9604398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BD0098F1-A136-F4B2-46D7-2C0DA9299659}"/>
              </a:ext>
            </a:extLst>
          </p:cNvPr>
          <p:cNvSpPr/>
          <p:nvPr/>
        </p:nvSpPr>
        <p:spPr>
          <a:xfrm>
            <a:off x="1169490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00FCF7B-87F4-ADF1-A06D-9D46CD1A0981}"/>
              </a:ext>
            </a:extLst>
          </p:cNvPr>
          <p:cNvSpPr txBox="1"/>
          <p:nvPr/>
        </p:nvSpPr>
        <p:spPr>
          <a:xfrm>
            <a:off x="8064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B6364D96-A762-BCA9-DED5-423C4E7B034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16F71CAD-0844-FAC1-0438-495466329D6F}"/>
              </a:ext>
            </a:extLst>
          </p:cNvPr>
          <p:cNvSpPr txBox="1"/>
          <p:nvPr/>
        </p:nvSpPr>
        <p:spPr>
          <a:xfrm>
            <a:off x="10154631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21183223-B137-29BB-7AB0-F7936238D6E5}"/>
              </a:ext>
            </a:extLst>
          </p:cNvPr>
          <p:cNvSpPr txBox="1"/>
          <p:nvPr/>
        </p:nvSpPr>
        <p:spPr>
          <a:xfrm>
            <a:off x="12243813" y="6742688"/>
            <a:ext cx="1273345" cy="1122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marL="0" lvl="0" indent="0" algn="l">
              <a:lnSpc>
                <a:spcPts val="2757"/>
              </a:lnSpc>
              <a:spcBef>
                <a:spcPct val="0"/>
              </a:spcBef>
            </a:pPr>
            <a:endParaRPr lang="en-US" sz="2000" b="1" spc="-7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412683F3-A928-3C41-0AFE-63170F1A2D49}"/>
              </a:ext>
            </a:extLst>
          </p:cNvPr>
          <p:cNvSpPr txBox="1"/>
          <p:nvPr/>
        </p:nvSpPr>
        <p:spPr>
          <a:xfrm>
            <a:off x="1224381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-4</a:t>
            </a: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C498D18D-47E0-D851-0239-1E503B5112BA}"/>
              </a:ext>
            </a:extLst>
          </p:cNvPr>
          <p:cNvSpPr/>
          <p:nvPr/>
        </p:nvSpPr>
        <p:spPr>
          <a:xfrm>
            <a:off x="13869385" y="6320010"/>
            <a:ext cx="0" cy="117429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2099EB8F-B5E4-81B4-285F-6128AE0E0D7E}"/>
              </a:ext>
            </a:extLst>
          </p:cNvPr>
          <p:cNvSpPr txBox="1"/>
          <p:nvPr/>
        </p:nvSpPr>
        <p:spPr>
          <a:xfrm>
            <a:off x="14311221" y="6742688"/>
            <a:ext cx="1731814" cy="360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3C4E7360-B7B9-AC19-47B5-1277C265919A}"/>
              </a:ext>
            </a:extLst>
          </p:cNvPr>
          <p:cNvSpPr txBox="1"/>
          <p:nvPr/>
        </p:nvSpPr>
        <p:spPr>
          <a:xfrm>
            <a:off x="14418293" y="6253335"/>
            <a:ext cx="102453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000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</p:spTree>
    <p:extLst>
      <p:ext uri="{BB962C8B-B14F-4D97-AF65-F5344CB8AC3E}">
        <p14:creationId xmlns:p14="http://schemas.microsoft.com/office/powerpoint/2010/main" val="52323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05AD-22E3-07B6-CD7B-DD9960D1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26B36E4-195C-1AC1-C67F-982B7D668198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DA13507-B3A6-8BB8-214C-DC1194161231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C8704DF-392F-2C35-ADCC-0BF88450CDC1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3DB819C-0F97-09B0-F912-99289CE0C146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8D0D6AF-FAE8-BDE5-13BA-3CAF6D4556F3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52459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CC59-EB2F-653C-5902-78089B98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31914D0-7350-2950-F42F-E07B513C0F07}"/>
              </a:ext>
            </a:extLst>
          </p:cNvPr>
          <p:cNvSpPr/>
          <p:nvPr/>
        </p:nvSpPr>
        <p:spPr>
          <a:xfrm>
            <a:off x="5229000" y="1074277"/>
            <a:ext cx="1214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5E62B-2E5F-6EAF-6FF5-BD581FA1B73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프롬프트 엔지니어링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B31B308-0412-0B71-02E0-DE6F8F319BF2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0F01EE8-0A51-7A81-2051-5902869DC841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87B5602-C537-4CDE-47D8-3803610232D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25743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3882-CB4E-0168-296B-F75AC5FDF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421449DF-3B61-7B96-C1A1-CCF0E6042660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02C0A67-D1C0-30C1-2FE8-C2745ADF4EEA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생성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D2DD5EF-52C5-229B-FFDB-9D6F1EC3A47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C57BCD-71C2-0F71-76C1-65027DF1DE85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99DD8F8-D955-39DF-909E-74A0D180F4C7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47903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4977-EE0E-8F40-03D1-ECCFECC3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F66DDCBD-904F-7A2A-1B19-B8F669FA245D}"/>
              </a:ext>
            </a:extLst>
          </p:cNvPr>
          <p:cNvSpPr/>
          <p:nvPr/>
        </p:nvSpPr>
        <p:spPr>
          <a:xfrm>
            <a:off x="4239000" y="1074277"/>
            <a:ext cx="13131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4C8E767-B6B5-61A2-B970-6A076008F950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예측 시뮬레이션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49818E51-5832-920B-DF19-37DB86DFD0DA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E26EAD7-E444-C378-737F-6624051D9B9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040044-15CA-7502-D268-7E57248D2F8D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3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E74C2-5D3B-FFBA-8098-04BF34E5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AC374AFA-DEEE-A58F-E544-B1C1FA22E72A}"/>
              </a:ext>
            </a:extLst>
          </p:cNvPr>
          <p:cNvSpPr/>
          <p:nvPr/>
        </p:nvSpPr>
        <p:spPr>
          <a:xfrm>
            <a:off x="4104000" y="1074277"/>
            <a:ext cx="1326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BC62329-88C3-BDC0-EEE2-82D506702776}"/>
              </a:ext>
            </a:extLst>
          </p:cNvPr>
          <p:cNvSpPr txBox="1"/>
          <p:nvPr/>
        </p:nvSpPr>
        <p:spPr>
          <a:xfrm>
            <a:off x="1197103" y="795626"/>
            <a:ext cx="3736349" cy="5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평가 및 검증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5297A0E-1B9B-5F00-B733-8C7B91DC1FFF}"/>
              </a:ext>
            </a:extLst>
          </p:cNvPr>
          <p:cNvSpPr txBox="1"/>
          <p:nvPr/>
        </p:nvSpPr>
        <p:spPr>
          <a:xfrm>
            <a:off x="11574000" y="547028"/>
            <a:ext cx="5796991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3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페르소나 시뮬레이션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7515A7F-CDE3-76A7-848D-A248D822B9F2}"/>
              </a:ext>
            </a:extLst>
          </p:cNvPr>
          <p:cNvSpPr txBox="1"/>
          <p:nvPr/>
        </p:nvSpPr>
        <p:spPr>
          <a:xfrm>
            <a:off x="1206628" y="2350463"/>
            <a:ext cx="6722370" cy="1039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예측 대상인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15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개의 신제품 데이터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제품명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제품특징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카테고리 </a:t>
            </a:r>
            <a:r>
              <a:rPr lang="en-US" altLang="ko-KR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1~3 </a:t>
            </a:r>
            <a:r>
              <a:rPr lang="ko-KR" altLang="en-US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뎁스</a:t>
            </a:r>
            <a:endParaRPr lang="en-US" altLang="ko-KR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  <a:p>
            <a:pPr marL="285750" indent="-285750" algn="l">
              <a:lnSpc>
                <a:spcPts val="2833"/>
              </a:lnSpc>
              <a:buFontTx/>
              <a:buChar char="-"/>
            </a:pPr>
            <a:r>
              <a:rPr lang="ko-KR" altLang="en-US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</a:t>
            </a:r>
            <a:endParaRPr lang="en-US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4820A69-870E-2667-A227-9A25DC18D490}"/>
              </a:ext>
            </a:extLst>
          </p:cNvPr>
          <p:cNvSpPr txBox="1"/>
          <p:nvPr/>
        </p:nvSpPr>
        <p:spPr>
          <a:xfrm>
            <a:off x="1206628" y="181350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400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제품 데이터 분석 및 가공 계획</a:t>
            </a:r>
            <a:endParaRPr lang="en-US" sz="2400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661724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A245-4F7D-EBC4-B2F9-0AA2EBCB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68121D-28D8-37A7-E001-D2F693DCC01B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60506DB-8D6F-F70F-D33B-A8C3BD3487F3}"/>
              </a:ext>
            </a:extLst>
          </p:cNvPr>
          <p:cNvSpPr txBox="1"/>
          <p:nvPr/>
        </p:nvSpPr>
        <p:spPr>
          <a:xfrm>
            <a:off x="9181522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플로우 차트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B217D3-AAD6-863B-BE79-A4F3AA69C402}"/>
              </a:ext>
            </a:extLst>
          </p:cNvPr>
          <p:cNvSpPr txBox="1"/>
          <p:nvPr/>
        </p:nvSpPr>
        <p:spPr>
          <a:xfrm>
            <a:off x="6759000" y="6742688"/>
            <a:ext cx="2598180" cy="3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43F5C19-A5D4-31ED-5BB1-C756F4518A2D}"/>
              </a:ext>
            </a:extLst>
          </p:cNvPr>
          <p:cNvSpPr/>
          <p:nvPr/>
        </p:nvSpPr>
        <p:spPr>
          <a:xfrm>
            <a:off x="863463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D5EA4-CF28-583C-7AB8-3B21FB3976F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웹페이지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개발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096DCB2-8357-63C2-1C12-9AB2056B03AB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219BCA4-091B-AD04-0D58-133E97481908}"/>
              </a:ext>
            </a:extLst>
          </p:cNvPr>
          <p:cNvSpPr txBox="1"/>
          <p:nvPr/>
        </p:nvSpPr>
        <p:spPr>
          <a:xfrm>
            <a:off x="9181522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4FE6113-D799-65D0-36A8-0EDD454A6A09}"/>
              </a:ext>
            </a:extLst>
          </p:cNvPr>
          <p:cNvSpPr txBox="1"/>
          <p:nvPr/>
        </p:nvSpPr>
        <p:spPr>
          <a:xfrm>
            <a:off x="6759000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583DB7-037B-2561-2C46-9E6DAF10AA04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7DF5566-66B1-79C8-F320-6AB918A18C96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B9CE96C5-D778-4823-1D37-213A216B04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F0A4C4A-C2EB-96E6-F334-389CF7234695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808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33C-C452-3DE5-9BF0-318CFFA9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6AB09CE0-BA36-DE1D-20D4-3121751CD238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6B50101-FCA5-22E2-C4E8-92B05894BADB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B26F00AE-38EC-DE90-B439-0088BAD833D8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DBFA29-D92E-CBE6-AA59-A31B0E7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23282"/>
            <a:ext cx="9906373" cy="85316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E0A324E-258A-DC5C-CDAB-23B22F629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15848"/>
              </p:ext>
            </p:extLst>
          </p:nvPr>
        </p:nvGraphicFramePr>
        <p:xfrm>
          <a:off x="11934000" y="1601525"/>
          <a:ext cx="5940000" cy="6707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(home)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home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My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Chatbots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새채팅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시작페이지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선택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채팅검색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검색 페이지 로드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최근 채팅 목록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해당 채팅 목록으로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설정된 마이크로 세그먼트를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태그로 상단에 표출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색상은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RFM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분류를 따라가도록 설정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타이틀은 페르소나 번호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Model dropdown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사용가능한 모델을 선택</a:t>
                      </a:r>
                      <a:endParaRPr lang="en-US" altLang="ko-KR" sz="16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:GPT 3.5-Turbo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그외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추가 예정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생성창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연령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가족구성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 선택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및 고객 클러스터링에 따라 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고객가치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 스타일 변경 예정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복수선택 가능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고객취향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라이프스타일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07318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6486C2-B2B5-E4B5-9270-92362F236670}"/>
              </a:ext>
            </a:extLst>
          </p:cNvPr>
          <p:cNvSpPr/>
          <p:nvPr/>
        </p:nvSpPr>
        <p:spPr>
          <a:xfrm>
            <a:off x="1314000" y="1768500"/>
            <a:ext cx="1980000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AD9F6C-98B8-9AA5-F938-D6D0AC7879A2}"/>
              </a:ext>
            </a:extLst>
          </p:cNvPr>
          <p:cNvSpPr/>
          <p:nvPr/>
        </p:nvSpPr>
        <p:spPr>
          <a:xfrm>
            <a:off x="1314000" y="2494080"/>
            <a:ext cx="1980000" cy="142548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D6B102-9E16-F864-3E02-48DF1C2E5E1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7509A5-F4CC-CCC2-65CB-6BE086C2FFF9}"/>
              </a:ext>
            </a:extLst>
          </p:cNvPr>
          <p:cNvSpPr/>
          <p:nvPr/>
        </p:nvSpPr>
        <p:spPr>
          <a:xfrm>
            <a:off x="3410898" y="1768500"/>
            <a:ext cx="1413102" cy="630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4C054-04EC-2511-FAEE-BF4F1E4B9B69}"/>
              </a:ext>
            </a:extLst>
          </p:cNvPr>
          <p:cNvSpPr/>
          <p:nvPr/>
        </p:nvSpPr>
        <p:spPr>
          <a:xfrm>
            <a:off x="3424668" y="2494080"/>
            <a:ext cx="7384331" cy="737442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941130-0E59-2E0D-2C24-53946C176943}"/>
              </a:ext>
            </a:extLst>
          </p:cNvPr>
          <p:cNvGrpSpPr/>
          <p:nvPr/>
        </p:nvGrpSpPr>
        <p:grpSpPr>
          <a:xfrm>
            <a:off x="1183227" y="1584875"/>
            <a:ext cx="313166" cy="313166"/>
            <a:chOff x="7412417" y="1139116"/>
            <a:chExt cx="313166" cy="313166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83162BC-18AD-6D98-6169-783698E6773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1B8014-8CB0-6E94-3187-BF903DD8DEE7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BC1807-0863-DB54-A82F-9744E957BD92}"/>
              </a:ext>
            </a:extLst>
          </p:cNvPr>
          <p:cNvGrpSpPr/>
          <p:nvPr/>
        </p:nvGrpSpPr>
        <p:grpSpPr>
          <a:xfrm>
            <a:off x="1157417" y="2412917"/>
            <a:ext cx="313166" cy="313166"/>
            <a:chOff x="7412417" y="1139116"/>
            <a:chExt cx="313166" cy="3131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47C0731-FEE6-8A02-83C2-438EED27233C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705F14-293A-2B70-B031-35FD98CA95F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49B038A-D78F-6E10-6182-83101CF67E18}"/>
              </a:ext>
            </a:extLst>
          </p:cNvPr>
          <p:cNvGrpSpPr/>
          <p:nvPr/>
        </p:nvGrpSpPr>
        <p:grpSpPr>
          <a:xfrm>
            <a:off x="1175580" y="3957970"/>
            <a:ext cx="313166" cy="313166"/>
            <a:chOff x="7412417" y="1139116"/>
            <a:chExt cx="313166" cy="31316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7C6102FA-D356-517D-50E2-322B7857B912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04D603-7C35-9387-6A94-8D5A41D2E20F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5104475-5D35-BEDA-3B60-17F2DF737F24}"/>
              </a:ext>
            </a:extLst>
          </p:cNvPr>
          <p:cNvGrpSpPr/>
          <p:nvPr/>
        </p:nvGrpSpPr>
        <p:grpSpPr>
          <a:xfrm>
            <a:off x="3333685" y="1584875"/>
            <a:ext cx="313166" cy="313166"/>
            <a:chOff x="7412417" y="1139116"/>
            <a:chExt cx="313166" cy="313166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E0EC942-FB88-6FE3-0766-0DE9E8D35E99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46DC9A-006B-E6FC-C970-DAC5B2162F60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5B346DE-1125-8673-B002-C436D36410CB}"/>
              </a:ext>
            </a:extLst>
          </p:cNvPr>
          <p:cNvGrpSpPr/>
          <p:nvPr/>
        </p:nvGrpSpPr>
        <p:grpSpPr>
          <a:xfrm>
            <a:off x="3333685" y="2412917"/>
            <a:ext cx="313166" cy="313166"/>
            <a:chOff x="7412417" y="1139116"/>
            <a:chExt cx="313166" cy="313166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99A6AA8-6456-6B78-652E-6E6ED3F1880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793F94-C7E8-343E-3CB8-07ED6E1C3511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5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4808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9D6B-1CC8-39A9-3F42-CF5457796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D59AABE0-E75A-FBF9-9ADE-229BCE724E3A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B659F6-DE20-0C14-7C20-771E69BE934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E9DEFC0-1A5B-6561-E26F-6E440F362643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FE48425-432C-D47C-3C03-AE0D033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02" y="1601525"/>
            <a:ext cx="9898201" cy="855345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A0DF1F-C599-6F8C-E825-13DB39E13A2F}"/>
              </a:ext>
            </a:extLst>
          </p:cNvPr>
          <p:cNvSpPr/>
          <p:nvPr/>
        </p:nvSpPr>
        <p:spPr>
          <a:xfrm>
            <a:off x="6146202" y="4918500"/>
            <a:ext cx="1962798" cy="229500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7ED8A5-3B19-5221-AD15-B2399DD6F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37917"/>
              </p:ext>
            </p:extLst>
          </p:nvPr>
        </p:nvGraphicFramePr>
        <p:xfrm>
          <a:off x="11934000" y="1601525"/>
          <a:ext cx="5940000" cy="2814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탐색 팝업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팝업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고객이 설정한 페르소나와 가장 일치율이 높은 페르소나를 선정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일치율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노출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재설정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생성 페이지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이전설정 유지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채팅시작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이동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3D85481-B6C5-24DE-9BD3-2EAC72A6B53D}"/>
              </a:ext>
            </a:extLst>
          </p:cNvPr>
          <p:cNvGrpSpPr/>
          <p:nvPr/>
        </p:nvGrpSpPr>
        <p:grpSpPr>
          <a:xfrm>
            <a:off x="5989619" y="4761917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FA038C45-1B2B-AD5C-E30A-E298932444BA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8D4AE4-C69F-F49F-1E7D-CE9064397378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4902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5E0-98A8-DB29-7564-282563976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328F4802-4303-CFEE-4D8F-1259E327A944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C9E037-8CF3-AEA8-C94E-392B72B27C8E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기획서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836C56D-0B49-4395-F866-519BEB5F2A81}"/>
              </a:ext>
            </a:extLst>
          </p:cNvPr>
          <p:cNvSpPr txBox="1"/>
          <p:nvPr/>
        </p:nvSpPr>
        <p:spPr>
          <a:xfrm>
            <a:off x="11574000" y="547028"/>
            <a:ext cx="5796991" cy="95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4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웹페이지 개발</a:t>
            </a:r>
          </a:p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A306E75-19F2-18F2-A022-7E8513C5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69" y="1623281"/>
            <a:ext cx="9916995" cy="85316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C2CB98C-C77F-9543-417E-0B223E1140C9}"/>
              </a:ext>
            </a:extLst>
          </p:cNvPr>
          <p:cNvSpPr/>
          <p:nvPr/>
        </p:nvSpPr>
        <p:spPr>
          <a:xfrm>
            <a:off x="1314000" y="4028143"/>
            <a:ext cx="1980000" cy="584035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60A09A-6793-E8BF-ED4D-52015A4A4DAC}"/>
              </a:ext>
            </a:extLst>
          </p:cNvPr>
          <p:cNvSpPr/>
          <p:nvPr/>
        </p:nvSpPr>
        <p:spPr>
          <a:xfrm>
            <a:off x="4554537" y="3028499"/>
            <a:ext cx="5309463" cy="4937377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ECC3D0-42E8-539D-4DB1-AB4A6D24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718435"/>
              </p:ext>
            </p:extLst>
          </p:nvPr>
        </p:nvGraphicFramePr>
        <p:xfrm>
          <a:off x="11934000" y="1601525"/>
          <a:ext cx="5940000" cy="7965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32">
                  <a:extLst>
                    <a:ext uri="{9D8B030D-6E8A-4147-A177-3AD203B41FA5}">
                      <a16:colId xmlns:a16="http://schemas.microsoft.com/office/drawing/2014/main" val="2027186928"/>
                    </a:ext>
                  </a:extLst>
                </a:gridCol>
                <a:gridCol w="1575754">
                  <a:extLst>
                    <a:ext uri="{9D8B030D-6E8A-4147-A177-3AD203B41FA5}">
                      <a16:colId xmlns:a16="http://schemas.microsoft.com/office/drawing/2014/main" val="872229010"/>
                    </a:ext>
                  </a:extLst>
                </a:gridCol>
                <a:gridCol w="3744714">
                  <a:extLst>
                    <a:ext uri="{9D8B030D-6E8A-4147-A177-3AD203B41FA5}">
                      <a16:colId xmlns:a16="http://schemas.microsoft.com/office/drawing/2014/main" val="1914048250"/>
                    </a:ext>
                  </a:extLst>
                </a:gridCol>
              </a:tblGrid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+mn-ea"/>
                          <a:ea typeface="+mn-ea"/>
                        </a:rPr>
                        <a:t>Title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240465"/>
                  </a:ext>
                </a:extLst>
              </a:tr>
              <a:tr h="4485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Recent Chats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번 이상 채팅이 확인되면 최근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챗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목록 생성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시간 내림차순 정렬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가장 최근 채팅이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17620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60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채팅 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로고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번호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페르소나 프로필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질문 채팅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입력시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우측 위치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백그라운드 컬러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[GPT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답변시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좌측부터 출력</a:t>
                      </a:r>
                      <a:endParaRPr lang="en-US" altLang="ko-KR" sz="16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줄 한글 약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자 내외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초과시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내려쓰기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185158"/>
                  </a:ext>
                </a:extLst>
              </a:tr>
              <a:tr h="5283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입력창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[Place Holder]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어떤 비즈니스 시뮬레이션을 원하시나요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? 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신제품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기존제품에 대한 구매의향을 물어보세요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latin typeface="+mn-ea"/>
                          <a:ea typeface="+mn-ea"/>
                        </a:rPr>
                      </a:b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또는 어떤 프로모션을 했을 때 이 고객이 구매할 의향이 생길지 물어 볼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.’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 Enter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키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입력버튼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 err="1">
                          <a:latin typeface="+mn-ea"/>
                          <a:ea typeface="+mn-ea"/>
                        </a:rPr>
                        <a:t>채팅창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25348"/>
                  </a:ext>
                </a:extLst>
              </a:tr>
              <a:tr h="26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안내문구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Chill Tuna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비즈니스 시뮬레이터는 실수를 할 수 있습니다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참고용으로 사용하세요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6781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288E3A2-4D0C-C865-6ABF-376D2578737D}"/>
              </a:ext>
            </a:extLst>
          </p:cNvPr>
          <p:cNvSpPr/>
          <p:nvPr/>
        </p:nvSpPr>
        <p:spPr>
          <a:xfrm>
            <a:off x="4554537" y="8158500"/>
            <a:ext cx="5309463" cy="105422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BB14A9-EC19-2430-9696-FFF91749FF32}"/>
              </a:ext>
            </a:extLst>
          </p:cNvPr>
          <p:cNvSpPr/>
          <p:nvPr/>
        </p:nvSpPr>
        <p:spPr>
          <a:xfrm>
            <a:off x="4554537" y="9248763"/>
            <a:ext cx="5309463" cy="512963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682A56-8821-9B80-8005-215DF6776E15}"/>
              </a:ext>
            </a:extLst>
          </p:cNvPr>
          <p:cNvGrpSpPr/>
          <p:nvPr/>
        </p:nvGrpSpPr>
        <p:grpSpPr>
          <a:xfrm>
            <a:off x="1157417" y="3871560"/>
            <a:ext cx="313166" cy="313166"/>
            <a:chOff x="7412417" y="1139116"/>
            <a:chExt cx="313166" cy="313166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82A2DD0B-E35B-E99C-A99D-70ABE650AEED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210A57-7C6E-BABA-0DE6-78BF058E0F8A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EAD1575-7EC2-C3A9-2D1B-01B4A444DC2B}"/>
              </a:ext>
            </a:extLst>
          </p:cNvPr>
          <p:cNvGrpSpPr/>
          <p:nvPr/>
        </p:nvGrpSpPr>
        <p:grpSpPr>
          <a:xfrm>
            <a:off x="4397954" y="2835877"/>
            <a:ext cx="313166" cy="313166"/>
            <a:chOff x="7412417" y="1139116"/>
            <a:chExt cx="313166" cy="313166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FA10AC9-E697-5F63-0C83-503D75C57CA5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73A0C-5625-8707-C4CC-190721F32354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CBDEF6E-7872-2C36-AD17-9F6E57D546EE}"/>
              </a:ext>
            </a:extLst>
          </p:cNvPr>
          <p:cNvGrpSpPr/>
          <p:nvPr/>
        </p:nvGrpSpPr>
        <p:grpSpPr>
          <a:xfrm>
            <a:off x="4397954" y="8001917"/>
            <a:ext cx="313166" cy="313166"/>
            <a:chOff x="7412417" y="1139116"/>
            <a:chExt cx="313166" cy="313166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17834B6-E376-76E9-7FBF-5B74E41BD740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9AB0EE-882A-6E25-B09F-52D076394B1C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3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3204B1-0EB9-FE93-AA9C-5FD606798A66}"/>
              </a:ext>
            </a:extLst>
          </p:cNvPr>
          <p:cNvGrpSpPr/>
          <p:nvPr/>
        </p:nvGrpSpPr>
        <p:grpSpPr>
          <a:xfrm>
            <a:off x="4397954" y="9257639"/>
            <a:ext cx="313166" cy="313166"/>
            <a:chOff x="7412417" y="1139116"/>
            <a:chExt cx="313166" cy="313166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B874487-44D7-2FB9-78F8-1CCEF441A483}"/>
                </a:ext>
              </a:extLst>
            </p:cNvPr>
            <p:cNvSpPr/>
            <p:nvPr/>
          </p:nvSpPr>
          <p:spPr>
            <a:xfrm>
              <a:off x="7412417" y="1139116"/>
              <a:ext cx="313166" cy="31316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A68ED3-ECFC-63F7-6EA7-82BD78B76569}"/>
                </a:ext>
              </a:extLst>
            </p:cNvPr>
            <p:cNvSpPr txBox="1"/>
            <p:nvPr/>
          </p:nvSpPr>
          <p:spPr>
            <a:xfrm>
              <a:off x="7434187" y="1161261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4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474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7B4-4989-D583-3D91-FACE1890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B46399-1FEC-3ED2-CF90-5863345915DF}"/>
              </a:ext>
            </a:extLst>
          </p:cNvPr>
          <p:cNvSpPr txBox="1"/>
          <p:nvPr/>
        </p:nvSpPr>
        <p:spPr>
          <a:xfrm>
            <a:off x="16716877" y="8776205"/>
            <a:ext cx="1242680" cy="42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2"/>
              </a:lnSpc>
            </a:pPr>
            <a:r>
              <a:rPr lang="en-US" sz="2530" b="1" spc="-43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F81CD7-F47B-179E-89F4-8D8632936E9A}"/>
              </a:ext>
            </a:extLst>
          </p:cNvPr>
          <p:cNvSpPr txBox="1"/>
          <p:nvPr/>
        </p:nvSpPr>
        <p:spPr>
          <a:xfrm>
            <a:off x="8339348" y="6742688"/>
            <a:ext cx="2598180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57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기대효과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B31060-7462-281D-D512-30B4AFF7DECC}"/>
              </a:ext>
            </a:extLst>
          </p:cNvPr>
          <p:cNvSpPr txBox="1"/>
          <p:nvPr/>
        </p:nvSpPr>
        <p:spPr>
          <a:xfrm>
            <a:off x="5916826" y="6742688"/>
            <a:ext cx="2598180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88CB4-EDB5-8BAA-6B0C-38A5E5E5285D}"/>
              </a:ext>
            </a:extLst>
          </p:cNvPr>
          <p:cNvSpPr txBox="1"/>
          <p:nvPr/>
        </p:nvSpPr>
        <p:spPr>
          <a:xfrm>
            <a:off x="10937528" y="6742688"/>
            <a:ext cx="2369187" cy="36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132"/>
              </a:lnSpc>
              <a:spcBef>
                <a:spcPct val="0"/>
              </a:spcBef>
            </a:pPr>
            <a:r>
              <a:rPr lang="ko-KR" altLang="en-US" sz="2000" b="1" spc="-80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자체 피드백</a:t>
            </a:r>
            <a:endParaRPr lang="en-US" altLang="ko-KR" sz="2000" b="1" spc="-80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6625C41-D13C-1228-D2A7-3D356231543E}"/>
              </a:ext>
            </a:extLst>
          </p:cNvPr>
          <p:cNvSpPr/>
          <p:nvPr/>
        </p:nvSpPr>
        <p:spPr>
          <a:xfrm>
            <a:off x="7792461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E06F4706-C720-C4A4-7F70-FB4D5C581084}"/>
              </a:ext>
            </a:extLst>
          </p:cNvPr>
          <p:cNvSpPr/>
          <p:nvPr/>
        </p:nvSpPr>
        <p:spPr>
          <a:xfrm>
            <a:off x="10387295" y="6320010"/>
            <a:ext cx="0" cy="759414"/>
          </a:xfrm>
          <a:prstGeom prst="line">
            <a:avLst/>
          </a:prstGeom>
          <a:ln w="9525" cap="flat">
            <a:solidFill>
              <a:srgbClr val="DFDFD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F1737D-CF6C-E891-A255-3C55ACD8234F}"/>
              </a:ext>
            </a:extLst>
          </p:cNvPr>
          <p:cNvSpPr txBox="1"/>
          <p:nvPr/>
        </p:nvSpPr>
        <p:spPr>
          <a:xfrm>
            <a:off x="1183714" y="6035503"/>
            <a:ext cx="4502923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결과</a:t>
            </a:r>
            <a:endParaRPr lang="en-US" altLang="ko-KR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  <a:p>
            <a:pPr algn="l">
              <a:lnSpc>
                <a:spcPts val="9674"/>
              </a:lnSpc>
            </a:pPr>
            <a:r>
              <a:rPr lang="ko-KR" altLang="en-US" sz="8800" b="1" spc="-61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및 평가</a:t>
            </a:r>
            <a:endParaRPr lang="en-US" sz="8800" b="1" spc="-617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61568E-E722-3150-42FB-999937B2BA89}"/>
              </a:ext>
            </a:extLst>
          </p:cNvPr>
          <p:cNvSpPr txBox="1"/>
          <p:nvPr/>
        </p:nvSpPr>
        <p:spPr>
          <a:xfrm>
            <a:off x="1299068" y="5101802"/>
            <a:ext cx="126750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5"/>
              </a:lnSpc>
              <a:spcBef>
                <a:spcPct val="0"/>
              </a:spcBef>
            </a:pPr>
            <a:r>
              <a:rPr 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DB2FF93-5408-A521-AF2F-0FD6F425D978}"/>
              </a:ext>
            </a:extLst>
          </p:cNvPr>
          <p:cNvSpPr txBox="1"/>
          <p:nvPr/>
        </p:nvSpPr>
        <p:spPr>
          <a:xfrm>
            <a:off x="8339348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-2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F21A84-C5DF-8F73-7098-F23CA7CDD462}"/>
              </a:ext>
            </a:extLst>
          </p:cNvPr>
          <p:cNvSpPr txBox="1"/>
          <p:nvPr/>
        </p:nvSpPr>
        <p:spPr>
          <a:xfrm>
            <a:off x="5916826" y="6253335"/>
            <a:ext cx="874928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1708F-BECC-BACF-98EB-B798E5DC0D79}"/>
              </a:ext>
            </a:extLst>
          </p:cNvPr>
          <p:cNvSpPr txBox="1"/>
          <p:nvPr/>
        </p:nvSpPr>
        <p:spPr>
          <a:xfrm>
            <a:off x="10937528" y="6253335"/>
            <a:ext cx="873479" cy="35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6"/>
              </a:lnSpc>
              <a:spcBef>
                <a:spcPct val="0"/>
              </a:spcBef>
            </a:pPr>
            <a:r>
              <a:rPr lang="en-US" altLang="ko-KR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1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-3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148576-46C7-1453-9B18-4A880A1A3898}"/>
              </a:ext>
            </a:extLst>
          </p:cNvPr>
          <p:cNvSpPr/>
          <p:nvPr/>
        </p:nvSpPr>
        <p:spPr>
          <a:xfrm>
            <a:off x="14454000" y="-11033"/>
            <a:ext cx="3834000" cy="4368922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663100-FBED-0D21-2147-18D9C481C197}"/>
              </a:ext>
            </a:extLst>
          </p:cNvPr>
          <p:cNvGrpSpPr/>
          <p:nvPr/>
        </p:nvGrpSpPr>
        <p:grpSpPr>
          <a:xfrm>
            <a:off x="0" y="-11033"/>
            <a:ext cx="14544000" cy="4368922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AD7E7AD6-3805-B475-EDB6-1D764AF923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9E793D-3FCD-9525-A9FF-0FDC8B9B4884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682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F0DB-A062-A971-7838-85E8B519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7B7687CE-66F1-DD00-7AF8-E48704B3C7CF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9BA52C0-A9CE-13E5-0926-FB0FD2308CDD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화면 시연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A4D55884-E872-4E73-E0A7-B3A30583B1B0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B42F22-C2F4-1A19-C8C9-B10BFABA9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000" y="1919994"/>
            <a:ext cx="7818444" cy="6756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C25BF7-AA13-AF0B-4266-FCC26E234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1919994"/>
            <a:ext cx="7818445" cy="6733506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06327D5B-551F-C754-92F6-A3B19186026A}"/>
              </a:ext>
            </a:extLst>
          </p:cNvPr>
          <p:cNvSpPr/>
          <p:nvPr/>
        </p:nvSpPr>
        <p:spPr>
          <a:xfrm>
            <a:off x="8899188" y="2350619"/>
            <a:ext cx="821557" cy="5895000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96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C3A5-9464-0313-DB7D-1B73A789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17">
            <a:extLst>
              <a:ext uri="{FF2B5EF4-FFF2-40B4-BE49-F238E27FC236}">
                <a16:creationId xmlns:a16="http://schemas.microsoft.com/office/drawing/2014/main" id="{C33812BD-F18D-2ACE-1DA6-9B87B37B171D}"/>
              </a:ext>
            </a:extLst>
          </p:cNvPr>
          <p:cNvSpPr/>
          <p:nvPr/>
        </p:nvSpPr>
        <p:spPr>
          <a:xfrm>
            <a:off x="3294000" y="1074277"/>
            <a:ext cx="1407699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43C60A7-0C63-6B34-E6A7-043DA5FFD2CC}"/>
              </a:ext>
            </a:extLst>
          </p:cNvPr>
          <p:cNvSpPr txBox="1"/>
          <p:nvPr/>
        </p:nvSpPr>
        <p:spPr>
          <a:xfrm>
            <a:off x="1197103" y="795626"/>
            <a:ext cx="3736349" cy="500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9"/>
              </a:lnSpc>
            </a:pPr>
            <a:r>
              <a:rPr lang="ko-KR" altLang="en-US" sz="3092" b="1" spc="-197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기대 효과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8B8F2A50-96E5-A985-65F8-9C8EDD625D72}"/>
              </a:ext>
            </a:extLst>
          </p:cNvPr>
          <p:cNvSpPr txBox="1"/>
          <p:nvPr/>
        </p:nvSpPr>
        <p:spPr>
          <a:xfrm>
            <a:off x="11574000" y="547028"/>
            <a:ext cx="5796991" cy="456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935"/>
              </a:lnSpc>
              <a:spcBef>
                <a:spcPct val="0"/>
              </a:spcBef>
            </a:pP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Part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5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 </a:t>
            </a:r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– </a:t>
            </a:r>
            <a:r>
              <a:rPr lang="ko-KR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Telegraf"/>
                <a:sym typeface="Telegraf"/>
              </a:rPr>
              <a:t>결과 및 평가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A57891CC-38AB-34A1-ED56-08123DE9E4AC}"/>
              </a:ext>
            </a:extLst>
          </p:cNvPr>
          <p:cNvSpPr txBox="1"/>
          <p:nvPr/>
        </p:nvSpPr>
        <p:spPr>
          <a:xfrm>
            <a:off x="1206628" y="3047692"/>
            <a:ext cx="6722370" cy="677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시장 조사 분야의 기존 방식인 </a:t>
            </a:r>
            <a:r>
              <a:rPr lang="ko-KR" altLang="en-US" sz="1686" spc="-28" dirty="0" err="1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컨조인트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연구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포커스 그룹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독점 데이터셋 등에서 소요되는 비용과 시간을 절약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DDF6C27-7FBD-F242-C812-F84EA4E41F86}"/>
              </a:ext>
            </a:extLst>
          </p:cNvPr>
          <p:cNvSpPr txBox="1"/>
          <p:nvPr/>
        </p:nvSpPr>
        <p:spPr>
          <a:xfrm>
            <a:off x="1206628" y="5281316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LLM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이 인간 연구와 일관된 응답을 생성함으로써 시장조사를 보완하며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</a:t>
            </a:r>
          </a:p>
          <a:p>
            <a:pPr algn="l"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제품 개발주기를 단축하고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신제품의 시장 출시 전 위험을 줄이는데 기여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15510D-951F-6B9B-8DD7-F08EC35AA2CC}"/>
              </a:ext>
            </a:extLst>
          </p:cNvPr>
          <p:cNvSpPr txBox="1"/>
          <p:nvPr/>
        </p:nvSpPr>
        <p:spPr>
          <a:xfrm>
            <a:off x="1206628" y="2549765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빠르고 저렴한 선행적 시장조사 가능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205EB0-F96E-36B0-F191-910AD1661712}"/>
              </a:ext>
            </a:extLst>
          </p:cNvPr>
          <p:cNvSpPr txBox="1"/>
          <p:nvPr/>
        </p:nvSpPr>
        <p:spPr>
          <a:xfrm>
            <a:off x="1206628" y="4783389"/>
            <a:ext cx="6407372" cy="3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정교하게 설계된 페르소나를 통한 시장 예측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8268DE-5356-B12C-96A8-B6713CC7962B}"/>
              </a:ext>
            </a:extLst>
          </p:cNvPr>
          <p:cNvSpPr txBox="1"/>
          <p:nvPr/>
        </p:nvSpPr>
        <p:spPr>
          <a:xfrm>
            <a:off x="10346395" y="7573500"/>
            <a:ext cx="6030734" cy="576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“</a:t>
            </a:r>
            <a:r>
              <a:rPr lang="ko-KR" altLang="en-US" sz="2800" b="1" dirty="0"/>
              <a:t>시장 조사의 </a:t>
            </a:r>
            <a:r>
              <a:rPr lang="ko-KR" altLang="en-US" sz="2800" b="1" dirty="0" err="1"/>
              <a:t>새로운패러다임</a:t>
            </a:r>
            <a:r>
              <a:rPr lang="ko-KR" altLang="en-US" sz="2800" b="1" dirty="0"/>
              <a:t> 제시</a:t>
            </a:r>
            <a:r>
              <a:rPr lang="en-US" sz="2800" b="1" spc="-30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”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99A7D5-6B3B-F704-FEAD-B5E10F2CAEC5}"/>
              </a:ext>
            </a:extLst>
          </p:cNvPr>
          <p:cNvSpPr/>
          <p:nvPr/>
        </p:nvSpPr>
        <p:spPr>
          <a:xfrm flipV="1">
            <a:off x="10132910" y="7596081"/>
            <a:ext cx="0" cy="57605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75F4D51F-BD46-500D-28FD-841BC0CB6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891" y="1819764"/>
            <a:ext cx="7692799" cy="5065027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BD4C9D0A-AC70-7066-4BFB-243DA41000AA}"/>
              </a:ext>
            </a:extLst>
          </p:cNvPr>
          <p:cNvSpPr txBox="1"/>
          <p:nvPr/>
        </p:nvSpPr>
        <p:spPr>
          <a:xfrm>
            <a:off x="1206628" y="7503357"/>
            <a:ext cx="6722370" cy="103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33"/>
              </a:lnSpc>
            </a:pP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구축된 </a:t>
            </a:r>
            <a:r>
              <a:rPr lang="ko-KR" altLang="en-US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비즈니스 시뮬레이터</a:t>
            </a:r>
            <a:r>
              <a:rPr lang="ko-KR" altLang="en-US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를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 이용해 향후 효율적 마케팅 방향을 시뮬레이션하고 빠르게 적용</a:t>
            </a:r>
            <a:r>
              <a:rPr lang="en-US" altLang="ko-KR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, </a:t>
            </a:r>
            <a:r>
              <a:rPr lang="ko-KR" altLang="en-US" sz="1686" spc="-28" dirty="0">
                <a:solidFill>
                  <a:srgbClr val="000000"/>
                </a:solidFill>
                <a:latin typeface="+mn-ea"/>
                <a:cs typeface="Source Han Sans KR"/>
                <a:sym typeface="Source Han Sans KR"/>
              </a:rPr>
              <a:t>피드백을 통해 보완하여 체계적인 마케팅 전략을 구축 가능</a:t>
            </a:r>
            <a:endParaRPr lang="en-US" sz="1686" spc="-28" dirty="0">
              <a:solidFill>
                <a:srgbClr val="000000"/>
              </a:solidFill>
              <a:latin typeface="+mn-ea"/>
              <a:cs typeface="Source Han Sans KR"/>
              <a:sym typeface="Source Han Sans KR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FB3E6F3F-F70D-5381-412D-CB90B0D7E5EC}"/>
              </a:ext>
            </a:extLst>
          </p:cNvPr>
          <p:cNvSpPr txBox="1"/>
          <p:nvPr/>
        </p:nvSpPr>
        <p:spPr>
          <a:xfrm>
            <a:off x="1206628" y="7005430"/>
            <a:ext cx="4516269" cy="371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8"/>
              </a:lnSpc>
              <a:spcBef>
                <a:spcPct val="0"/>
              </a:spcBef>
            </a:pPr>
            <a:r>
              <a:rPr lang="ko-KR" altLang="en-US" sz="2248" b="1" spc="-123" dirty="0">
                <a:solidFill>
                  <a:srgbClr val="000000"/>
                </a:solidFill>
                <a:latin typeface="+mn-ea"/>
                <a:cs typeface="Source Han Sans KR Medium"/>
                <a:sym typeface="Source Han Sans KR Medium"/>
              </a:rPr>
              <a:t>체계적인 마케팅 전략 구축</a:t>
            </a:r>
            <a:endParaRPr lang="en-US" sz="2248" b="1" spc="-123" dirty="0">
              <a:solidFill>
                <a:srgbClr val="000000"/>
              </a:solidFill>
              <a:latin typeface="+mn-ea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0751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0FEF-2535-2B14-9934-E03D6C4C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878F59-B7F6-5BCF-F972-FA6313AFA9DE}"/>
              </a:ext>
            </a:extLst>
          </p:cNvPr>
          <p:cNvSpPr txBox="1"/>
          <p:nvPr/>
        </p:nvSpPr>
        <p:spPr>
          <a:xfrm>
            <a:off x="1197703" y="7727814"/>
            <a:ext cx="3933923" cy="17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박진성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주용곤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박동현</a:t>
            </a:r>
            <a:endParaRPr lang="en-US" altLang="ko-KR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spc="55" dirty="0" err="1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최장호</a:t>
            </a:r>
            <a:endParaRPr lang="en-US" sz="2000" spc="55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5AEE1E1-D197-9348-F81E-D6D695D32DD0}"/>
              </a:ext>
            </a:extLst>
          </p:cNvPr>
          <p:cNvSpPr/>
          <p:nvPr/>
        </p:nvSpPr>
        <p:spPr>
          <a:xfrm>
            <a:off x="4933452" y="6782489"/>
            <a:ext cx="904635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2C35B0-C6A7-34E7-9122-4FAFCE65A664}"/>
              </a:ext>
            </a:extLst>
          </p:cNvPr>
          <p:cNvSpPr txBox="1"/>
          <p:nvPr/>
        </p:nvSpPr>
        <p:spPr>
          <a:xfrm>
            <a:off x="1197103" y="6502039"/>
            <a:ext cx="3736349" cy="457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ko-KR" altLang="en-US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팀 </a:t>
            </a:r>
            <a:r>
              <a:rPr lang="en-US" altLang="ko-KR" sz="2811" dirty="0">
                <a:solidFill>
                  <a:srgbClr val="000000"/>
                </a:solidFill>
                <a:latin typeface="+mn-ea"/>
                <a:cs typeface="Telegraf"/>
                <a:sym typeface="Telegraf"/>
              </a:rPr>
              <a:t>Chill Tuna</a:t>
            </a:r>
            <a:endParaRPr lang="en-US" sz="2811" dirty="0">
              <a:solidFill>
                <a:srgbClr val="000000"/>
              </a:solidFill>
              <a:latin typeface="+mn-ea"/>
              <a:cs typeface="Telegraf"/>
              <a:sym typeface="Telegraf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8CAADA-FEEB-76E4-F8B3-5EAF0FB3A017}"/>
              </a:ext>
            </a:extLst>
          </p:cNvPr>
          <p:cNvSpPr txBox="1"/>
          <p:nvPr/>
        </p:nvSpPr>
        <p:spPr>
          <a:xfrm>
            <a:off x="1041586" y="3858737"/>
            <a:ext cx="6913999" cy="126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74"/>
              </a:lnSpc>
            </a:pPr>
            <a:r>
              <a:rPr lang="en-US" sz="9214" b="1" spc="-617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감사합니다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3C149-8E9B-DE8F-6C3D-049C5F66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7" t="2012" r="20097"/>
          <a:stretch>
            <a:fillRect/>
          </a:stretch>
        </p:blipFill>
        <p:spPr>
          <a:xfrm>
            <a:off x="14470498" y="-1"/>
            <a:ext cx="3817502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3741</Words>
  <Application>Microsoft Office PowerPoint</Application>
  <PresentationFormat>사용자 지정</PresentationFormat>
  <Paragraphs>840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비지니스 사업 제안 발표 프레젠테이션</dc:title>
  <dc:creator>Admin</dc:creator>
  <cp:lastModifiedBy>Admin</cp:lastModifiedBy>
  <cp:revision>37</cp:revision>
  <dcterms:created xsi:type="dcterms:W3CDTF">2006-08-16T00:00:00Z</dcterms:created>
  <dcterms:modified xsi:type="dcterms:W3CDTF">2025-08-26T09:02:01Z</dcterms:modified>
  <dc:identifier>DAGvFTuB4-w</dc:identifier>
</cp:coreProperties>
</file>